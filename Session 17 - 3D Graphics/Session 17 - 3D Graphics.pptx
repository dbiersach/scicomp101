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4"/>
  </p:notesMasterIdLst>
  <p:handoutMasterIdLst>
    <p:handoutMasterId r:id="rId65"/>
  </p:handoutMasterIdLst>
  <p:sldIdLst>
    <p:sldId id="1220" r:id="rId2"/>
    <p:sldId id="972" r:id="rId3"/>
    <p:sldId id="1089" r:id="rId4"/>
    <p:sldId id="1132" r:id="rId5"/>
    <p:sldId id="286" r:id="rId6"/>
    <p:sldId id="1098" r:id="rId7"/>
    <p:sldId id="1099" r:id="rId8"/>
    <p:sldId id="1100" r:id="rId9"/>
    <p:sldId id="1091" r:id="rId10"/>
    <p:sldId id="1026" r:id="rId11"/>
    <p:sldId id="1018" r:id="rId12"/>
    <p:sldId id="1101" r:id="rId13"/>
    <p:sldId id="1102" r:id="rId14"/>
    <p:sldId id="1103" r:id="rId15"/>
    <p:sldId id="1104" r:id="rId16"/>
    <p:sldId id="1134" r:id="rId17"/>
    <p:sldId id="1106" r:id="rId18"/>
    <p:sldId id="1088" r:id="rId19"/>
    <p:sldId id="1107" r:id="rId20"/>
    <p:sldId id="1108" r:id="rId21"/>
    <p:sldId id="1109" r:id="rId22"/>
    <p:sldId id="1141" r:id="rId23"/>
    <p:sldId id="1111" r:id="rId24"/>
    <p:sldId id="1112" r:id="rId25"/>
    <p:sldId id="1142" r:id="rId26"/>
    <p:sldId id="1140" r:id="rId27"/>
    <p:sldId id="1113" r:id="rId28"/>
    <p:sldId id="1078" r:id="rId29"/>
    <p:sldId id="1114" r:id="rId30"/>
    <p:sldId id="1115" r:id="rId31"/>
    <p:sldId id="1143" r:id="rId32"/>
    <p:sldId id="1038" r:id="rId33"/>
    <p:sldId id="1147" r:id="rId34"/>
    <p:sldId id="1144" r:id="rId35"/>
    <p:sldId id="1118" r:id="rId36"/>
    <p:sldId id="1119" r:id="rId37"/>
    <p:sldId id="1148" r:id="rId38"/>
    <p:sldId id="481" r:id="rId39"/>
    <p:sldId id="482" r:id="rId40"/>
    <p:sldId id="483" r:id="rId41"/>
    <p:sldId id="484" r:id="rId42"/>
    <p:sldId id="485" r:id="rId43"/>
    <p:sldId id="1146" r:id="rId44"/>
    <p:sldId id="1044" r:id="rId45"/>
    <p:sldId id="1045" r:id="rId46"/>
    <p:sldId id="1047" r:id="rId47"/>
    <p:sldId id="1050" r:id="rId48"/>
    <p:sldId id="1049" r:id="rId49"/>
    <p:sldId id="1149" r:id="rId50"/>
    <p:sldId id="1124" r:id="rId51"/>
    <p:sldId id="1125" r:id="rId52"/>
    <p:sldId id="1126" r:id="rId53"/>
    <p:sldId id="1127" r:id="rId54"/>
    <p:sldId id="1128" r:id="rId55"/>
    <p:sldId id="1085" r:id="rId56"/>
    <p:sldId id="1137" r:id="rId57"/>
    <p:sldId id="1138" r:id="rId58"/>
    <p:sldId id="1139" r:id="rId59"/>
    <p:sldId id="1129" r:id="rId60"/>
    <p:sldId id="1130" r:id="rId61"/>
    <p:sldId id="306" r:id="rId62"/>
    <p:sldId id="1096" r:id="rId63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BDBA"/>
    <a:srgbClr val="2ECC71"/>
    <a:srgbClr val="FF7D0A"/>
    <a:srgbClr val="95D4D6"/>
    <a:srgbClr val="B4C1CA"/>
    <a:srgbClr val="E74C3C"/>
    <a:srgbClr val="3297DB"/>
    <a:srgbClr val="9354AC"/>
    <a:srgbClr val="99CBEC"/>
    <a:srgbClr val="2FCC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5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98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347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20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57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15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68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9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84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406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81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3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324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156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33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57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017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1333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948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404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019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2F3A-E753-1955-E95A-7A730DB3D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56AEA-38B3-E225-268B-1072C2EDD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3ACC7-F6EB-66A7-2C56-224FFCD5A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78288-02A7-6239-3DB6-9680184B1A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922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2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9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0A656-25B6-07EB-EB32-D656E4E52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ADC78-9465-6891-063F-537F64626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F26A1-232C-8DDB-6DF5-B9BE2534E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6018C-E48F-6DC5-BF9A-3CDB65BC23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772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0DCB-8A6F-1DF5-B475-4496CFF4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B1EC63-4C8D-DEE5-ABD9-86EB6A61C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32702-8686-C67A-358F-A18AE5FAA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97EBE-1401-343E-80B3-9F89E9532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952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520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431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264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001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A4447-1F21-DEFF-7E24-4DA68CDD7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D1ED6-5DEF-7301-D6D5-58722212B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5D9C33-90CE-8590-4D02-330E317A6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16933-FEFE-7EAB-FCEA-50597F99C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620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002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EAD15-A8BA-7C40-AFCE-1674032F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6CC51-D0F1-4544-44E6-50C99594A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985CC-52A9-5688-6626-3D7568472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CD6BB-E28D-59F7-7DEE-A603F920D9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151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6FE6D-2956-6F99-961A-A9BDE08E1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774D0-59D8-F90F-B7EF-ABCAAC7F5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51D4F-98FD-5C67-AF91-4562D9A22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C5D7D-1914-3678-28CF-DE8159AAB0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402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800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171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292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117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964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345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07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550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DB2E0-1714-1923-2782-91A46C6C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0FCE1-8B58-AF95-3C51-B8449E516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C0DC6-11C3-03A1-5DAE-CE78598A8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7BB87-F103-F0F4-718F-1CCC2DFD99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410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926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4867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0819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33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208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502E5-E734-68F8-DAE9-B4C22672F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E5163-F31F-B59E-184B-08667A8CB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4DF08-AACD-A49B-9619-FC2B1D065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611FD-9D4A-3FEB-527E-FFAC066330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765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041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282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095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1700E-421C-28F9-CFB4-87A68AD6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29566-4A17-2B7E-8FC4-D9306235D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F51B1-6A55-2C94-93E9-4F6C583A1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D6D8A-90FC-2958-0780-9E13D22DEC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9547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575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3348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1700E-421C-28F9-CFB4-87A68AD6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29566-4A17-2B7E-8FC4-D9306235D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F51B1-6A55-2C94-93E9-4F6C583A1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D6D8A-90FC-2958-0780-9E13D22DEC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1490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1700E-421C-28F9-CFB4-87A68AD6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29566-4A17-2B7E-8FC4-D9306235D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F51B1-6A55-2C94-93E9-4F6C583A1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D6D8A-90FC-2958-0780-9E13D22DEC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57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dbiersach@bnl.gov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3.png"/><Relationship Id="rId7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5.png"/><Relationship Id="rId7" Type="http://schemas.openxmlformats.org/officeDocument/2006/relationships/image" Target="NUL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23.png"/><Relationship Id="rId7" Type="http://schemas.openxmlformats.org/officeDocument/2006/relationships/image" Target="NUL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25.jpeg"/><Relationship Id="rId5" Type="http://schemas.openxmlformats.org/officeDocument/2006/relationships/image" Target="NULL"/><Relationship Id="rId10" Type="http://schemas.openxmlformats.org/officeDocument/2006/relationships/image" Target="../media/image24.png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image" Target="NULL"/><Relationship Id="rId8" Type="http://schemas.openxmlformats.org/officeDocument/2006/relationships/image" Target="NULL"/><Relationship Id="rId3" Type="http://schemas.openxmlformats.org/officeDocument/2006/relationships/image" Target="../media/image35.png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notesSlide" Target="../notesSlides/notesSlide27.xml"/><Relationship Id="rId16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36.png"/><Relationship Id="rId7" Type="http://schemas.openxmlformats.org/officeDocument/2006/relationships/image" Target="NUL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39.png"/><Relationship Id="rId7" Type="http://schemas.openxmlformats.org/officeDocument/2006/relationships/image" Target="NUL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40.png"/><Relationship Id="rId9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47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53.gif"/><Relationship Id="rId4" Type="http://schemas.openxmlformats.org/officeDocument/2006/relationships/image" Target="../media/image52.png"/><Relationship Id="rId9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56.png"/><Relationship Id="rId7" Type="http://schemas.openxmlformats.org/officeDocument/2006/relationships/image" Target="NUL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../media/image58.png"/><Relationship Id="rId10" Type="http://schemas.openxmlformats.org/officeDocument/2006/relationships/image" Target="NULL"/><Relationship Id="rId4" Type="http://schemas.openxmlformats.org/officeDocument/2006/relationships/image" Target="../media/image57.png"/><Relationship Id="rId9" Type="http://schemas.openxmlformats.org/officeDocument/2006/relationships/image" Target="NUL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jpe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73.png"/><Relationship Id="rId7" Type="http://schemas.openxmlformats.org/officeDocument/2006/relationships/image" Target="NUL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gif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83.png"/><Relationship Id="rId7" Type="http://schemas.openxmlformats.org/officeDocument/2006/relationships/image" Target="NUL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84.png"/><Relationship Id="rId7" Type="http://schemas.openxmlformats.org/officeDocument/2006/relationships/image" Target="NUL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kegeeks.com/numpy-meshgrid" TargetMode="External"/><Relationship Id="rId4" Type="http://schemas.openxmlformats.org/officeDocument/2006/relationships/image" Target="NUL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4" Type="http://schemas.openxmlformats.org/officeDocument/2006/relationships/image" Target="../media/image9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stable/reference/generated/numpy.gradient.html" TargetMode="External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472228" y="2572099"/>
            <a:ext cx="2042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Dave Biersach</a:t>
            </a:r>
          </a:p>
          <a:p>
            <a:pPr algn="ctr"/>
            <a:r>
              <a:rPr lang="en-US" dirty="0">
                <a:hlinkClick r:id="rId2"/>
              </a:rPr>
              <a:t>dbiersach@bnl.gov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D1FE5-8CB5-4983-AA2B-0B6C1209F452}"/>
              </a:ext>
            </a:extLst>
          </p:cNvPr>
          <p:cNvSpPr txBox="1"/>
          <p:nvPr/>
        </p:nvSpPr>
        <p:spPr>
          <a:xfrm>
            <a:off x="6208139" y="1078065"/>
            <a:ext cx="25705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Foundations of</a:t>
            </a:r>
          </a:p>
          <a:p>
            <a:pPr algn="ctr"/>
            <a:r>
              <a:rPr lang="en-US" sz="2000" b="1" dirty="0"/>
              <a:t>Scientific Computing</a:t>
            </a:r>
          </a:p>
          <a:p>
            <a:pPr algn="ctr"/>
            <a:r>
              <a:rPr lang="en-US" sz="2000" dirty="0"/>
              <a:t>(SciComp 101)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F49F3-90CB-4580-B6E1-688074D23599}"/>
              </a:ext>
            </a:extLst>
          </p:cNvPr>
          <p:cNvSpPr txBox="1"/>
          <p:nvPr/>
        </p:nvSpPr>
        <p:spPr>
          <a:xfrm>
            <a:off x="6422434" y="4355451"/>
            <a:ext cx="2141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Session 17</a:t>
            </a:r>
          </a:p>
          <a:p>
            <a:pPr algn="ctr"/>
            <a:r>
              <a:rPr lang="en-US" dirty="0"/>
              <a:t>3D Graphics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2A7DBD-F029-4698-9BC7-351B592322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7021" y="1006861"/>
            <a:ext cx="3572378" cy="8718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CD3142-EDAA-8E9E-DF9C-D35BB409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51" y="2681046"/>
            <a:ext cx="5635719" cy="317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0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17</a:t>
            </a:r>
            <a:r>
              <a:rPr lang="en-US" sz="3200" dirty="0">
                <a:latin typeface="+mn-lt"/>
              </a:rPr>
              <a:t> –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25099"/>
            <a:ext cx="7886700" cy="4895851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Understand 3D </a:t>
            </a:r>
            <a:r>
              <a:rPr lang="en-US" sz="2400" b="1" dirty="0"/>
              <a:t>axes</a:t>
            </a:r>
            <a:r>
              <a:rPr lang="en-US" sz="2400" dirty="0"/>
              <a:t> in </a:t>
            </a:r>
            <a:r>
              <a:rPr lang="en-US" sz="2400" b="1" dirty="0">
                <a:solidFill>
                  <a:srgbClr val="00B050"/>
                </a:solidFill>
              </a:rPr>
              <a:t>matplotlib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Plot Archimedes' Spiral in 3D using </a:t>
            </a:r>
            <a:r>
              <a:rPr lang="en-US" sz="2000" b="1" dirty="0"/>
              <a:t>cylindrical</a:t>
            </a:r>
            <a:r>
              <a:rPr lang="en-US" sz="2000" dirty="0"/>
              <a:t> coordinates 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Understand 3D </a:t>
            </a:r>
            <a:r>
              <a:rPr lang="en-US" sz="2400" b="1" dirty="0">
                <a:solidFill>
                  <a:srgbClr val="0070C0"/>
                </a:solidFill>
              </a:rPr>
              <a:t>vertices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7030A0"/>
                </a:solidFill>
              </a:rPr>
              <a:t>facets</a:t>
            </a:r>
            <a:r>
              <a:rPr lang="en-US" sz="2400" dirty="0"/>
              <a:t> in </a:t>
            </a:r>
            <a:r>
              <a:rPr lang="en-US" sz="2400" b="1" dirty="0">
                <a:solidFill>
                  <a:srgbClr val="00B050"/>
                </a:solidFill>
              </a:rPr>
              <a:t>matplotlib</a:t>
            </a:r>
            <a:endParaRPr lang="en-US" sz="2400" dirty="0"/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Plot a 3D wireframe </a:t>
            </a:r>
            <a:r>
              <a:rPr lang="en-US" sz="2000" b="1" dirty="0"/>
              <a:t>monolith</a:t>
            </a:r>
            <a:r>
              <a:rPr lang="en-US" sz="2000" dirty="0"/>
              <a:t> using Cartesian coordinates</a:t>
            </a:r>
            <a:endParaRPr lang="en-US" sz="2000" b="1" dirty="0">
              <a:solidFill>
                <a:srgbClr val="0070C0"/>
              </a:solidFill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Plot a 3D </a:t>
            </a:r>
            <a:r>
              <a:rPr lang="en-US" sz="2000" b="1" dirty="0"/>
              <a:t>pyramid</a:t>
            </a:r>
            <a:r>
              <a:rPr lang="en-US" sz="2000" dirty="0"/>
              <a:t> that conforms to the </a:t>
            </a:r>
            <a:r>
              <a:rPr lang="en-US" sz="2000" b="1" dirty="0">
                <a:solidFill>
                  <a:srgbClr val="FF0000"/>
                </a:solidFill>
              </a:rPr>
              <a:t>Golden Ratio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Use </a:t>
            </a:r>
            <a:r>
              <a:rPr lang="en-US" sz="2400" b="1" dirty="0">
                <a:solidFill>
                  <a:srgbClr val="00B050"/>
                </a:solidFill>
              </a:rPr>
              <a:t>Numpy</a:t>
            </a:r>
            <a:r>
              <a:rPr lang="en-US" sz="2400" dirty="0"/>
              <a:t> to generate the </a:t>
            </a:r>
            <a:r>
              <a:rPr lang="en-US" sz="2400" b="1" dirty="0">
                <a:solidFill>
                  <a:srgbClr val="FF0000"/>
                </a:solidFill>
              </a:rPr>
              <a:t>outer product </a:t>
            </a:r>
            <a:r>
              <a:rPr lang="en-US" sz="2400" dirty="0"/>
              <a:t>of two vectors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Relate </a:t>
            </a:r>
            <a:r>
              <a:rPr lang="en-US" sz="2000" u="sng" dirty="0"/>
              <a:t>poloidal</a:t>
            </a:r>
            <a:r>
              <a:rPr lang="en-US" sz="2000" dirty="0"/>
              <a:t> and </a:t>
            </a:r>
            <a:r>
              <a:rPr lang="en-US" sz="2000" u="sng" dirty="0"/>
              <a:t>toroidal</a:t>
            </a:r>
            <a:r>
              <a:rPr lang="en-US" sz="2000" dirty="0"/>
              <a:t> angles in </a:t>
            </a:r>
            <a:r>
              <a:rPr lang="en-US" sz="2000" b="1" dirty="0">
                <a:solidFill>
                  <a:srgbClr val="7030A0"/>
                </a:solidFill>
              </a:rPr>
              <a:t>spherical</a:t>
            </a:r>
            <a:r>
              <a:rPr lang="en-US" sz="2000" dirty="0"/>
              <a:t> coordinates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Plot a 3D sphere using only vertices (a </a:t>
            </a:r>
            <a:r>
              <a:rPr lang="en-US" sz="2000" b="1" dirty="0"/>
              <a:t>scatter</a:t>
            </a:r>
            <a:r>
              <a:rPr lang="en-US" sz="2000" dirty="0"/>
              <a:t> plot)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000" dirty="0"/>
              <a:t>Plot a 3D </a:t>
            </a:r>
            <a:r>
              <a:rPr lang="en-US" sz="2000" b="1" dirty="0"/>
              <a:t>wireframe</a:t>
            </a:r>
            <a:r>
              <a:rPr lang="en-US" sz="2000" dirty="0"/>
              <a:t> and facets of a </a:t>
            </a:r>
            <a:r>
              <a:rPr lang="en-US" sz="2000" b="1" dirty="0">
                <a:solidFill>
                  <a:srgbClr val="00B050"/>
                </a:solidFill>
              </a:rPr>
              <a:t>sphere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rgbClr val="00B050"/>
                </a:solidFill>
              </a:rPr>
              <a:t>torus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Plot the 3D </a:t>
            </a:r>
            <a:r>
              <a:rPr lang="en-US" sz="2400" b="1" dirty="0">
                <a:solidFill>
                  <a:srgbClr val="0070C0"/>
                </a:solidFill>
              </a:rPr>
              <a:t>surface plot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of a multivariable function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Create a </a:t>
            </a:r>
            <a:r>
              <a:rPr lang="en-US" sz="2400" b="1" dirty="0"/>
              <a:t>quiver</a:t>
            </a:r>
            <a:r>
              <a:rPr lang="en-US" sz="2400" dirty="0"/>
              <a:t> plot using the </a:t>
            </a:r>
            <a:r>
              <a:rPr lang="en-US" sz="2400" b="1" dirty="0">
                <a:solidFill>
                  <a:srgbClr val="FF0000"/>
                </a:solidFill>
              </a:rPr>
              <a:t>gradient</a:t>
            </a:r>
            <a:r>
              <a:rPr lang="en-US" sz="2400" dirty="0"/>
              <a:t> of a </a:t>
            </a:r>
            <a:r>
              <a:rPr lang="en-US" sz="2400" u="sng" dirty="0"/>
              <a:t>scalar</a:t>
            </a:r>
            <a:r>
              <a:rPr lang="en-US" sz="2400" dirty="0"/>
              <a:t> </a:t>
            </a:r>
            <a:r>
              <a:rPr lang="en-US" sz="2400" i="1" dirty="0"/>
              <a:t>field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7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ADC54B3D-1C4B-49CF-AFEB-65AB27052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77" y="842449"/>
            <a:ext cx="7258845" cy="5807077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3D Cartesian Coordinates in matplotlib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3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B5C6DB-C35F-4225-ACDE-D29424117CCB}"/>
              </a:ext>
            </a:extLst>
          </p:cNvPr>
          <p:cNvCxnSpPr>
            <a:cxnSpLocks/>
          </p:cNvCxnSpPr>
          <p:nvPr/>
        </p:nvCxnSpPr>
        <p:spPr>
          <a:xfrm flipV="1">
            <a:off x="4645742" y="4343770"/>
            <a:ext cx="941726" cy="48333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B7B1A5A-4B90-41B1-95D0-8A51CFE212CE}"/>
              </a:ext>
            </a:extLst>
          </p:cNvPr>
          <p:cNvCxnSpPr>
            <a:cxnSpLocks/>
          </p:cNvCxnSpPr>
          <p:nvPr/>
        </p:nvCxnSpPr>
        <p:spPr>
          <a:xfrm>
            <a:off x="4645742" y="4834596"/>
            <a:ext cx="959321" cy="50445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C1C7C9-5938-4AF5-9381-0642E586CF41}"/>
                  </a:ext>
                </a:extLst>
              </p:cNvPr>
              <p:cNvSpPr txBox="1"/>
              <p:nvPr/>
            </p:nvSpPr>
            <p:spPr>
              <a:xfrm rot="19934199">
                <a:off x="4899960" y="4292484"/>
                <a:ext cx="3254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b="1" dirty="0">
                  <a:ln>
                    <a:solidFill>
                      <a:srgbClr val="0070C0"/>
                    </a:solidFill>
                  </a:ln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C1C7C9-5938-4AF5-9381-0642E586C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934199">
                <a:off x="4899960" y="4292484"/>
                <a:ext cx="32541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2B57AA-0530-41D9-A02C-8D96E1D8322F}"/>
                  </a:ext>
                </a:extLst>
              </p:cNvPr>
              <p:cNvSpPr txBox="1"/>
              <p:nvPr/>
            </p:nvSpPr>
            <p:spPr>
              <a:xfrm rot="1673832">
                <a:off x="5052010" y="4810532"/>
                <a:ext cx="31733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b="1" dirty="0">
                  <a:ln>
                    <a:solidFill>
                      <a:srgbClr val="0070C0"/>
                    </a:solidFill>
                  </a:ln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2B57AA-0530-41D9-A02C-8D96E1D83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73832">
                <a:off x="5052010" y="4810532"/>
                <a:ext cx="317331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DEB1CAA-65D9-4AD7-89E4-D4786761D324}"/>
              </a:ext>
            </a:extLst>
          </p:cNvPr>
          <p:cNvCxnSpPr>
            <a:cxnSpLocks/>
          </p:cNvCxnSpPr>
          <p:nvPr/>
        </p:nvCxnSpPr>
        <p:spPr>
          <a:xfrm flipV="1">
            <a:off x="5905500" y="2140149"/>
            <a:ext cx="26194" cy="90211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423A51-0446-42DC-8E83-49C5F739A728}"/>
              </a:ext>
            </a:extLst>
          </p:cNvPr>
          <p:cNvCxnSpPr>
            <a:cxnSpLocks/>
          </p:cNvCxnSpPr>
          <p:nvPr/>
        </p:nvCxnSpPr>
        <p:spPr>
          <a:xfrm>
            <a:off x="5885974" y="3042262"/>
            <a:ext cx="1012031" cy="45246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309F55-D8D0-4E29-B715-2F1464ABE451}"/>
                  </a:ext>
                </a:extLst>
              </p:cNvPr>
              <p:cNvSpPr txBox="1"/>
              <p:nvPr/>
            </p:nvSpPr>
            <p:spPr>
              <a:xfrm rot="16200000">
                <a:off x="5604942" y="2426661"/>
                <a:ext cx="302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b="1" dirty="0">
                  <a:ln>
                    <a:solidFill>
                      <a:srgbClr val="0070C0"/>
                    </a:solidFill>
                  </a:ln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309F55-D8D0-4E29-B715-2F1464ABE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604942" y="2426661"/>
                <a:ext cx="30290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85479B-1497-4FE8-8853-BBB65568138E}"/>
                  </a:ext>
                </a:extLst>
              </p:cNvPr>
              <p:cNvSpPr txBox="1"/>
              <p:nvPr/>
            </p:nvSpPr>
            <p:spPr>
              <a:xfrm rot="1418092">
                <a:off x="6309524" y="2995677"/>
                <a:ext cx="3173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b="1" dirty="0">
                  <a:ln>
                    <a:solidFill>
                      <a:srgbClr val="0070C0"/>
                    </a:solidFill>
                  </a:ln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85479B-1497-4FE8-8853-BBB655681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418092">
                <a:off x="6309524" y="2995677"/>
                <a:ext cx="317331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BC88DD-37F3-4678-A8E5-665D5B72D9A8}"/>
              </a:ext>
            </a:extLst>
          </p:cNvPr>
          <p:cNvCxnSpPr>
            <a:cxnSpLocks/>
          </p:cNvCxnSpPr>
          <p:nvPr/>
        </p:nvCxnSpPr>
        <p:spPr>
          <a:xfrm flipH="1" flipV="1">
            <a:off x="3359944" y="2140149"/>
            <a:ext cx="27298" cy="90211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70E7C2F-4CCA-4134-B163-E53C431EA23B}"/>
              </a:ext>
            </a:extLst>
          </p:cNvPr>
          <p:cNvCxnSpPr>
            <a:cxnSpLocks/>
          </p:cNvCxnSpPr>
          <p:nvPr/>
        </p:nvCxnSpPr>
        <p:spPr>
          <a:xfrm flipV="1">
            <a:off x="3382074" y="2598998"/>
            <a:ext cx="945356" cy="41535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A5BB205-6023-4ED4-AE0B-6C4F8D25480B}"/>
                  </a:ext>
                </a:extLst>
              </p:cNvPr>
              <p:cNvSpPr txBox="1"/>
              <p:nvPr/>
            </p:nvSpPr>
            <p:spPr>
              <a:xfrm rot="20196746">
                <a:off x="3610347" y="2529610"/>
                <a:ext cx="3254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b="1" dirty="0">
                  <a:ln>
                    <a:solidFill>
                      <a:srgbClr val="0070C0"/>
                    </a:solidFill>
                  </a:ln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A5BB205-6023-4ED4-AE0B-6C4F8D254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96746">
                <a:off x="3610347" y="2529610"/>
                <a:ext cx="32541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58FCF41-62F6-4980-9FE2-861E17979F1C}"/>
                  </a:ext>
                </a:extLst>
              </p:cNvPr>
              <p:cNvSpPr txBox="1"/>
              <p:nvPr/>
            </p:nvSpPr>
            <p:spPr>
              <a:xfrm rot="16200000">
                <a:off x="3059901" y="2489487"/>
                <a:ext cx="302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b="1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b="1" dirty="0">
                  <a:ln>
                    <a:solidFill>
                      <a:srgbClr val="0070C0"/>
                    </a:solidFill>
                  </a:ln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58FCF41-62F6-4980-9FE2-861E17979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059901" y="2489487"/>
                <a:ext cx="30290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84C08E42-B60A-0507-8A88-DBFBE4C9EDF4}"/>
              </a:ext>
            </a:extLst>
          </p:cNvPr>
          <p:cNvSpPr/>
          <p:nvPr/>
        </p:nvSpPr>
        <p:spPr>
          <a:xfrm>
            <a:off x="3342708" y="2982036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8A62EFC-5123-2087-B5F2-0F50F476EDEE}"/>
              </a:ext>
            </a:extLst>
          </p:cNvPr>
          <p:cNvSpPr/>
          <p:nvPr/>
        </p:nvSpPr>
        <p:spPr>
          <a:xfrm>
            <a:off x="5859780" y="2996542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0456F4A-8888-45BE-1A67-1CDD0CDE263D}"/>
              </a:ext>
            </a:extLst>
          </p:cNvPr>
          <p:cNvSpPr/>
          <p:nvPr/>
        </p:nvSpPr>
        <p:spPr>
          <a:xfrm>
            <a:off x="4600022" y="4781381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F4B7D1-8457-8D60-79BE-52E4288E3450}"/>
              </a:ext>
            </a:extLst>
          </p:cNvPr>
          <p:cNvSpPr/>
          <p:nvPr/>
        </p:nvSpPr>
        <p:spPr>
          <a:xfrm>
            <a:off x="4594444" y="3661954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9DBD6F-0B1A-0B1D-C46B-FF0B1C42E6FE}"/>
              </a:ext>
            </a:extLst>
          </p:cNvPr>
          <p:cNvCxnSpPr>
            <a:cxnSpLocks/>
            <a:endCxn id="7" idx="7"/>
          </p:cNvCxnSpPr>
          <p:nvPr/>
        </p:nvCxnSpPr>
        <p:spPr>
          <a:xfrm flipH="1">
            <a:off x="4672493" y="3057834"/>
            <a:ext cx="1192340" cy="617511"/>
          </a:xfrm>
          <a:prstGeom prst="line">
            <a:avLst/>
          </a:prstGeom>
          <a:ln w="28575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542ACD-6D49-DA9A-5EB0-C77516834671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3374863" y="3017333"/>
            <a:ext cx="1232972" cy="658012"/>
          </a:xfrm>
          <a:prstGeom prst="line">
            <a:avLst/>
          </a:prstGeom>
          <a:ln w="28575">
            <a:solidFill>
              <a:srgbClr val="FF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3B1DEFD-890A-69CA-F3FA-F2BFB65A2528}"/>
              </a:ext>
            </a:extLst>
          </p:cNvPr>
          <p:cNvCxnSpPr>
            <a:cxnSpLocks/>
          </p:cNvCxnSpPr>
          <p:nvPr/>
        </p:nvCxnSpPr>
        <p:spPr>
          <a:xfrm>
            <a:off x="4641513" y="3732494"/>
            <a:ext cx="0" cy="1098855"/>
          </a:xfrm>
          <a:prstGeom prst="line">
            <a:avLst/>
          </a:prstGeom>
          <a:ln w="28575">
            <a:solidFill>
              <a:srgbClr val="FF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42ABC4F-35FE-22D4-E36E-634A67BDF0D0}"/>
                  </a:ext>
                </a:extLst>
              </p:cNvPr>
              <p:cNvSpPr txBox="1"/>
              <p:nvPr/>
            </p:nvSpPr>
            <p:spPr>
              <a:xfrm>
                <a:off x="4729077" y="3660449"/>
                <a:ext cx="7253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0,0,0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42ABC4F-35FE-22D4-E36E-634A67BDF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077" y="3660449"/>
                <a:ext cx="725391" cy="276999"/>
              </a:xfrm>
              <a:prstGeom prst="rect">
                <a:avLst/>
              </a:prstGeom>
              <a:blipFill>
                <a:blip r:embed="rId10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428181C-DA27-C9CD-3120-C79119094ADC}"/>
              </a:ext>
            </a:extLst>
          </p:cNvPr>
          <p:cNvSpPr/>
          <p:nvPr/>
        </p:nvSpPr>
        <p:spPr>
          <a:xfrm>
            <a:off x="7615003" y="3560164"/>
            <a:ext cx="194872" cy="1932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D74EEC-CAE5-B9A8-E4EA-0D7766745324}"/>
              </a:ext>
            </a:extLst>
          </p:cNvPr>
          <p:cNvSpPr/>
          <p:nvPr/>
        </p:nvSpPr>
        <p:spPr>
          <a:xfrm>
            <a:off x="2997902" y="5769856"/>
            <a:ext cx="194872" cy="1932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1325B-94E0-27F7-8A22-A3743D01E993}"/>
              </a:ext>
            </a:extLst>
          </p:cNvPr>
          <p:cNvSpPr/>
          <p:nvPr/>
        </p:nvSpPr>
        <p:spPr>
          <a:xfrm>
            <a:off x="6109910" y="5769856"/>
            <a:ext cx="194872" cy="1932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45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1" grpId="0"/>
      <p:bldP spid="22" grpId="0"/>
      <p:bldP spid="43" grpId="0"/>
      <p:bldP spid="44" grpId="0"/>
      <p:bldP spid="3" grpId="0" animBg="1"/>
      <p:bldP spid="4" grpId="0" animBg="1"/>
      <p:bldP spid="5" grpId="0" animBg="1"/>
      <p:bldP spid="7" grpId="0" animBg="1"/>
      <p:bldP spid="32" grpId="0"/>
      <p:bldP spid="8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Viewing Angles in matplotlib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4</a:t>
            </a:fld>
            <a:endParaRPr lang="en-US" sz="1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4E4EA9-4C7B-3C68-D6FC-258FC865E435}"/>
                  </a:ext>
                </a:extLst>
              </p:cNvPr>
              <p:cNvSpPr txBox="1"/>
              <p:nvPr/>
            </p:nvSpPr>
            <p:spPr>
              <a:xfrm>
                <a:off x="6049438" y="2931354"/>
                <a:ext cx="2057400" cy="1489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7030A0"/>
                    </a:solidFill>
                  </a:rPr>
                  <a:t>Default view angles:</a:t>
                </a:r>
              </a:p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𝐚𝐳𝐢𝐦</m:t>
                      </m:r>
                      <m:r>
                        <a:rPr lang="en-US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−60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algn="ctr"/>
                <a:endParaRPr lang="en-US" dirty="0">
                  <a:solidFill>
                    <a:srgbClr val="7030A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𝐞𝐥𝐞𝐯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4E4EA9-4C7B-3C68-D6FC-258FC865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438" y="2931354"/>
                <a:ext cx="2057400" cy="1489767"/>
              </a:xfrm>
              <a:prstGeom prst="rect">
                <a:avLst/>
              </a:prstGeom>
              <a:blipFill>
                <a:blip r:embed="rId3"/>
                <a:stretch>
                  <a:fillRect l="-2367" t="-2459" r="-2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2">
            <a:extLst>
              <a:ext uri="{FF2B5EF4-FFF2-40B4-BE49-F238E27FC236}">
                <a16:creationId xmlns:a16="http://schemas.microsoft.com/office/drawing/2014/main" id="{98B4861A-FF09-5F47-271B-D6AAA8332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645" y="1812794"/>
            <a:ext cx="4607687" cy="351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62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Parametric Curves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109" y="2123768"/>
            <a:ext cx="7771783" cy="30529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2 6"/>
              <p:cNvSpPr/>
              <p:nvPr/>
            </p:nvSpPr>
            <p:spPr>
              <a:xfrm>
                <a:off x="5185410" y="5364480"/>
                <a:ext cx="2526030" cy="1244764"/>
              </a:xfrm>
              <a:prstGeom prst="borderCallout2">
                <a:avLst>
                  <a:gd name="adj1" fmla="val 13934"/>
                  <a:gd name="adj2" fmla="val -8844"/>
                  <a:gd name="adj3" fmla="val -48685"/>
                  <a:gd name="adj4" fmla="val -23589"/>
                  <a:gd name="adj5" fmla="val -63575"/>
                  <a:gd name="adj6" fmla="val -44720"/>
                </a:avLst>
              </a:prstGeom>
              <a:solidFill>
                <a:schemeClr val="bg1"/>
              </a:solidFill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 two parameters </a:t>
                </a:r>
                <a:r>
                  <a:rPr lang="en-US" b="1" dirty="0">
                    <a:solidFill>
                      <a:schemeClr val="tx1"/>
                    </a:solidFill>
                  </a:rPr>
                  <a:t>a, n</a:t>
                </a:r>
                <a:r>
                  <a:rPr lang="en-US" dirty="0">
                    <a:solidFill>
                      <a:schemeClr val="tx1"/>
                    </a:solidFill>
                  </a:rPr>
                  <a:t> are used to calculate the current radius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sweeps the circle</a:t>
                </a:r>
              </a:p>
            </p:txBody>
          </p:sp>
        </mc:Choice>
        <mc:Fallback xmlns="">
          <p:sp>
            <p:nvSpPr>
              <p:cNvPr id="7" name="Line Callout 2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410" y="5364480"/>
                <a:ext cx="2526030" cy="1244764"/>
              </a:xfrm>
              <a:prstGeom prst="borderCallout2">
                <a:avLst>
                  <a:gd name="adj1" fmla="val 13934"/>
                  <a:gd name="adj2" fmla="val -8844"/>
                  <a:gd name="adj3" fmla="val -48685"/>
                  <a:gd name="adj4" fmla="val -23589"/>
                  <a:gd name="adj5" fmla="val -63575"/>
                  <a:gd name="adj6" fmla="val -44720"/>
                </a:avLst>
              </a:prstGeom>
              <a:blipFill rotWithShape="0">
                <a:blip r:embed="rId4"/>
                <a:stretch>
                  <a:fillRect r="-1327" b="-2655"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09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25224508-00D4-FFBD-F270-582D680BE5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12"/>
          <a:stretch/>
        </p:blipFill>
        <p:spPr>
          <a:xfrm>
            <a:off x="1604606" y="1620256"/>
            <a:ext cx="5934789" cy="4472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plot3d_helix.py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6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4A0703-37AD-5542-CB49-3F4DA2AEB618}"/>
              </a:ext>
            </a:extLst>
          </p:cNvPr>
          <p:cNvGrpSpPr/>
          <p:nvPr/>
        </p:nvGrpSpPr>
        <p:grpSpPr>
          <a:xfrm>
            <a:off x="7528909" y="2833833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126B200-34BD-F01F-5DC8-23D124D227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7075D98-A4F4-7B7C-7E90-77BFE1C02B56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30F637-4202-AF57-70D1-EE6ED039B35B}"/>
              </a:ext>
            </a:extLst>
          </p:cNvPr>
          <p:cNvGrpSpPr/>
          <p:nvPr/>
        </p:nvGrpSpPr>
        <p:grpSpPr>
          <a:xfrm>
            <a:off x="4191658" y="3144734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F366B83-00E7-CF3C-9801-6AB61108B4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1FB0182-D6AA-B97B-0E02-A0662BCACCC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72E4F77-483B-CB42-FB6A-0A8769EAE469}"/>
              </a:ext>
            </a:extLst>
          </p:cNvPr>
          <p:cNvGrpSpPr/>
          <p:nvPr/>
        </p:nvGrpSpPr>
        <p:grpSpPr>
          <a:xfrm>
            <a:off x="5325624" y="2039931"/>
            <a:ext cx="1971694" cy="636081"/>
            <a:chOff x="5132125" y="2159380"/>
            <a:chExt cx="1971694" cy="6360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C830D92-715F-CAC0-3210-F9EF92400CE8}"/>
                    </a:ext>
                  </a:extLst>
                </p:cNvPr>
                <p:cNvSpPr txBox="1"/>
                <p:nvPr/>
              </p:nvSpPr>
              <p:spPr>
                <a:xfrm>
                  <a:off x="5132125" y="2159380"/>
                  <a:ext cx="197169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ln>
                                  <a:solidFill>
                                    <a:srgbClr val="FFFF00"/>
                                  </a:solidFill>
                                </a:ln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n>
                                  <a:solidFill>
                                    <a:srgbClr val="FFFF00"/>
                                  </a:solidFill>
                                </a:ln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func>
                              <m:funcPr>
                                <m:ctrlPr>
                                  <a:rPr lang="en-US" i="1" smtClean="0">
                                    <a:ln>
                                      <a:solidFill>
                                        <a:srgbClr val="FFFF00"/>
                                      </a:solidFill>
                                    </a:ln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n>
                                      <a:solidFill>
                                        <a:srgbClr val="FFFF00"/>
                                      </a:solidFill>
                                    </a:ln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n>
                                      <a:solidFill>
                                        <a:srgbClr val="FFFF00"/>
                                      </a:solidFill>
                                    </a:ln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en-US" b="0" i="1" smtClean="0">
                                <a:ln>
                                  <a:solidFill>
                                    <a:srgbClr val="FFFF00"/>
                                  </a:solidFill>
                                </a:ln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>
                                <a:ln>
                                  <a:solidFill>
                                    <a:srgbClr val="FFFF00"/>
                                  </a:solidFill>
                                </a:ln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func>
                              <m:funcPr>
                                <m:ctrlPr>
                                  <a:rPr lang="en-US" i="1">
                                    <a:ln>
                                      <a:solidFill>
                                        <a:srgbClr val="FFFF00"/>
                                      </a:solidFill>
                                    </a:ln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b="0" i="1">
                                    <a:ln>
                                      <a:solidFill>
                                        <a:srgbClr val="FFFF00"/>
                                      </a:solidFill>
                                    </a:ln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𝑠𝑖𝑛</m:t>
                                </m:r>
                              </m:fName>
                              <m:e>
                                <m:r>
                                  <a:rPr lang="en-US" b="0" i="1">
                                    <a:ln>
                                      <a:solidFill>
                                        <a:srgbClr val="FFFF00"/>
                                      </a:solidFill>
                                    </a:ln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en-US" b="0" i="1" smtClean="0">
                                <a:ln>
                                  <a:solidFill>
                                    <a:srgbClr val="FFFF00"/>
                                  </a:solidFill>
                                </a:ln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n>
                                  <a:solidFill>
                                    <a:srgbClr val="FFFF00"/>
                                  </a:solidFill>
                                </a:ln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n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C830D92-715F-CAC0-3210-F9EF92400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2125" y="2159380"/>
                  <a:ext cx="1971694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387963D-ED95-A503-6FCD-41087B6E105E}"/>
                    </a:ext>
                  </a:extLst>
                </p:cNvPr>
                <p:cNvSpPr txBox="1"/>
                <p:nvPr/>
              </p:nvSpPr>
              <p:spPr>
                <a:xfrm>
                  <a:off x="5444128" y="2518462"/>
                  <a:ext cx="13181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≤20</m:t>
                        </m:r>
                        <m:r>
                          <a:rPr lang="en-US" b="0" i="1" smtClean="0">
                            <a:ln>
                              <a:solidFill>
                                <a:srgbClr val="FFFF00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>
                    <a:ln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387963D-ED95-A503-6FCD-41087B6E1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4128" y="2518462"/>
                  <a:ext cx="1318118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D69FA59-9CAD-DAB5-B854-731E4E4A6441}"/>
              </a:ext>
            </a:extLst>
          </p:cNvPr>
          <p:cNvGrpSpPr/>
          <p:nvPr/>
        </p:nvGrpSpPr>
        <p:grpSpPr>
          <a:xfrm>
            <a:off x="2692813" y="3554539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A3F58F-68B8-BE29-D1A2-EB915FDEE1AB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A465C09-CD10-127B-7220-2A31A9C13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91E4556-1F6E-4B9D-CB92-6A7C3CF46864}"/>
              </a:ext>
            </a:extLst>
          </p:cNvPr>
          <p:cNvGrpSpPr/>
          <p:nvPr/>
        </p:nvGrpSpPr>
        <p:grpSpPr>
          <a:xfrm>
            <a:off x="4704661" y="4292764"/>
            <a:ext cx="1064340" cy="369332"/>
            <a:chOff x="3647644" y="5421073"/>
            <a:chExt cx="1064340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9E8D438-FCD1-6358-0E83-825905AE2565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5F02724-E4D9-315C-38E2-BFC60C7262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43B4FEB-C2C0-D1FB-4DA5-0853659F408E}"/>
              </a:ext>
            </a:extLst>
          </p:cNvPr>
          <p:cNvSpPr txBox="1"/>
          <p:nvPr/>
        </p:nvSpPr>
        <p:spPr>
          <a:xfrm>
            <a:off x="5225153" y="3161448"/>
            <a:ext cx="2172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Cylindrical</a:t>
            </a:r>
            <a:r>
              <a:rPr lang="en-US" sz="1600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 to Cartesian Coordinate Conversion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D0812F4-184B-9075-3744-9799CB36FBD8}"/>
              </a:ext>
            </a:extLst>
          </p:cNvPr>
          <p:cNvGrpSpPr/>
          <p:nvPr/>
        </p:nvGrpSpPr>
        <p:grpSpPr>
          <a:xfrm>
            <a:off x="3954285" y="4524385"/>
            <a:ext cx="1068643" cy="369332"/>
            <a:chOff x="3647644" y="5359159"/>
            <a:chExt cx="1068643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047A284-686C-C2C5-1A69-280D7903F46B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17CC990-FBC3-BA2E-B10F-4648F0598F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553EF66-1E94-DBFE-91E8-90839949C761}"/>
              </a:ext>
            </a:extLst>
          </p:cNvPr>
          <p:cNvGrpSpPr/>
          <p:nvPr/>
        </p:nvGrpSpPr>
        <p:grpSpPr>
          <a:xfrm>
            <a:off x="3295196" y="4785778"/>
            <a:ext cx="1076632" cy="369332"/>
            <a:chOff x="2157212" y="5373058"/>
            <a:chExt cx="1076632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0C3FFCD-592F-97BD-79A0-6AD8721F83E4}"/>
                </a:ext>
              </a:extLst>
            </p:cNvPr>
            <p:cNvSpPr txBox="1"/>
            <p:nvPr/>
          </p:nvSpPr>
          <p:spPr>
            <a:xfrm>
              <a:off x="2850386" y="5373058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9E48221-16C4-E850-0F87-19BECBC62C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8ADC83F-B135-78BF-18BA-3560B731A201}"/>
              </a:ext>
            </a:extLst>
          </p:cNvPr>
          <p:cNvGrpSpPr/>
          <p:nvPr/>
        </p:nvGrpSpPr>
        <p:grpSpPr>
          <a:xfrm>
            <a:off x="3542088" y="5490257"/>
            <a:ext cx="1076632" cy="369332"/>
            <a:chOff x="2157212" y="5356391"/>
            <a:chExt cx="1076632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09EFEA9-0F3A-E4C2-C8D6-B545CE59A4F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FABF074-E13F-E320-6A9E-06877164FD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A19467F-B0D7-A5C7-BD3D-402FB10AEFA8}"/>
              </a:ext>
            </a:extLst>
          </p:cNvPr>
          <p:cNvSpPr txBox="1"/>
          <p:nvPr/>
        </p:nvSpPr>
        <p:spPr>
          <a:xfrm>
            <a:off x="4647459" y="5332072"/>
            <a:ext cx="23730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Can only set z-axis label on an </a:t>
            </a:r>
            <a:r>
              <a:rPr lang="en-US" sz="1600" u="sng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ax</a:t>
            </a:r>
            <a:r>
              <a:rPr lang="en-US" sz="1600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 object (not </a:t>
            </a:r>
            <a:r>
              <a:rPr lang="en-US" sz="1600" i="1" dirty="0" err="1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plt</a:t>
            </a:r>
            <a:r>
              <a:rPr lang="en-US" sz="1600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DB0E4A-C495-9280-3A0D-00984271448B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389188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5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plot3d_helix.py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7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9CB76E-408C-6028-6489-8901EBCFA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78" y="1157649"/>
            <a:ext cx="6887043" cy="5509635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D00D8406-FA60-11D3-C087-472F2EB3F98F}"/>
              </a:ext>
            </a:extLst>
          </p:cNvPr>
          <p:cNvSpPr/>
          <p:nvPr/>
        </p:nvSpPr>
        <p:spPr>
          <a:xfrm>
            <a:off x="386718" y="2261104"/>
            <a:ext cx="1634865" cy="1103455"/>
          </a:xfrm>
          <a:prstGeom prst="wedgeRoundRectCallout">
            <a:avLst>
              <a:gd name="adj1" fmla="val 102033"/>
              <a:gd name="adj2" fmla="val 8763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Left-click and drag </a:t>
            </a:r>
            <a:r>
              <a:rPr lang="en-US" dirty="0"/>
              <a:t>to rotate the plot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8AB4FA-331B-63DC-D58E-DDE6E3E3B83B}"/>
              </a:ext>
            </a:extLst>
          </p:cNvPr>
          <p:cNvGrpSpPr/>
          <p:nvPr/>
        </p:nvGrpSpPr>
        <p:grpSpPr>
          <a:xfrm>
            <a:off x="6875499" y="5382310"/>
            <a:ext cx="1945276" cy="636081"/>
            <a:chOff x="5652210" y="4305060"/>
            <a:chExt cx="1945276" cy="6360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243F0B2-3D8B-42EC-0C42-C2387894FD50}"/>
                    </a:ext>
                  </a:extLst>
                </p:cNvPr>
                <p:cNvSpPr txBox="1"/>
                <p:nvPr/>
              </p:nvSpPr>
              <p:spPr>
                <a:xfrm>
                  <a:off x="5652210" y="4305060"/>
                  <a:ext cx="19452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func>
                              <m:funcPr>
                                <m:ctrlPr>
                                  <a:rPr lang="en-US" i="1" smtClean="0">
                                    <a:ln>
                                      <a:solidFill>
                                        <a:srgbClr val="7030A0"/>
                                      </a:solidFill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ln>
                                      <a:solidFill>
                                        <a:srgbClr val="7030A0"/>
                                      </a:solidFill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i="1" smtClean="0">
                                    <a:ln>
                                      <a:solidFill>
                                        <a:srgbClr val="7030A0"/>
                                      </a:solidFill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en-US" b="0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func>
                              <m:funcPr>
                                <m:ctrlPr>
                                  <a:rPr lang="en-US" i="1">
                                    <a:ln>
                                      <a:solidFill>
                                        <a:srgbClr val="7030A0"/>
                                      </a:solidFill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n>
                                      <a:solidFill>
                                        <a:srgbClr val="7030A0"/>
                                      </a:solidFill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i="1">
                                    <a:ln>
                                      <a:solidFill>
                                        <a:srgbClr val="7030A0"/>
                                      </a:solidFill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en-US" b="0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243F0B2-3D8B-42EC-0C42-C2387894FD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2210" y="4305060"/>
                  <a:ext cx="194527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B9B1088-975E-4B74-F00E-755C890BDAFA}"/>
                    </a:ext>
                  </a:extLst>
                </p:cNvPr>
                <p:cNvSpPr txBox="1"/>
                <p:nvPr/>
              </p:nvSpPr>
              <p:spPr>
                <a:xfrm>
                  <a:off x="5964213" y="4664142"/>
                  <a:ext cx="13181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≤20</m:t>
                        </m:r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B9B1088-975E-4B74-F00E-755C890BDA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4213" y="4664142"/>
                  <a:ext cx="1318118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29245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013461-0A02-C31E-8F54-C219B9D70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78" y="1157647"/>
            <a:ext cx="6887043" cy="5509635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plot3d_helix.py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8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21E0509-3913-0CB3-AE01-A7BF1AAEDD55}"/>
              </a:ext>
            </a:extLst>
          </p:cNvPr>
          <p:cNvGrpSpPr/>
          <p:nvPr/>
        </p:nvGrpSpPr>
        <p:grpSpPr>
          <a:xfrm>
            <a:off x="6875499" y="5382310"/>
            <a:ext cx="1945276" cy="636081"/>
            <a:chOff x="5652210" y="4305060"/>
            <a:chExt cx="1945276" cy="6360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178B4D8-3CEC-E26A-E3B0-B25DFD9E0C14}"/>
                    </a:ext>
                  </a:extLst>
                </p:cNvPr>
                <p:cNvSpPr txBox="1"/>
                <p:nvPr/>
              </p:nvSpPr>
              <p:spPr>
                <a:xfrm>
                  <a:off x="5652210" y="4305060"/>
                  <a:ext cx="19452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func>
                              <m:funcPr>
                                <m:ctrlPr>
                                  <a:rPr lang="en-US" i="1" smtClean="0">
                                    <a:ln>
                                      <a:solidFill>
                                        <a:srgbClr val="7030A0"/>
                                      </a:solidFill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i="0" smtClean="0">
                                    <a:ln>
                                      <a:solidFill>
                                        <a:srgbClr val="7030A0"/>
                                      </a:solidFill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i="1" smtClean="0">
                                    <a:ln>
                                      <a:solidFill>
                                        <a:srgbClr val="7030A0"/>
                                      </a:solidFill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en-US" b="0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func>
                              <m:funcPr>
                                <m:ctrlPr>
                                  <a:rPr lang="en-US" i="1">
                                    <a:ln>
                                      <a:solidFill>
                                        <a:srgbClr val="7030A0"/>
                                      </a:solidFill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n>
                                      <a:solidFill>
                                        <a:srgbClr val="7030A0"/>
                                      </a:solidFill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i="1">
                                    <a:ln>
                                      <a:solidFill>
                                        <a:srgbClr val="7030A0"/>
                                      </a:solidFill>
                                    </a:ln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en-US" b="0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oMath>
                    </m:oMathPara>
                  </a14:m>
                  <a:endParaRPr lang="en-US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178B4D8-3CEC-E26A-E3B0-B25DFD9E0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2210" y="4305060"/>
                  <a:ext cx="1945276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9ADF2D7-92B8-BB13-C6AF-08972B3C7E77}"/>
                    </a:ext>
                  </a:extLst>
                </p:cNvPr>
                <p:cNvSpPr txBox="1"/>
                <p:nvPr/>
              </p:nvSpPr>
              <p:spPr>
                <a:xfrm>
                  <a:off x="5964213" y="4664142"/>
                  <a:ext cx="13181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≤20</m:t>
                        </m:r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9ADF2D7-92B8-BB13-C6AF-08972B3C7E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4213" y="4664142"/>
                  <a:ext cx="1318118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21FB8A-D788-CAFF-C158-6B4506F7BA70}"/>
                  </a:ext>
                </a:extLst>
              </p:cNvPr>
              <p:cNvSpPr txBox="1"/>
              <p:nvPr/>
            </p:nvSpPr>
            <p:spPr>
              <a:xfrm>
                <a:off x="4667129" y="1806541"/>
                <a:ext cx="20278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→20</m:t>
                      </m:r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n-US" i="1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62.8</m:t>
                      </m:r>
                    </m:oMath>
                  </m:oMathPara>
                </a14:m>
                <a:endParaRPr lang="en-US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21FB8A-D788-CAFF-C158-6B4506F7B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129" y="1806541"/>
                <a:ext cx="202786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10AD884-7E18-3829-F267-9AD1C973E0DA}"/>
              </a:ext>
            </a:extLst>
          </p:cNvPr>
          <p:cNvCxnSpPr>
            <a:cxnSpLocks/>
          </p:cNvCxnSpPr>
          <p:nvPr/>
        </p:nvCxnSpPr>
        <p:spPr>
          <a:xfrm>
            <a:off x="5917406" y="2100263"/>
            <a:ext cx="250032" cy="431006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21CBF31-571D-7BDD-78BB-2B57ACC61899}"/>
              </a:ext>
            </a:extLst>
          </p:cNvPr>
          <p:cNvCxnSpPr>
            <a:cxnSpLocks/>
          </p:cNvCxnSpPr>
          <p:nvPr/>
        </p:nvCxnSpPr>
        <p:spPr>
          <a:xfrm flipV="1">
            <a:off x="6167438" y="2589550"/>
            <a:ext cx="0" cy="2368446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FA4867C-759A-D2C6-DE4C-54795FB44F6D}"/>
              </a:ext>
            </a:extLst>
          </p:cNvPr>
          <p:cNvSpPr/>
          <p:nvPr/>
        </p:nvSpPr>
        <p:spPr>
          <a:xfrm>
            <a:off x="2623279" y="3680085"/>
            <a:ext cx="187377" cy="19487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1C7C9F-54F8-9FDB-5483-EA0269DD8CB0}"/>
              </a:ext>
            </a:extLst>
          </p:cNvPr>
          <p:cNvSpPr/>
          <p:nvPr/>
        </p:nvSpPr>
        <p:spPr>
          <a:xfrm>
            <a:off x="4659634" y="1862595"/>
            <a:ext cx="187377" cy="19487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2F5BCBC6-DD8E-DFFF-18BE-647138D1BC84}"/>
              </a:ext>
            </a:extLst>
          </p:cNvPr>
          <p:cNvCxnSpPr>
            <a:stCxn id="19" idx="1"/>
            <a:endCxn id="18" idx="0"/>
          </p:cNvCxnSpPr>
          <p:nvPr/>
        </p:nvCxnSpPr>
        <p:spPr>
          <a:xfrm rot="10800000" flipV="1">
            <a:off x="2716968" y="1960031"/>
            <a:ext cx="1942666" cy="1720054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51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996E3A7-CB9C-F56C-5DDD-C725360FC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78" y="1157648"/>
            <a:ext cx="6887043" cy="5509635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plot3d_helix.py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9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21E0509-3913-0CB3-AE01-A7BF1AAEDD55}"/>
              </a:ext>
            </a:extLst>
          </p:cNvPr>
          <p:cNvGrpSpPr/>
          <p:nvPr/>
        </p:nvGrpSpPr>
        <p:grpSpPr>
          <a:xfrm>
            <a:off x="7073865" y="4407950"/>
            <a:ext cx="1337098" cy="861638"/>
            <a:chOff x="5483317" y="4305060"/>
            <a:chExt cx="1337098" cy="8616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178B4D8-3CEC-E26A-E3B0-B25DFD9E0C14}"/>
                    </a:ext>
                  </a:extLst>
                </p:cNvPr>
                <p:cNvSpPr txBox="1"/>
                <p:nvPr/>
              </p:nvSpPr>
              <p:spPr>
                <a:xfrm>
                  <a:off x="5652210" y="4305060"/>
                  <a:ext cx="1168205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i="1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i="1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0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i="1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US" i="1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i="1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i="1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0" smtClean="0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i="1">
                                <a:ln>
                                  <a:solidFill>
                                    <a:srgbClr val="7030A0"/>
                                  </a:solidFill>
                                </a:ln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US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178B4D8-3CEC-E26A-E3B0-B25DFD9E0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2210" y="4305060"/>
                  <a:ext cx="1168205" cy="5539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9ADF2D7-92B8-BB13-C6AF-08972B3C7E77}"/>
                    </a:ext>
                  </a:extLst>
                </p:cNvPr>
                <p:cNvSpPr txBox="1"/>
                <p:nvPr/>
              </p:nvSpPr>
              <p:spPr>
                <a:xfrm>
                  <a:off x="5483317" y="4889699"/>
                  <a:ext cx="13181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≤20</m:t>
                        </m:r>
                        <m:r>
                          <a:rPr lang="en-US" b="0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9ADF2D7-92B8-BB13-C6AF-08972B3C7E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3317" y="4889699"/>
                  <a:ext cx="1318118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9077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3D Axes in matplotlib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57107"/>
                <a:ext cx="7886700" cy="506105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sz="2400" dirty="0">
                    <a:ea typeface="Cambria Math" panose="02040503050406030204" pitchFamily="18" charset="0"/>
                  </a:rPr>
                  <a:t>Constructing a 3D plot (Cartesian coordinates) using </a:t>
                </a:r>
                <a:r>
                  <a:rPr lang="en-US" sz="2400" b="1" dirty="0">
                    <a:ea typeface="Cambria Math" panose="02040503050406030204" pitchFamily="18" charset="0"/>
                  </a:rPr>
                  <a:t>matplotlib</a:t>
                </a:r>
                <a:r>
                  <a:rPr lang="en-US" sz="2400" dirty="0">
                    <a:ea typeface="Cambria Math" panose="02040503050406030204" pitchFamily="18" charset="0"/>
                  </a:rPr>
                  <a:t> can be done using two different approaches:</a:t>
                </a:r>
              </a:p>
              <a:p>
                <a:pPr marL="457200" indent="-457200">
                  <a:spcBef>
                    <a:spcPts val="0"/>
                  </a:spcBef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400" dirty="0">
                    <a:ea typeface="Cambria Math" panose="02040503050406030204" pitchFamily="18" charset="0"/>
                  </a:rPr>
                  <a:t>Define a set of 3D </a:t>
                </a:r>
                <a:r>
                  <a:rPr lang="en-US" sz="2400" b="1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vertices</a:t>
                </a:r>
                <a:r>
                  <a:rPr lang="en-US" sz="2400" dirty="0">
                    <a:ea typeface="Cambria Math" panose="02040503050406030204" pitchFamily="18" charset="0"/>
                  </a:rPr>
                  <a:t> and then </a:t>
                </a:r>
                <a:r>
                  <a:rPr lang="en-US" sz="24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manually</a:t>
                </a:r>
                <a:r>
                  <a:rPr lang="en-US" sz="2400" dirty="0">
                    <a:ea typeface="Cambria Math" panose="02040503050406030204" pitchFamily="18" charset="0"/>
                  </a:rPr>
                  <a:t> group these vertices into </a:t>
                </a:r>
                <a:r>
                  <a:rPr lang="en-US" sz="2400" b="1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facets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ea typeface="Cambria Math" panose="02040503050406030204" pitchFamily="18" charset="0"/>
                  </a:rPr>
                  <a:t>This approach gives maximal rendering control but is slower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ea typeface="Cambria Math" panose="02040503050406030204" pitchFamily="18" charset="0"/>
                  </a:rPr>
                  <a:t>Leverages the capabilities of </a:t>
                </a:r>
                <a:r>
                  <a:rPr lang="en-US" sz="2000" b="1" dirty="0">
                    <a:ea typeface="Cambria Math" panose="02040503050406030204" pitchFamily="18" charset="0"/>
                  </a:rPr>
                  <a:t>Poly3DCollection</a:t>
                </a:r>
              </a:p>
              <a:p>
                <a:pPr marL="457200" indent="-457200">
                  <a:spcBef>
                    <a:spcPts val="0"/>
                  </a:spcBef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400" dirty="0">
                    <a:ea typeface="Cambria Math" panose="02040503050406030204" pitchFamily="18" charset="0"/>
                  </a:rPr>
                  <a:t>Provide three arrays containing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vertices and then let matplotlib determine how </a:t>
                </a:r>
                <a:r>
                  <a:rPr lang="en-US" sz="2400" b="1" i="1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best</a:t>
                </a:r>
                <a:r>
                  <a:rPr lang="en-US" sz="2400" dirty="0">
                    <a:ea typeface="Cambria Math" panose="02040503050406030204" pitchFamily="18" charset="0"/>
                  </a:rPr>
                  <a:t> to connect them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ea typeface="Cambria Math" panose="02040503050406030204" pitchFamily="18" charset="0"/>
                  </a:rPr>
                  <a:t>No lines connecting the points = </a:t>
                </a:r>
                <a:r>
                  <a:rPr lang="en-US" sz="2000" b="1" dirty="0">
                    <a:ea typeface="Cambria Math" panose="02040503050406030204" pitchFamily="18" charset="0"/>
                  </a:rPr>
                  <a:t>scatter plot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ea typeface="Cambria Math" panose="02040503050406030204" pitchFamily="18" charset="0"/>
                  </a:rPr>
                  <a:t>Only lines connecting the points = </a:t>
                </a:r>
                <a:r>
                  <a:rPr lang="en-US" sz="2000" b="1" dirty="0">
                    <a:ea typeface="Cambria Math" panose="02040503050406030204" pitchFamily="18" charset="0"/>
                  </a:rPr>
                  <a:t>wireframe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ea typeface="Cambria Math" panose="02040503050406030204" pitchFamily="18" charset="0"/>
                  </a:rPr>
                  <a:t>Filled polygons connecting </a:t>
                </a:r>
                <a:r>
                  <a:rPr lang="en-US" sz="2000" i="1" dirty="0">
                    <a:ea typeface="Cambria Math" panose="02040503050406030204" pitchFamily="18" charset="0"/>
                  </a:rPr>
                  <a:t>nearby</a:t>
                </a:r>
                <a:r>
                  <a:rPr lang="en-US" sz="2000" dirty="0">
                    <a:ea typeface="Cambria Math" panose="02040503050406030204" pitchFamily="18" charset="0"/>
                  </a:rPr>
                  <a:t> points = </a:t>
                </a:r>
                <a:r>
                  <a:rPr lang="en-US" sz="2000" b="1" dirty="0">
                    <a:ea typeface="Cambria Math" panose="02040503050406030204" pitchFamily="18" charset="0"/>
                  </a:rPr>
                  <a:t>surface plot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57107"/>
                <a:ext cx="7886700" cy="5061050"/>
              </a:xfrm>
              <a:blipFill>
                <a:blip r:embed="rId3"/>
                <a:stretch>
                  <a:fillRect l="-1236" t="-1685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CCD19D-21BF-0A23-ECC7-3811D6FFAE7B}"/>
              </a:ext>
            </a:extLst>
          </p:cNvPr>
          <p:cNvSpPr/>
          <p:nvPr/>
        </p:nvSpPr>
        <p:spPr>
          <a:xfrm>
            <a:off x="628650" y="2353456"/>
            <a:ext cx="7975704" cy="164891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1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Drawing a Monolith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11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E76C49-BE2C-45A7-8E55-BA8B5094F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197" y="1468581"/>
            <a:ext cx="7027606" cy="468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17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B9D852-F4B1-4EE4-8E11-4DD947E17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90" y="1135624"/>
            <a:ext cx="6609122" cy="5287299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3D Cartesian Coordinates in matplotlib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12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77AD6D-544C-46C8-BA31-2A35A3D0A443}"/>
              </a:ext>
            </a:extLst>
          </p:cNvPr>
          <p:cNvSpPr txBox="1"/>
          <p:nvPr/>
        </p:nvSpPr>
        <p:spPr>
          <a:xfrm>
            <a:off x="5625893" y="4875971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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1DFC38-11E7-4D38-AABD-9F1D3955D9AE}"/>
              </a:ext>
            </a:extLst>
          </p:cNvPr>
          <p:cNvSpPr txBox="1"/>
          <p:nvPr/>
        </p:nvSpPr>
        <p:spPr>
          <a:xfrm>
            <a:off x="5140125" y="2655305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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0153C-254B-4F15-8561-422D93CB5550}"/>
              </a:ext>
            </a:extLst>
          </p:cNvPr>
          <p:cNvSpPr txBox="1"/>
          <p:nvPr/>
        </p:nvSpPr>
        <p:spPr>
          <a:xfrm>
            <a:off x="5494087" y="4418150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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0EDEA3-4DBC-4FB1-9C02-57EED9C56EC8}"/>
              </a:ext>
            </a:extLst>
          </p:cNvPr>
          <p:cNvSpPr txBox="1"/>
          <p:nvPr/>
        </p:nvSpPr>
        <p:spPr>
          <a:xfrm>
            <a:off x="5625893" y="2987610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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049520-0B47-4353-86DE-0C79AF5B0879}"/>
              </a:ext>
            </a:extLst>
          </p:cNvPr>
          <p:cNvSpPr txBox="1"/>
          <p:nvPr/>
        </p:nvSpPr>
        <p:spPr>
          <a:xfrm>
            <a:off x="5962362" y="4661808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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A0C927-E213-4A7B-A402-E44573620BDA}"/>
              </a:ext>
            </a:extLst>
          </p:cNvPr>
          <p:cNvSpPr txBox="1"/>
          <p:nvPr/>
        </p:nvSpPr>
        <p:spPr>
          <a:xfrm>
            <a:off x="5140125" y="4580694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ym typeface="Wingdings" panose="05000000000000000000" pitchFamily="2" charset="2"/>
              </a:rPr>
              <a:t>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4560FA-0B79-486A-AD61-B91CD0CFA920}"/>
              </a:ext>
            </a:extLst>
          </p:cNvPr>
          <p:cNvSpPr txBox="1"/>
          <p:nvPr/>
        </p:nvSpPr>
        <p:spPr>
          <a:xfrm>
            <a:off x="5962362" y="2811949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ym typeface="Wingdings" panose="05000000000000000000" pitchFamily="2" charset="2"/>
              </a:rPr>
              <a:t>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2A0120-7517-4669-8E71-77DC9E849947}"/>
              </a:ext>
            </a:extLst>
          </p:cNvPr>
          <p:cNvSpPr txBox="1"/>
          <p:nvPr/>
        </p:nvSpPr>
        <p:spPr>
          <a:xfrm>
            <a:off x="5494087" y="2511197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ym typeface="Wingdings" panose="05000000000000000000" pitchFamily="2" charset="2"/>
              </a:rPr>
              <a:t>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DFF5F6-BE50-4C1D-8125-03D708916E7B}"/>
              </a:ext>
            </a:extLst>
          </p:cNvPr>
          <p:cNvGrpSpPr/>
          <p:nvPr/>
        </p:nvGrpSpPr>
        <p:grpSpPr>
          <a:xfrm>
            <a:off x="3419626" y="4544866"/>
            <a:ext cx="1855071" cy="553437"/>
            <a:chOff x="4757574" y="3841866"/>
            <a:chExt cx="1855071" cy="553437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CE37C30-1482-4B17-AA83-411B5C5008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57574" y="3890848"/>
              <a:ext cx="941726" cy="48333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422C656-F679-4DC0-9030-7D5BDB0AB32F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24" y="3890848"/>
              <a:ext cx="959321" cy="50445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A3C35D0-D829-420E-A19D-678AD1C9AAC5}"/>
                    </a:ext>
                  </a:extLst>
                </p:cNvPr>
                <p:cNvSpPr txBox="1"/>
                <p:nvPr/>
              </p:nvSpPr>
              <p:spPr>
                <a:xfrm rot="19934199">
                  <a:off x="4809896" y="3852554"/>
                  <a:ext cx="68882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n>
                              <a:solidFill>
                                <a:srgbClr val="0070C0"/>
                              </a:solidFill>
                            </a:ln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𝒘𝒊𝒅𝒕𝒉</m:t>
                        </m:r>
                      </m:oMath>
                    </m:oMathPara>
                  </a14:m>
                  <a:endParaRPr lang="en-US" b="1" dirty="0">
                    <a:ln>
                      <a:solidFill>
                        <a:srgbClr val="0070C0"/>
                      </a:solidFill>
                    </a:ln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A3C35D0-D829-420E-A19D-678AD1C9A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934199">
                  <a:off x="4809896" y="3852554"/>
                  <a:ext cx="688820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43C5BA7-8205-40FD-AEC0-FE27126E8116}"/>
                    </a:ext>
                  </a:extLst>
                </p:cNvPr>
                <p:cNvSpPr txBox="1"/>
                <p:nvPr/>
              </p:nvSpPr>
              <p:spPr>
                <a:xfrm rot="1673832">
                  <a:off x="5775484" y="3841866"/>
                  <a:ext cx="780826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n>
                              <a:solidFill>
                                <a:srgbClr val="0070C0"/>
                              </a:solidFill>
                            </a:ln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𝒍𝒆𝒏𝒈𝒕𝒉</m:t>
                        </m:r>
                      </m:oMath>
                    </m:oMathPara>
                  </a14:m>
                  <a:endParaRPr lang="en-US" b="1" dirty="0">
                    <a:ln>
                      <a:solidFill>
                        <a:srgbClr val="0070C0"/>
                      </a:solidFill>
                    </a:ln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43C5BA7-8205-40FD-AEC0-FE27126E81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73832">
                  <a:off x="5775484" y="3841866"/>
                  <a:ext cx="78082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8B1CAB9-36CF-4588-936C-A854ADDDF70C}"/>
              </a:ext>
            </a:extLst>
          </p:cNvPr>
          <p:cNvGrpSpPr/>
          <p:nvPr/>
        </p:nvGrpSpPr>
        <p:grpSpPr>
          <a:xfrm>
            <a:off x="6457950" y="2730224"/>
            <a:ext cx="1312733" cy="902113"/>
            <a:chOff x="6475587" y="2511523"/>
            <a:chExt cx="1312733" cy="902113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11F8001-22E9-4C5B-A2B9-A10D81E1FA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3192" y="2511523"/>
              <a:ext cx="26194" cy="90211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0D9837B-3FCE-4716-B298-1CCF0ACE7646}"/>
                </a:ext>
              </a:extLst>
            </p:cNvPr>
            <p:cNvCxnSpPr>
              <a:cxnSpLocks/>
            </p:cNvCxnSpPr>
            <p:nvPr/>
          </p:nvCxnSpPr>
          <p:spPr>
            <a:xfrm>
              <a:off x="6776289" y="2558851"/>
              <a:ext cx="1012031" cy="45246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184D5AC1-7E1A-46B5-8ADA-BB8DA8C0E0CC}"/>
                    </a:ext>
                  </a:extLst>
                </p:cNvPr>
                <p:cNvSpPr txBox="1"/>
                <p:nvPr/>
              </p:nvSpPr>
              <p:spPr>
                <a:xfrm rot="16200000">
                  <a:off x="6210130" y="2798035"/>
                  <a:ext cx="80791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n>
                              <a:solidFill>
                                <a:srgbClr val="0070C0"/>
                              </a:solidFill>
                            </a:ln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𝒉𝒆𝒊𝒈𝒉𝒕</m:t>
                        </m:r>
                      </m:oMath>
                    </m:oMathPara>
                  </a14:m>
                  <a:endParaRPr lang="en-US" b="1" dirty="0">
                    <a:ln>
                      <a:solidFill>
                        <a:srgbClr val="0070C0"/>
                      </a:solidFill>
                    </a:ln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184D5AC1-7E1A-46B5-8ADA-BB8DA8C0E0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210130" y="2798035"/>
                  <a:ext cx="80791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5177BC4-1910-4B25-984A-1F02A75D9595}"/>
                    </a:ext>
                  </a:extLst>
                </p:cNvPr>
                <p:cNvSpPr txBox="1"/>
                <p:nvPr/>
              </p:nvSpPr>
              <p:spPr>
                <a:xfrm rot="1418092">
                  <a:off x="6952945" y="2512266"/>
                  <a:ext cx="81111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n>
                              <a:solidFill>
                                <a:srgbClr val="0070C0"/>
                              </a:solidFill>
                            </a:ln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𝒍𝒆𝒏𝒈𝒕𝒉</m:t>
                        </m:r>
                      </m:oMath>
                    </m:oMathPara>
                  </a14:m>
                  <a:endParaRPr lang="en-US" b="1" dirty="0">
                    <a:ln>
                      <a:solidFill>
                        <a:srgbClr val="0070C0"/>
                      </a:solidFill>
                    </a:ln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5177BC4-1910-4B25-984A-1F02A75D95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418092">
                  <a:off x="6952945" y="2512266"/>
                  <a:ext cx="811119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CF84665-488E-4A33-2664-C809773E2C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027" y="1486900"/>
            <a:ext cx="4244344" cy="240895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07A7C5-4AF9-AD54-E33E-ED084B8AD563}"/>
              </a:ext>
            </a:extLst>
          </p:cNvPr>
          <p:cNvSpPr/>
          <p:nvPr/>
        </p:nvSpPr>
        <p:spPr>
          <a:xfrm>
            <a:off x="376238" y="2195513"/>
            <a:ext cx="2143125" cy="1666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C7B9E-AFDA-627A-7618-0B07260EA527}"/>
              </a:ext>
            </a:extLst>
          </p:cNvPr>
          <p:cNvSpPr/>
          <p:nvPr/>
        </p:nvSpPr>
        <p:spPr>
          <a:xfrm>
            <a:off x="1419845" y="3510590"/>
            <a:ext cx="1730550" cy="1666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5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31" grpId="0"/>
      <p:bldP spid="35" grpId="0"/>
      <p:bldP spid="39" grpId="0"/>
      <p:bldP spid="41" grpId="0"/>
      <p:bldP spid="42" grpId="0"/>
      <p:bldP spid="48" grpId="0"/>
      <p:bldP spid="4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B9D852-F4B1-4EE4-8E11-4DD947E17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90" y="1135624"/>
            <a:ext cx="6609122" cy="5287299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3D Cartesian Coordinates in matplotlib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13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77AD6D-544C-46C8-BA31-2A35A3D0A443}"/>
              </a:ext>
            </a:extLst>
          </p:cNvPr>
          <p:cNvSpPr txBox="1"/>
          <p:nvPr/>
        </p:nvSpPr>
        <p:spPr>
          <a:xfrm>
            <a:off x="5578593" y="2696546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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1DFC38-11E7-4D38-AABD-9F1D3955D9AE}"/>
              </a:ext>
            </a:extLst>
          </p:cNvPr>
          <p:cNvSpPr txBox="1"/>
          <p:nvPr/>
        </p:nvSpPr>
        <p:spPr>
          <a:xfrm>
            <a:off x="5074201" y="4942561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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20153C-254B-4F15-8561-422D93CB5550}"/>
              </a:ext>
            </a:extLst>
          </p:cNvPr>
          <p:cNvSpPr txBox="1"/>
          <p:nvPr/>
        </p:nvSpPr>
        <p:spPr>
          <a:xfrm>
            <a:off x="5984173" y="4162624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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0EDEA3-4DBC-4FB1-9C02-57EED9C56EC8}"/>
              </a:ext>
            </a:extLst>
          </p:cNvPr>
          <p:cNvSpPr txBox="1"/>
          <p:nvPr/>
        </p:nvSpPr>
        <p:spPr>
          <a:xfrm>
            <a:off x="6165479" y="3358468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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049520-0B47-4353-86DE-0C79AF5B0879}"/>
              </a:ext>
            </a:extLst>
          </p:cNvPr>
          <p:cNvSpPr txBox="1"/>
          <p:nvPr/>
        </p:nvSpPr>
        <p:spPr>
          <a:xfrm>
            <a:off x="5140841" y="3730513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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A0C927-E213-4A7B-A402-E44573620BDA}"/>
              </a:ext>
            </a:extLst>
          </p:cNvPr>
          <p:cNvSpPr txBox="1"/>
          <p:nvPr/>
        </p:nvSpPr>
        <p:spPr>
          <a:xfrm>
            <a:off x="5560485" y="4580694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defRPr>
            </a:lvl1pPr>
          </a:lstStyle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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31" grpId="0"/>
      <p:bldP spid="35" grpId="0"/>
      <p:bldP spid="39" grpId="0"/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B9D852-F4B1-4EE4-8E11-4DD947E17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90" y="1135624"/>
            <a:ext cx="6609122" cy="5287299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3D Cartesian Coordinates in matplotlib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14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77AD6D-544C-46C8-BA31-2A35A3D0A443}"/>
              </a:ext>
            </a:extLst>
          </p:cNvPr>
          <p:cNvSpPr txBox="1"/>
          <p:nvPr/>
        </p:nvSpPr>
        <p:spPr>
          <a:xfrm>
            <a:off x="5578593" y="2696546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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1DFC38-11E7-4D38-AABD-9F1D3955D9AE}"/>
              </a:ext>
            </a:extLst>
          </p:cNvPr>
          <p:cNvSpPr txBox="1"/>
          <p:nvPr/>
        </p:nvSpPr>
        <p:spPr>
          <a:xfrm>
            <a:off x="5074201" y="4942561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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0EDEA3-4DBC-4FB1-9C02-57EED9C56EC8}"/>
              </a:ext>
            </a:extLst>
          </p:cNvPr>
          <p:cNvSpPr txBox="1"/>
          <p:nvPr/>
        </p:nvSpPr>
        <p:spPr>
          <a:xfrm>
            <a:off x="6165479" y="3358468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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049520-0B47-4353-86DE-0C79AF5B0879}"/>
              </a:ext>
            </a:extLst>
          </p:cNvPr>
          <p:cNvSpPr txBox="1"/>
          <p:nvPr/>
        </p:nvSpPr>
        <p:spPr>
          <a:xfrm>
            <a:off x="5140841" y="3730513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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A0C927-E213-4A7B-A402-E44573620BDA}"/>
              </a:ext>
            </a:extLst>
          </p:cNvPr>
          <p:cNvSpPr txBox="1"/>
          <p:nvPr/>
        </p:nvSpPr>
        <p:spPr>
          <a:xfrm>
            <a:off x="5560485" y="4580694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defRPr>
            </a:lvl1pPr>
          </a:lstStyle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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232486-8B51-4AE7-9018-C20F39B3A4F1}"/>
              </a:ext>
            </a:extLst>
          </p:cNvPr>
          <p:cNvSpPr txBox="1"/>
          <p:nvPr/>
        </p:nvSpPr>
        <p:spPr>
          <a:xfrm>
            <a:off x="5625893" y="4875971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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3D5F1E-E972-418F-B138-2C64E1B6F6FB}"/>
              </a:ext>
            </a:extLst>
          </p:cNvPr>
          <p:cNvSpPr txBox="1"/>
          <p:nvPr/>
        </p:nvSpPr>
        <p:spPr>
          <a:xfrm>
            <a:off x="5140125" y="2655305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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A582A9-BC40-450A-86A7-3656D4B77690}"/>
              </a:ext>
            </a:extLst>
          </p:cNvPr>
          <p:cNvSpPr txBox="1"/>
          <p:nvPr/>
        </p:nvSpPr>
        <p:spPr>
          <a:xfrm>
            <a:off x="5494087" y="4418150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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C294CD-E3CC-46CD-B034-839E4841935E}"/>
              </a:ext>
            </a:extLst>
          </p:cNvPr>
          <p:cNvSpPr txBox="1"/>
          <p:nvPr/>
        </p:nvSpPr>
        <p:spPr>
          <a:xfrm>
            <a:off x="5625893" y="2987610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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56F9C4-C3EA-4119-8779-31B5E9357130}"/>
              </a:ext>
            </a:extLst>
          </p:cNvPr>
          <p:cNvSpPr txBox="1"/>
          <p:nvPr/>
        </p:nvSpPr>
        <p:spPr>
          <a:xfrm>
            <a:off x="5962362" y="4661808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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E04C58-D25B-4F61-8DAE-D85C40589098}"/>
              </a:ext>
            </a:extLst>
          </p:cNvPr>
          <p:cNvSpPr txBox="1"/>
          <p:nvPr/>
        </p:nvSpPr>
        <p:spPr>
          <a:xfrm>
            <a:off x="5140125" y="4580694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ym typeface="Wingdings" panose="05000000000000000000" pitchFamily="2" charset="2"/>
              </a:rPr>
              <a:t>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408859-C88F-4FD5-A678-0E4327F6F4D0}"/>
              </a:ext>
            </a:extLst>
          </p:cNvPr>
          <p:cNvSpPr txBox="1"/>
          <p:nvPr/>
        </p:nvSpPr>
        <p:spPr>
          <a:xfrm>
            <a:off x="5962362" y="2811949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ym typeface="Wingdings" panose="05000000000000000000" pitchFamily="2" charset="2"/>
              </a:rPr>
              <a:t>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5B89CB-96D3-4874-827F-1D65540CA776}"/>
              </a:ext>
            </a:extLst>
          </p:cNvPr>
          <p:cNvSpPr txBox="1"/>
          <p:nvPr/>
        </p:nvSpPr>
        <p:spPr>
          <a:xfrm>
            <a:off x="5494087" y="2511197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ym typeface="Wingdings" panose="05000000000000000000" pitchFamily="2" charset="2"/>
              </a:rPr>
              <a:t>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548FF7-C28F-497E-B1BD-F7F4A679DA81}"/>
              </a:ext>
            </a:extLst>
          </p:cNvPr>
          <p:cNvSpPr txBox="1"/>
          <p:nvPr/>
        </p:nvSpPr>
        <p:spPr>
          <a:xfrm>
            <a:off x="5984173" y="4162624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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23E28-3559-6BD4-8A8E-C3DC3A04C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22" y="1364365"/>
            <a:ext cx="5486923" cy="11580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438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plot3d_monolith.py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15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9892BF-630D-65B3-CBF6-33190D18BD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7462"/>
          <a:stretch/>
        </p:blipFill>
        <p:spPr>
          <a:xfrm>
            <a:off x="1814857" y="1700466"/>
            <a:ext cx="5514286" cy="450348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6B5F8DA-9536-4BA0-8CAF-F4DAB8610CF4}"/>
              </a:ext>
            </a:extLst>
          </p:cNvPr>
          <p:cNvGrpSpPr/>
          <p:nvPr/>
        </p:nvGrpSpPr>
        <p:grpSpPr>
          <a:xfrm>
            <a:off x="7198750" y="2401032"/>
            <a:ext cx="1076632" cy="369332"/>
            <a:chOff x="4968362" y="2079211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AF6E51F-E30B-44E6-ABA8-2F7B42B66A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549349C-5330-433F-B8CE-34A31D9174A0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8FF33F-6891-4AD1-8450-F4B6EE5DAD60}"/>
              </a:ext>
            </a:extLst>
          </p:cNvPr>
          <p:cNvGrpSpPr/>
          <p:nvPr/>
        </p:nvGrpSpPr>
        <p:grpSpPr>
          <a:xfrm>
            <a:off x="4572000" y="3091935"/>
            <a:ext cx="1075303" cy="369332"/>
            <a:chOff x="6289887" y="2128061"/>
            <a:chExt cx="1075303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A2E67E-783B-4002-88DD-96BF864A60C8}"/>
                </a:ext>
              </a:extLst>
            </p:cNvPr>
            <p:cNvSpPr txBox="1"/>
            <p:nvPr/>
          </p:nvSpPr>
          <p:spPr>
            <a:xfrm>
              <a:off x="6981732" y="212806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3B1F164-8669-496D-84DB-6843A9141F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9887" y="231272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36238CC-AA3D-4675-A2F9-883AB76908AD}"/>
              </a:ext>
            </a:extLst>
          </p:cNvPr>
          <p:cNvGrpSpPr/>
          <p:nvPr/>
        </p:nvGrpSpPr>
        <p:grpSpPr>
          <a:xfrm>
            <a:off x="4651506" y="3763061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785C479-9905-4FCD-B649-AE549B92DE46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31C4E05-6916-4344-9CAC-73C785029A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447216F-AEBC-E203-D0EA-A9C738CF240E}"/>
              </a:ext>
            </a:extLst>
          </p:cNvPr>
          <p:cNvSpPr txBox="1"/>
          <p:nvPr/>
        </p:nvSpPr>
        <p:spPr>
          <a:xfrm>
            <a:off x="4470733" y="3559922"/>
            <a:ext cx="3015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Reserve space for 8 tuples in the list</a:t>
            </a:r>
          </a:p>
        </p:txBody>
      </p:sp>
    </p:spTree>
    <p:extLst>
      <p:ext uri="{BB962C8B-B14F-4D97-AF65-F5344CB8AC3E}">
        <p14:creationId xmlns:p14="http://schemas.microsoft.com/office/powerpoint/2010/main" val="284790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96E553-F2B8-4426-F1CD-2EF883ED7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99" y="1491866"/>
            <a:ext cx="7788603" cy="48320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plot3d_monolith.py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16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6B5F8DA-9536-4BA0-8CAF-F4DAB8610CF4}"/>
              </a:ext>
            </a:extLst>
          </p:cNvPr>
          <p:cNvGrpSpPr/>
          <p:nvPr/>
        </p:nvGrpSpPr>
        <p:grpSpPr>
          <a:xfrm>
            <a:off x="3246426" y="1491866"/>
            <a:ext cx="1076632" cy="369332"/>
            <a:chOff x="4968362" y="2079211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AF6E51F-E30B-44E6-ABA8-2F7B42B66A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549349C-5330-433F-B8CE-34A31D9174A0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8FF33F-6891-4AD1-8450-F4B6EE5DAD60}"/>
              </a:ext>
            </a:extLst>
          </p:cNvPr>
          <p:cNvGrpSpPr/>
          <p:nvPr/>
        </p:nvGrpSpPr>
        <p:grpSpPr>
          <a:xfrm>
            <a:off x="2811213" y="4400559"/>
            <a:ext cx="1075303" cy="369332"/>
            <a:chOff x="6289887" y="2128061"/>
            <a:chExt cx="1075303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A2E67E-783B-4002-88DD-96BF864A60C8}"/>
                </a:ext>
              </a:extLst>
            </p:cNvPr>
            <p:cNvSpPr txBox="1"/>
            <p:nvPr/>
          </p:nvSpPr>
          <p:spPr>
            <a:xfrm>
              <a:off x="6981732" y="212806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3B1F164-8669-496D-84DB-6843A9141F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9887" y="231272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36238CC-AA3D-4675-A2F9-883AB76908AD}"/>
              </a:ext>
            </a:extLst>
          </p:cNvPr>
          <p:cNvGrpSpPr/>
          <p:nvPr/>
        </p:nvGrpSpPr>
        <p:grpSpPr>
          <a:xfrm>
            <a:off x="3939600" y="5415695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785C479-9905-4FCD-B649-AE549B92DE46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31C4E05-6916-4344-9CAC-73C785029A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118CE3A-4873-26FF-3F65-1D2ACB5E5B4B}"/>
              </a:ext>
            </a:extLst>
          </p:cNvPr>
          <p:cNvSpPr/>
          <p:nvPr/>
        </p:nvSpPr>
        <p:spPr>
          <a:xfrm>
            <a:off x="1080655" y="3325091"/>
            <a:ext cx="1549190" cy="24182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A61AC3-89AB-810C-BC2A-8992290EA856}"/>
              </a:ext>
            </a:extLst>
          </p:cNvPr>
          <p:cNvSpPr/>
          <p:nvPr/>
        </p:nvSpPr>
        <p:spPr>
          <a:xfrm>
            <a:off x="2676076" y="3325091"/>
            <a:ext cx="570350" cy="24182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5A3781-607C-485A-E1A1-E44D0F1B583A}"/>
              </a:ext>
            </a:extLst>
          </p:cNvPr>
          <p:cNvSpPr/>
          <p:nvPr/>
        </p:nvSpPr>
        <p:spPr>
          <a:xfrm>
            <a:off x="4584908" y="3326350"/>
            <a:ext cx="1763505" cy="24182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A4469B-FEFA-63AE-85B6-EF8ACA4701EC}"/>
              </a:ext>
            </a:extLst>
          </p:cNvPr>
          <p:cNvSpPr/>
          <p:nvPr/>
        </p:nvSpPr>
        <p:spPr>
          <a:xfrm>
            <a:off x="6493740" y="3327609"/>
            <a:ext cx="1763505" cy="24182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5F03FFF-138C-F5CC-133C-A48DA91FF843}"/>
              </a:ext>
            </a:extLst>
          </p:cNvPr>
          <p:cNvGrpSpPr/>
          <p:nvPr/>
        </p:nvGrpSpPr>
        <p:grpSpPr>
          <a:xfrm>
            <a:off x="3639303" y="5729330"/>
            <a:ext cx="1064340" cy="369332"/>
            <a:chOff x="3647644" y="5421073"/>
            <a:chExt cx="1064340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437ED7-949A-4394-EA8B-F0CC54D878CC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69615FD-46F5-A619-7CE6-61FF42321A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C712EF4-0225-8E0C-7943-9CA2E12872F3}"/>
              </a:ext>
            </a:extLst>
          </p:cNvPr>
          <p:cNvSpPr txBox="1"/>
          <p:nvPr/>
        </p:nvSpPr>
        <p:spPr>
          <a:xfrm>
            <a:off x="4320185" y="1509012"/>
            <a:ext cx="3015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Reserve space for 6 tuples in the list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9B842F-8745-55F8-B969-E35603247449}"/>
              </a:ext>
            </a:extLst>
          </p:cNvPr>
          <p:cNvSpPr txBox="1"/>
          <p:nvPr/>
        </p:nvSpPr>
        <p:spPr>
          <a:xfrm>
            <a:off x="5499434" y="3652532"/>
            <a:ext cx="2874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This will make a wireframe drawing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41DDCEA-6CA2-4D18-77E5-F83CF6FD8F04}"/>
              </a:ext>
            </a:extLst>
          </p:cNvPr>
          <p:cNvGrpSpPr/>
          <p:nvPr/>
        </p:nvGrpSpPr>
        <p:grpSpPr>
          <a:xfrm>
            <a:off x="1735769" y="5938567"/>
            <a:ext cx="1068643" cy="369332"/>
            <a:chOff x="3647644" y="5359159"/>
            <a:chExt cx="1068643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3DAEAE-33CC-A49C-5EDE-3351BD5A1CE9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D30FFE3-225F-D179-8C23-E2AE52B72E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010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3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A17B47-CDA2-ABB8-4744-14ECF727B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897" y="1386162"/>
            <a:ext cx="6596206" cy="5276966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  <a:ln>
            <a:noFill/>
          </a:ln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plot3d_monolith.py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17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59586A-C043-4A33-BAEE-F1194E8FEF70}"/>
              </a:ext>
            </a:extLst>
          </p:cNvPr>
          <p:cNvSpPr txBox="1"/>
          <p:nvPr/>
        </p:nvSpPr>
        <p:spPr>
          <a:xfrm>
            <a:off x="7938989" y="4949724"/>
            <a:ext cx="781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endParaRPr lang="en-US" sz="4400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99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7563C8-F454-9381-C049-CCDAF972A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897" y="1386163"/>
            <a:ext cx="6596207" cy="5276966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  <a:ln>
            <a:noFill/>
          </a:ln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plot3d_monolith.py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18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5275DFDB-1847-B361-1242-4A14ECD8E587}"/>
              </a:ext>
            </a:extLst>
          </p:cNvPr>
          <p:cNvSpPr/>
          <p:nvPr/>
        </p:nvSpPr>
        <p:spPr>
          <a:xfrm>
            <a:off x="626561" y="2023670"/>
            <a:ext cx="1634865" cy="1103455"/>
          </a:xfrm>
          <a:prstGeom prst="wedgeRoundRectCallout">
            <a:avLst>
              <a:gd name="adj1" fmla="val 122663"/>
              <a:gd name="adj2" fmla="val 7133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Left-click and drag </a:t>
            </a:r>
            <a:r>
              <a:rPr lang="en-US" dirty="0"/>
              <a:t>to rotate the plot</a:t>
            </a:r>
          </a:p>
        </p:txBody>
      </p:sp>
    </p:spTree>
    <p:extLst>
      <p:ext uri="{BB962C8B-B14F-4D97-AF65-F5344CB8AC3E}">
        <p14:creationId xmlns:p14="http://schemas.microsoft.com/office/powerpoint/2010/main" val="374724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Drawing a Pyramid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19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F96198-4BB8-4AC7-B566-BEDDE5DAA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451" y="1575020"/>
            <a:ext cx="4251099" cy="34025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E7E53C-1AB8-459A-9937-50BB31C9F136}"/>
                  </a:ext>
                </a:extLst>
              </p:cNvPr>
              <p:cNvSpPr txBox="1"/>
              <p:nvPr/>
            </p:nvSpPr>
            <p:spPr>
              <a:xfrm>
                <a:off x="1952317" y="5471652"/>
                <a:ext cx="523936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/>
                  <a:t>Draw a pyramid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𝑤𝑖𝑑𝑡h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=150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h𝑒𝑖𝑔h𝑡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l-GR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E7E53C-1AB8-459A-9937-50BB31C9F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317" y="5471652"/>
                <a:ext cx="5239365" cy="707886"/>
              </a:xfrm>
              <a:prstGeom prst="rect">
                <a:avLst/>
              </a:prstGeom>
              <a:blipFill>
                <a:blip r:embed="rId4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90A257EE-E149-85CF-D3F1-1494D4562622}"/>
              </a:ext>
            </a:extLst>
          </p:cNvPr>
          <p:cNvGrpSpPr/>
          <p:nvPr/>
        </p:nvGrpSpPr>
        <p:grpSpPr>
          <a:xfrm>
            <a:off x="6018550" y="6063147"/>
            <a:ext cx="1768840" cy="409595"/>
            <a:chOff x="5981075" y="6083279"/>
            <a:chExt cx="1768840" cy="40959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9AFE54E-378C-78C0-3FC1-659FD9F32652}"/>
                </a:ext>
              </a:extLst>
            </p:cNvPr>
            <p:cNvSpPr txBox="1"/>
            <p:nvPr/>
          </p:nvSpPr>
          <p:spPr>
            <a:xfrm>
              <a:off x="6074921" y="6123542"/>
              <a:ext cx="16749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</a:rPr>
                <a:t>lowercase phi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F91200D-18F8-D5E8-B617-4FFF4FD22A09}"/>
                </a:ext>
              </a:extLst>
            </p:cNvPr>
            <p:cNvCxnSpPr/>
            <p:nvPr/>
          </p:nvCxnSpPr>
          <p:spPr>
            <a:xfrm flipH="1" flipV="1">
              <a:off x="5981075" y="6083279"/>
              <a:ext cx="247338" cy="167619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04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The Golden Ratio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20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99" y="2228943"/>
            <a:ext cx="2749010" cy="15883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02110" y="4325946"/>
                <a:ext cx="2047292" cy="1070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110" y="4325946"/>
                <a:ext cx="2047292" cy="107061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309327" y="5222242"/>
                <a:ext cx="4206023" cy="778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=1.6180339887…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327" y="5222242"/>
                <a:ext cx="4206023" cy="77835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02110" y="5299315"/>
                <a:ext cx="2045625" cy="7012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1+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110" y="5299315"/>
                <a:ext cx="2045625" cy="70128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145882" y="2775003"/>
                <a:ext cx="1502398" cy="7564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1+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882" y="2775003"/>
                <a:ext cx="1502398" cy="75642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145882" y="3801278"/>
                <a:ext cx="15806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5882" y="3801278"/>
                <a:ext cx="1580689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247" t="-1667" r="-1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396061" y="4604798"/>
                <a:ext cx="21166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061" y="4604798"/>
                <a:ext cx="2116669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3170" r="-317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458" y="365126"/>
            <a:ext cx="2350164" cy="152173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2100" y="365126"/>
            <a:ext cx="1902163" cy="15217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1EEB56-1E06-2BA0-7E6E-73DB0CD32F40}"/>
              </a:ext>
            </a:extLst>
          </p:cNvPr>
          <p:cNvSpPr txBox="1"/>
          <p:nvPr/>
        </p:nvSpPr>
        <p:spPr>
          <a:xfrm>
            <a:off x="2777085" y="3996784"/>
            <a:ext cx="1194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lowercase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phi</a:t>
            </a:r>
          </a:p>
        </p:txBody>
      </p:sp>
    </p:spTree>
    <p:extLst>
      <p:ext uri="{BB962C8B-B14F-4D97-AF65-F5344CB8AC3E}">
        <p14:creationId xmlns:p14="http://schemas.microsoft.com/office/powerpoint/2010/main" val="94487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4" grpId="0"/>
      <p:bldP spid="15" grpId="0"/>
      <p:bldP spid="16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F95FE07-8E10-BA8A-3E65-0197CB1ADE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133" y="1141576"/>
            <a:ext cx="5350582" cy="50572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Drawing a Pyramid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21</a:t>
            </a:fld>
            <a:endParaRPr lang="en-US" sz="1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E7E53C-1AB8-459A-9937-50BB31C9F136}"/>
                  </a:ext>
                </a:extLst>
              </p:cNvPr>
              <p:cNvSpPr txBox="1"/>
              <p:nvPr/>
            </p:nvSpPr>
            <p:spPr>
              <a:xfrm>
                <a:off x="1952317" y="6183387"/>
                <a:ext cx="52393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𝑤𝑖𝑑𝑡h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=150,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h𝑒𝑖𝑔h𝑡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𝑙𝑒𝑛𝑔𝑡h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el-G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E7E53C-1AB8-459A-9937-50BB31C9F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317" y="6183387"/>
                <a:ext cx="5239365" cy="400110"/>
              </a:xfrm>
              <a:prstGeom prst="rect">
                <a:avLst/>
              </a:prstGeom>
              <a:blipFill>
                <a:blip r:embed="rId4"/>
                <a:stretch>
                  <a:fillRect l="-233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57BCCBE-B666-8CBC-2058-2CC93F3DC541}"/>
              </a:ext>
            </a:extLst>
          </p:cNvPr>
          <p:cNvSpPr txBox="1"/>
          <p:nvPr/>
        </p:nvSpPr>
        <p:spPr>
          <a:xfrm>
            <a:off x="5050010" y="5129963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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0229FC-CF09-89C0-FC70-4E463AC9E006}"/>
              </a:ext>
            </a:extLst>
          </p:cNvPr>
          <p:cNvSpPr txBox="1"/>
          <p:nvPr/>
        </p:nvSpPr>
        <p:spPr>
          <a:xfrm>
            <a:off x="4084476" y="2808352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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EDB370-D3ED-E7CC-2ACE-C23A6CBCF63C}"/>
              </a:ext>
            </a:extLst>
          </p:cNvPr>
          <p:cNvSpPr txBox="1"/>
          <p:nvPr/>
        </p:nvSpPr>
        <p:spPr>
          <a:xfrm>
            <a:off x="3144330" y="3927666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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AAF9DE-DAA7-E4F7-DEEC-D65F9AA3DC92}"/>
              </a:ext>
            </a:extLst>
          </p:cNvPr>
          <p:cNvSpPr txBox="1"/>
          <p:nvPr/>
        </p:nvSpPr>
        <p:spPr>
          <a:xfrm>
            <a:off x="5428901" y="4112332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</a:t>
            </a:r>
            <a:endParaRPr lang="en-US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D5FD90-7411-5600-7A73-13BC9CE33287}"/>
              </a:ext>
            </a:extLst>
          </p:cNvPr>
          <p:cNvSpPr txBox="1"/>
          <p:nvPr/>
        </p:nvSpPr>
        <p:spPr>
          <a:xfrm>
            <a:off x="2739305" y="4886788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defRPr>
            </a:lvl1pPr>
          </a:lstStyle>
          <a:p>
            <a:r>
              <a:rPr lang="en-US" dirty="0">
                <a:sym typeface="Wingdings" panose="05000000000000000000" pitchFamily="2" charset="2"/>
              </a:rPr>
              <a:t>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D52919-6448-C358-2206-E91D06C4D7BC}"/>
              </a:ext>
            </a:extLst>
          </p:cNvPr>
          <p:cNvSpPr txBox="1"/>
          <p:nvPr/>
        </p:nvSpPr>
        <p:spPr>
          <a:xfrm>
            <a:off x="3072793" y="4239910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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314567-2381-E4B2-0232-5C5CA3EAC04A}"/>
              </a:ext>
            </a:extLst>
          </p:cNvPr>
          <p:cNvSpPr txBox="1"/>
          <p:nvPr/>
        </p:nvSpPr>
        <p:spPr>
          <a:xfrm>
            <a:off x="4845858" y="4239910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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3FB79E-F225-1BDE-2CF8-D7668403EC6D}"/>
              </a:ext>
            </a:extLst>
          </p:cNvPr>
          <p:cNvSpPr txBox="1"/>
          <p:nvPr/>
        </p:nvSpPr>
        <p:spPr>
          <a:xfrm>
            <a:off x="3851935" y="4928152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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190E94-BB33-E0EF-FD4F-49089C9E3C9B}"/>
              </a:ext>
            </a:extLst>
          </p:cNvPr>
          <p:cNvSpPr txBox="1"/>
          <p:nvPr/>
        </p:nvSpPr>
        <p:spPr>
          <a:xfrm>
            <a:off x="4084476" y="4500940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defRPr>
            </a:lvl1pPr>
          </a:lstStyle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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EB7D28-29FD-A539-DFBC-814160623B36}"/>
              </a:ext>
            </a:extLst>
          </p:cNvPr>
          <p:cNvSpPr txBox="1"/>
          <p:nvPr/>
        </p:nvSpPr>
        <p:spPr>
          <a:xfrm>
            <a:off x="4095040" y="3558334"/>
            <a:ext cx="38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</a:t>
            </a:r>
            <a:endParaRPr lang="en-US" b="1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94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8" grpId="0"/>
      <p:bldP spid="19" grpId="0"/>
      <p:bldP spid="20" grpId="0"/>
      <p:bldP spid="21" grpId="0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0E224-61F2-9A20-807B-F48ED692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C477CF-9A6D-16D5-7833-CF3B0B17E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069" y="1266143"/>
            <a:ext cx="6325863" cy="54347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4E4735-E54A-7A98-7D74-51BE1D43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87" y="365126"/>
            <a:ext cx="8264626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plot3d_pyramid.py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73A69-05E1-605D-1A1B-1DEFAD8EE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22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E7B81CF-B2D5-33D1-04E6-7EDB06E5C82F}"/>
              </a:ext>
            </a:extLst>
          </p:cNvPr>
          <p:cNvGrpSpPr/>
          <p:nvPr/>
        </p:nvGrpSpPr>
        <p:grpSpPr>
          <a:xfrm>
            <a:off x="2890285" y="1763363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2DE5E7B-3492-0259-2FD3-1544DC30AA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BFB8D68-6C03-156C-9B4E-E5C8535C4AC6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34BB07-D211-7957-FB64-2F2788B51BCA}"/>
              </a:ext>
            </a:extLst>
          </p:cNvPr>
          <p:cNvGrpSpPr/>
          <p:nvPr/>
        </p:nvGrpSpPr>
        <p:grpSpPr>
          <a:xfrm>
            <a:off x="4976532" y="2923169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E31B2EC-128B-7758-D91C-E13E659B9C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45411AD-A1D4-D99C-2620-10E6DA3C2747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BE7ECB-903E-7A35-4CFA-7B78F992BC2B}"/>
              </a:ext>
            </a:extLst>
          </p:cNvPr>
          <p:cNvGrpSpPr/>
          <p:nvPr/>
        </p:nvGrpSpPr>
        <p:grpSpPr>
          <a:xfrm>
            <a:off x="3978739" y="3690857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213C6F0-FBE7-5B1B-614E-17E6EC91EC3C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7CBAF76-F875-575D-4E42-EAAE84C190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CF3348-7FB6-2413-C4F9-5A9E1294AE03}"/>
              </a:ext>
            </a:extLst>
          </p:cNvPr>
          <p:cNvGrpSpPr/>
          <p:nvPr/>
        </p:nvGrpSpPr>
        <p:grpSpPr>
          <a:xfrm>
            <a:off x="4261880" y="4083926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776D87B-1EE6-359B-2E2C-F29B4DFFD76E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934045B-EA88-DA1C-F1FE-3BF5114A9C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0D6F8B0-6107-FD39-57F3-B3C10E1822A4}"/>
              </a:ext>
            </a:extLst>
          </p:cNvPr>
          <p:cNvGrpSpPr/>
          <p:nvPr/>
        </p:nvGrpSpPr>
        <p:grpSpPr>
          <a:xfrm>
            <a:off x="4489719" y="5039328"/>
            <a:ext cx="1068643" cy="369332"/>
            <a:chOff x="3647644" y="5359159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F47465E-329A-BFFA-8FBE-E28ECC691690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1768310-7E83-7EB1-7325-68E059846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C130D02-754B-EDD2-6889-DF6C9092E658}"/>
              </a:ext>
            </a:extLst>
          </p:cNvPr>
          <p:cNvGrpSpPr/>
          <p:nvPr/>
        </p:nvGrpSpPr>
        <p:grpSpPr>
          <a:xfrm>
            <a:off x="7196615" y="5987019"/>
            <a:ext cx="1076632" cy="369332"/>
            <a:chOff x="2157212" y="5373058"/>
            <a:chExt cx="1076632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524AF37-3AA5-AA96-3138-8C8F7AF5591B}"/>
                </a:ext>
              </a:extLst>
            </p:cNvPr>
            <p:cNvSpPr txBox="1"/>
            <p:nvPr/>
          </p:nvSpPr>
          <p:spPr>
            <a:xfrm>
              <a:off x="2850386" y="5373058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E44A549-F388-0878-ADA8-4B3690E9A7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73FD193-F2FD-B462-C271-F0E4215F00A4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171889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CBCD1C0-0CA8-D5BF-C763-77100B0162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857" y="1677447"/>
            <a:ext cx="7114286" cy="35333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687" y="365126"/>
            <a:ext cx="8264626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plot3d_pyramid.py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23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A0E955A-080A-A5E9-0893-B6471AC9A5EF}"/>
              </a:ext>
            </a:extLst>
          </p:cNvPr>
          <p:cNvGrpSpPr/>
          <p:nvPr/>
        </p:nvGrpSpPr>
        <p:grpSpPr>
          <a:xfrm>
            <a:off x="3064689" y="1625376"/>
            <a:ext cx="1076632" cy="369332"/>
            <a:chOff x="4968362" y="2079211"/>
            <a:chExt cx="1076632" cy="369332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771DF18-8F94-17EE-5FBA-27C604A3AD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2C83671-F14F-0EFB-689A-94845709DA1A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C9CB5BB-C782-D226-0AB5-41031ED8D2A3}"/>
              </a:ext>
            </a:extLst>
          </p:cNvPr>
          <p:cNvSpPr/>
          <p:nvPr/>
        </p:nvSpPr>
        <p:spPr>
          <a:xfrm>
            <a:off x="3405188" y="1935956"/>
            <a:ext cx="2681287" cy="23821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8211B1-F8B8-8064-ED45-9209B3CC42A4}"/>
              </a:ext>
            </a:extLst>
          </p:cNvPr>
          <p:cNvSpPr/>
          <p:nvPr/>
        </p:nvSpPr>
        <p:spPr>
          <a:xfrm>
            <a:off x="6208148" y="1935956"/>
            <a:ext cx="1855197" cy="23821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10444AC-3DEA-8E96-AA69-703E8EE52EBA}"/>
              </a:ext>
            </a:extLst>
          </p:cNvPr>
          <p:cNvGrpSpPr/>
          <p:nvPr/>
        </p:nvGrpSpPr>
        <p:grpSpPr>
          <a:xfrm>
            <a:off x="4059109" y="3006954"/>
            <a:ext cx="1076632" cy="369332"/>
            <a:chOff x="4704120" y="2356972"/>
            <a:chExt cx="1076632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595697D-B027-9535-BB59-AD045D2D47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5AF3A2-E8A2-F968-CB08-A332AA38E385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7F10469-C9BC-FA30-6BA3-C9A8FB2C1821}"/>
              </a:ext>
            </a:extLst>
          </p:cNvPr>
          <p:cNvGrpSpPr/>
          <p:nvPr/>
        </p:nvGrpSpPr>
        <p:grpSpPr>
          <a:xfrm>
            <a:off x="4062368" y="4604675"/>
            <a:ext cx="1068643" cy="369332"/>
            <a:chOff x="3647644" y="4910075"/>
            <a:chExt cx="1068643" cy="369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F6DBBDF-22B6-E983-1A72-C501C0A92DBA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4F2339F-9124-AA1A-A45D-A8401492BC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DB26455-ED1F-78F9-4598-04DE63758D46}"/>
              </a:ext>
            </a:extLst>
          </p:cNvPr>
          <p:cNvGrpSpPr/>
          <p:nvPr/>
        </p:nvGrpSpPr>
        <p:grpSpPr>
          <a:xfrm>
            <a:off x="2081410" y="4853414"/>
            <a:ext cx="1064340" cy="369332"/>
            <a:chOff x="3647644" y="5421073"/>
            <a:chExt cx="1064340" cy="3693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ACB17EC-9236-5BA8-10BE-4DDA91B2BB01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AB41FCA-8217-7C8A-0BAD-772C22381E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1185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687" y="365126"/>
            <a:ext cx="8264626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plot3d_pyramid.py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24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F07673-EB58-48A3-9B4C-D540D793D316}"/>
              </a:ext>
            </a:extLst>
          </p:cNvPr>
          <p:cNvSpPr txBox="1"/>
          <p:nvPr/>
        </p:nvSpPr>
        <p:spPr>
          <a:xfrm>
            <a:off x="7938989" y="4949724"/>
            <a:ext cx="781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US" sz="44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10E3CC-2296-ADEB-03B8-8B164A7A1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671" y="1382197"/>
            <a:ext cx="5114657" cy="490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0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7D6E3-DC27-1F78-CCCB-B82E5046A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127260-9B8E-3E80-E549-36B281742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068" y="1266143"/>
            <a:ext cx="6325863" cy="54347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F1E43A-78B3-9FCC-8145-EA91378BC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87" y="365126"/>
            <a:ext cx="8264626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plot3d_pyramid.py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B323F-DC8D-4015-36B0-891DE4FE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25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B6B9C62-3719-5193-73A6-FECD3CFC6CF1}"/>
              </a:ext>
            </a:extLst>
          </p:cNvPr>
          <p:cNvGrpSpPr/>
          <p:nvPr/>
        </p:nvGrpSpPr>
        <p:grpSpPr>
          <a:xfrm>
            <a:off x="5668681" y="3686588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D852AE2-8519-3961-EFBF-AF5055C592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4A7DB7-6A0F-4884-82F0-2908E28B7C8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ADBCF3-5F40-B0D0-234B-12947606CE03}"/>
              </a:ext>
            </a:extLst>
          </p:cNvPr>
          <p:cNvGrpSpPr/>
          <p:nvPr/>
        </p:nvGrpSpPr>
        <p:grpSpPr>
          <a:xfrm>
            <a:off x="6223039" y="5037511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382932F-9F55-3D40-39A4-460A4B1CBC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F86D4DC-11E9-6EF9-6EC3-DECF1041150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124532C-BE45-EBC7-D30E-E1D6DBC0E571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52911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931D5-3641-16AF-94A4-4E10B6CCB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A96B74-540C-CF7B-D95F-907FD8CCB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333" y="1075973"/>
            <a:ext cx="5933333" cy="55238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501C17-FE49-8326-6557-FAB33284B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87" y="365126"/>
            <a:ext cx="8264626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plot3d_pyramid.py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C7A2E-DB95-6C9C-BF72-3D3819DD6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26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AB54BD-BC6A-5208-1693-2F57A0D2253F}"/>
              </a:ext>
            </a:extLst>
          </p:cNvPr>
          <p:cNvSpPr txBox="1"/>
          <p:nvPr/>
        </p:nvSpPr>
        <p:spPr>
          <a:xfrm>
            <a:off x="7938989" y="4949724"/>
            <a:ext cx="781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</a:t>
            </a:r>
            <a:endParaRPr lang="en-US" sz="4400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505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3BD002-9B58-420C-9275-3D63618DE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745" y="1186848"/>
            <a:ext cx="3038783" cy="3024605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7EDCF8-EEF6-4102-9A1E-041954EC1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905" y="1664939"/>
            <a:ext cx="5203456" cy="4168048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687" y="365126"/>
            <a:ext cx="8264626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plot3d_pyramid.py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27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AD4524-5F78-46E6-B645-8AEC5559D1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22" y="4158849"/>
            <a:ext cx="3280031" cy="2502915"/>
          </a:xfrm>
          <a:prstGeom prst="rect">
            <a:avLst/>
          </a:prstGeom>
          <a:ln>
            <a:noFill/>
          </a:ln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A22817A8-FEF0-4D73-A208-820CD23E3951}"/>
              </a:ext>
            </a:extLst>
          </p:cNvPr>
          <p:cNvSpPr/>
          <p:nvPr/>
        </p:nvSpPr>
        <p:spPr>
          <a:xfrm>
            <a:off x="4351617" y="5477617"/>
            <a:ext cx="1634865" cy="1103455"/>
          </a:xfrm>
          <a:prstGeom prst="wedgeRoundRectCallout">
            <a:avLst>
              <a:gd name="adj1" fmla="val 71316"/>
              <a:gd name="adj2" fmla="val -8217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Left-click and drag</a:t>
            </a:r>
            <a:r>
              <a:rPr lang="en-US" dirty="0"/>
              <a:t> to rotate the plot</a:t>
            </a:r>
          </a:p>
        </p:txBody>
      </p:sp>
    </p:spTree>
    <p:extLst>
      <p:ext uri="{BB962C8B-B14F-4D97-AF65-F5344CB8AC3E}">
        <p14:creationId xmlns:p14="http://schemas.microsoft.com/office/powerpoint/2010/main" val="228577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3D Axes in matplotlib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57107"/>
                <a:ext cx="7886700" cy="506105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sz="2400" dirty="0">
                    <a:ea typeface="Cambria Math" panose="02040503050406030204" pitchFamily="18" charset="0"/>
                  </a:rPr>
                  <a:t>Constructing a 3D plot (Cartesian coordinates) using </a:t>
                </a:r>
                <a:r>
                  <a:rPr lang="en-US" sz="2400" b="1" dirty="0">
                    <a:ea typeface="Cambria Math" panose="02040503050406030204" pitchFamily="18" charset="0"/>
                  </a:rPr>
                  <a:t>matplotlib</a:t>
                </a:r>
                <a:r>
                  <a:rPr lang="en-US" sz="2400" dirty="0">
                    <a:ea typeface="Cambria Math" panose="02040503050406030204" pitchFamily="18" charset="0"/>
                  </a:rPr>
                  <a:t> can be done using two different approaches:</a:t>
                </a:r>
              </a:p>
              <a:p>
                <a:pPr marL="457200" indent="-457200">
                  <a:spcBef>
                    <a:spcPts val="0"/>
                  </a:spcBef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Define a set of 3D </a:t>
                </a:r>
                <a:r>
                  <a:rPr lang="en-US" sz="2400" b="1" dirty="0">
                    <a:solidFill>
                      <a:schemeClr val="bg1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vertices</a:t>
                </a: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 and then </a:t>
                </a:r>
                <a:r>
                  <a:rPr lang="en-US" sz="2400" b="1" dirty="0">
                    <a:solidFill>
                      <a:schemeClr val="bg1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manually</a:t>
                </a:r>
                <a:r>
                  <a:rPr lang="en-US" sz="2400" dirty="0">
                    <a:solidFill>
                      <a:schemeClr val="bg1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 group these vertices into </a:t>
                </a:r>
                <a:r>
                  <a:rPr lang="en-US" sz="2400" b="1" dirty="0">
                    <a:solidFill>
                      <a:schemeClr val="bg1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facets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This approach gives maximal rendering control but is slower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Leverages the capabilities of </a:t>
                </a:r>
                <a:r>
                  <a:rPr lang="en-US" sz="2000" b="1" dirty="0">
                    <a:solidFill>
                      <a:schemeClr val="bg1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Poly3DCollection</a:t>
                </a:r>
              </a:p>
              <a:p>
                <a:pPr marL="457200" indent="-457200">
                  <a:spcBef>
                    <a:spcPts val="0"/>
                  </a:spcBef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400" dirty="0">
                    <a:ea typeface="Cambria Math" panose="02040503050406030204" pitchFamily="18" charset="0"/>
                  </a:rPr>
                  <a:t>Provide three arrays containing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vertices and then let matplotlib determine how </a:t>
                </a:r>
                <a:r>
                  <a:rPr lang="en-US" sz="2400" b="1" i="1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best</a:t>
                </a:r>
                <a:r>
                  <a:rPr lang="en-US" sz="2400" dirty="0">
                    <a:ea typeface="Cambria Math" panose="02040503050406030204" pitchFamily="18" charset="0"/>
                  </a:rPr>
                  <a:t> to connect them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ea typeface="Cambria Math" panose="02040503050406030204" pitchFamily="18" charset="0"/>
                  </a:rPr>
                  <a:t>No lines connecting the points = </a:t>
                </a:r>
                <a:r>
                  <a:rPr lang="en-US" sz="2000" b="1" dirty="0">
                    <a:ea typeface="Cambria Math" panose="02040503050406030204" pitchFamily="18" charset="0"/>
                  </a:rPr>
                  <a:t>scatter plot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ea typeface="Cambria Math" panose="02040503050406030204" pitchFamily="18" charset="0"/>
                  </a:rPr>
                  <a:t>Only lines connecting the points = </a:t>
                </a:r>
                <a:r>
                  <a:rPr lang="en-US" sz="2000" b="1" dirty="0">
                    <a:ea typeface="Cambria Math" panose="02040503050406030204" pitchFamily="18" charset="0"/>
                  </a:rPr>
                  <a:t>wireframe</a:t>
                </a:r>
              </a:p>
              <a:p>
                <a:pPr lvl="1"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000" dirty="0">
                    <a:ea typeface="Cambria Math" panose="02040503050406030204" pitchFamily="18" charset="0"/>
                  </a:rPr>
                  <a:t>Filled polygons connecting </a:t>
                </a:r>
                <a:r>
                  <a:rPr lang="en-US" sz="2000" i="1" dirty="0">
                    <a:ea typeface="Cambria Math" panose="02040503050406030204" pitchFamily="18" charset="0"/>
                  </a:rPr>
                  <a:t>nearby</a:t>
                </a:r>
                <a:r>
                  <a:rPr lang="en-US" sz="2000" dirty="0">
                    <a:ea typeface="Cambria Math" panose="02040503050406030204" pitchFamily="18" charset="0"/>
                  </a:rPr>
                  <a:t> points = </a:t>
                </a:r>
                <a:r>
                  <a:rPr lang="en-US" sz="2000" b="1" dirty="0">
                    <a:ea typeface="Cambria Math" panose="02040503050406030204" pitchFamily="18" charset="0"/>
                  </a:rPr>
                  <a:t>surface plot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57107"/>
                <a:ext cx="7886700" cy="5061050"/>
              </a:xfrm>
              <a:blipFill>
                <a:blip r:embed="rId3"/>
                <a:stretch>
                  <a:fillRect l="-1236" t="-1685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28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AF6804-732B-274D-FCEC-8E2D4E07D08F}"/>
              </a:ext>
            </a:extLst>
          </p:cNvPr>
          <p:cNvSpPr/>
          <p:nvPr/>
        </p:nvSpPr>
        <p:spPr>
          <a:xfrm>
            <a:off x="628650" y="3994883"/>
            <a:ext cx="7975704" cy="216607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5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B7AD30-2AC0-4827-973F-070CF3D37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75" y="1480213"/>
            <a:ext cx="6831931" cy="51239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Poloidal and Toroidal Angles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29</a:t>
            </a:fld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C3B2264-4AF1-4A46-957C-27CA0A4D30F3}"/>
              </a:ext>
            </a:extLst>
          </p:cNvPr>
          <p:cNvGrpSpPr/>
          <p:nvPr/>
        </p:nvGrpSpPr>
        <p:grpSpPr>
          <a:xfrm>
            <a:off x="3997746" y="4483511"/>
            <a:ext cx="920841" cy="648928"/>
            <a:chOff x="3997746" y="4483511"/>
            <a:chExt cx="920841" cy="648928"/>
          </a:xfrm>
        </p:grpSpPr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6A9CF741-49E5-4C85-ABB7-6EDCA7F21E53}"/>
                </a:ext>
              </a:extLst>
            </p:cNvPr>
            <p:cNvSpPr/>
            <p:nvPr/>
          </p:nvSpPr>
          <p:spPr>
            <a:xfrm>
              <a:off x="3997746" y="4483511"/>
              <a:ext cx="920841" cy="648928"/>
            </a:xfrm>
            <a:prstGeom prst="arc">
              <a:avLst/>
            </a:prstGeom>
            <a:ln w="3810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19E9376-8CBC-411F-82EA-99CFD0D5D7F4}"/>
                    </a:ext>
                  </a:extLst>
                </p:cNvPr>
                <p:cNvSpPr txBox="1"/>
                <p:nvPr/>
              </p:nvSpPr>
              <p:spPr>
                <a:xfrm>
                  <a:off x="4508500" y="4610351"/>
                  <a:ext cx="2019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n>
                              <a:solidFill>
                                <a:srgbClr val="00B050"/>
                              </a:solidFill>
                            </a:ln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19E9376-8CBC-411F-82EA-99CFD0D5D7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8500" y="4610351"/>
                  <a:ext cx="201978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C5124FD-2B2C-4A70-B603-B9C26DEC8644}"/>
              </a:ext>
            </a:extLst>
          </p:cNvPr>
          <p:cNvGrpSpPr/>
          <p:nvPr/>
        </p:nvGrpSpPr>
        <p:grpSpPr>
          <a:xfrm>
            <a:off x="3740096" y="4566179"/>
            <a:ext cx="1135286" cy="1032387"/>
            <a:chOff x="3740096" y="4566179"/>
            <a:chExt cx="1135286" cy="1032387"/>
          </a:xfrm>
        </p:grpSpPr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2BD4C7CC-E572-40A0-AD30-77F6B4B5FAD8}"/>
                </a:ext>
              </a:extLst>
            </p:cNvPr>
            <p:cNvSpPr/>
            <p:nvPr/>
          </p:nvSpPr>
          <p:spPr>
            <a:xfrm rot="7461237">
              <a:off x="3791545" y="4514730"/>
              <a:ext cx="1032387" cy="1135286"/>
            </a:xfrm>
            <a:prstGeom prst="arc">
              <a:avLst/>
            </a:prstGeom>
            <a:ln w="38100">
              <a:solidFill>
                <a:srgbClr val="0070C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C8DA53A-029B-428F-9CBF-351F7916BEF7}"/>
                    </a:ext>
                  </a:extLst>
                </p:cNvPr>
                <p:cNvSpPr txBox="1"/>
                <p:nvPr/>
              </p:nvSpPr>
              <p:spPr>
                <a:xfrm>
                  <a:off x="4301404" y="5290655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n>
                              <a:solidFill>
                                <a:srgbClr val="0070C0"/>
                              </a:solidFill>
                            </a:ln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oMath>
                    </m:oMathPara>
                  </a14:m>
                  <a:endParaRPr lang="en-US" b="1" dirty="0">
                    <a:ln>
                      <a:solidFill>
                        <a:srgbClr val="0070C0"/>
                      </a:solidFill>
                    </a:ln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C8DA53A-029B-428F-9CBF-351F7916BE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1404" y="5290655"/>
                  <a:ext cx="190758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027C0F4-6318-4F82-AF50-35EB166F3136}"/>
              </a:ext>
            </a:extLst>
          </p:cNvPr>
          <p:cNvGrpSpPr/>
          <p:nvPr/>
        </p:nvGrpSpPr>
        <p:grpSpPr>
          <a:xfrm>
            <a:off x="4427245" y="4351859"/>
            <a:ext cx="1103980" cy="835550"/>
            <a:chOff x="4427245" y="4351859"/>
            <a:chExt cx="1103980" cy="835550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DC61183-33A9-46AC-B687-82E932130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7245" y="4351859"/>
              <a:ext cx="1103980" cy="835550"/>
            </a:xfrm>
            <a:prstGeom prst="straightConnector1">
              <a:avLst/>
            </a:prstGeom>
            <a:ln w="57150">
              <a:solidFill>
                <a:srgbClr val="7030A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85F0854-D5D3-42C8-8412-3CAA2FF75982}"/>
                    </a:ext>
                  </a:extLst>
                </p:cNvPr>
                <p:cNvSpPr txBox="1"/>
                <p:nvPr/>
              </p:nvSpPr>
              <p:spPr>
                <a:xfrm>
                  <a:off x="5178158" y="4610351"/>
                  <a:ext cx="21319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en-US" b="1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85F0854-D5D3-42C8-8412-3CAA2FF759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8158" y="4610351"/>
                  <a:ext cx="213199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BF080D3-05BF-40D6-9199-E21915F2DB86}"/>
              </a:ext>
            </a:extLst>
          </p:cNvPr>
          <p:cNvGrpSpPr/>
          <p:nvPr/>
        </p:nvGrpSpPr>
        <p:grpSpPr>
          <a:xfrm>
            <a:off x="1276270" y="4807975"/>
            <a:ext cx="3158613" cy="339550"/>
            <a:chOff x="1276270" y="4807975"/>
            <a:chExt cx="3158613" cy="33955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8C9D4D0-209A-4A94-A02B-790388DEC4A6}"/>
                </a:ext>
              </a:extLst>
            </p:cNvPr>
            <p:cNvCxnSpPr>
              <a:cxnSpLocks/>
            </p:cNvCxnSpPr>
            <p:nvPr/>
          </p:nvCxnSpPr>
          <p:spPr>
            <a:xfrm>
              <a:off x="1276270" y="5147525"/>
              <a:ext cx="3158613" cy="0"/>
            </a:xfrm>
            <a:prstGeom prst="straightConnector1">
              <a:avLst/>
            </a:prstGeom>
            <a:ln w="57150">
              <a:solidFill>
                <a:srgbClr val="7030A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FD5BF67-B650-4AA8-9F35-B678267694E3}"/>
                    </a:ext>
                  </a:extLst>
                </p:cNvPr>
                <p:cNvSpPr txBox="1"/>
                <p:nvPr/>
              </p:nvSpPr>
              <p:spPr>
                <a:xfrm>
                  <a:off x="2692102" y="4807975"/>
                  <a:ext cx="21319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n>
                              <a:solidFill>
                                <a:srgbClr val="7030A0"/>
                              </a:solidFill>
                            </a:ln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m:oMathPara>
                  </a14:m>
                  <a:endParaRPr lang="en-US" b="1" dirty="0">
                    <a:ln>
                      <a:solidFill>
                        <a:srgbClr val="7030A0"/>
                      </a:solidFill>
                    </a:ln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FD5BF67-B650-4AA8-9F35-B678267694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2102" y="4807975"/>
                  <a:ext cx="213199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0B28E0F-1A42-47C1-A67E-994B3A016EEF}"/>
                  </a:ext>
                </a:extLst>
              </p:cNvPr>
              <p:cNvSpPr txBox="1"/>
              <p:nvPr/>
            </p:nvSpPr>
            <p:spPr>
              <a:xfrm>
                <a:off x="363941" y="2126294"/>
                <a:ext cx="19623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radius of sphere</a:t>
                </a:r>
                <a:endParaRPr lang="en-US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0B28E0F-1A42-47C1-A67E-994B3A016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41" y="2126294"/>
                <a:ext cx="1962332" cy="276999"/>
              </a:xfrm>
              <a:prstGeom prst="rect">
                <a:avLst/>
              </a:prstGeom>
              <a:blipFill>
                <a:blip r:embed="rId9"/>
                <a:stretch>
                  <a:fillRect l="-311" t="-28889" r="-6832" b="-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5A34E1-D95E-434C-8848-17BF2A9B01C5}"/>
                  </a:ext>
                </a:extLst>
              </p:cNvPr>
              <p:cNvSpPr txBox="1"/>
              <p:nvPr/>
            </p:nvSpPr>
            <p:spPr>
              <a:xfrm>
                <a:off x="363941" y="1438901"/>
                <a:ext cx="309764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smtClean="0">
                        <a:ln>
                          <a:solidFill>
                            <a:srgbClr val="00B050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poloidal</a:t>
                </a:r>
                <a:r>
                  <a:rPr lang="en-US" dirty="0"/>
                  <a:t> (latitude)</a:t>
                </a:r>
              </a:p>
              <a:p>
                <a:r>
                  <a:rPr lang="en-US" dirty="0"/>
                  <a:t>North to South Pole (vertical)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5A34E1-D95E-434C-8848-17BF2A9B0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41" y="1438901"/>
                <a:ext cx="3097643" cy="553998"/>
              </a:xfrm>
              <a:prstGeom prst="rect">
                <a:avLst/>
              </a:prstGeom>
              <a:blipFill>
                <a:blip r:embed="rId10"/>
                <a:stretch>
                  <a:fillRect l="-4724" t="-14286" r="-4528" b="-25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AE64AA-4F3C-4939-B5D3-26170CD395D7}"/>
                  </a:ext>
                </a:extLst>
              </p:cNvPr>
              <p:cNvSpPr txBox="1"/>
              <p:nvPr/>
            </p:nvSpPr>
            <p:spPr>
              <a:xfrm>
                <a:off x="5439813" y="1465465"/>
                <a:ext cx="33632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smtClean="0">
                        <a:ln>
                          <a:solidFill>
                            <a:srgbClr val="0070C0"/>
                          </a:solidFill>
                        </a:ln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toroidal</a:t>
                </a:r>
                <a:r>
                  <a:rPr lang="en-US" dirty="0"/>
                  <a:t> (longitude)</a:t>
                </a:r>
              </a:p>
              <a:p>
                <a:pPr algn="r"/>
                <a:r>
                  <a:rPr lang="en-US" dirty="0"/>
                  <a:t>Around the slice (horizontal)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DAE64AA-4F3C-4939-B5D3-26170CD39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813" y="1465465"/>
                <a:ext cx="3363293" cy="553998"/>
              </a:xfrm>
              <a:prstGeom prst="rect">
                <a:avLst/>
              </a:prstGeom>
              <a:blipFill>
                <a:blip r:embed="rId11"/>
                <a:stretch>
                  <a:fillRect l="-2174" t="-14286" r="-4348" b="-25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7741F67-2F91-4E52-91B5-C57F4DA69929}"/>
                  </a:ext>
                </a:extLst>
              </p:cNvPr>
              <p:cNvSpPr txBox="1"/>
              <p:nvPr/>
            </p:nvSpPr>
            <p:spPr>
              <a:xfrm>
                <a:off x="7124248" y="2147710"/>
                <a:ext cx="16788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n>
                              <a:solidFill>
                                <a:srgbClr val="FFC000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n>
                              <a:solidFill>
                                <a:srgbClr val="FFC000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n>
                              <a:solidFill>
                                <a:srgbClr val="FFC000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= radius of slice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7741F67-2F91-4E52-91B5-C57F4DA69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248" y="2147710"/>
                <a:ext cx="1678858" cy="276999"/>
              </a:xfrm>
              <a:prstGeom prst="rect">
                <a:avLst/>
              </a:prstGeom>
              <a:blipFill>
                <a:blip r:embed="rId12"/>
                <a:stretch>
                  <a:fillRect l="-364" t="-28261" r="-8364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8989F04-367C-4F78-BCCE-A82F512EF3A6}"/>
                  </a:ext>
                </a:extLst>
              </p:cNvPr>
              <p:cNvSpPr txBox="1"/>
              <p:nvPr/>
            </p:nvSpPr>
            <p:spPr>
              <a:xfrm>
                <a:off x="363941" y="2589164"/>
                <a:ext cx="11626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8989F04-367C-4F78-BCCE-A82F512EF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41" y="2589164"/>
                <a:ext cx="1162691" cy="276999"/>
              </a:xfrm>
              <a:prstGeom prst="rect">
                <a:avLst/>
              </a:prstGeom>
              <a:blipFill>
                <a:blip r:embed="rId13"/>
                <a:stretch>
                  <a:fillRect l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23477E6-DE7B-46C3-A1B6-7160305E09D3}"/>
                  </a:ext>
                </a:extLst>
              </p:cNvPr>
              <p:cNvSpPr txBox="1"/>
              <p:nvPr/>
            </p:nvSpPr>
            <p:spPr>
              <a:xfrm>
                <a:off x="363941" y="2948851"/>
                <a:ext cx="12571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b="1" i="1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func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23477E6-DE7B-46C3-A1B6-7160305E0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41" y="2948851"/>
                <a:ext cx="1257139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C34F6F6-6DAC-4C85-83FA-4CAC72E5449A}"/>
                  </a:ext>
                </a:extLst>
              </p:cNvPr>
              <p:cNvSpPr txBox="1"/>
              <p:nvPr/>
            </p:nvSpPr>
            <p:spPr>
              <a:xfrm>
                <a:off x="3305443" y="5657276"/>
                <a:ext cx="1907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C34F6F6-6DAC-4C85-83FA-4CAC72E54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443" y="5657276"/>
                <a:ext cx="190757" cy="276999"/>
              </a:xfrm>
              <a:prstGeom prst="rect">
                <a:avLst/>
              </a:prstGeom>
              <a:blipFill>
                <a:blip r:embed="rId15"/>
                <a:stretch>
                  <a:fillRect l="-31250" r="-2812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1216BE3-B65E-43ED-83E5-B8A50778AF64}"/>
                  </a:ext>
                </a:extLst>
              </p:cNvPr>
              <p:cNvSpPr txBox="1"/>
              <p:nvPr/>
            </p:nvSpPr>
            <p:spPr>
              <a:xfrm>
                <a:off x="6403759" y="4830260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1216BE3-B65E-43ED-83E5-B8A50778A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759" y="4830260"/>
                <a:ext cx="185948" cy="276999"/>
              </a:xfrm>
              <a:prstGeom prst="rect">
                <a:avLst/>
              </a:prstGeom>
              <a:blipFill>
                <a:blip r:embed="rId16"/>
                <a:stretch>
                  <a:fillRect l="-19355" r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53A16A0-25ED-42FE-81CD-FD64CE50BFDE}"/>
                  </a:ext>
                </a:extLst>
              </p:cNvPr>
              <p:cNvSpPr txBox="1"/>
              <p:nvPr/>
            </p:nvSpPr>
            <p:spPr>
              <a:xfrm>
                <a:off x="7577579" y="2599872"/>
                <a:ext cx="12255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53A16A0-25ED-42FE-81CD-FD64CE50B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579" y="2599872"/>
                <a:ext cx="1225527" cy="276999"/>
              </a:xfrm>
              <a:prstGeom prst="rect">
                <a:avLst/>
              </a:prstGeom>
              <a:blipFill>
                <a:blip r:embed="rId17"/>
                <a:stretch>
                  <a:fillRect l="-2488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B4C67E-58A7-4A2F-97A1-D9E0BA3218DB}"/>
                  </a:ext>
                </a:extLst>
              </p:cNvPr>
              <p:cNvSpPr txBox="1"/>
              <p:nvPr/>
            </p:nvSpPr>
            <p:spPr>
              <a:xfrm>
                <a:off x="7543722" y="2959559"/>
                <a:ext cx="12593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ln>
                                <a:solidFill>
                                  <a:srgbClr val="0070C0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1B4C67E-58A7-4A2F-97A1-D9E0BA321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722" y="2959559"/>
                <a:ext cx="1259384" cy="276999"/>
              </a:xfrm>
              <a:prstGeom prst="rect">
                <a:avLst/>
              </a:prstGeom>
              <a:blipFill>
                <a:blip r:embed="rId18"/>
                <a:stretch>
                  <a:fillRect l="-4348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85E46A92-807B-4874-A99C-0FE447AC6FA9}"/>
              </a:ext>
            </a:extLst>
          </p:cNvPr>
          <p:cNvSpPr/>
          <p:nvPr/>
        </p:nvSpPr>
        <p:spPr>
          <a:xfrm>
            <a:off x="4173794" y="3429000"/>
            <a:ext cx="225744" cy="225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A5D404-E0B1-4090-81DC-291E8258709E}"/>
                  </a:ext>
                </a:extLst>
              </p:cNvPr>
              <p:cNvSpPr txBox="1"/>
              <p:nvPr/>
            </p:nvSpPr>
            <p:spPr>
              <a:xfrm>
                <a:off x="4239289" y="3207767"/>
                <a:ext cx="1715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9A5D404-E0B1-4090-81DC-291E82587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289" y="3207767"/>
                <a:ext cx="171522" cy="276999"/>
              </a:xfrm>
              <a:prstGeom prst="rect">
                <a:avLst/>
              </a:prstGeom>
              <a:blipFill>
                <a:blip r:embed="rId19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4AAB510-A52C-43AD-83F5-7E23207895EB}"/>
                  </a:ext>
                </a:extLst>
              </p:cNvPr>
              <p:cNvSpPr txBox="1"/>
              <p:nvPr/>
            </p:nvSpPr>
            <p:spPr>
              <a:xfrm>
                <a:off x="1027721" y="3629754"/>
                <a:ext cx="1730233" cy="94474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func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func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4AAB510-A52C-43AD-83F5-7E2320789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721" y="3629754"/>
                <a:ext cx="1730233" cy="94474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E500939-A1D4-7469-43B7-F5C6FF1A452A}"/>
                  </a:ext>
                </a:extLst>
              </p:cNvPr>
              <p:cNvSpPr txBox="1"/>
              <p:nvPr/>
            </p:nvSpPr>
            <p:spPr>
              <a:xfrm>
                <a:off x="892821" y="5312823"/>
                <a:ext cx="2000032" cy="64633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For a unit sphere where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E500939-A1D4-7469-43B7-F5C6FF1A4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21" y="5312823"/>
                <a:ext cx="2000032" cy="646331"/>
              </a:xfrm>
              <a:prstGeom prst="rect">
                <a:avLst/>
              </a:prstGeom>
              <a:blipFill>
                <a:blip r:embed="rId21"/>
                <a:stretch>
                  <a:fillRect t="-3604" b="-10811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0184415-5320-A21A-24A2-A34ABAC4261C}"/>
              </a:ext>
            </a:extLst>
          </p:cNvPr>
          <p:cNvCxnSpPr/>
          <p:nvPr/>
        </p:nvCxnSpPr>
        <p:spPr>
          <a:xfrm>
            <a:off x="4467225" y="3714750"/>
            <a:ext cx="130969" cy="92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5CE782-8934-DB42-176C-94969CB886EB}"/>
              </a:ext>
            </a:extLst>
          </p:cNvPr>
          <p:cNvCxnSpPr>
            <a:cxnSpLocks/>
          </p:cNvCxnSpPr>
          <p:nvPr/>
        </p:nvCxnSpPr>
        <p:spPr>
          <a:xfrm flipH="1" flipV="1">
            <a:off x="4600575" y="3595688"/>
            <a:ext cx="2381" cy="214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D9DEF3-6C7D-CC43-87D2-4A465F708CF5}"/>
              </a:ext>
            </a:extLst>
          </p:cNvPr>
          <p:cNvCxnSpPr/>
          <p:nvPr/>
        </p:nvCxnSpPr>
        <p:spPr>
          <a:xfrm flipH="1">
            <a:off x="3762111" y="5853113"/>
            <a:ext cx="156367" cy="1374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AF3AC3-74C8-B92A-508A-BE1176C56D73}"/>
              </a:ext>
            </a:extLst>
          </p:cNvPr>
          <p:cNvCxnSpPr/>
          <p:nvPr/>
        </p:nvCxnSpPr>
        <p:spPr>
          <a:xfrm flipH="1">
            <a:off x="3656942" y="5853113"/>
            <a:ext cx="261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502DC3-8D8A-0266-ACDF-9291788D7FA7}"/>
              </a:ext>
            </a:extLst>
          </p:cNvPr>
          <p:cNvCxnSpPr>
            <a:cxnSpLocks/>
          </p:cNvCxnSpPr>
          <p:nvPr/>
        </p:nvCxnSpPr>
        <p:spPr>
          <a:xfrm>
            <a:off x="3475459" y="5999321"/>
            <a:ext cx="2082226" cy="0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headEnd type="none" w="med" len="med"/>
            <a:tailEnd type="triangle" w="med" len="med"/>
          </a:ln>
          <a:effectLst>
            <a:glow rad="38100">
              <a:srgbClr val="0070C0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00F951-6A40-67D6-E5A9-660FD362F42D}"/>
              </a:ext>
            </a:extLst>
          </p:cNvPr>
          <p:cNvCxnSpPr>
            <a:cxnSpLocks/>
          </p:cNvCxnSpPr>
          <p:nvPr/>
        </p:nvCxnSpPr>
        <p:spPr>
          <a:xfrm flipV="1">
            <a:off x="3482137" y="5173692"/>
            <a:ext cx="959643" cy="821660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headEnd type="triangle" w="med" len="med"/>
            <a:tailEnd type="none" w="med" len="med"/>
          </a:ln>
          <a:effectLst>
            <a:glow rad="38100">
              <a:srgbClr val="0070C0"/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992A57-5C9D-5705-C91B-51C9026CF16F}"/>
              </a:ext>
            </a:extLst>
          </p:cNvPr>
          <p:cNvCxnSpPr>
            <a:cxnSpLocks/>
          </p:cNvCxnSpPr>
          <p:nvPr/>
        </p:nvCxnSpPr>
        <p:spPr>
          <a:xfrm flipV="1">
            <a:off x="4457444" y="3503635"/>
            <a:ext cx="3455" cy="1659424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headEnd type="none" w="med" len="med"/>
            <a:tailEnd type="triangle" w="med" len="med"/>
          </a:ln>
          <a:effectLst>
            <a:glow rad="38100">
              <a:srgbClr val="00B05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30B3819-5552-4663-8A38-F000914281C8}"/>
              </a:ext>
            </a:extLst>
          </p:cNvPr>
          <p:cNvGrpSpPr/>
          <p:nvPr/>
        </p:nvGrpSpPr>
        <p:grpSpPr>
          <a:xfrm>
            <a:off x="4432426" y="3484766"/>
            <a:ext cx="1125259" cy="840529"/>
            <a:chOff x="4432426" y="3484766"/>
            <a:chExt cx="1125259" cy="840529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2F572FC-798A-4AD8-97E7-5B4FA0DB47DE}"/>
                </a:ext>
              </a:extLst>
            </p:cNvPr>
            <p:cNvCxnSpPr/>
            <p:nvPr/>
          </p:nvCxnSpPr>
          <p:spPr>
            <a:xfrm>
              <a:off x="4432426" y="3484766"/>
              <a:ext cx="1125259" cy="840529"/>
            </a:xfrm>
            <a:prstGeom prst="straightConnector1">
              <a:avLst/>
            </a:prstGeom>
            <a:ln w="38100">
              <a:solidFill>
                <a:srgbClr val="FFC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F343064-6EFA-4305-80D4-579D6ED5BC55}"/>
                    </a:ext>
                  </a:extLst>
                </p:cNvPr>
                <p:cNvSpPr txBox="1"/>
                <p:nvPr/>
              </p:nvSpPr>
              <p:spPr>
                <a:xfrm>
                  <a:off x="4904182" y="3503635"/>
                  <a:ext cx="29328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n>
                                  <a:solidFill>
                                    <a:srgbClr val="FFC000"/>
                                  </a:solidFill>
                                </a:ln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n>
                                  <a:solidFill>
                                    <a:srgbClr val="FFC000"/>
                                  </a:solidFill>
                                </a:ln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n>
                                  <a:solidFill>
                                    <a:srgbClr val="FFC000"/>
                                  </a:solidFill>
                                </a:ln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n>
                      <a:solidFill>
                        <a:srgbClr val="FFC000"/>
                      </a:solidFill>
                    </a:ln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7F343064-6EFA-4305-80D4-579D6ED5BC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4182" y="3503635"/>
                  <a:ext cx="293285" cy="276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06E61E1-D03F-4455-B600-CDDF435DCE9C}"/>
              </a:ext>
            </a:extLst>
          </p:cNvPr>
          <p:cNvGrpSpPr/>
          <p:nvPr/>
        </p:nvGrpSpPr>
        <p:grpSpPr>
          <a:xfrm>
            <a:off x="4427245" y="5143556"/>
            <a:ext cx="1111131" cy="847034"/>
            <a:chOff x="4427245" y="5143556"/>
            <a:chExt cx="1111131" cy="847034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5F3488F-5B5A-445F-B833-0D78C1CCAE88}"/>
                </a:ext>
              </a:extLst>
            </p:cNvPr>
            <p:cNvCxnSpPr>
              <a:cxnSpLocks/>
            </p:cNvCxnSpPr>
            <p:nvPr/>
          </p:nvCxnSpPr>
          <p:spPr>
            <a:xfrm>
              <a:off x="4427245" y="5143556"/>
              <a:ext cx="1111131" cy="847034"/>
            </a:xfrm>
            <a:prstGeom prst="straightConnector1">
              <a:avLst/>
            </a:prstGeom>
            <a:ln w="38100">
              <a:solidFill>
                <a:srgbClr val="FFC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457602B-B671-4B75-8097-627D47D47950}"/>
                    </a:ext>
                  </a:extLst>
                </p:cNvPr>
                <p:cNvSpPr txBox="1"/>
                <p:nvPr/>
              </p:nvSpPr>
              <p:spPr>
                <a:xfrm>
                  <a:off x="4884873" y="5168930"/>
                  <a:ext cx="29328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ln>
                                  <a:solidFill>
                                    <a:srgbClr val="FFC000"/>
                                  </a:solidFill>
                                </a:ln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n>
                                  <a:solidFill>
                                    <a:srgbClr val="FFC000"/>
                                  </a:solidFill>
                                </a:ln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n>
                                  <a:solidFill>
                                    <a:srgbClr val="FFC000"/>
                                  </a:solidFill>
                                </a:ln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ln>
                      <a:solidFill>
                        <a:srgbClr val="FFC000"/>
                      </a:solidFill>
                    </a:ln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457602B-B671-4B75-8097-627D47D479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4873" y="5168930"/>
                  <a:ext cx="293285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0679AA9-7D42-E0E6-4E08-0DC1CBF65A4D}"/>
              </a:ext>
            </a:extLst>
          </p:cNvPr>
          <p:cNvSpPr/>
          <p:nvPr/>
        </p:nvSpPr>
        <p:spPr>
          <a:xfrm>
            <a:off x="5391357" y="4077325"/>
            <a:ext cx="342064" cy="468887"/>
          </a:xfrm>
          <a:prstGeom prst="rect">
            <a:avLst/>
          </a:prstGeom>
          <a:noFill/>
          <a:ln w="57150"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8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/>
      <p:bldP spid="42" grpId="0"/>
      <p:bldP spid="48" grpId="0"/>
      <p:bldP spid="49" grpId="0"/>
      <p:bldP spid="50" grpId="0"/>
      <p:bldP spid="51" grpId="0"/>
      <p:bldP spid="57" grpId="0"/>
      <p:bldP spid="62" grpId="0" animBg="1"/>
      <p:bldP spid="36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348DF25-CB7A-EDAD-E883-E2308BECF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190" y="1726566"/>
            <a:ext cx="4609524" cy="124761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Matrices and Outer Product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7DF81E-EA6C-4EF1-AA29-3B8D92548EF1}"/>
                  </a:ext>
                </a:extLst>
              </p:cNvPr>
              <p:cNvSpPr txBox="1"/>
              <p:nvPr/>
            </p:nvSpPr>
            <p:spPr>
              <a:xfrm>
                <a:off x="4210241" y="4870417"/>
                <a:ext cx="3548600" cy="10670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7DF81E-EA6C-4EF1-AA29-3B8D92548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241" y="4870417"/>
                <a:ext cx="3548600" cy="10670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68840C-5E94-42AF-BD12-B6841250011D}"/>
                  </a:ext>
                </a:extLst>
              </p:cNvPr>
              <p:cNvSpPr txBox="1"/>
              <p:nvPr/>
            </p:nvSpPr>
            <p:spPr>
              <a:xfrm>
                <a:off x="789497" y="4930112"/>
                <a:ext cx="1730233" cy="94474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func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func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68840C-5E94-42AF-BD12-B68412500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97" y="4930112"/>
                <a:ext cx="1730233" cy="9447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BF9937-54CD-40A2-A77A-E184CB87393E}"/>
              </a:ext>
            </a:extLst>
          </p:cNvPr>
          <p:cNvCxnSpPr>
            <a:cxnSpLocks/>
            <a:stCxn id="7" idx="3"/>
            <a:endCxn id="24" idx="1"/>
          </p:cNvCxnSpPr>
          <p:nvPr/>
        </p:nvCxnSpPr>
        <p:spPr>
          <a:xfrm>
            <a:off x="2686051" y="1783504"/>
            <a:ext cx="1479876" cy="806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3D6B86C-1D66-4DBC-A3FE-8ED84771D38F}"/>
              </a:ext>
            </a:extLst>
          </p:cNvPr>
          <p:cNvCxnSpPr>
            <a:cxnSpLocks/>
            <a:stCxn id="8" idx="3"/>
            <a:endCxn id="25" idx="1"/>
          </p:cNvCxnSpPr>
          <p:nvPr/>
        </p:nvCxnSpPr>
        <p:spPr>
          <a:xfrm flipV="1">
            <a:off x="2582048" y="2040900"/>
            <a:ext cx="1581497" cy="633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4B0B3D-F5D8-4DD0-8695-5008F9E447F0}"/>
                  </a:ext>
                </a:extLst>
              </p:cNvPr>
              <p:cNvSpPr txBox="1"/>
              <p:nvPr/>
            </p:nvSpPr>
            <p:spPr>
              <a:xfrm>
                <a:off x="727181" y="1645004"/>
                <a:ext cx="19588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,⋯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4B0B3D-F5D8-4DD0-8695-5008F9E44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81" y="1645004"/>
                <a:ext cx="1958870" cy="276999"/>
              </a:xfrm>
              <a:prstGeom prst="rect">
                <a:avLst/>
              </a:prstGeom>
              <a:blipFill>
                <a:blip r:embed="rId6"/>
                <a:stretch>
                  <a:fillRect l="-1242" t="-2222" r="-4037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5601ACFD-DC2F-48F9-A29D-7D27AD2ADBDD}"/>
              </a:ext>
            </a:extLst>
          </p:cNvPr>
          <p:cNvSpPr/>
          <p:nvPr/>
        </p:nvSpPr>
        <p:spPr>
          <a:xfrm>
            <a:off x="2519730" y="1645004"/>
            <a:ext cx="166321" cy="276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D27EA4-CAC5-4CC3-940E-400319AD65B3}"/>
              </a:ext>
            </a:extLst>
          </p:cNvPr>
          <p:cNvSpPr/>
          <p:nvPr/>
        </p:nvSpPr>
        <p:spPr>
          <a:xfrm>
            <a:off x="4165927" y="1777041"/>
            <a:ext cx="122706" cy="17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1DD8BD-B86E-42C0-85A6-111672D5ED26}"/>
              </a:ext>
            </a:extLst>
          </p:cNvPr>
          <p:cNvSpPr/>
          <p:nvPr/>
        </p:nvSpPr>
        <p:spPr>
          <a:xfrm>
            <a:off x="4163545" y="1953832"/>
            <a:ext cx="122706" cy="17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29D47C-6003-47F3-A150-C7469DC7A430}"/>
              </a:ext>
            </a:extLst>
          </p:cNvPr>
          <p:cNvSpPr/>
          <p:nvPr/>
        </p:nvSpPr>
        <p:spPr>
          <a:xfrm>
            <a:off x="4163545" y="2358723"/>
            <a:ext cx="122706" cy="17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78DDE7-38DA-4B84-BEE7-73D8E4FF282A}"/>
              </a:ext>
            </a:extLst>
          </p:cNvPr>
          <p:cNvSpPr/>
          <p:nvPr/>
        </p:nvSpPr>
        <p:spPr>
          <a:xfrm>
            <a:off x="4165927" y="2555811"/>
            <a:ext cx="122706" cy="17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54F386-A25F-4B14-AF51-BF4A03A23D69}"/>
              </a:ext>
            </a:extLst>
          </p:cNvPr>
          <p:cNvSpPr/>
          <p:nvPr/>
        </p:nvSpPr>
        <p:spPr>
          <a:xfrm>
            <a:off x="4168308" y="2744578"/>
            <a:ext cx="122706" cy="17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739BA5-5E72-4C76-B8C9-D049EE075625}"/>
                  </a:ext>
                </a:extLst>
              </p:cNvPr>
              <p:cNvSpPr txBox="1"/>
              <p:nvPr/>
            </p:nvSpPr>
            <p:spPr>
              <a:xfrm>
                <a:off x="727181" y="1965709"/>
                <a:ext cx="18548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,⋯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739BA5-5E72-4C76-B8C9-D049EE075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81" y="1965709"/>
                <a:ext cx="1854867" cy="276999"/>
              </a:xfrm>
              <a:prstGeom prst="rect">
                <a:avLst/>
              </a:prstGeom>
              <a:blipFill>
                <a:blip r:embed="rId7"/>
                <a:stretch>
                  <a:fillRect l="-1311" t="-2174" r="-393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6F466F94-B2A3-4DC8-A82E-6A2C5E836133}"/>
              </a:ext>
            </a:extLst>
          </p:cNvPr>
          <p:cNvSpPr/>
          <p:nvPr/>
        </p:nvSpPr>
        <p:spPr>
          <a:xfrm>
            <a:off x="2413933" y="1965712"/>
            <a:ext cx="166321" cy="276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021CCC-919B-4FAB-9CB7-B003B50517F2}"/>
                  </a:ext>
                </a:extLst>
              </p:cNvPr>
              <p:cNvSpPr txBox="1"/>
              <p:nvPr/>
            </p:nvSpPr>
            <p:spPr>
              <a:xfrm>
                <a:off x="727181" y="2934599"/>
                <a:ext cx="17128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021CCC-919B-4FAB-9CB7-B003B5051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81" y="2934599"/>
                <a:ext cx="1712840" cy="276999"/>
              </a:xfrm>
              <a:prstGeom prst="rect">
                <a:avLst/>
              </a:prstGeom>
              <a:blipFill>
                <a:blip r:embed="rId8"/>
                <a:stretch>
                  <a:fillRect l="-2847" r="-1779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0508A152-BB53-4C49-8F7D-CD91C858D4D3}"/>
              </a:ext>
            </a:extLst>
          </p:cNvPr>
          <p:cNvSpPr/>
          <p:nvPr/>
        </p:nvSpPr>
        <p:spPr>
          <a:xfrm>
            <a:off x="2247612" y="2934602"/>
            <a:ext cx="166321" cy="276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F06E37-91A2-48C0-8582-06ACFE4E26C8}"/>
                  </a:ext>
                </a:extLst>
              </p:cNvPr>
              <p:cNvSpPr txBox="1"/>
              <p:nvPr/>
            </p:nvSpPr>
            <p:spPr>
              <a:xfrm>
                <a:off x="727181" y="3294847"/>
                <a:ext cx="17223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F06E37-91A2-48C0-8582-06ACFE4E2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81" y="3294847"/>
                <a:ext cx="1722395" cy="276999"/>
              </a:xfrm>
              <a:prstGeom prst="rect">
                <a:avLst/>
              </a:prstGeom>
              <a:blipFill>
                <a:blip r:embed="rId9"/>
                <a:stretch>
                  <a:fillRect l="-2827" r="-176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186CA8C-10B3-4196-9B48-97E51A8CD744}"/>
              </a:ext>
            </a:extLst>
          </p:cNvPr>
          <p:cNvSpPr/>
          <p:nvPr/>
        </p:nvSpPr>
        <p:spPr>
          <a:xfrm>
            <a:off x="2264031" y="3294850"/>
            <a:ext cx="166321" cy="276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77E06E-F3B3-4557-9EDC-3285CB3EDF07}"/>
                  </a:ext>
                </a:extLst>
              </p:cNvPr>
              <p:cNvSpPr txBox="1"/>
              <p:nvPr/>
            </p:nvSpPr>
            <p:spPr>
              <a:xfrm>
                <a:off x="727181" y="3655095"/>
                <a:ext cx="13746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  <m:r>
                        <a:rPr lang="en-US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77E06E-F3B3-4557-9EDC-3285CB3ED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81" y="3655095"/>
                <a:ext cx="1374607" cy="276999"/>
              </a:xfrm>
              <a:prstGeom prst="rect">
                <a:avLst/>
              </a:prstGeom>
              <a:blipFill>
                <a:blip r:embed="rId10"/>
                <a:stretch>
                  <a:fillRect l="-3540" r="-398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DF4DE6B2-2F2D-4320-A483-4450616268EA}"/>
              </a:ext>
            </a:extLst>
          </p:cNvPr>
          <p:cNvSpPr/>
          <p:nvPr/>
        </p:nvSpPr>
        <p:spPr>
          <a:xfrm>
            <a:off x="1897052" y="3655098"/>
            <a:ext cx="166321" cy="2769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374F50D-AA16-4CD9-B2C0-5995B23225FC}"/>
              </a:ext>
            </a:extLst>
          </p:cNvPr>
          <p:cNvCxnSpPr>
            <a:cxnSpLocks/>
            <a:stCxn id="15" idx="3"/>
            <a:endCxn id="26" idx="1"/>
          </p:cNvCxnSpPr>
          <p:nvPr/>
        </p:nvCxnSpPr>
        <p:spPr>
          <a:xfrm flipV="1">
            <a:off x="2440021" y="2445791"/>
            <a:ext cx="1723524" cy="6273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25CF459-4E66-41C0-9150-4C452879B3D6}"/>
              </a:ext>
            </a:extLst>
          </p:cNvPr>
          <p:cNvCxnSpPr>
            <a:cxnSpLocks/>
            <a:stCxn id="39" idx="3"/>
            <a:endCxn id="27" idx="1"/>
          </p:cNvCxnSpPr>
          <p:nvPr/>
        </p:nvCxnSpPr>
        <p:spPr>
          <a:xfrm flipV="1">
            <a:off x="2430352" y="2642879"/>
            <a:ext cx="1735575" cy="7904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14385A1-00FF-48A6-913D-C159F1CBC6CF}"/>
              </a:ext>
            </a:extLst>
          </p:cNvPr>
          <p:cNvCxnSpPr>
            <a:cxnSpLocks/>
            <a:stCxn id="40" idx="3"/>
            <a:endCxn id="28" idx="1"/>
          </p:cNvCxnSpPr>
          <p:nvPr/>
        </p:nvCxnSpPr>
        <p:spPr>
          <a:xfrm flipV="1">
            <a:off x="2063373" y="2831646"/>
            <a:ext cx="2104935" cy="9619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0759F891-5391-4D16-889C-199906233E3D}"/>
              </a:ext>
            </a:extLst>
          </p:cNvPr>
          <p:cNvSpPr/>
          <p:nvPr/>
        </p:nvSpPr>
        <p:spPr>
          <a:xfrm>
            <a:off x="1290484" y="5036572"/>
            <a:ext cx="486697" cy="199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616BFE7-9CC7-4A33-BBA2-33B306520E12}"/>
              </a:ext>
            </a:extLst>
          </p:cNvPr>
          <p:cNvSpPr/>
          <p:nvPr/>
        </p:nvSpPr>
        <p:spPr>
          <a:xfrm>
            <a:off x="1806831" y="5036571"/>
            <a:ext cx="486697" cy="199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F5032AB-842E-4FF6-B029-F5D00831C1BF}"/>
              </a:ext>
            </a:extLst>
          </p:cNvPr>
          <p:cNvSpPr/>
          <p:nvPr/>
        </p:nvSpPr>
        <p:spPr>
          <a:xfrm>
            <a:off x="4224898" y="5304746"/>
            <a:ext cx="158983" cy="199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6C66F66-9A04-45CD-9F75-9675DDAE6BE2}"/>
              </a:ext>
            </a:extLst>
          </p:cNvPr>
          <p:cNvSpPr/>
          <p:nvPr/>
        </p:nvSpPr>
        <p:spPr>
          <a:xfrm>
            <a:off x="4572000" y="5302934"/>
            <a:ext cx="158983" cy="199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8D4DFBF2-F41B-44A9-BFC4-BB09A9AB2ADB}"/>
              </a:ext>
            </a:extLst>
          </p:cNvPr>
          <p:cNvCxnSpPr>
            <a:cxnSpLocks/>
            <a:stCxn id="53" idx="0"/>
            <a:endCxn id="55" idx="2"/>
          </p:cNvCxnSpPr>
          <p:nvPr/>
        </p:nvCxnSpPr>
        <p:spPr>
          <a:xfrm rot="16200000" flipH="1">
            <a:off x="2685472" y="3884932"/>
            <a:ext cx="467277" cy="2770557"/>
          </a:xfrm>
          <a:prstGeom prst="bentConnector5">
            <a:avLst>
              <a:gd name="adj1" fmla="val -116781"/>
              <a:gd name="adj2" fmla="val 52957"/>
              <a:gd name="adj3" fmla="val 21835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26544CE-BD13-4876-8EE0-6600E3B40EC7}"/>
              </a:ext>
            </a:extLst>
          </p:cNvPr>
          <p:cNvCxnSpPr>
            <a:cxnSpLocks/>
            <a:stCxn id="54" idx="0"/>
            <a:endCxn id="56" idx="2"/>
          </p:cNvCxnSpPr>
          <p:nvPr/>
        </p:nvCxnSpPr>
        <p:spPr>
          <a:xfrm rot="16200000" flipH="1">
            <a:off x="3118103" y="3968648"/>
            <a:ext cx="465466" cy="2601312"/>
          </a:xfrm>
          <a:prstGeom prst="bentConnector5">
            <a:avLst>
              <a:gd name="adj1" fmla="val -64955"/>
              <a:gd name="adj2" fmla="val 53149"/>
              <a:gd name="adj3" fmla="val 16337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349D3D3E-1C4D-4878-8D43-06144647DF95}"/>
              </a:ext>
            </a:extLst>
          </p:cNvPr>
          <p:cNvSpPr/>
          <p:nvPr/>
        </p:nvSpPr>
        <p:spPr>
          <a:xfrm>
            <a:off x="5167840" y="4847763"/>
            <a:ext cx="232835" cy="288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219ABA2-389F-4215-9830-E7C63FFB9C72}"/>
              </a:ext>
            </a:extLst>
          </p:cNvPr>
          <p:cNvSpPr/>
          <p:nvPr/>
        </p:nvSpPr>
        <p:spPr>
          <a:xfrm>
            <a:off x="5417872" y="4847763"/>
            <a:ext cx="232835" cy="288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7CE7207D-B457-44B4-A8A1-35DE7AF3DC6F}"/>
              </a:ext>
            </a:extLst>
          </p:cNvPr>
          <p:cNvCxnSpPr>
            <a:cxnSpLocks/>
            <a:stCxn id="55" idx="0"/>
            <a:endCxn id="72" idx="0"/>
          </p:cNvCxnSpPr>
          <p:nvPr/>
        </p:nvCxnSpPr>
        <p:spPr>
          <a:xfrm rot="5400000" flipH="1" flipV="1">
            <a:off x="4565833" y="4586321"/>
            <a:ext cx="456983" cy="979868"/>
          </a:xfrm>
          <a:prstGeom prst="bentConnector3">
            <a:avLst>
              <a:gd name="adj1" fmla="val 15002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DF749654-E37D-4F39-B991-0A1BFD44C259}"/>
              </a:ext>
            </a:extLst>
          </p:cNvPr>
          <p:cNvCxnSpPr>
            <a:cxnSpLocks/>
            <a:stCxn id="56" idx="0"/>
            <a:endCxn id="73" idx="0"/>
          </p:cNvCxnSpPr>
          <p:nvPr/>
        </p:nvCxnSpPr>
        <p:spPr>
          <a:xfrm rot="5400000" flipH="1" flipV="1">
            <a:off x="4865306" y="4633950"/>
            <a:ext cx="455171" cy="882798"/>
          </a:xfrm>
          <a:prstGeom prst="bentConnector3">
            <a:avLst>
              <a:gd name="adj1" fmla="val 184245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94EC21-7FA1-2ED6-B528-2E8FD654720A}"/>
                  </a:ext>
                </a:extLst>
              </p:cNvPr>
              <p:cNvSpPr txBox="1"/>
              <p:nvPr/>
            </p:nvSpPr>
            <p:spPr>
              <a:xfrm>
                <a:off x="2975662" y="3530378"/>
                <a:ext cx="2000032" cy="64633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For a unit sphere where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94EC21-7FA1-2ED6-B528-2E8FD6547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662" y="3530378"/>
                <a:ext cx="2000032" cy="646331"/>
              </a:xfrm>
              <a:prstGeom prst="rect">
                <a:avLst/>
              </a:prstGeom>
              <a:blipFill>
                <a:blip r:embed="rId11"/>
                <a:stretch>
                  <a:fillRect t="-2703" b="-10811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2764996-4893-12C4-9072-EA9D89E49F93}"/>
              </a:ext>
            </a:extLst>
          </p:cNvPr>
          <p:cNvSpPr txBox="1"/>
          <p:nvPr/>
        </p:nvSpPr>
        <p:spPr>
          <a:xfrm>
            <a:off x="4870317" y="6119815"/>
            <a:ext cx="2965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The </a:t>
            </a:r>
            <a:r>
              <a:rPr lang="en-US" b="1" dirty="0">
                <a:solidFill>
                  <a:srgbClr val="7030A0"/>
                </a:solidFill>
              </a:rPr>
              <a:t>outer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product</a:t>
            </a:r>
            <a:r>
              <a:rPr lang="en-US" dirty="0">
                <a:solidFill>
                  <a:srgbClr val="7030A0"/>
                </a:solidFill>
              </a:rPr>
              <a:t> of two vectors produces a </a:t>
            </a:r>
            <a:r>
              <a:rPr lang="en-US" i="1" dirty="0">
                <a:solidFill>
                  <a:srgbClr val="7030A0"/>
                </a:solidFill>
              </a:rPr>
              <a:t>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31C166-B648-11C8-2121-08E68B9F8C4E}"/>
              </a:ext>
            </a:extLst>
          </p:cNvPr>
          <p:cNvSpPr/>
          <p:nvPr/>
        </p:nvSpPr>
        <p:spPr>
          <a:xfrm>
            <a:off x="6229183" y="2726772"/>
            <a:ext cx="1299410" cy="18876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192C10-A322-2967-A661-740A3EB47DAE}"/>
              </a:ext>
            </a:extLst>
          </p:cNvPr>
          <p:cNvSpPr txBox="1"/>
          <p:nvPr/>
        </p:nvSpPr>
        <p:spPr>
          <a:xfrm>
            <a:off x="621385" y="2524804"/>
            <a:ext cx="195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>
                <a:solidFill>
                  <a:srgbClr val="7030A0"/>
                </a:solidFill>
              </a:rPr>
              <a:t>These are matrices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1AA1B2-8035-E446-E573-A37059B94109}"/>
              </a:ext>
            </a:extLst>
          </p:cNvPr>
          <p:cNvGrpSpPr/>
          <p:nvPr/>
        </p:nvGrpSpPr>
        <p:grpSpPr>
          <a:xfrm>
            <a:off x="5610296" y="2934599"/>
            <a:ext cx="2831251" cy="1274493"/>
            <a:chOff x="5610296" y="2934599"/>
            <a:chExt cx="2831251" cy="127449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1BAEAD-286C-656C-4471-A6E0669196DD}"/>
                </a:ext>
              </a:extLst>
            </p:cNvPr>
            <p:cNvSpPr txBox="1"/>
            <p:nvPr/>
          </p:nvSpPr>
          <p:spPr>
            <a:xfrm>
              <a:off x="5610296" y="3378095"/>
              <a:ext cx="28312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00B050"/>
                  </a:solidFill>
                </a:rPr>
                <a:t>For matplotlib to plot(x, y, z)</a:t>
              </a:r>
            </a:p>
            <a:p>
              <a:pPr algn="ctr"/>
              <a:r>
                <a:rPr lang="en-US" sz="1600" dirty="0">
                  <a:solidFill>
                    <a:srgbClr val="00B050"/>
                  </a:solidFill>
                </a:rPr>
                <a:t>all three vectors/matrices must have the </a:t>
              </a:r>
              <a:r>
                <a:rPr lang="en-US" sz="1600" b="1" dirty="0">
                  <a:solidFill>
                    <a:srgbClr val="00B050"/>
                  </a:solidFill>
                </a:rPr>
                <a:t>same</a:t>
              </a:r>
              <a:r>
                <a:rPr lang="en-US" sz="1600" dirty="0">
                  <a:solidFill>
                    <a:srgbClr val="00B050"/>
                  </a:solidFill>
                </a:rPr>
                <a:t> </a:t>
              </a:r>
              <a:r>
                <a:rPr lang="en-US" sz="1600" i="1" dirty="0">
                  <a:solidFill>
                    <a:srgbClr val="00B050"/>
                  </a:solidFill>
                </a:rPr>
                <a:t>shape &amp; size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C1A890F-796F-DC99-4CA8-0E13198148D3}"/>
                </a:ext>
              </a:extLst>
            </p:cNvPr>
            <p:cNvCxnSpPr/>
            <p:nvPr/>
          </p:nvCxnSpPr>
          <p:spPr>
            <a:xfrm flipV="1">
              <a:off x="6878888" y="2934599"/>
              <a:ext cx="0" cy="494401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401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 animBg="1"/>
      <p:bldP spid="7" grpId="0"/>
      <p:bldP spid="8" grpId="0"/>
      <p:bldP spid="15" grpId="0"/>
      <p:bldP spid="14" grpId="0"/>
      <p:bldP spid="16" grpId="0"/>
      <p:bldP spid="37" grpId="0" animBg="1"/>
      <p:bldP spid="5" grpId="0"/>
      <p:bldP spid="3" grpId="0" animBg="1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4CB4D-EBED-E3BF-EC3E-4C1F2D295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3B5AAD-061A-BA32-3171-956DDA116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762" y="1284625"/>
            <a:ext cx="4718477" cy="535522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2354D-F125-CD46-3DDC-2C5D9D3A3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31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F1249B8-57FD-9697-2F77-E802975E4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plot3d_sphere.py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CD62233-E72B-61F2-6464-68D4D1D789F2}"/>
              </a:ext>
            </a:extLst>
          </p:cNvPr>
          <p:cNvGrpSpPr/>
          <p:nvPr/>
        </p:nvGrpSpPr>
        <p:grpSpPr>
          <a:xfrm>
            <a:off x="6801592" y="2848901"/>
            <a:ext cx="1076632" cy="369332"/>
            <a:chOff x="4968362" y="2079211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60F6177-60AF-831B-1705-73BD7555B2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42F1A1F-A7DC-163B-E9DA-A73B7F4E22DD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8C3B066-1C11-1783-C36D-8D325785B0BC}"/>
              </a:ext>
            </a:extLst>
          </p:cNvPr>
          <p:cNvGrpSpPr/>
          <p:nvPr/>
        </p:nvGrpSpPr>
        <p:grpSpPr>
          <a:xfrm>
            <a:off x="5539830" y="3484820"/>
            <a:ext cx="1076632" cy="369332"/>
            <a:chOff x="4704120" y="2356972"/>
            <a:chExt cx="107663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26BB42A-EAD7-A586-2679-FC2A828821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5CED095-0419-62F8-2009-19F4BBAD1B6F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EB9CCF-3065-C8CB-2477-5B8AB4175636}"/>
              </a:ext>
            </a:extLst>
          </p:cNvPr>
          <p:cNvGrpSpPr/>
          <p:nvPr/>
        </p:nvGrpSpPr>
        <p:grpSpPr>
          <a:xfrm>
            <a:off x="5923628" y="3761819"/>
            <a:ext cx="1068643" cy="369332"/>
            <a:chOff x="3647644" y="4910075"/>
            <a:chExt cx="1068643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CE379C-B4C1-22F5-30FF-D9CAF426F948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480EB5B-D988-180F-7621-B63B23C91A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45DAB28-0F6F-56E2-123E-A84664B6C97E}"/>
              </a:ext>
            </a:extLst>
          </p:cNvPr>
          <p:cNvGrpSpPr/>
          <p:nvPr/>
        </p:nvGrpSpPr>
        <p:grpSpPr>
          <a:xfrm>
            <a:off x="5216957" y="4362569"/>
            <a:ext cx="1064340" cy="369332"/>
            <a:chOff x="3647644" y="5421073"/>
            <a:chExt cx="1064340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778AC90-12CF-2038-F854-4849933E1209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230D51C7-AAD0-1335-333D-D0D6633DDC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B9CBC2E-AA96-068F-D3F1-EC90A0D93FED}"/>
              </a:ext>
            </a:extLst>
          </p:cNvPr>
          <p:cNvGrpSpPr/>
          <p:nvPr/>
        </p:nvGrpSpPr>
        <p:grpSpPr>
          <a:xfrm>
            <a:off x="4245686" y="4747943"/>
            <a:ext cx="1068643" cy="369332"/>
            <a:chOff x="3647644" y="5359159"/>
            <a:chExt cx="1068643" cy="3693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2821274-F501-F75A-4A75-1D4D0C79F65B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7EEE6EF-A90C-CABC-7F32-A123471AF9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56DD47A-5178-24DF-7490-D462D1C408C3}"/>
              </a:ext>
            </a:extLst>
          </p:cNvPr>
          <p:cNvGrpSpPr/>
          <p:nvPr/>
        </p:nvGrpSpPr>
        <p:grpSpPr>
          <a:xfrm>
            <a:off x="4496166" y="6115521"/>
            <a:ext cx="1076632" cy="369332"/>
            <a:chOff x="2157212" y="5356391"/>
            <a:chExt cx="1076632" cy="3693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0081AD8-19BA-5F8B-ECC4-221F9FB27D0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E6E528F-C45D-42E9-D7C7-A059728576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76D5527-A67E-AED1-B2F4-5DEE80A5E9BB}"/>
              </a:ext>
            </a:extLst>
          </p:cNvPr>
          <p:cNvGrpSpPr/>
          <p:nvPr/>
        </p:nvGrpSpPr>
        <p:grpSpPr>
          <a:xfrm>
            <a:off x="3514365" y="6324105"/>
            <a:ext cx="1076632" cy="369332"/>
            <a:chOff x="2157212" y="5356391"/>
            <a:chExt cx="1076632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A38290C-4131-DECD-0AAE-E1FA9241A8D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CC7708F-77B1-1693-BB86-F45EBF8142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50399D2-B2F3-50D6-5EF2-1F3F443AD356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214603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32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75CA57D-B475-415C-B5E6-00FDC3BB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plot3d_sphere.py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AD750A-F185-C340-0D1F-3DF76DA62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287" y="1232875"/>
            <a:ext cx="5437425" cy="548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08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DF31-976E-7978-E15F-AD737091F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D9151D-1C1F-AC39-1406-B71676293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695" y="2127354"/>
            <a:ext cx="4774436" cy="454250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A6D44-B650-2B90-4B57-0C4028ADC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33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2A5BEC9-24A4-88A6-75FA-2E9A9C70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plot3d_sphere.py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FD1F48-C674-5FFF-B3F9-D882EABA0C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29" y="1340142"/>
            <a:ext cx="4051271" cy="3235857"/>
          </a:xfrm>
          <a:prstGeom prst="rect">
            <a:avLst/>
          </a:prstGeom>
        </p:spPr>
      </p:pic>
      <p:sp>
        <p:nvSpPr>
          <p:cNvPr id="8" name="Arc 7">
            <a:extLst>
              <a:ext uri="{FF2B5EF4-FFF2-40B4-BE49-F238E27FC236}">
                <a16:creationId xmlns:a16="http://schemas.microsoft.com/office/drawing/2014/main" id="{3FB71FD3-4912-D572-321A-C5CC2203258E}"/>
              </a:ext>
            </a:extLst>
          </p:cNvPr>
          <p:cNvSpPr/>
          <p:nvPr/>
        </p:nvSpPr>
        <p:spPr>
          <a:xfrm>
            <a:off x="2001152" y="2016926"/>
            <a:ext cx="920841" cy="648928"/>
          </a:xfrm>
          <a:prstGeom prst="arc">
            <a:avLst/>
          </a:pr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806A23-0654-A1F6-0856-99E63F5BBDB1}"/>
                  </a:ext>
                </a:extLst>
              </p:cNvPr>
              <p:cNvSpPr txBox="1"/>
              <p:nvPr/>
            </p:nvSpPr>
            <p:spPr>
              <a:xfrm>
                <a:off x="2461572" y="2021764"/>
                <a:ext cx="20197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en-US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806A23-0654-A1F6-0856-99E63F5BB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572" y="2021764"/>
                <a:ext cx="201978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E5CF95-5614-C69E-9EF3-EAE009C7AE8E}"/>
              </a:ext>
            </a:extLst>
          </p:cNvPr>
          <p:cNvCxnSpPr>
            <a:cxnSpLocks/>
          </p:cNvCxnSpPr>
          <p:nvPr/>
        </p:nvCxnSpPr>
        <p:spPr>
          <a:xfrm flipV="1">
            <a:off x="2430651" y="2016926"/>
            <a:ext cx="897381" cy="703898"/>
          </a:xfrm>
          <a:prstGeom prst="straightConnector1">
            <a:avLst/>
          </a:prstGeom>
          <a:noFill/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456912-DCCA-F85A-2821-6307CC0BDB41}"/>
                  </a:ext>
                </a:extLst>
              </p:cNvPr>
              <p:cNvSpPr txBox="1"/>
              <p:nvPr/>
            </p:nvSpPr>
            <p:spPr>
              <a:xfrm>
                <a:off x="3000600" y="2272653"/>
                <a:ext cx="161820" cy="2151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en-US" b="1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E456912-DCCA-F85A-2821-6307CC0BD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600" y="2272653"/>
                <a:ext cx="161820" cy="215131"/>
              </a:xfrm>
              <a:prstGeom prst="rect">
                <a:avLst/>
              </a:prstGeom>
              <a:blipFill>
                <a:blip r:embed="rId6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8B3E24-0BDA-EF97-F0FF-837C3A8054E4}"/>
                  </a:ext>
                </a:extLst>
              </p:cNvPr>
              <p:cNvSpPr txBox="1"/>
              <p:nvPr/>
            </p:nvSpPr>
            <p:spPr>
              <a:xfrm rot="1336496">
                <a:off x="6721424" y="4040582"/>
                <a:ext cx="19075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8B3E24-0BDA-EF97-F0FF-837C3A805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336496">
                <a:off x="6721424" y="4040582"/>
                <a:ext cx="190757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FFBE87A-6158-0510-A175-9589F8B58DDA}"/>
              </a:ext>
            </a:extLst>
          </p:cNvPr>
          <p:cNvCxnSpPr>
            <a:cxnSpLocks/>
          </p:cNvCxnSpPr>
          <p:nvPr/>
        </p:nvCxnSpPr>
        <p:spPr>
          <a:xfrm>
            <a:off x="6622028" y="4343399"/>
            <a:ext cx="962255" cy="140491"/>
          </a:xfrm>
          <a:prstGeom prst="straightConnector1">
            <a:avLst/>
          </a:prstGeom>
          <a:ln w="3810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1CD19A-284D-E309-1D80-24B197E580B3}"/>
                  </a:ext>
                </a:extLst>
              </p:cNvPr>
              <p:cNvSpPr txBox="1"/>
              <p:nvPr/>
            </p:nvSpPr>
            <p:spPr>
              <a:xfrm rot="11359267" flipV="1">
                <a:off x="6969976" y="4444170"/>
                <a:ext cx="29757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ln>
                                <a:solidFill>
                                  <a:srgbClr val="FFC000"/>
                                </a:solidFill>
                              </a:ln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b="1" dirty="0">
                  <a:ln>
                    <a:solidFill>
                      <a:srgbClr val="FFC000"/>
                    </a:solidFill>
                  </a:ln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1CD19A-284D-E309-1D80-24B197E58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1359267" flipV="1">
                <a:off x="6969976" y="4444170"/>
                <a:ext cx="29757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rc 13">
            <a:extLst>
              <a:ext uri="{FF2B5EF4-FFF2-40B4-BE49-F238E27FC236}">
                <a16:creationId xmlns:a16="http://schemas.microsoft.com/office/drawing/2014/main" id="{7F48B4E4-1D38-DCB8-E8E3-232FDA3BDE68}"/>
              </a:ext>
            </a:extLst>
          </p:cNvPr>
          <p:cNvSpPr/>
          <p:nvPr/>
        </p:nvSpPr>
        <p:spPr>
          <a:xfrm rot="2956916">
            <a:off x="6318140" y="3932426"/>
            <a:ext cx="660242" cy="673280"/>
          </a:xfrm>
          <a:prstGeom prst="arc">
            <a:avLst>
              <a:gd name="adj1" fmla="val 14776688"/>
              <a:gd name="adj2" fmla="val 20109681"/>
            </a:avLst>
          </a:prstGeom>
          <a:noFill/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DD1A3E-0E90-93E6-D5B3-E8DF7510B14A}"/>
                  </a:ext>
                </a:extLst>
              </p:cNvPr>
              <p:cNvSpPr txBox="1"/>
              <p:nvPr/>
            </p:nvSpPr>
            <p:spPr>
              <a:xfrm>
                <a:off x="7103155" y="2324810"/>
                <a:ext cx="16788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n>
                              <a:solidFill>
                                <a:srgbClr val="FFC000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n>
                              <a:solidFill>
                                <a:srgbClr val="FFC000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n>
                              <a:solidFill>
                                <a:srgbClr val="FFC000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= radius of slice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DD1A3E-0E90-93E6-D5B3-E8DF7510B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155" y="2324810"/>
                <a:ext cx="1678858" cy="276999"/>
              </a:xfrm>
              <a:prstGeom prst="rect">
                <a:avLst/>
              </a:prstGeom>
              <a:blipFill>
                <a:blip r:embed="rId9"/>
                <a:stretch>
                  <a:fillRect t="-28261" r="-8333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BDBA7F2-2182-B4E2-D910-B5F3274040CD}"/>
                  </a:ext>
                </a:extLst>
              </p:cNvPr>
              <p:cNvSpPr txBox="1"/>
              <p:nvPr/>
            </p:nvSpPr>
            <p:spPr>
              <a:xfrm>
                <a:off x="833905" y="5316876"/>
                <a:ext cx="309764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smtClean="0">
                        <a:ln>
                          <a:solidFill>
                            <a:srgbClr val="00B050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poloidal</a:t>
                </a:r>
                <a:r>
                  <a:rPr lang="en-US" dirty="0"/>
                  <a:t> (latitude)</a:t>
                </a:r>
              </a:p>
              <a:p>
                <a:r>
                  <a:rPr lang="en-US" dirty="0"/>
                  <a:t>North to South Pole (vertical)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BDBA7F2-2182-B4E2-D910-B5F327404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05" y="5316876"/>
                <a:ext cx="3097643" cy="553998"/>
              </a:xfrm>
              <a:prstGeom prst="rect">
                <a:avLst/>
              </a:prstGeom>
              <a:blipFill>
                <a:blip r:embed="rId10"/>
                <a:stretch>
                  <a:fillRect l="-4724" t="-14286" r="-4528" b="-25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5C2A6D-2357-710D-AA76-9EDDFAFEEBF0}"/>
                  </a:ext>
                </a:extLst>
              </p:cNvPr>
              <p:cNvSpPr txBox="1"/>
              <p:nvPr/>
            </p:nvSpPr>
            <p:spPr>
              <a:xfrm>
                <a:off x="5439813" y="1465465"/>
                <a:ext cx="336329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1" i="1" smtClean="0">
                        <a:ln>
                          <a:solidFill>
                            <a:srgbClr val="0070C0"/>
                          </a:solidFill>
                        </a:ln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toroidal</a:t>
                </a:r>
                <a:r>
                  <a:rPr lang="en-US" dirty="0"/>
                  <a:t> (longitude)</a:t>
                </a:r>
              </a:p>
              <a:p>
                <a:pPr algn="r"/>
                <a:r>
                  <a:rPr lang="en-US" dirty="0"/>
                  <a:t>Around the slice (horizontal)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95C2A6D-2357-710D-AA76-9EDDFAFEE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813" y="1465465"/>
                <a:ext cx="3363293" cy="553998"/>
              </a:xfrm>
              <a:prstGeom prst="rect">
                <a:avLst/>
              </a:prstGeom>
              <a:blipFill>
                <a:blip r:embed="rId11"/>
                <a:stretch>
                  <a:fillRect l="-2174" t="-14286" r="-4348" b="-25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34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2" grpId="0"/>
      <p:bldP spid="15" grpId="0"/>
      <p:bldP spid="18" grpId="0" animBg="1"/>
      <p:bldP spid="14" grpId="0" animBg="1"/>
      <p:bldP spid="16" grpId="0"/>
      <p:bldP spid="19" grpId="0"/>
      <p:bldP spid="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B0A6D-8D22-5DC6-3DB7-CA4199DB2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7151CB8-A3A4-728D-D7F9-A76357245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171" y="1284625"/>
            <a:ext cx="4718477" cy="535522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93641-F4D8-2558-5E2D-9A0F38655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34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AB89464-79DA-566B-F116-F9B9C0FB6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plot3d_sphere.py</a:t>
            </a:r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F52E4295-368D-4771-C231-50E649B1C07D}"/>
              </a:ext>
            </a:extLst>
          </p:cNvPr>
          <p:cNvSpPr/>
          <p:nvPr/>
        </p:nvSpPr>
        <p:spPr>
          <a:xfrm>
            <a:off x="625638" y="3621944"/>
            <a:ext cx="1544786" cy="934574"/>
          </a:xfrm>
          <a:prstGeom prst="wedgeRectCallout">
            <a:avLst>
              <a:gd name="adj1" fmla="val 97705"/>
              <a:gd name="adj2" fmla="val 89733"/>
            </a:avLst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Comment out line 19</a:t>
            </a:r>
            <a:endParaRPr lang="en-US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BAFF172F-EF1D-7898-6B12-FC9698324D04}"/>
              </a:ext>
            </a:extLst>
          </p:cNvPr>
          <p:cNvSpPr/>
          <p:nvPr/>
        </p:nvSpPr>
        <p:spPr>
          <a:xfrm>
            <a:off x="625638" y="4972523"/>
            <a:ext cx="1544786" cy="934574"/>
          </a:xfrm>
          <a:prstGeom prst="wedgeRectCallout">
            <a:avLst>
              <a:gd name="adj1" fmla="val 92983"/>
              <a:gd name="adj2" fmla="val -33396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Uncomment line 20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E28357-0D40-B4DF-E86A-7B9C3D00B327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edit in this code</a:t>
            </a:r>
          </a:p>
        </p:txBody>
      </p:sp>
    </p:spTree>
    <p:extLst>
      <p:ext uri="{BB962C8B-B14F-4D97-AF65-F5344CB8AC3E}">
        <p14:creationId xmlns:p14="http://schemas.microsoft.com/office/powerpoint/2010/main" val="334356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587854-5E26-9610-C874-31D4D2DF6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359" y="1297931"/>
            <a:ext cx="5363283" cy="54235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35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75CA57D-B475-415C-B5E6-00FDC3BB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plot3d_sphere.py</a:t>
            </a:r>
          </a:p>
        </p:txBody>
      </p:sp>
    </p:spTree>
    <p:extLst>
      <p:ext uri="{BB962C8B-B14F-4D97-AF65-F5344CB8AC3E}">
        <p14:creationId xmlns:p14="http://schemas.microsoft.com/office/powerpoint/2010/main" val="7448114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3C0B70-3B90-4A03-906B-5A488F5373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08" t="16667" r="8549" b="7316"/>
          <a:stretch/>
        </p:blipFill>
        <p:spPr>
          <a:xfrm>
            <a:off x="1828800" y="1325561"/>
            <a:ext cx="5375788" cy="521335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36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75CA57D-B475-415C-B5E6-00FDC3BB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plot3d_sphere.py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242FE-655C-4BBA-8447-96EC33591146}"/>
              </a:ext>
            </a:extLst>
          </p:cNvPr>
          <p:cNvSpPr txBox="1"/>
          <p:nvPr/>
        </p:nvSpPr>
        <p:spPr>
          <a:xfrm>
            <a:off x="7486650" y="3170903"/>
            <a:ext cx="1141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Top-Down</a:t>
            </a:r>
          </a:p>
          <a:p>
            <a:pPr algn="ctr"/>
            <a:r>
              <a:rPr lang="en-US" dirty="0"/>
              <a:t>View</a:t>
            </a:r>
          </a:p>
        </p:txBody>
      </p:sp>
    </p:spTree>
    <p:extLst>
      <p:ext uri="{BB962C8B-B14F-4D97-AF65-F5344CB8AC3E}">
        <p14:creationId xmlns:p14="http://schemas.microsoft.com/office/powerpoint/2010/main" val="42191306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3907" y="1709207"/>
            <a:ext cx="3788449" cy="35863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4078" y="1396511"/>
            <a:ext cx="2609524" cy="23428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957" y="4135608"/>
            <a:ext cx="3429000" cy="21431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Line Callout 2 9"/>
              <p:cNvSpPr/>
              <p:nvPr/>
            </p:nvSpPr>
            <p:spPr>
              <a:xfrm>
                <a:off x="4082479" y="1562456"/>
                <a:ext cx="1850515" cy="1124779"/>
              </a:xfrm>
              <a:prstGeom prst="borderCallout2">
                <a:avLst>
                  <a:gd name="adj1" fmla="val 107023"/>
                  <a:gd name="adj2" fmla="val 52133"/>
                  <a:gd name="adj3" fmla="val 148392"/>
                  <a:gd name="adj4" fmla="val 65899"/>
                  <a:gd name="adj5" fmla="val 198674"/>
                  <a:gd name="adj6" fmla="val 73426"/>
                </a:avLst>
              </a:prstGeom>
              <a:solidFill>
                <a:schemeClr val="bg1"/>
              </a:solidFill>
              <a:ln w="28575">
                <a:solidFill>
                  <a:srgbClr val="00B050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are the components of</a:t>
                </a:r>
              </a:p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vector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⃑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Line Callout 2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479" y="1562456"/>
                <a:ext cx="1850515" cy="1124779"/>
              </a:xfrm>
              <a:prstGeom prst="borderCallout2">
                <a:avLst>
                  <a:gd name="adj1" fmla="val 107023"/>
                  <a:gd name="adj2" fmla="val 52133"/>
                  <a:gd name="adj3" fmla="val 148392"/>
                  <a:gd name="adj4" fmla="val 65899"/>
                  <a:gd name="adj5" fmla="val 198674"/>
                  <a:gd name="adj6" fmla="val 73426"/>
                </a:avLst>
              </a:prstGeom>
              <a:blipFill>
                <a:blip r:embed="rId6"/>
                <a:stretch>
                  <a:fillRect r="-1299"/>
                </a:stretch>
              </a:blipFill>
              <a:ln w="28575">
                <a:solidFill>
                  <a:srgbClr val="00B050"/>
                </a:solidFill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A2DD8FB-5C0B-BA2E-8546-9514F592D9C0}"/>
              </a:ext>
            </a:extLst>
          </p:cNvPr>
          <p:cNvGrpSpPr/>
          <p:nvPr/>
        </p:nvGrpSpPr>
        <p:grpSpPr>
          <a:xfrm>
            <a:off x="6095790" y="5276534"/>
            <a:ext cx="1938938" cy="1131757"/>
            <a:chOff x="6095790" y="4931764"/>
            <a:chExt cx="1938938" cy="113175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A171596-ECCE-9211-30D5-7E7DFA7BEBF6}"/>
                </a:ext>
              </a:extLst>
            </p:cNvPr>
            <p:cNvSpPr/>
            <p:nvPr/>
          </p:nvSpPr>
          <p:spPr>
            <a:xfrm>
              <a:off x="6095790" y="4931764"/>
              <a:ext cx="1938938" cy="11317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B7215C6-5F2A-BE90-B7AF-0F0DEC7D2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84116" y="5015909"/>
              <a:ext cx="1737511" cy="944962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BE01E2B-298A-C41D-3BB3-C7164EB460E3}"/>
              </a:ext>
            </a:extLst>
          </p:cNvPr>
          <p:cNvSpPr txBox="1"/>
          <p:nvPr/>
        </p:nvSpPr>
        <p:spPr>
          <a:xfrm>
            <a:off x="711644" y="3833243"/>
            <a:ext cx="3566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These four vectors are all the same!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CBD7E-D80F-D6A3-E562-6E36C4729E29}"/>
              </a:ext>
            </a:extLst>
          </p:cNvPr>
          <p:cNvSpPr txBox="1"/>
          <p:nvPr/>
        </p:nvSpPr>
        <p:spPr>
          <a:xfrm>
            <a:off x="347623" y="2687235"/>
            <a:ext cx="1420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A Magnitude &amp; Direction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1FEDFA1-6D49-2B1B-B555-D8C306E424BD}"/>
              </a:ext>
            </a:extLst>
          </p:cNvPr>
          <p:cNvSpPr/>
          <p:nvPr/>
        </p:nvSpPr>
        <p:spPr>
          <a:xfrm>
            <a:off x="7052871" y="2376592"/>
            <a:ext cx="182880" cy="182880"/>
          </a:xfrm>
          <a:prstGeom prst="ellipse">
            <a:avLst/>
          </a:prstGeom>
          <a:solidFill>
            <a:srgbClr val="7030A0"/>
          </a:solidFill>
          <a:ln>
            <a:solidFill>
              <a:srgbClr val="FFFF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CBA2AB-ECEE-363B-F70E-9AC681A49E83}"/>
                  </a:ext>
                </a:extLst>
              </p:cNvPr>
              <p:cNvSpPr txBox="1"/>
              <p:nvPr/>
            </p:nvSpPr>
            <p:spPr>
              <a:xfrm>
                <a:off x="7270148" y="2188476"/>
                <a:ext cx="1514324" cy="302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CBA2AB-ECEE-363B-F70E-9AC681A49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148" y="2188476"/>
                <a:ext cx="1514324" cy="302519"/>
              </a:xfrm>
              <a:prstGeom prst="rect">
                <a:avLst/>
              </a:prstGeom>
              <a:blipFill>
                <a:blip r:embed="rId8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952B220B-74AB-B649-F373-ACDCEC162063}"/>
              </a:ext>
            </a:extLst>
          </p:cNvPr>
          <p:cNvSpPr/>
          <p:nvPr/>
        </p:nvSpPr>
        <p:spPr>
          <a:xfrm>
            <a:off x="6419340" y="3623995"/>
            <a:ext cx="182880" cy="182880"/>
          </a:xfrm>
          <a:prstGeom prst="ellipse">
            <a:avLst/>
          </a:prstGeom>
          <a:solidFill>
            <a:srgbClr val="7030A0"/>
          </a:solidFill>
          <a:ln>
            <a:solidFill>
              <a:srgbClr val="FFFF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AB2960-1B5C-3FF2-1375-D9663F373D22}"/>
                  </a:ext>
                </a:extLst>
              </p:cNvPr>
              <p:cNvSpPr txBox="1"/>
              <p:nvPr/>
            </p:nvSpPr>
            <p:spPr>
              <a:xfrm>
                <a:off x="5984069" y="4029131"/>
                <a:ext cx="1503424" cy="302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 i="0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n>
                                <a:solidFill>
                                  <a:srgbClr val="7030A0"/>
                                </a:solidFill>
                              </a:ln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3AB2960-1B5C-3FF2-1375-D9663F373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069" y="4029131"/>
                <a:ext cx="1503424" cy="302519"/>
              </a:xfrm>
              <a:prstGeom prst="rect">
                <a:avLst/>
              </a:prstGeom>
              <a:blipFill>
                <a:blip r:embed="rId9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itle 1">
            <a:extLst>
              <a:ext uri="{FF2B5EF4-FFF2-40B4-BE49-F238E27FC236}">
                <a16:creationId xmlns:a16="http://schemas.microsoft.com/office/drawing/2014/main" id="{5A49852D-68B3-C035-91AA-AE606CE3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Real</a:t>
            </a:r>
            <a:r>
              <a:rPr lang="en-US" sz="3200" dirty="0">
                <a:latin typeface="+mn-lt"/>
              </a:rPr>
              <a:t> Vectors</a:t>
            </a:r>
          </a:p>
        </p:txBody>
      </p:sp>
    </p:spTree>
    <p:extLst>
      <p:ext uri="{BB962C8B-B14F-4D97-AF65-F5344CB8AC3E}">
        <p14:creationId xmlns:p14="http://schemas.microsoft.com/office/powerpoint/2010/main" val="95603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/>
      <p:bldP spid="5" grpId="0"/>
      <p:bldP spid="11" grpId="0" animBg="1"/>
      <p:bldP spid="12" grpId="0"/>
      <p:bldP spid="15" grpId="0" animBg="1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Backface Culling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319" y="1551838"/>
            <a:ext cx="7745812" cy="4721256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5184775" y="3689350"/>
            <a:ext cx="676275" cy="260350"/>
          </a:xfrm>
          <a:prstGeom prst="straightConnector1">
            <a:avLst/>
          </a:prstGeom>
          <a:ln w="571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5337175" y="3697641"/>
            <a:ext cx="523875" cy="81403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 rot="20852888">
                <a:off x="5247426" y="3358651"/>
                <a:ext cx="34785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</m:oMath>
                  </m:oMathPara>
                </a14:m>
                <a:endParaRPr lang="en-US" sz="3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852888">
                <a:off x="5247426" y="3358651"/>
                <a:ext cx="347851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 rot="21175629">
                <a:off x="5638481" y="3976858"/>
                <a:ext cx="341439" cy="5657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en-US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</m:oMath>
                  </m:oMathPara>
                </a14:m>
                <a:endParaRPr lang="en-US" sz="32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175629">
                <a:off x="5638481" y="3976858"/>
                <a:ext cx="341439" cy="5657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716349" y="3689350"/>
            <a:ext cx="43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04950" y="3278525"/>
            <a:ext cx="4908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6851" y="4436012"/>
            <a:ext cx="43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7950" y="1084882"/>
            <a:ext cx="22520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How do we avoid drawing the facets which are on the </a:t>
            </a:r>
            <a:r>
              <a:rPr lang="en-US" u="sng" dirty="0">
                <a:solidFill>
                  <a:srgbClr val="FF0000"/>
                </a:solidFill>
              </a:rPr>
              <a:t>back</a:t>
            </a:r>
            <a:r>
              <a:rPr lang="en-US" dirty="0">
                <a:solidFill>
                  <a:srgbClr val="FF0000"/>
                </a:solidFill>
              </a:rPr>
              <a:t> of the sphere?</a:t>
            </a:r>
          </a:p>
        </p:txBody>
      </p:sp>
      <p:cxnSp>
        <p:nvCxnSpPr>
          <p:cNvPr id="7" name="Straight Arrow Connector 6"/>
          <p:cNvCxnSpPr>
            <a:cxnSpLocks/>
            <a:stCxn id="5" idx="1"/>
          </p:cNvCxnSpPr>
          <p:nvPr/>
        </p:nvCxnSpPr>
        <p:spPr>
          <a:xfrm flipH="1">
            <a:off x="5522912" y="1685047"/>
            <a:ext cx="935038" cy="12729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71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0" grpId="0"/>
      <p:bldP spid="12" grpId="0"/>
      <p:bldP spid="13" grpId="0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Vector Cross Product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39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709512"/>
            <a:ext cx="3747570" cy="255026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263" y="1709512"/>
            <a:ext cx="3418865" cy="268193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6548" y="4713840"/>
            <a:ext cx="3950464" cy="19079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9DCDE8-72E1-C8A4-0A0F-77E99300164D}"/>
                  </a:ext>
                </a:extLst>
              </p:cNvPr>
              <p:cNvSpPr txBox="1"/>
              <p:nvPr/>
            </p:nvSpPr>
            <p:spPr>
              <a:xfrm>
                <a:off x="3115744" y="1631987"/>
                <a:ext cx="999056" cy="31797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9DCDE8-72E1-C8A4-0A0F-77E993001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744" y="1631987"/>
                <a:ext cx="999056" cy="317972"/>
              </a:xfrm>
              <a:prstGeom prst="rect">
                <a:avLst/>
              </a:prstGeom>
              <a:blipFill>
                <a:blip r:embed="rId6"/>
                <a:stretch>
                  <a:fillRect l="-5488" t="-28846" r="-487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9905C3-2A40-E3BF-3B4B-E6E3DDD6622B}"/>
                  </a:ext>
                </a:extLst>
              </p:cNvPr>
              <p:cNvSpPr txBox="1"/>
              <p:nvPr/>
            </p:nvSpPr>
            <p:spPr>
              <a:xfrm>
                <a:off x="2069431" y="2811379"/>
                <a:ext cx="36896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9905C3-2A40-E3BF-3B4B-E6E3DDD66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431" y="2811379"/>
                <a:ext cx="368968" cy="369332"/>
              </a:xfrm>
              <a:prstGeom prst="rect">
                <a:avLst/>
              </a:prstGeom>
              <a:blipFill>
                <a:blip r:embed="rId7"/>
                <a:stretch>
                  <a:fillRect t="-22951" r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094D20D-859E-9B91-55B1-9B1C1375BB7F}"/>
                  </a:ext>
                </a:extLst>
              </p:cNvPr>
              <p:cNvSpPr txBox="1"/>
              <p:nvPr/>
            </p:nvSpPr>
            <p:spPr>
              <a:xfrm>
                <a:off x="2727158" y="3771754"/>
                <a:ext cx="288758" cy="41030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094D20D-859E-9B91-55B1-9B1C1375B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158" y="3771754"/>
                <a:ext cx="288758" cy="410305"/>
              </a:xfrm>
              <a:prstGeom prst="rect">
                <a:avLst/>
              </a:prstGeom>
              <a:blipFill>
                <a:blip r:embed="rId8"/>
                <a:stretch>
                  <a:fillRect r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EB3FC1-293C-D47A-81AE-782CB8258356}"/>
                  </a:ext>
                </a:extLst>
              </p:cNvPr>
              <p:cNvSpPr txBox="1"/>
              <p:nvPr/>
            </p:nvSpPr>
            <p:spPr>
              <a:xfrm>
                <a:off x="4876528" y="2206089"/>
                <a:ext cx="609600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5EB3FC1-293C-D47A-81AE-782CB8258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528" y="2206089"/>
                <a:ext cx="609600" cy="400110"/>
              </a:xfrm>
              <a:prstGeom prst="rect">
                <a:avLst/>
              </a:prstGeom>
              <a:blipFill>
                <a:blip r:embed="rId9"/>
                <a:stretch>
                  <a:fillRect t="-18182" r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C8DCE4B-AFFC-82DD-B94F-56A1EEBDCA21}"/>
                  </a:ext>
                </a:extLst>
              </p:cNvPr>
              <p:cNvSpPr txBox="1"/>
              <p:nvPr/>
            </p:nvSpPr>
            <p:spPr>
              <a:xfrm>
                <a:off x="4828675" y="3616901"/>
                <a:ext cx="609600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C8DCE4B-AFFC-82DD-B94F-56A1EEBDC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675" y="3616901"/>
                <a:ext cx="609600" cy="400110"/>
              </a:xfrm>
              <a:prstGeom prst="rect">
                <a:avLst/>
              </a:prstGeom>
              <a:blipFill>
                <a:blip r:embed="rId10"/>
                <a:stretch>
                  <a:fillRect t="-18182" r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06363FBA-703F-F25B-4974-40A82AED8E24}"/>
              </a:ext>
            </a:extLst>
          </p:cNvPr>
          <p:cNvSpPr/>
          <p:nvPr/>
        </p:nvSpPr>
        <p:spPr>
          <a:xfrm>
            <a:off x="4732421" y="1709512"/>
            <a:ext cx="3224463" cy="13465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0A1BD4-41A2-F67E-CEC7-A14324990AAE}"/>
              </a:ext>
            </a:extLst>
          </p:cNvPr>
          <p:cNvSpPr/>
          <p:nvPr/>
        </p:nvSpPr>
        <p:spPr>
          <a:xfrm>
            <a:off x="4767782" y="3197339"/>
            <a:ext cx="3600346" cy="13465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Line Callout 2 6"/>
              <p:cNvSpPr/>
              <p:nvPr/>
            </p:nvSpPr>
            <p:spPr>
              <a:xfrm>
                <a:off x="5693508" y="4796683"/>
                <a:ext cx="2674620" cy="1559667"/>
              </a:xfrm>
              <a:prstGeom prst="borderCallout2">
                <a:avLst>
                  <a:gd name="adj1" fmla="val 39036"/>
                  <a:gd name="adj2" fmla="val -3065"/>
                  <a:gd name="adj3" fmla="val -697"/>
                  <a:gd name="adj4" fmla="val -29471"/>
                  <a:gd name="adj5" fmla="val -48942"/>
                  <a:gd name="adj6" fmla="val -25834"/>
                </a:avLst>
              </a:prstGeom>
              <a:solidFill>
                <a:schemeClr val="bg1"/>
              </a:solidFill>
              <a:ln w="28575">
                <a:solidFill>
                  <a:srgbClr val="00B050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The </a:t>
                </a:r>
                <a:r>
                  <a:rPr lang="en-US" b="1" dirty="0">
                    <a:solidFill>
                      <a:schemeClr val="tx1"/>
                    </a:solidFill>
                  </a:rPr>
                  <a:t>cross product </a:t>
                </a:r>
                <a:r>
                  <a:rPr lang="en-US" dirty="0">
                    <a:solidFill>
                      <a:schemeClr val="tx1"/>
                    </a:solidFill>
                  </a:rPr>
                  <a:t>of two vectors is another vector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which is perpendicular to both vectors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Line Callout 2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508" y="4796683"/>
                <a:ext cx="2674620" cy="1559667"/>
              </a:xfrm>
              <a:prstGeom prst="borderCallout2">
                <a:avLst>
                  <a:gd name="adj1" fmla="val 39036"/>
                  <a:gd name="adj2" fmla="val -3065"/>
                  <a:gd name="adj3" fmla="val -697"/>
                  <a:gd name="adj4" fmla="val -29471"/>
                  <a:gd name="adj5" fmla="val -48942"/>
                  <a:gd name="adj6" fmla="val -25834"/>
                </a:avLst>
              </a:prstGeom>
              <a:blipFill>
                <a:blip r:embed="rId11"/>
                <a:stretch>
                  <a:fillRect r="-348"/>
                </a:stretch>
              </a:blipFill>
              <a:ln w="28575">
                <a:solidFill>
                  <a:srgbClr val="00B050"/>
                </a:solidFill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965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Every Facet has a Surface Normal 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163" y="4332007"/>
            <a:ext cx="2652337" cy="22069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308" y="1658327"/>
            <a:ext cx="3787041" cy="23013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19" y="1589533"/>
            <a:ext cx="3571631" cy="29235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5235" y="4513086"/>
            <a:ext cx="3015142" cy="210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7650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latin typeface="+mn-lt"/>
              </a:rPr>
              <a:t>Vector Dot Product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977" y="1570618"/>
            <a:ext cx="3191925" cy="2239810"/>
          </a:xfrm>
          <a:prstGeom prst="rect">
            <a:avLst/>
          </a:prstGeom>
        </p:spPr>
      </p:pic>
      <p:sp>
        <p:nvSpPr>
          <p:cNvPr id="6" name="Line Callout 2 5"/>
          <p:cNvSpPr/>
          <p:nvPr/>
        </p:nvSpPr>
        <p:spPr>
          <a:xfrm>
            <a:off x="3131391" y="4224886"/>
            <a:ext cx="2175511" cy="1154430"/>
          </a:xfrm>
          <a:prstGeom prst="borderCallout2">
            <a:avLst>
              <a:gd name="adj1" fmla="val -13109"/>
              <a:gd name="adj2" fmla="val 56230"/>
              <a:gd name="adj3" fmla="val -183622"/>
              <a:gd name="adj4" fmla="val 38923"/>
              <a:gd name="adj5" fmla="val -118819"/>
              <a:gd name="adj6" fmla="val -20792"/>
            </a:avLst>
          </a:prstGeom>
          <a:solidFill>
            <a:schemeClr val="bg1"/>
          </a:solidFill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The </a:t>
            </a:r>
            <a:r>
              <a:rPr lang="en-US" b="1">
                <a:solidFill>
                  <a:schemeClr val="tx1"/>
                </a:solidFill>
              </a:rPr>
              <a:t>dot product </a:t>
            </a:r>
            <a:r>
              <a:rPr lang="en-US">
                <a:solidFill>
                  <a:schemeClr val="tx1"/>
                </a:solidFill>
              </a:rPr>
              <a:t>gives the angle </a:t>
            </a:r>
            <a:r>
              <a:rPr lang="en-US" i="1">
                <a:solidFill>
                  <a:schemeClr val="tx1"/>
                </a:solidFill>
              </a:rPr>
              <a:t>between</a:t>
            </a:r>
            <a:r>
              <a:rPr lang="en-US">
                <a:solidFill>
                  <a:schemeClr val="tx1"/>
                </a:solidFill>
              </a:rPr>
              <a:t> two </a:t>
            </a:r>
            <a:r>
              <a:rPr lang="en-US" b="1">
                <a:solidFill>
                  <a:srgbClr val="FF0000"/>
                </a:solidFill>
              </a:rPr>
              <a:t>vectors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9804" y="2594897"/>
            <a:ext cx="2215516" cy="172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66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0274" y="1125991"/>
            <a:ext cx="933611" cy="7479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Backface Culling and Facet Shading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144" y="1634148"/>
            <a:ext cx="3434032" cy="25797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2176" y="4583521"/>
            <a:ext cx="3268004" cy="191331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60858" y="1634148"/>
            <a:ext cx="2594183" cy="2594183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1199573" y="4583521"/>
            <a:ext cx="2589763" cy="1424475"/>
            <a:chOff x="1517289" y="4537026"/>
            <a:chExt cx="2589763" cy="1424475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1517289" y="5101345"/>
              <a:ext cx="1177871" cy="860156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576526" y="4778179"/>
              <a:ext cx="15305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Camera  / Eye Location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V="1">
              <a:off x="1517289" y="4872641"/>
              <a:ext cx="254361" cy="1088860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1582698" y="4537026"/>
                  <a:ext cx="3942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2698" y="4537026"/>
                  <a:ext cx="39426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1619692" y="5346757"/>
                  <a:ext cx="3942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9692" y="5346757"/>
                  <a:ext cx="39426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418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90411-E1BF-4D5D-E329-0D380EEB3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8AEFB6-8101-7D5C-139E-65E944A7C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171" y="1284625"/>
            <a:ext cx="4718477" cy="535522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8CD61-DFA6-259F-0FFC-085AA001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43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23745599-C566-7A58-0B3E-A8E21008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plot3d_sphere.py</a:t>
            </a:r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A68EC1F4-DE39-0581-8860-F085B62574B0}"/>
              </a:ext>
            </a:extLst>
          </p:cNvPr>
          <p:cNvSpPr/>
          <p:nvPr/>
        </p:nvSpPr>
        <p:spPr>
          <a:xfrm>
            <a:off x="625638" y="3846532"/>
            <a:ext cx="1544786" cy="934574"/>
          </a:xfrm>
          <a:prstGeom prst="wedgeRectCallout">
            <a:avLst>
              <a:gd name="adj1" fmla="val 97705"/>
              <a:gd name="adj2" fmla="val 89733"/>
            </a:avLst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Comment out line 20</a:t>
            </a:r>
            <a:endParaRPr lang="en-US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A82ABB69-BB5D-ACA8-7D43-86102ADE386C}"/>
              </a:ext>
            </a:extLst>
          </p:cNvPr>
          <p:cNvSpPr/>
          <p:nvPr/>
        </p:nvSpPr>
        <p:spPr>
          <a:xfrm>
            <a:off x="625638" y="5197111"/>
            <a:ext cx="1544786" cy="934574"/>
          </a:xfrm>
          <a:prstGeom prst="wedgeRectCallout">
            <a:avLst>
              <a:gd name="adj1" fmla="val 92983"/>
              <a:gd name="adj2" fmla="val -33396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Uncomment line 21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0BA067-1C0E-A5BF-FE6C-DBFEC2D5D624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edit in this code</a:t>
            </a:r>
          </a:p>
        </p:txBody>
      </p:sp>
    </p:spTree>
    <p:extLst>
      <p:ext uri="{BB962C8B-B14F-4D97-AF65-F5344CB8AC3E}">
        <p14:creationId xmlns:p14="http://schemas.microsoft.com/office/powerpoint/2010/main" val="68371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5573E2B-5828-9534-2AFB-FDAF53289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559" y="1150910"/>
            <a:ext cx="5516883" cy="557965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44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75CA57D-B475-415C-B5E6-00FDC3BB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plot3d_sphere.py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F1BF812A-055C-D0BD-A647-CE8E5888E5D3}"/>
              </a:ext>
            </a:extLst>
          </p:cNvPr>
          <p:cNvSpPr/>
          <p:nvPr/>
        </p:nvSpPr>
        <p:spPr>
          <a:xfrm>
            <a:off x="290088" y="1135918"/>
            <a:ext cx="1634865" cy="1103455"/>
          </a:xfrm>
          <a:prstGeom prst="wedgeRoundRectCallout">
            <a:avLst>
              <a:gd name="adj1" fmla="val 97240"/>
              <a:gd name="adj2" fmla="val 774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Left-click</a:t>
            </a:r>
            <a:r>
              <a:rPr lang="en-US" dirty="0"/>
              <a:t> and </a:t>
            </a:r>
            <a:r>
              <a:rPr lang="en-US" b="1" dirty="0"/>
              <a:t>drag</a:t>
            </a:r>
            <a:r>
              <a:rPr lang="en-US" dirty="0"/>
              <a:t> to rotate the plot</a:t>
            </a:r>
          </a:p>
        </p:txBody>
      </p:sp>
    </p:spTree>
    <p:extLst>
      <p:ext uri="{BB962C8B-B14F-4D97-AF65-F5344CB8AC3E}">
        <p14:creationId xmlns:p14="http://schemas.microsoft.com/office/powerpoint/2010/main" val="416054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45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75CA57D-B475-415C-B5E6-00FDC3BB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plot3d_sphere.py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1A0D9A-BA93-1D29-C817-7CAD47614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648" y="1317959"/>
            <a:ext cx="4942703" cy="540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2550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Modelling a Torus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57107"/>
            <a:ext cx="5602544" cy="463721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ea typeface="Cambria Math" panose="02040503050406030204" pitchFamily="18" charset="0"/>
              </a:rPr>
              <a:t>Your scientist would like to begin modelling the electromagnetic field around a </a:t>
            </a:r>
            <a:r>
              <a:rPr lang="en-US" sz="2400" b="1" dirty="0">
                <a:ea typeface="Cambria Math" panose="02040503050406030204" pitchFamily="18" charset="0"/>
              </a:rPr>
              <a:t>toroidal</a:t>
            </a:r>
            <a:r>
              <a:rPr lang="en-US" sz="2400" dirty="0">
                <a:ea typeface="Cambria Math" panose="02040503050406030204" pitchFamily="18" charset="0"/>
              </a:rPr>
              <a:t> coil carrying AC current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ea typeface="Cambria Math" panose="02040503050406030204" pitchFamily="18" charset="0"/>
              </a:rPr>
              <a:t>The first step will be defining and drawing a 3D torus using a modified version of the spherical coordinate system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ea typeface="Cambria Math" panose="02040503050406030204" pitchFamily="18" charset="0"/>
              </a:rPr>
              <a:t>The red arrow points in the </a:t>
            </a:r>
            <a:r>
              <a:rPr lang="en-US" sz="2400" b="1" dirty="0">
                <a:ea typeface="Cambria Math" panose="02040503050406030204" pitchFamily="18" charset="0"/>
              </a:rPr>
              <a:t>poloidal</a:t>
            </a:r>
            <a:r>
              <a:rPr lang="en-US" sz="2400" dirty="0">
                <a:ea typeface="Cambria Math" panose="02040503050406030204" pitchFamily="18" charset="0"/>
              </a:rPr>
              <a:t> direction and the blue arrow points in the </a:t>
            </a:r>
            <a:r>
              <a:rPr lang="en-US" sz="2400" b="1" dirty="0">
                <a:ea typeface="Cambria Math" panose="02040503050406030204" pitchFamily="18" charset="0"/>
              </a:rPr>
              <a:t>toroidal</a:t>
            </a:r>
            <a:r>
              <a:rPr lang="en-US" sz="2400" dirty="0">
                <a:ea typeface="Cambria Math" panose="02040503050406030204" pitchFamily="18" charset="0"/>
              </a:rPr>
              <a:t> direction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ea typeface="Cambria Math" panose="02040503050406030204" pitchFamily="18" charset="0"/>
              </a:rPr>
              <a:t>A sphere and a torus are not </a:t>
            </a:r>
            <a:r>
              <a:rPr lang="en-US" sz="2400" b="1" dirty="0">
                <a:ea typeface="Cambria Math" panose="02040503050406030204" pitchFamily="18" charset="0"/>
              </a:rPr>
              <a:t>homeomorphic</a:t>
            </a:r>
            <a:r>
              <a:rPr lang="en-US" sz="2400" dirty="0">
                <a:ea typeface="Cambria Math" panose="02040503050406030204" pitchFamily="18" charset="0"/>
              </a:rPr>
              <a:t>: unlike a sphere, a torus needs </a:t>
            </a:r>
            <a:r>
              <a:rPr lang="en-US" sz="2400" u="sng" dirty="0">
                <a:ea typeface="Cambria Math" panose="02040503050406030204" pitchFamily="18" charset="0"/>
              </a:rPr>
              <a:t>two</a:t>
            </a:r>
            <a:r>
              <a:rPr lang="en-US" sz="2400" dirty="0">
                <a:ea typeface="Cambria Math" panose="02040503050406030204" pitchFamily="18" charset="0"/>
              </a:rPr>
              <a:t> radii to fully describe it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>
              <a:ea typeface="Cambria Math" panose="020405030504060302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84D126-3A4F-40DC-8A6C-E1C5E05F3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406" y="1468581"/>
            <a:ext cx="2680488" cy="19604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B437DE-9F73-481E-A7D0-A43808FF7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737" y="4020239"/>
            <a:ext cx="2191827" cy="136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7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531D13-D6D2-46D0-A14A-4962AE558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75" y="1468517"/>
            <a:ext cx="7619048" cy="46857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Modelling a Torus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47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7B4BDC-9B04-4BB0-8B5C-2E2A7FB5E7ED}"/>
              </a:ext>
            </a:extLst>
          </p:cNvPr>
          <p:cNvCxnSpPr>
            <a:cxnSpLocks/>
          </p:cNvCxnSpPr>
          <p:nvPr/>
        </p:nvCxnSpPr>
        <p:spPr>
          <a:xfrm flipV="1">
            <a:off x="4748976" y="3648421"/>
            <a:ext cx="2285236" cy="1805"/>
          </a:xfrm>
          <a:prstGeom prst="line">
            <a:avLst/>
          </a:prstGeom>
          <a:ln w="38100">
            <a:solidFill>
              <a:srgbClr val="00B050"/>
            </a:solidFill>
            <a:headEnd type="triangle" w="med" len="med"/>
            <a:tailEnd type="triangl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C8800C-D0FA-4F6D-82AB-CA812BAA21D0}"/>
              </a:ext>
            </a:extLst>
          </p:cNvPr>
          <p:cNvCxnSpPr>
            <a:cxnSpLocks/>
          </p:cNvCxnSpPr>
          <p:nvPr/>
        </p:nvCxnSpPr>
        <p:spPr>
          <a:xfrm>
            <a:off x="7010466" y="3245644"/>
            <a:ext cx="0" cy="402777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F1DA14-2F25-4EA1-8F5B-495337A2D579}"/>
                  </a:ext>
                </a:extLst>
              </p:cNvPr>
              <p:cNvSpPr txBox="1"/>
              <p:nvPr/>
            </p:nvSpPr>
            <p:spPr>
              <a:xfrm>
                <a:off x="5607414" y="3672874"/>
                <a:ext cx="284180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F1DA14-2F25-4EA1-8F5B-495337A2D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414" y="3672874"/>
                <a:ext cx="28418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0765F4-17B4-4406-8E30-5E32D9BB1235}"/>
                  </a:ext>
                </a:extLst>
              </p:cNvPr>
              <p:cNvSpPr txBox="1"/>
              <p:nvPr/>
            </p:nvSpPr>
            <p:spPr>
              <a:xfrm>
                <a:off x="7181949" y="3499213"/>
                <a:ext cx="296235" cy="2769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0765F4-17B4-4406-8E30-5E32D9BB1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1949" y="3499213"/>
                <a:ext cx="296235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76D7F0-EFDD-42B7-898A-9BB5AC7AD319}"/>
                  </a:ext>
                </a:extLst>
              </p:cNvPr>
              <p:cNvSpPr txBox="1"/>
              <p:nvPr/>
            </p:nvSpPr>
            <p:spPr>
              <a:xfrm>
                <a:off x="7322740" y="3089690"/>
                <a:ext cx="3614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76D7F0-EFDD-42B7-898A-9BB5AC7AD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740" y="3089690"/>
                <a:ext cx="361445" cy="276999"/>
              </a:xfrm>
              <a:prstGeom prst="rect">
                <a:avLst/>
              </a:prstGeom>
              <a:blipFill>
                <a:blip r:embed="rId6"/>
                <a:stretch>
                  <a:fillRect l="-23333" t="-2222" r="-21667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158DBD-2307-4CB5-96FC-4917365CF72F}"/>
              </a:ext>
            </a:extLst>
          </p:cNvPr>
          <p:cNvCxnSpPr>
            <a:cxnSpLocks/>
            <a:endCxn id="29" idx="3"/>
          </p:cNvCxnSpPr>
          <p:nvPr/>
        </p:nvCxnSpPr>
        <p:spPr>
          <a:xfrm flipV="1">
            <a:off x="6995614" y="3353298"/>
            <a:ext cx="249077" cy="306884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4FE22F8-43D2-4992-BF2F-FD2F777E36F3}"/>
              </a:ext>
            </a:extLst>
          </p:cNvPr>
          <p:cNvSpPr/>
          <p:nvPr/>
        </p:nvSpPr>
        <p:spPr>
          <a:xfrm>
            <a:off x="7231300" y="3275249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5B178CB-4DEA-4853-A2A5-63750977E410}"/>
                  </a:ext>
                </a:extLst>
              </p:cNvPr>
              <p:cNvSpPr txBox="1"/>
              <p:nvPr/>
            </p:nvSpPr>
            <p:spPr>
              <a:xfrm>
                <a:off x="4859325" y="4439271"/>
                <a:ext cx="2608503" cy="94474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n>
                                    <a:solidFill>
                                      <a:srgbClr val="00B05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n>
                                    <a:solidFill>
                                      <a:srgbClr val="00B05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n>
                                    <a:solidFill>
                                      <a:srgbClr val="00B05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n>
                                    <a:solidFill>
                                      <a:srgbClr val="FF0000"/>
                                    </a:solidFill>
                                  </a:ln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n>
                                    <a:solidFill>
                                      <a:srgbClr val="FF0000"/>
                                    </a:solidFill>
                                  </a:ln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FF0000"/>
                                    </a:solidFill>
                                  </a:ln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func>
                        </m:e>
                      </m:d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func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n>
                                    <a:solidFill>
                                      <a:srgbClr val="00B05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00B05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00B05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n>
                                    <a:solidFill>
                                      <a:srgbClr val="FF0000"/>
                                    </a:solidFill>
                                  </a:ln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n>
                                    <a:solidFill>
                                      <a:srgbClr val="FF0000"/>
                                    </a:solidFill>
                                  </a:ln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FF0000"/>
                                    </a:solidFill>
                                  </a:ln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func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5B178CB-4DEA-4853-A2A5-63750977E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325" y="4439271"/>
                <a:ext cx="2608503" cy="9447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3E7EA9C2-380C-427B-C875-FB4386D12C19}"/>
              </a:ext>
            </a:extLst>
          </p:cNvPr>
          <p:cNvGrpSpPr/>
          <p:nvPr/>
        </p:nvGrpSpPr>
        <p:grpSpPr>
          <a:xfrm rot="14245538">
            <a:off x="6821593" y="2890289"/>
            <a:ext cx="377916" cy="700100"/>
            <a:chOff x="3988631" y="4420499"/>
            <a:chExt cx="1942506" cy="1544777"/>
          </a:xfrm>
          <a:noFill/>
        </p:grpSpPr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84974C2A-EB35-80AF-A7EE-B4B0F057E349}"/>
                </a:ext>
              </a:extLst>
            </p:cNvPr>
            <p:cNvSpPr/>
            <p:nvPr/>
          </p:nvSpPr>
          <p:spPr>
            <a:xfrm rot="7461237">
              <a:off x="3942934" y="4466196"/>
              <a:ext cx="1226671" cy="1135278"/>
            </a:xfrm>
            <a:prstGeom prst="arc">
              <a:avLst>
                <a:gd name="adj1" fmla="val 16200000"/>
                <a:gd name="adj2" fmla="val 21274759"/>
              </a:avLst>
            </a:prstGeom>
            <a:grpFill/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2EDDC66-24C2-7BE6-BBC0-CC67587DBE2E}"/>
                    </a:ext>
                  </a:extLst>
                </p:cNvPr>
                <p:cNvSpPr txBox="1"/>
                <p:nvPr/>
              </p:nvSpPr>
              <p:spPr>
                <a:xfrm rot="7110628">
                  <a:off x="4955191" y="4989329"/>
                  <a:ext cx="528094" cy="1423799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m:oMathPara>
                  </a14:m>
                  <a:endParaRPr lang="en-US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2EDDC66-24C2-7BE6-BBC0-CC67587DBE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7110628">
                  <a:off x="4955191" y="4989329"/>
                  <a:ext cx="528094" cy="14237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823694-8301-24E3-FB8A-C8610BB122EE}"/>
                  </a:ext>
                </a:extLst>
              </p:cNvPr>
              <p:cNvSpPr txBox="1"/>
              <p:nvPr/>
            </p:nvSpPr>
            <p:spPr>
              <a:xfrm>
                <a:off x="6706591" y="713820"/>
                <a:ext cx="207066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Note: </a:t>
                </a:r>
                <a14:m>
                  <m:oMath xmlns:m="http://schemas.openxmlformats.org/officeDocument/2006/math">
                    <m:r>
                      <a:rPr lang="en-US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r>
                      <a:rPr lang="en-US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823694-8301-24E3-FB8A-C8610BB12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6591" y="713820"/>
                <a:ext cx="2070664" cy="369332"/>
              </a:xfrm>
              <a:prstGeom prst="rect">
                <a:avLst/>
              </a:prstGeom>
              <a:blipFill>
                <a:blip r:embed="rId9"/>
                <a:stretch>
                  <a:fillRect l="-2047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B3D5D5-F3D0-8DE5-597F-0D94F268C3E1}"/>
                  </a:ext>
                </a:extLst>
              </p:cNvPr>
              <p:cNvSpPr txBox="1"/>
              <p:nvPr/>
            </p:nvSpPr>
            <p:spPr>
              <a:xfrm>
                <a:off x="1502349" y="1411646"/>
                <a:ext cx="23094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00B05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n>
                            <a:solidFill>
                              <a:srgbClr val="00B05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Radius</m:t>
                      </m:r>
                      <m:r>
                        <a:rPr lang="en-US" b="0" i="0" smtClean="0">
                          <a:ln>
                            <a:solidFill>
                              <a:srgbClr val="00B05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n>
                            <a:solidFill>
                              <a:srgbClr val="00B05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b="0" i="0" smtClean="0">
                          <a:ln>
                            <a:solidFill>
                              <a:srgbClr val="00B05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n>
                            <a:solidFill>
                              <a:srgbClr val="00B050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Torus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B3D5D5-F3D0-8DE5-597F-0D94F268C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349" y="1411646"/>
                <a:ext cx="230945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327D45-04FB-E7B6-D4AA-398697C8B1FC}"/>
                  </a:ext>
                </a:extLst>
              </p:cNvPr>
              <p:cNvSpPr txBox="1"/>
              <p:nvPr/>
            </p:nvSpPr>
            <p:spPr>
              <a:xfrm>
                <a:off x="4573913" y="1411646"/>
                <a:ext cx="34341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𝑅𝑎𝑑𝑖𝑢𝑠</m:t>
                      </m:r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𝐶𝑟𝑜𝑠𝑠</m:t>
                      </m:r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𝑆𝑒𝑐𝑡𝑖𝑜𝑛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327D45-04FB-E7B6-D4AA-398697C8B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913" y="1411646"/>
                <a:ext cx="343415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353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0" grpId="0"/>
      <p:bldP spid="29" grpId="0" animBg="1"/>
      <p:bldP spid="25" grpId="0" animBg="1"/>
      <p:bldP spid="8" grpId="0" animBg="1"/>
      <p:bldP spid="5" grpId="0"/>
      <p:bldP spid="1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Modelling a Torus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2059E9-8395-42C0-9B40-A31CDD68A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272" y="1350619"/>
            <a:ext cx="5121455" cy="508175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7B4BDC-9B04-4BB0-8B5C-2E2A7FB5E7ED}"/>
              </a:ext>
            </a:extLst>
          </p:cNvPr>
          <p:cNvCxnSpPr/>
          <p:nvPr/>
        </p:nvCxnSpPr>
        <p:spPr>
          <a:xfrm>
            <a:off x="4483510" y="3967316"/>
            <a:ext cx="1974440" cy="0"/>
          </a:xfrm>
          <a:prstGeom prst="line">
            <a:avLst/>
          </a:prstGeom>
          <a:ln w="3810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158DBD-2307-4CB5-96FC-4917365CF72F}"/>
              </a:ext>
            </a:extLst>
          </p:cNvPr>
          <p:cNvCxnSpPr>
            <a:cxnSpLocks/>
          </p:cNvCxnSpPr>
          <p:nvPr/>
        </p:nvCxnSpPr>
        <p:spPr>
          <a:xfrm>
            <a:off x="6438436" y="3967316"/>
            <a:ext cx="452438" cy="0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5AEAE2-AADB-4ACA-ADDA-C98A74AF335E}"/>
              </a:ext>
            </a:extLst>
          </p:cNvPr>
          <p:cNvCxnSpPr>
            <a:cxnSpLocks/>
          </p:cNvCxnSpPr>
          <p:nvPr/>
        </p:nvCxnSpPr>
        <p:spPr>
          <a:xfrm flipV="1">
            <a:off x="4483510" y="2173296"/>
            <a:ext cx="877529" cy="1794020"/>
          </a:xfrm>
          <a:prstGeom prst="line">
            <a:avLst/>
          </a:prstGeom>
          <a:ln w="38100">
            <a:solidFill>
              <a:srgbClr val="00B05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C8800C-D0FA-4F6D-82AB-CA812BAA21D0}"/>
              </a:ext>
            </a:extLst>
          </p:cNvPr>
          <p:cNvCxnSpPr>
            <a:cxnSpLocks/>
          </p:cNvCxnSpPr>
          <p:nvPr/>
        </p:nvCxnSpPr>
        <p:spPr>
          <a:xfrm>
            <a:off x="5597014" y="1887794"/>
            <a:ext cx="0" cy="2079522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12D864A-B316-41CB-81E9-07E75EA382E2}"/>
              </a:ext>
            </a:extLst>
          </p:cNvPr>
          <p:cNvGrpSpPr/>
          <p:nvPr/>
        </p:nvGrpSpPr>
        <p:grpSpPr>
          <a:xfrm rot="14529736">
            <a:off x="4140868" y="3671771"/>
            <a:ext cx="1107872" cy="557414"/>
            <a:chOff x="3740096" y="4566179"/>
            <a:chExt cx="1135286" cy="1041122"/>
          </a:xfrm>
          <a:noFill/>
        </p:grpSpPr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EE6FFB0E-EB40-4666-9463-F8474FE56439}"/>
                </a:ext>
              </a:extLst>
            </p:cNvPr>
            <p:cNvSpPr/>
            <p:nvPr/>
          </p:nvSpPr>
          <p:spPr>
            <a:xfrm rot="7461237">
              <a:off x="3791545" y="4514730"/>
              <a:ext cx="1032387" cy="1135286"/>
            </a:xfrm>
            <a:prstGeom prst="arc">
              <a:avLst/>
            </a:prstGeom>
            <a:grpFill/>
            <a:ln w="381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D9D1760-6942-4198-AC1E-49B99D95364E}"/>
                    </a:ext>
                  </a:extLst>
                </p:cNvPr>
                <p:cNvSpPr txBox="1"/>
                <p:nvPr/>
              </p:nvSpPr>
              <p:spPr>
                <a:xfrm rot="7110628">
                  <a:off x="4218638" y="5287229"/>
                  <a:ext cx="356290" cy="283853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oMath>
                    </m:oMathPara>
                  </a14:m>
                  <a:endParaRPr lang="en-US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D9D1760-6942-4198-AC1E-49B99D9536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7110628">
                  <a:off x="4218638" y="5287229"/>
                  <a:ext cx="356290" cy="28385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8D93EEE-7E02-4333-B86F-BE486BAAD37C}"/>
              </a:ext>
            </a:extLst>
          </p:cNvPr>
          <p:cNvCxnSpPr>
            <a:cxnSpLocks/>
          </p:cNvCxnSpPr>
          <p:nvPr/>
        </p:nvCxnSpPr>
        <p:spPr>
          <a:xfrm flipV="1">
            <a:off x="5361039" y="1784555"/>
            <a:ext cx="206477" cy="371533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F1DA14-2F25-4EA1-8F5B-495337A2D579}"/>
                  </a:ext>
                </a:extLst>
              </p:cNvPr>
              <p:cNvSpPr txBox="1"/>
              <p:nvPr/>
            </p:nvSpPr>
            <p:spPr>
              <a:xfrm>
                <a:off x="5156696" y="3984524"/>
                <a:ext cx="2841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00B050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F1DA14-2F25-4EA1-8F5B-495337A2D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696" y="3984524"/>
                <a:ext cx="28418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0765F4-17B4-4406-8E30-5E32D9BB1235}"/>
                  </a:ext>
                </a:extLst>
              </p:cNvPr>
              <p:cNvSpPr txBox="1"/>
              <p:nvPr/>
            </p:nvSpPr>
            <p:spPr>
              <a:xfrm>
                <a:off x="6577070" y="3984523"/>
                <a:ext cx="2962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0765F4-17B4-4406-8E30-5E32D9BB1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070" y="3984523"/>
                <a:ext cx="296235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54FE22F8-43D2-4992-BF2F-FD2F777E36F3}"/>
              </a:ext>
            </a:extLst>
          </p:cNvPr>
          <p:cNvSpPr/>
          <p:nvPr/>
        </p:nvSpPr>
        <p:spPr>
          <a:xfrm>
            <a:off x="5551294" y="1767347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76D7F0-EFDD-42B7-898A-9BB5AC7AD319}"/>
                  </a:ext>
                </a:extLst>
              </p:cNvPr>
              <p:cNvSpPr txBox="1"/>
              <p:nvPr/>
            </p:nvSpPr>
            <p:spPr>
              <a:xfrm>
                <a:off x="5567516" y="1468517"/>
                <a:ext cx="5960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376D7F0-EFDD-42B7-898A-9BB5AC7AD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516" y="1468517"/>
                <a:ext cx="596061" cy="276999"/>
              </a:xfrm>
              <a:prstGeom prst="rect">
                <a:avLst/>
              </a:prstGeom>
              <a:blipFill>
                <a:blip r:embed="rId7"/>
                <a:stretch>
                  <a:fillRect l="-13265" t="-2222" r="-13265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706039F-7E71-46EC-BA17-0B73ED15FE5B}"/>
                  </a:ext>
                </a:extLst>
              </p:cNvPr>
              <p:cNvSpPr txBox="1"/>
              <p:nvPr/>
            </p:nvSpPr>
            <p:spPr>
              <a:xfrm>
                <a:off x="4859325" y="4439271"/>
                <a:ext cx="2608503" cy="94474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mtClean="0">
                                  <a:ln>
                                    <a:solidFill>
                                      <a:srgbClr val="00B05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n>
                                    <a:solidFill>
                                      <a:srgbClr val="00B05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n>
                                    <a:solidFill>
                                      <a:srgbClr val="00B05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n>
                                    <a:solidFill>
                                      <a:srgbClr val="FF0000"/>
                                    </a:solidFill>
                                  </a:ln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n>
                                    <a:solidFill>
                                      <a:srgbClr val="FF0000"/>
                                    </a:solidFill>
                                  </a:ln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FF0000"/>
                                    </a:solidFill>
                                  </a:ln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func>
                        </m:e>
                      </m:d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func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n>
                                    <a:solidFill>
                                      <a:srgbClr val="00B05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n>
                                    <a:solidFill>
                                      <a:srgbClr val="00B05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00B050"/>
                                    </a:solidFill>
                                  </a:ln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n>
                                    <a:solidFill>
                                      <a:srgbClr val="FF0000"/>
                                    </a:solidFill>
                                  </a:ln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n>
                                    <a:solidFill>
                                      <a:srgbClr val="FF0000"/>
                                    </a:solidFill>
                                  </a:ln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n>
                                    <a:solidFill>
                                      <a:srgbClr val="FF0000"/>
                                    </a:solidFill>
                                  </a:ln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func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n>
                                <a:solidFill>
                                  <a:srgbClr val="FF0000"/>
                                </a:solidFill>
                              </a:ln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706039F-7E71-46EC-BA17-0B73ED15F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325" y="4439271"/>
                <a:ext cx="2608503" cy="9447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7C9964-D8A5-7183-374A-7E52434B582E}"/>
                  </a:ext>
                </a:extLst>
              </p:cNvPr>
              <p:cNvSpPr txBox="1"/>
              <p:nvPr/>
            </p:nvSpPr>
            <p:spPr>
              <a:xfrm>
                <a:off x="6706591" y="713820"/>
                <a:ext cx="207066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7030A0"/>
                    </a:solidFill>
                  </a:rPr>
                  <a:t>Note: </a:t>
                </a:r>
                <a14:m>
                  <m:oMath xmlns:m="http://schemas.openxmlformats.org/officeDocument/2006/math">
                    <m:r>
                      <a:rPr lang="en-US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  <m:r>
                      <a:rPr lang="en-US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7C9964-D8A5-7183-374A-7E52434B5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6591" y="713820"/>
                <a:ext cx="2070664" cy="369332"/>
              </a:xfrm>
              <a:prstGeom prst="rect">
                <a:avLst/>
              </a:prstGeom>
              <a:blipFill>
                <a:blip r:embed="rId9"/>
                <a:stretch>
                  <a:fillRect l="-2047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686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54C0-AF87-26EA-A13A-DCCB39AA5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71185F-1EC0-186A-6461-6884B462C2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53" y="1340377"/>
            <a:ext cx="7238095" cy="528571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7DF2E-C3F2-B4AF-B2EA-46B1CD3EF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49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A97107A-5113-2B6F-13A6-15A57F316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plot3d_torus.py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D91ADEC-5A1A-AC37-A076-33279F0539E3}"/>
              </a:ext>
            </a:extLst>
          </p:cNvPr>
          <p:cNvGrpSpPr/>
          <p:nvPr/>
        </p:nvGrpSpPr>
        <p:grpSpPr>
          <a:xfrm>
            <a:off x="3495368" y="1349441"/>
            <a:ext cx="1076632" cy="369332"/>
            <a:chOff x="4968362" y="2079211"/>
            <a:chExt cx="1076632" cy="3693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AE765A8-896F-0B65-785F-212F8498EB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D0D2CC0-D204-4EDF-83B6-08749C8D46EC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87B7992-C7F1-CB92-51BF-636DB80A9B27}"/>
              </a:ext>
            </a:extLst>
          </p:cNvPr>
          <p:cNvGrpSpPr/>
          <p:nvPr/>
        </p:nvGrpSpPr>
        <p:grpSpPr>
          <a:xfrm>
            <a:off x="6738251" y="2032015"/>
            <a:ext cx="1076632" cy="369332"/>
            <a:chOff x="4704120" y="2356972"/>
            <a:chExt cx="1076632" cy="369332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A12C62D-52A5-E5FB-D98A-B1C1B06F29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C1A14E8-A2B6-2348-F4BD-62DC4C9E4521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7C97B29-ACC2-17B2-EF38-8E8F72205AEB}"/>
              </a:ext>
            </a:extLst>
          </p:cNvPr>
          <p:cNvGrpSpPr/>
          <p:nvPr/>
        </p:nvGrpSpPr>
        <p:grpSpPr>
          <a:xfrm>
            <a:off x="8060868" y="2761162"/>
            <a:ext cx="1068643" cy="369332"/>
            <a:chOff x="3647644" y="4910075"/>
            <a:chExt cx="1068643" cy="3693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C88DEFE-51EF-08A6-203B-0CD1F24E5B10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DF575A1-C9EC-F9CE-1DA8-A8B32E8E3C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6133187-3C01-A85B-C234-89FE8BDC9415}"/>
              </a:ext>
            </a:extLst>
          </p:cNvPr>
          <p:cNvGrpSpPr/>
          <p:nvPr/>
        </p:nvGrpSpPr>
        <p:grpSpPr>
          <a:xfrm>
            <a:off x="6990301" y="3108041"/>
            <a:ext cx="1064340" cy="369332"/>
            <a:chOff x="3647644" y="5421073"/>
            <a:chExt cx="1064340" cy="3693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3EFD911-B938-C2A9-2F99-AE174E1F6A47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7E0487C-370E-BBA1-0237-7F1ECA84CC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C8C4AA3-68D0-9775-68BF-B132E110E449}"/>
              </a:ext>
            </a:extLst>
          </p:cNvPr>
          <p:cNvGrpSpPr/>
          <p:nvPr/>
        </p:nvGrpSpPr>
        <p:grpSpPr>
          <a:xfrm>
            <a:off x="4604707" y="4467741"/>
            <a:ext cx="1068643" cy="369332"/>
            <a:chOff x="3647644" y="5359159"/>
            <a:chExt cx="1068643" cy="3693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4E4AE06-8B4F-0CA7-4C03-82860348613F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BC34A5F-CA80-4133-3288-BB76EFA664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53A584D-D18C-893C-2908-3650AE4102DE}"/>
              </a:ext>
            </a:extLst>
          </p:cNvPr>
          <p:cNvGrpSpPr/>
          <p:nvPr/>
        </p:nvGrpSpPr>
        <p:grpSpPr>
          <a:xfrm>
            <a:off x="5919634" y="5271185"/>
            <a:ext cx="1076632" cy="369332"/>
            <a:chOff x="2157212" y="5356391"/>
            <a:chExt cx="1076632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763F2A1-9729-ACA8-1B7E-2609E4247D70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D8B240D-0295-0EAD-8453-4CABA160A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874133-EF35-0761-DB8D-FA0172BA309F}"/>
              </a:ext>
            </a:extLst>
          </p:cNvPr>
          <p:cNvGrpSpPr/>
          <p:nvPr/>
        </p:nvGrpSpPr>
        <p:grpSpPr>
          <a:xfrm>
            <a:off x="3607662" y="6077641"/>
            <a:ext cx="1076632" cy="369332"/>
            <a:chOff x="2157212" y="5356391"/>
            <a:chExt cx="1076632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0B7815-AC96-57B4-AC7E-52938083518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73D9E20-C9D9-8F8E-AFE9-0A1D322C08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0CEF0D9-9E93-9BDD-DF27-D74380AD2375}"/>
              </a:ext>
            </a:extLst>
          </p:cNvPr>
          <p:cNvGrpSpPr/>
          <p:nvPr/>
        </p:nvGrpSpPr>
        <p:grpSpPr>
          <a:xfrm>
            <a:off x="2457918" y="6296431"/>
            <a:ext cx="1076632" cy="369332"/>
            <a:chOff x="2157212" y="5356391"/>
            <a:chExt cx="1076632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52EB4F1-F49C-46C7-A04C-9533FF1F746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7AF9B05-F416-BBCA-97CF-EACD646767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BE02AAA-A6D0-0853-A3EE-1604E3972521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350758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50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75CA57D-B475-415C-B5E6-00FDC3BB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plot3d_torus.py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06DBE-1BF2-CEC7-A4EE-FD00826A0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819" y="1152177"/>
            <a:ext cx="5132363" cy="556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265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94660B-6FED-6892-1884-B625DD11F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260" y="1383406"/>
            <a:ext cx="6738104" cy="492058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51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75CA57D-B475-415C-B5E6-00FDC3BB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+mn-lt"/>
              </a:rPr>
              <a:t>Edit</a:t>
            </a:r>
            <a:r>
              <a:rPr lang="en-US" sz="3200" dirty="0">
                <a:latin typeface="+mn-lt"/>
              </a:rPr>
              <a:t> plot3d_torus.py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55423829-2D6C-1C8E-13F1-493D60870FEF}"/>
              </a:ext>
            </a:extLst>
          </p:cNvPr>
          <p:cNvSpPr/>
          <p:nvPr/>
        </p:nvSpPr>
        <p:spPr>
          <a:xfrm>
            <a:off x="403124" y="2635019"/>
            <a:ext cx="1544786" cy="934574"/>
          </a:xfrm>
          <a:prstGeom prst="wedgeRectCallout">
            <a:avLst>
              <a:gd name="adj1" fmla="val 59480"/>
              <a:gd name="adj2" fmla="val 141039"/>
            </a:avLst>
          </a:prstGeom>
          <a:solidFill>
            <a:schemeClr val="bg1"/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>
                  <a:solidFill>
                    <a:srgbClr val="00B050"/>
                  </a:solidFill>
                </a:ln>
                <a:solidFill>
                  <a:srgbClr val="00B050"/>
                </a:solidFill>
              </a:rPr>
              <a:t>Comment out line 23</a:t>
            </a:r>
            <a:endParaRPr lang="en-US" dirty="0">
              <a:ln>
                <a:solidFill>
                  <a:srgbClr val="00B05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4C06F48E-8993-DA94-B836-87C04C24C00A}"/>
              </a:ext>
            </a:extLst>
          </p:cNvPr>
          <p:cNvSpPr/>
          <p:nvPr/>
        </p:nvSpPr>
        <p:spPr>
          <a:xfrm>
            <a:off x="403124" y="5002292"/>
            <a:ext cx="1544786" cy="934574"/>
          </a:xfrm>
          <a:prstGeom prst="wedgeRectCallout">
            <a:avLst>
              <a:gd name="adj1" fmla="val 62436"/>
              <a:gd name="adj2" fmla="val -82364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Uncomment line 24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6A68D7-E89E-FE8D-56EB-2687E080CA8A}"/>
              </a:ext>
            </a:extLst>
          </p:cNvPr>
          <p:cNvSpPr txBox="1"/>
          <p:nvPr/>
        </p:nvSpPr>
        <p:spPr>
          <a:xfrm>
            <a:off x="5309937" y="3843700"/>
            <a:ext cx="3051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FF00"/>
                </a:solidFill>
              </a:rPr>
              <a:t>rcount</a:t>
            </a:r>
            <a:r>
              <a:rPr lang="en-US" sz="1600" dirty="0">
                <a:solidFill>
                  <a:srgbClr val="FFFF00"/>
                </a:solidFill>
              </a:rPr>
              <a:t> = Max # of rows to plot</a:t>
            </a:r>
          </a:p>
          <a:p>
            <a:r>
              <a:rPr lang="en-US" sz="1600" dirty="0" err="1">
                <a:solidFill>
                  <a:srgbClr val="FFFF00"/>
                </a:solidFill>
              </a:rPr>
              <a:t>ccount</a:t>
            </a:r>
            <a:r>
              <a:rPr lang="en-US" sz="1600" dirty="0">
                <a:solidFill>
                  <a:srgbClr val="FFFF00"/>
                </a:solidFill>
              </a:rPr>
              <a:t> = Max # of columns to plot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9DEAF8-12CF-A4D6-4A69-55637EF0138F}"/>
              </a:ext>
            </a:extLst>
          </p:cNvPr>
          <p:cNvGrpSpPr/>
          <p:nvPr/>
        </p:nvGrpSpPr>
        <p:grpSpPr>
          <a:xfrm>
            <a:off x="7606137" y="4491831"/>
            <a:ext cx="755792" cy="369332"/>
            <a:chOff x="4968362" y="2079211"/>
            <a:chExt cx="755792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77625DF-FED9-532A-0EE0-3CBEFF2206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37481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37EA07-91A3-3577-6531-309F66BD21B9}"/>
                </a:ext>
              </a:extLst>
            </p:cNvPr>
            <p:cNvSpPr txBox="1"/>
            <p:nvPr/>
          </p:nvSpPr>
          <p:spPr>
            <a:xfrm>
              <a:off x="534069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F7220CE-7618-9417-8D61-ABF435D5DB3A}"/>
              </a:ext>
            </a:extLst>
          </p:cNvPr>
          <p:cNvSpPr/>
          <p:nvPr/>
        </p:nvSpPr>
        <p:spPr>
          <a:xfrm>
            <a:off x="4395537" y="4590519"/>
            <a:ext cx="914400" cy="20404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F24AD1-E964-ED9E-D2FC-FB8EA04DAFF0}"/>
              </a:ext>
            </a:extLst>
          </p:cNvPr>
          <p:cNvSpPr/>
          <p:nvPr/>
        </p:nvSpPr>
        <p:spPr>
          <a:xfrm>
            <a:off x="5371222" y="4590519"/>
            <a:ext cx="914400" cy="20404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B5B174-20F8-5339-8059-166184F51E66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You must type in this code</a:t>
            </a:r>
          </a:p>
        </p:txBody>
      </p:sp>
    </p:spTree>
    <p:extLst>
      <p:ext uri="{BB962C8B-B14F-4D97-AF65-F5344CB8AC3E}">
        <p14:creationId xmlns:p14="http://schemas.microsoft.com/office/powerpoint/2010/main" val="220208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/>
      <p:bldP spid="14" grpId="0" animBg="1"/>
      <p:bldP spid="15" grpId="0" animBg="1"/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F03075-D3E2-EEB7-A067-B7AFD778E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698" y="1196662"/>
            <a:ext cx="5048605" cy="54795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52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075CA57D-B475-415C-B5E6-00FDC3BB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plot3d_torus.py</a:t>
            </a:r>
          </a:p>
        </p:txBody>
      </p:sp>
    </p:spTree>
    <p:extLst>
      <p:ext uri="{BB962C8B-B14F-4D97-AF65-F5344CB8AC3E}">
        <p14:creationId xmlns:p14="http://schemas.microsoft.com/office/powerpoint/2010/main" val="184327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00032-7D93-EB33-4024-2F602CDAC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5C77079B-20E6-0154-C590-CC305908B9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00" y="1309921"/>
            <a:ext cx="7400000" cy="5114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917C33-7F80-EF1D-DFC1-813E91630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plot3d_surface.py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B4D86-DB6E-9884-A858-FEEC1EB27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53</a:t>
            </a:fld>
            <a:endParaRPr lang="en-US" sz="1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274C9E-675D-F803-89AD-A033395F95FC}"/>
                  </a:ext>
                </a:extLst>
              </p:cNvPr>
              <p:cNvSpPr txBox="1"/>
              <p:nvPr/>
            </p:nvSpPr>
            <p:spPr>
              <a:xfrm>
                <a:off x="4798446" y="1854874"/>
                <a:ext cx="2525628" cy="41453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274C9E-675D-F803-89AD-A033395F9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446" y="1854874"/>
                <a:ext cx="2525628" cy="414537"/>
              </a:xfrm>
              <a:prstGeom prst="rect">
                <a:avLst/>
              </a:prstGeom>
              <a:blipFill>
                <a:blip r:embed="rId4"/>
                <a:stretch>
                  <a:fillRect l="-2899"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4C50B646-16EE-1899-7E0A-C5ED398F3B51}"/>
              </a:ext>
            </a:extLst>
          </p:cNvPr>
          <p:cNvSpPr txBox="1"/>
          <p:nvPr/>
        </p:nvSpPr>
        <p:spPr>
          <a:xfrm>
            <a:off x="5187284" y="2749623"/>
            <a:ext cx="220585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5"/>
              </a:rPr>
              <a:t>NumPy Meshgrid From Zero To Hero</a:t>
            </a:r>
            <a:r>
              <a:rPr lang="en-US" dirty="0"/>
              <a:t>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8CCD1DC-E210-6D57-D609-03D2C21D6FDD}"/>
              </a:ext>
            </a:extLst>
          </p:cNvPr>
          <p:cNvGrpSpPr/>
          <p:nvPr/>
        </p:nvGrpSpPr>
        <p:grpSpPr>
          <a:xfrm>
            <a:off x="4664768" y="1515232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F56BB56-DEC6-B371-D559-565266C4D1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A85C6A-01AE-E050-3DC2-E6ED7F6CE35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DA1E15-CBA5-BA5C-1016-838DCBCE37B7}"/>
              </a:ext>
            </a:extLst>
          </p:cNvPr>
          <p:cNvGrpSpPr/>
          <p:nvPr/>
        </p:nvGrpSpPr>
        <p:grpSpPr>
          <a:xfrm>
            <a:off x="3974330" y="2519670"/>
            <a:ext cx="1076632" cy="369332"/>
            <a:chOff x="4704120" y="2356972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7675D12-48FA-832E-726F-B3D6F1CAB1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861ED64-DA17-5CB3-A57C-78CA75518D9F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2D6B51-B438-08EE-4AFE-D24C5BED59A5}"/>
              </a:ext>
            </a:extLst>
          </p:cNvPr>
          <p:cNvGrpSpPr/>
          <p:nvPr/>
        </p:nvGrpSpPr>
        <p:grpSpPr>
          <a:xfrm>
            <a:off x="3642429" y="2884614"/>
            <a:ext cx="1068643" cy="369332"/>
            <a:chOff x="3647644" y="4910075"/>
            <a:chExt cx="1068643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C7DE4A-F792-73BA-F563-545693F10BB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118DDD5-16C9-8B01-1348-4730367946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C7B7BC8-B789-F97F-34F7-23A311E01418}"/>
              </a:ext>
            </a:extLst>
          </p:cNvPr>
          <p:cNvGrpSpPr/>
          <p:nvPr/>
        </p:nvGrpSpPr>
        <p:grpSpPr>
          <a:xfrm>
            <a:off x="2412698" y="3120750"/>
            <a:ext cx="1064340" cy="369332"/>
            <a:chOff x="3647644" y="5421073"/>
            <a:chExt cx="1064340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8E43EE7-1853-9467-749F-478A6BAE9001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112FC1C-020E-C258-2B07-9C0217866C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DF1096-BA9E-0727-8660-99714DB87983}"/>
              </a:ext>
            </a:extLst>
          </p:cNvPr>
          <p:cNvGrpSpPr/>
          <p:nvPr/>
        </p:nvGrpSpPr>
        <p:grpSpPr>
          <a:xfrm>
            <a:off x="8270420" y="4252740"/>
            <a:ext cx="628388" cy="369332"/>
            <a:chOff x="3647644" y="5356391"/>
            <a:chExt cx="628388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1CF11B6-1524-E361-E53C-2D2781DA85D5}"/>
                </a:ext>
              </a:extLst>
            </p:cNvPr>
            <p:cNvSpPr txBox="1"/>
            <p:nvPr/>
          </p:nvSpPr>
          <p:spPr>
            <a:xfrm>
              <a:off x="3892574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31378B5-9641-9264-5272-34251994E3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24493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2E6DE2-9AF4-C82A-8AD7-BB26600CBF3A}"/>
              </a:ext>
            </a:extLst>
          </p:cNvPr>
          <p:cNvGrpSpPr/>
          <p:nvPr/>
        </p:nvGrpSpPr>
        <p:grpSpPr>
          <a:xfrm>
            <a:off x="5596745" y="4938153"/>
            <a:ext cx="1076632" cy="369332"/>
            <a:chOff x="2157212" y="5356391"/>
            <a:chExt cx="1076632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866BF6-BDD9-8AA0-A0AE-F04F597ADC2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1AAD997-A161-A3F7-07DE-C0DB43FE80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B09DC9-64B0-F05A-5E02-A53C50A83611}"/>
              </a:ext>
            </a:extLst>
          </p:cNvPr>
          <p:cNvGrpSpPr/>
          <p:nvPr/>
        </p:nvGrpSpPr>
        <p:grpSpPr>
          <a:xfrm>
            <a:off x="4894845" y="4490305"/>
            <a:ext cx="1076632" cy="369332"/>
            <a:chOff x="2157212" y="5356391"/>
            <a:chExt cx="1076632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DF28EFC-F94D-90D0-9A5A-C828E8E374A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AC3716E-9FCE-15F3-E408-E07F962F21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1E2A4A8-CC6C-50CC-F8D3-3004A0B175E7}"/>
              </a:ext>
            </a:extLst>
          </p:cNvPr>
          <p:cNvGrpSpPr/>
          <p:nvPr/>
        </p:nvGrpSpPr>
        <p:grpSpPr>
          <a:xfrm>
            <a:off x="5152799" y="5158102"/>
            <a:ext cx="1076632" cy="369332"/>
            <a:chOff x="2157212" y="5356391"/>
            <a:chExt cx="1076632" cy="36933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B2C95EA-5101-DBA9-5180-7205FE0FD8AA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60F916C5-9B4F-6321-2354-BA131A8124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76C19593-CFAC-9891-DB99-12CF0A485E13}"/>
              </a:ext>
            </a:extLst>
          </p:cNvPr>
          <p:cNvSpPr/>
          <p:nvPr/>
        </p:nvSpPr>
        <p:spPr>
          <a:xfrm>
            <a:off x="4281488" y="4321969"/>
            <a:ext cx="1471612" cy="23812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F484655-5C1A-164F-3716-F7F0F5947564}"/>
              </a:ext>
            </a:extLst>
          </p:cNvPr>
          <p:cNvSpPr/>
          <p:nvPr/>
        </p:nvSpPr>
        <p:spPr>
          <a:xfrm>
            <a:off x="3738562" y="4560314"/>
            <a:ext cx="997743" cy="23812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C12AC4-AE69-7B7E-6348-633EBB8D8146}"/>
              </a:ext>
            </a:extLst>
          </p:cNvPr>
          <p:cNvSpPr txBox="1"/>
          <p:nvPr/>
        </p:nvSpPr>
        <p:spPr>
          <a:xfrm>
            <a:off x="4335603" y="5569542"/>
            <a:ext cx="365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10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u="sng" dirty="0">
                <a:solidFill>
                  <a:srgbClr val="FFFF00"/>
                </a:solidFill>
              </a:rPr>
              <a:t>total</a:t>
            </a:r>
            <a:r>
              <a:rPr lang="en-US" dirty="0">
                <a:solidFill>
                  <a:srgbClr val="FFFF00"/>
                </a:solidFill>
              </a:rPr>
              <a:t> tick marks, linearly spaced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F0AD79-DC3E-9ACB-E86D-A7A725EAD037}"/>
              </a:ext>
            </a:extLst>
          </p:cNvPr>
          <p:cNvSpPr/>
          <p:nvPr/>
        </p:nvSpPr>
        <p:spPr>
          <a:xfrm>
            <a:off x="1288024" y="4321750"/>
            <a:ext cx="443146" cy="23812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BF1D22-87E4-114D-CDE2-4D4963944B73}"/>
              </a:ext>
            </a:extLst>
          </p:cNvPr>
          <p:cNvSpPr/>
          <p:nvPr/>
        </p:nvSpPr>
        <p:spPr>
          <a:xfrm>
            <a:off x="2490622" y="4555908"/>
            <a:ext cx="443146" cy="23812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1B27A9-A0A5-53C6-ADAA-E5E4391A3A21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223456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5" grpId="0" animBg="1"/>
      <p:bldP spid="32" grpId="0" animBg="1"/>
      <p:bldP spid="35" grpId="0" animBg="1"/>
      <p:bldP spid="36" grpId="0"/>
      <p:bldP spid="37" grpId="0" animBg="1"/>
      <p:bldP spid="38" grpId="0" animBg="1"/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35844B-6CB0-7E3A-F0E7-7F32A3F2D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85" y="1468581"/>
            <a:ext cx="6510430" cy="51341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2F4762-9DEA-B403-7E86-289E68B5C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480" y="3775912"/>
            <a:ext cx="1805974" cy="24079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plot3d_surface.py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54</a:t>
            </a:fld>
            <a:endParaRPr lang="en-US" sz="1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28168E1-AD81-C23C-656A-3E3A39066021}"/>
                  </a:ext>
                </a:extLst>
              </p:cNvPr>
              <p:cNvSpPr txBox="1"/>
              <p:nvPr/>
            </p:nvSpPr>
            <p:spPr>
              <a:xfrm>
                <a:off x="405381" y="2375940"/>
                <a:ext cx="2525628" cy="4145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28168E1-AD81-C23C-656A-3E3A39066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1" y="2375940"/>
                <a:ext cx="2525628" cy="414537"/>
              </a:xfrm>
              <a:prstGeom prst="rect">
                <a:avLst/>
              </a:prstGeom>
              <a:blipFill>
                <a:blip r:embed="rId6"/>
                <a:stretch>
                  <a:fillRect l="-2398" b="-571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9FF1902-FA71-2070-E153-69D4E2FA3996}"/>
              </a:ext>
            </a:extLst>
          </p:cNvPr>
          <p:cNvGrpSpPr/>
          <p:nvPr/>
        </p:nvGrpSpPr>
        <p:grpSpPr>
          <a:xfrm>
            <a:off x="4904350" y="1469230"/>
            <a:ext cx="3961905" cy="820549"/>
            <a:chOff x="4904350" y="1469230"/>
            <a:chExt cx="3961905" cy="820549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FFC3B7A-5667-02ED-5203-743FA6273EFD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 flipH="1">
              <a:off x="6672853" y="1945420"/>
              <a:ext cx="212450" cy="34435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6984ED-E973-745B-09F4-AA742D712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04350" y="1469230"/>
              <a:ext cx="3961905" cy="47619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73303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+mn-lt"/>
              </a:rPr>
              <a:t>View</a:t>
            </a:r>
            <a:r>
              <a:rPr lang="en-US" sz="3200" dirty="0">
                <a:latin typeface="+mn-lt"/>
              </a:rPr>
              <a:t> plot3d_surface.py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55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FCE7E1-AEF1-C47B-77F4-7982941EDB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299" t="8255" r="22248" b="8612"/>
          <a:stretch/>
        </p:blipFill>
        <p:spPr>
          <a:xfrm>
            <a:off x="1116768" y="1468581"/>
            <a:ext cx="4684427" cy="47598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50B835-97D4-DDAC-A455-7E4E0E259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276" y="1596519"/>
            <a:ext cx="1942956" cy="3782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9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Gradient Operator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2B7C7B-CF22-DB1E-A5A6-8F5EB7C947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49" y="1516584"/>
            <a:ext cx="6775701" cy="50138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D6DC16C-FBF5-2AF5-AB00-A878F2B39E0E}"/>
              </a:ext>
            </a:extLst>
          </p:cNvPr>
          <p:cNvSpPr/>
          <p:nvPr/>
        </p:nvSpPr>
        <p:spPr>
          <a:xfrm>
            <a:off x="3793626" y="3294863"/>
            <a:ext cx="1995055" cy="64234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7F248B-654C-83FE-702E-2912F4FBD8E0}"/>
              </a:ext>
            </a:extLst>
          </p:cNvPr>
          <p:cNvSpPr txBox="1"/>
          <p:nvPr/>
        </p:nvSpPr>
        <p:spPr>
          <a:xfrm>
            <a:off x="197745" y="3462147"/>
            <a:ext cx="2482424" cy="307777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Scalar</a:t>
            </a:r>
            <a:r>
              <a:rPr lang="en-US" sz="1400" dirty="0">
                <a:solidFill>
                  <a:srgbClr val="FF0000"/>
                </a:solidFill>
              </a:rPr>
              <a:t> Field → </a:t>
            </a:r>
            <a:r>
              <a:rPr lang="en-US" sz="1400" b="1" dirty="0">
                <a:solidFill>
                  <a:srgbClr val="FF0000"/>
                </a:solidFill>
              </a:rPr>
              <a:t>Vector</a:t>
            </a:r>
            <a:r>
              <a:rPr lang="en-US" sz="1400" dirty="0">
                <a:solidFill>
                  <a:srgbClr val="FF0000"/>
                </a:solidFill>
              </a:rPr>
              <a:t> Field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4E7C10-A07B-A6ED-291D-00F046E4BF8F}"/>
              </a:ext>
            </a:extLst>
          </p:cNvPr>
          <p:cNvSpPr txBox="1"/>
          <p:nvPr/>
        </p:nvSpPr>
        <p:spPr>
          <a:xfrm>
            <a:off x="197745" y="4773334"/>
            <a:ext cx="2482424" cy="307777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Vector</a:t>
            </a:r>
            <a:r>
              <a:rPr lang="en-US" sz="1400" dirty="0">
                <a:solidFill>
                  <a:srgbClr val="FF0000"/>
                </a:solidFill>
              </a:rPr>
              <a:t> Field → </a:t>
            </a:r>
            <a:r>
              <a:rPr lang="en-US" sz="1400" b="1" dirty="0">
                <a:solidFill>
                  <a:srgbClr val="FF0000"/>
                </a:solidFill>
              </a:rPr>
              <a:t>Scalar</a:t>
            </a:r>
            <a:r>
              <a:rPr lang="en-US" sz="1400" dirty="0">
                <a:solidFill>
                  <a:srgbClr val="FF0000"/>
                </a:solidFill>
              </a:rPr>
              <a:t> Field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E2F9BC-0563-7528-15C8-F4A9D1C80A42}"/>
              </a:ext>
            </a:extLst>
          </p:cNvPr>
          <p:cNvSpPr txBox="1"/>
          <p:nvPr/>
        </p:nvSpPr>
        <p:spPr>
          <a:xfrm>
            <a:off x="197745" y="6071245"/>
            <a:ext cx="2482424" cy="307777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Vector</a:t>
            </a:r>
            <a:r>
              <a:rPr lang="en-US" sz="1400" dirty="0">
                <a:solidFill>
                  <a:srgbClr val="FF0000"/>
                </a:solidFill>
              </a:rPr>
              <a:t> Field → </a:t>
            </a:r>
            <a:r>
              <a:rPr lang="en-US" sz="1400" b="1" dirty="0">
                <a:solidFill>
                  <a:srgbClr val="FF0000"/>
                </a:solidFill>
              </a:rPr>
              <a:t>Vector</a:t>
            </a:r>
            <a:r>
              <a:rPr lang="en-US" sz="1400" dirty="0">
                <a:solidFill>
                  <a:srgbClr val="FF0000"/>
                </a:solidFill>
              </a:rPr>
              <a:t> Field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21E075-A29D-C093-B42E-887B846A50D9}"/>
              </a:ext>
            </a:extLst>
          </p:cNvPr>
          <p:cNvSpPr txBox="1"/>
          <p:nvPr/>
        </p:nvSpPr>
        <p:spPr>
          <a:xfrm>
            <a:off x="5528022" y="1615613"/>
            <a:ext cx="1469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7030A0"/>
                </a:solidFill>
              </a:rPr>
              <a:t>A </a:t>
            </a:r>
            <a:r>
              <a:rPr lang="en-US" sz="1600" i="1" dirty="0">
                <a:solidFill>
                  <a:srgbClr val="7030A0"/>
                </a:solidFill>
              </a:rPr>
              <a:t>differential</a:t>
            </a:r>
            <a:r>
              <a:rPr lang="en-US" sz="1600" dirty="0">
                <a:solidFill>
                  <a:srgbClr val="7030A0"/>
                </a:solidFill>
              </a:rPr>
              <a:t> </a:t>
            </a:r>
            <a:r>
              <a:rPr lang="en-US" sz="1600" b="1" dirty="0">
                <a:solidFill>
                  <a:srgbClr val="7030A0"/>
                </a:solidFill>
              </a:rPr>
              <a:t>operator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EA3050-DA39-6870-6405-66A0F41B9E9C}"/>
              </a:ext>
            </a:extLst>
          </p:cNvPr>
          <p:cNvSpPr/>
          <p:nvPr/>
        </p:nvSpPr>
        <p:spPr>
          <a:xfrm>
            <a:off x="5494683" y="2765871"/>
            <a:ext cx="2370585" cy="2040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8325C4-3572-E80E-E84E-C09E4BE052B8}"/>
              </a:ext>
            </a:extLst>
          </p:cNvPr>
          <p:cNvSpPr/>
          <p:nvPr/>
        </p:nvSpPr>
        <p:spPr>
          <a:xfrm>
            <a:off x="1595783" y="3001823"/>
            <a:ext cx="417167" cy="2040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6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/>
      <p:bldP spid="16" grpId="0" animBg="1"/>
      <p:bldP spid="1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The Gradient Operator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AF7189-E07A-7683-BA21-027F93A3B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15162"/>
            <a:ext cx="7335172" cy="3656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4A619-5D6D-2D28-4F87-C8E414CC5994}"/>
              </a:ext>
            </a:extLst>
          </p:cNvPr>
          <p:cNvSpPr txBox="1"/>
          <p:nvPr/>
        </p:nvSpPr>
        <p:spPr>
          <a:xfrm>
            <a:off x="1806129" y="5590653"/>
            <a:ext cx="5531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gradient, represented by the blue arrows, denotes the direction of the </a:t>
            </a:r>
            <a:r>
              <a:rPr lang="en-US" b="1" dirty="0"/>
              <a:t>most </a:t>
            </a:r>
            <a:r>
              <a:rPr lang="en-US" b="1" u="sng" dirty="0"/>
              <a:t>positive</a:t>
            </a:r>
            <a:r>
              <a:rPr lang="en-US" dirty="0"/>
              <a:t> change in a scalar field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AD0E6-8AEE-A4AC-6A76-E3F4F5DE601A}"/>
              </a:ext>
            </a:extLst>
          </p:cNvPr>
          <p:cNvSpPr/>
          <p:nvPr/>
        </p:nvSpPr>
        <p:spPr>
          <a:xfrm>
            <a:off x="1885477" y="5902929"/>
            <a:ext cx="5373045" cy="32316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7E6C75-7876-5C0E-15C4-7E2DAF700F9A}"/>
              </a:ext>
            </a:extLst>
          </p:cNvPr>
          <p:cNvSpPr txBox="1"/>
          <p:nvPr/>
        </p:nvSpPr>
        <p:spPr>
          <a:xfrm>
            <a:off x="4499811" y="1626620"/>
            <a:ext cx="324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Direction of </a:t>
            </a:r>
            <a:r>
              <a:rPr lang="en-US" i="1" dirty="0">
                <a:solidFill>
                  <a:srgbClr val="7030A0"/>
                </a:solidFill>
              </a:rPr>
              <a:t>steepest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ascent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17459B-9E32-C311-3B01-C7D1BED6F3CE}"/>
              </a:ext>
            </a:extLst>
          </p:cNvPr>
          <p:cNvSpPr txBox="1"/>
          <p:nvPr/>
        </p:nvSpPr>
        <p:spPr>
          <a:xfrm>
            <a:off x="834190" y="1626620"/>
            <a:ext cx="324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White is </a:t>
            </a:r>
            <a:r>
              <a:rPr lang="en-US" i="1" dirty="0">
                <a:solidFill>
                  <a:srgbClr val="7030A0"/>
                </a:solidFill>
              </a:rPr>
              <a:t>lower</a:t>
            </a:r>
            <a:r>
              <a:rPr lang="en-US" dirty="0">
                <a:solidFill>
                  <a:srgbClr val="7030A0"/>
                </a:solidFill>
              </a:rPr>
              <a:t>, Black is </a:t>
            </a:r>
            <a:r>
              <a:rPr lang="en-US" b="1" dirty="0">
                <a:solidFill>
                  <a:srgbClr val="7030A0"/>
                </a:solidFill>
              </a:rPr>
              <a:t>higher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9B8925-2BFE-1DEC-10DF-3066E5944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836" y="2228761"/>
            <a:ext cx="411480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2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>
                <a:latin typeface="+mn-lt"/>
              </a:rPr>
              <a:t>The Gradient Operator</a:t>
            </a:r>
            <a:endParaRPr lang="en-US" sz="32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96C38D-D939-2C07-826B-09896F0EC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1" y="2306337"/>
            <a:ext cx="7342857" cy="367619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B6EA91-12BA-DF50-8D12-A8DCDF9C91BC}"/>
              </a:ext>
            </a:extLst>
          </p:cNvPr>
          <p:cNvSpPr txBox="1"/>
          <p:nvPr/>
        </p:nvSpPr>
        <p:spPr>
          <a:xfrm>
            <a:off x="927625" y="1568725"/>
            <a:ext cx="7288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https://numpy.org/doc/stable/reference/generated/numpy.gradient.html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2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00032-7D93-EB33-4024-2F602CDAC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FB0D3BE-E414-49D3-5E57-334959A83BA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857" y="1369258"/>
            <a:ext cx="7114286" cy="4895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917C33-7F80-EF1D-DFC1-813E91630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plot3d_gradient.py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B4D86-DB6E-9884-A858-FEEC1EB27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59</a:t>
            </a:fld>
            <a:endParaRPr lang="en-US" sz="1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CD60A8-AB14-2836-DA9C-EE3B07E1C0D5}"/>
                  </a:ext>
                </a:extLst>
              </p:cNvPr>
              <p:cNvSpPr txBox="1"/>
              <p:nvPr/>
            </p:nvSpPr>
            <p:spPr>
              <a:xfrm>
                <a:off x="6062620" y="1575759"/>
                <a:ext cx="2525628" cy="41453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7030A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CD60A8-AB14-2836-DA9C-EE3B07E1C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2620" y="1575759"/>
                <a:ext cx="2525628" cy="414537"/>
              </a:xfrm>
              <a:prstGeom prst="rect">
                <a:avLst/>
              </a:prstGeom>
              <a:blipFill>
                <a:blip r:embed="rId4"/>
                <a:stretch>
                  <a:fillRect l="-2638" b="-4225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47B516EA-3106-EBFD-F0D6-79A85508DED6}"/>
              </a:ext>
            </a:extLst>
          </p:cNvPr>
          <p:cNvGrpSpPr/>
          <p:nvPr/>
        </p:nvGrpSpPr>
        <p:grpSpPr>
          <a:xfrm>
            <a:off x="4825475" y="1584548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C6FED60-4D31-707A-3F41-7E2DE448E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4F593E1-05DC-101E-E270-4092037E93D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D8881A6-D4CF-2C4D-228B-EFED5498960D}"/>
              </a:ext>
            </a:extLst>
          </p:cNvPr>
          <p:cNvGrpSpPr/>
          <p:nvPr/>
        </p:nvGrpSpPr>
        <p:grpSpPr>
          <a:xfrm>
            <a:off x="4568528" y="2472713"/>
            <a:ext cx="1076632" cy="369332"/>
            <a:chOff x="4704120" y="2356972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7AF0CAB-C382-DCF7-7148-FDEE65D48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DF7684A-E670-3BBB-67E8-EC59CB32E01A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9809680-B42A-5907-CEEA-097DEF5850CC}"/>
              </a:ext>
            </a:extLst>
          </p:cNvPr>
          <p:cNvGrpSpPr/>
          <p:nvPr/>
        </p:nvGrpSpPr>
        <p:grpSpPr>
          <a:xfrm>
            <a:off x="6158457" y="2703027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01D8863-4E7A-9926-1894-D93BA496FBC3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F22C63A-9F9E-6642-428F-345F7B9533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1046567-CF83-A247-F75F-2D38AC3213C3}"/>
              </a:ext>
            </a:extLst>
          </p:cNvPr>
          <p:cNvGrpSpPr/>
          <p:nvPr/>
        </p:nvGrpSpPr>
        <p:grpSpPr>
          <a:xfrm>
            <a:off x="7357765" y="2942898"/>
            <a:ext cx="1064340" cy="369332"/>
            <a:chOff x="3647644" y="5421073"/>
            <a:chExt cx="106434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9649C56-DCDF-54B4-E7EF-D1B8E1DFCF6E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93EDB65-B784-5341-D7DC-17711A19E7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0C76976-1864-4E38-96B7-F883BE072BD2}"/>
              </a:ext>
            </a:extLst>
          </p:cNvPr>
          <p:cNvSpPr/>
          <p:nvPr/>
        </p:nvSpPr>
        <p:spPr>
          <a:xfrm>
            <a:off x="4294771" y="3007696"/>
            <a:ext cx="136027" cy="24938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028F8C-7E59-16F7-7A33-924DCB751C0C}"/>
              </a:ext>
            </a:extLst>
          </p:cNvPr>
          <p:cNvSpPr/>
          <p:nvPr/>
        </p:nvSpPr>
        <p:spPr>
          <a:xfrm>
            <a:off x="5518649" y="3007696"/>
            <a:ext cx="136027" cy="24938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44A54F-FE49-DA81-EF10-B6A671A4C5A4}"/>
              </a:ext>
            </a:extLst>
          </p:cNvPr>
          <p:cNvGrpSpPr/>
          <p:nvPr/>
        </p:nvGrpSpPr>
        <p:grpSpPr>
          <a:xfrm>
            <a:off x="4253148" y="3176212"/>
            <a:ext cx="1068643" cy="369332"/>
            <a:chOff x="3647644" y="5359159"/>
            <a:chExt cx="1068643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2D056C-4095-961B-F748-395D5037B5AB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D1F200A-CB22-BB66-2DC1-8DDB28C629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1011292-3E9D-A71C-23E3-CDCD9A4776E5}"/>
              </a:ext>
            </a:extLst>
          </p:cNvPr>
          <p:cNvGrpSpPr/>
          <p:nvPr/>
        </p:nvGrpSpPr>
        <p:grpSpPr>
          <a:xfrm>
            <a:off x="6654505" y="3406329"/>
            <a:ext cx="1076632" cy="369332"/>
            <a:chOff x="2157212" y="5373058"/>
            <a:chExt cx="1076632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11B084F-4173-0462-2FC4-3AB06F3F023C}"/>
                </a:ext>
              </a:extLst>
            </p:cNvPr>
            <p:cNvSpPr txBox="1"/>
            <p:nvPr/>
          </p:nvSpPr>
          <p:spPr>
            <a:xfrm>
              <a:off x="2850386" y="5373058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24C5943-A6BD-F0D1-8A53-5251114918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8678C2C-C336-0634-E899-54889E71AAFA}"/>
              </a:ext>
            </a:extLst>
          </p:cNvPr>
          <p:cNvSpPr/>
          <p:nvPr/>
        </p:nvSpPr>
        <p:spPr>
          <a:xfrm>
            <a:off x="1443037" y="3445234"/>
            <a:ext cx="257175" cy="24938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5BC2A16-C96B-9E93-0A72-C4FF58DB2B8C}"/>
              </a:ext>
            </a:extLst>
          </p:cNvPr>
          <p:cNvGrpSpPr/>
          <p:nvPr/>
        </p:nvGrpSpPr>
        <p:grpSpPr>
          <a:xfrm>
            <a:off x="3906737" y="4070315"/>
            <a:ext cx="1076632" cy="369332"/>
            <a:chOff x="2157212" y="5356391"/>
            <a:chExt cx="1076632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37484B8-60E6-D7C7-21D6-F43AA252468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EFD3EB1-CDC1-010B-270A-02849D76E5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B3D7AE7F-E7AC-2DCE-A4A8-8AEAEE67403B}"/>
              </a:ext>
            </a:extLst>
          </p:cNvPr>
          <p:cNvSpPr/>
          <p:nvPr/>
        </p:nvSpPr>
        <p:spPr>
          <a:xfrm>
            <a:off x="3618537" y="4176712"/>
            <a:ext cx="165269" cy="18811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AA5BA5-5235-5D57-AFFB-18CB1BF134A6}"/>
              </a:ext>
            </a:extLst>
          </p:cNvPr>
          <p:cNvSpPr/>
          <p:nvPr/>
        </p:nvSpPr>
        <p:spPr>
          <a:xfrm>
            <a:off x="3618537" y="5081587"/>
            <a:ext cx="165269" cy="188117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E244E15-8CD9-6AF1-A59A-1CC16F5825AD}"/>
              </a:ext>
            </a:extLst>
          </p:cNvPr>
          <p:cNvGrpSpPr/>
          <p:nvPr/>
        </p:nvGrpSpPr>
        <p:grpSpPr>
          <a:xfrm>
            <a:off x="7100866" y="4289916"/>
            <a:ext cx="1076632" cy="369332"/>
            <a:chOff x="2157212" y="5356391"/>
            <a:chExt cx="1076632" cy="36933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6C1B658-F3EC-6CEE-9FDC-8CB9D19C8F4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9A504E8-FEB4-9FF3-F8DF-68FDB3C68E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E78331D-9AC8-5F25-769E-9610282CC3F9}"/>
              </a:ext>
            </a:extLst>
          </p:cNvPr>
          <p:cNvGrpSpPr/>
          <p:nvPr/>
        </p:nvGrpSpPr>
        <p:grpSpPr>
          <a:xfrm>
            <a:off x="6440531" y="4526088"/>
            <a:ext cx="1076632" cy="369332"/>
            <a:chOff x="2157212" y="5356391"/>
            <a:chExt cx="1076632" cy="3693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3049D5A-CA94-8A43-D916-F62722490D9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9646663-5DC7-A84A-75E0-6A8C57307F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3243404-585E-7ECA-6C25-3C78708446BF}"/>
              </a:ext>
            </a:extLst>
          </p:cNvPr>
          <p:cNvGrpSpPr/>
          <p:nvPr/>
        </p:nvGrpSpPr>
        <p:grpSpPr>
          <a:xfrm>
            <a:off x="8088029" y="5217433"/>
            <a:ext cx="717534" cy="369332"/>
            <a:chOff x="2157212" y="5360480"/>
            <a:chExt cx="717534" cy="3693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44DBC4D-9376-1833-1602-AE6D6267E922}"/>
                </a:ext>
              </a:extLst>
            </p:cNvPr>
            <p:cNvSpPr txBox="1"/>
            <p:nvPr/>
          </p:nvSpPr>
          <p:spPr>
            <a:xfrm>
              <a:off x="2491288" y="5360480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47396E0-876C-36AD-7C67-4EE8712A56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33407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A0904EA2-ABE3-1EE0-1B43-9E9607276365}"/>
              </a:ext>
            </a:extLst>
          </p:cNvPr>
          <p:cNvSpPr txBox="1"/>
          <p:nvPr/>
        </p:nvSpPr>
        <p:spPr>
          <a:xfrm>
            <a:off x="2577962" y="1948073"/>
            <a:ext cx="3098451" cy="523220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00"/>
                </a:solidFill>
              </a:rPr>
              <a:t>We only want gradient arrows drawn every 5 data points on the fine grid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CF0F9E6-5E80-55DD-8EB6-F467166C2F75}"/>
                  </a:ext>
                </a:extLst>
              </p:cNvPr>
              <p:cNvSpPr txBox="1"/>
              <p:nvPr/>
            </p:nvSpPr>
            <p:spPr>
              <a:xfrm>
                <a:off x="3936920" y="5576728"/>
                <a:ext cx="3098451" cy="624530"/>
              </a:xfrm>
              <a:prstGeom prst="rect">
                <a:avLst/>
              </a:prstGeom>
              <a:noFill/>
              <a:ln w="19050"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rgbClr val="FFFF00"/>
                    </a:solidFill>
                  </a:rPr>
                  <a:t>Derivatives are rise over run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14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4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FFFF00"/>
                    </a:solidFill>
                  </a:rPr>
                  <a:t> so the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ⅆ</m:t>
                    </m:r>
                    <m:r>
                      <a:rPr lang="en-US" sz="14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400" dirty="0">
                    <a:solidFill>
                      <a:srgbClr val="FFFF00"/>
                    </a:solidFill>
                  </a:rPr>
                  <a:t> vector is returned </a:t>
                </a:r>
                <a:r>
                  <a:rPr lang="en-US" sz="1400" u="sng" dirty="0">
                    <a:solidFill>
                      <a:srgbClr val="FFFF00"/>
                    </a:solidFill>
                  </a:rPr>
                  <a:t>first</a:t>
                </a:r>
                <a:r>
                  <a:rPr lang="en-US" sz="1400" dirty="0">
                    <a:solidFill>
                      <a:srgbClr val="FFFF00"/>
                    </a:solidFill>
                  </a:rPr>
                  <a:t> in the tuple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CF0F9E6-5E80-55DD-8EB6-F467166C2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920" y="5576728"/>
                <a:ext cx="3098451" cy="624530"/>
              </a:xfrm>
              <a:prstGeom prst="rect">
                <a:avLst/>
              </a:prstGeom>
              <a:blipFill>
                <a:blip r:embed="rId5"/>
                <a:stretch>
                  <a:fillRect l="-196" r="-1370" b="-7619"/>
                </a:stretch>
              </a:blipFill>
              <a:ln w="19050"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C457DA51-357B-9310-B57E-DA720EA39DB4}"/>
              </a:ext>
            </a:extLst>
          </p:cNvPr>
          <p:cNvSpPr/>
          <p:nvPr/>
        </p:nvSpPr>
        <p:spPr>
          <a:xfrm>
            <a:off x="1745444" y="4622006"/>
            <a:ext cx="612348" cy="20629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BAE218A-2DC6-81B5-56E7-901B4E1ED596}"/>
              </a:ext>
            </a:extLst>
          </p:cNvPr>
          <p:cNvSpPr/>
          <p:nvPr/>
        </p:nvSpPr>
        <p:spPr>
          <a:xfrm>
            <a:off x="3156724" y="4622006"/>
            <a:ext cx="612348" cy="20629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98B8D-06C3-F8DA-BEA4-E5888D100427}"/>
              </a:ext>
            </a:extLst>
          </p:cNvPr>
          <p:cNvSpPr txBox="1"/>
          <p:nvPr/>
        </p:nvSpPr>
        <p:spPr>
          <a:xfrm>
            <a:off x="7210925" y="365126"/>
            <a:ext cx="1548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DO NOT edit</a:t>
            </a:r>
          </a:p>
          <a:p>
            <a:pPr algn="ctr"/>
            <a:r>
              <a:rPr lang="en-US" b="1" dirty="0">
                <a:solidFill>
                  <a:srgbClr val="7030A0"/>
                </a:solidFill>
              </a:rPr>
              <a:t>this code</a:t>
            </a:r>
          </a:p>
        </p:txBody>
      </p:sp>
    </p:spTree>
    <p:extLst>
      <p:ext uri="{BB962C8B-B14F-4D97-AF65-F5344CB8AC3E}">
        <p14:creationId xmlns:p14="http://schemas.microsoft.com/office/powerpoint/2010/main" val="353829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4" grpId="0" animBg="1"/>
      <p:bldP spid="25" grpId="0" animBg="1"/>
      <p:bldP spid="38" grpId="0" animBg="1"/>
      <p:bldP spid="42" grpId="0" animBg="1"/>
      <p:bldP spid="43" grpId="0" animBg="1"/>
      <p:bldP spid="54" grpId="0" animBg="1"/>
      <p:bldP spid="55" grpId="0" animBg="1"/>
      <p:bldP spid="56" grpId="0" animBg="1"/>
      <p:bldP spid="57" grpId="0" animBg="1"/>
      <p:bldP spid="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00032-7D93-EB33-4024-2F602CDAC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17C33-7F80-EF1D-DFC1-813E91630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plot3d_gradient.py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B4D86-DB6E-9884-A858-FEEC1EB27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60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A1AE4-341A-75D5-DA3C-CE701B88994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27" y="1585082"/>
            <a:ext cx="8240945" cy="41204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BA9CAF-512A-7514-4766-9A69D01BAC35}"/>
              </a:ext>
            </a:extLst>
          </p:cNvPr>
          <p:cNvSpPr txBox="1"/>
          <p:nvPr/>
        </p:nvSpPr>
        <p:spPr>
          <a:xfrm>
            <a:off x="1141111" y="5705554"/>
            <a:ext cx="294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Direction of </a:t>
            </a:r>
            <a:r>
              <a:rPr lang="en-US" i="1" dirty="0">
                <a:solidFill>
                  <a:srgbClr val="7030A0"/>
                </a:solidFill>
              </a:rPr>
              <a:t>steepest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ascent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7B492C-2872-BB0D-DE87-0111EABCB312}"/>
              </a:ext>
            </a:extLst>
          </p:cNvPr>
          <p:cNvSpPr txBox="1"/>
          <p:nvPr/>
        </p:nvSpPr>
        <p:spPr>
          <a:xfrm>
            <a:off x="5055651" y="5615583"/>
            <a:ext cx="2947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How does the 1</a:t>
            </a:r>
            <a:r>
              <a:rPr lang="en-US" baseline="30000" dirty="0">
                <a:solidFill>
                  <a:srgbClr val="7030A0"/>
                </a:solidFill>
              </a:rPr>
              <a:t>st</a:t>
            </a:r>
            <a:r>
              <a:rPr lang="en-US" dirty="0">
                <a:solidFill>
                  <a:srgbClr val="7030A0"/>
                </a:solidFill>
              </a:rPr>
              <a:t> derivative of the function affect the </a:t>
            </a:r>
            <a:r>
              <a:rPr lang="en-US" i="1" dirty="0">
                <a:solidFill>
                  <a:srgbClr val="7030A0"/>
                </a:solidFill>
              </a:rPr>
              <a:t>length</a:t>
            </a:r>
            <a:r>
              <a:rPr lang="en-US" dirty="0">
                <a:solidFill>
                  <a:srgbClr val="7030A0"/>
                </a:solidFill>
              </a:rPr>
              <a:t> of the quivers?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F29C217-93C9-54DF-A1EE-065A0D450547}"/>
              </a:ext>
            </a:extLst>
          </p:cNvPr>
          <p:cNvSpPr/>
          <p:nvPr/>
        </p:nvSpPr>
        <p:spPr>
          <a:xfrm>
            <a:off x="1946414" y="3018572"/>
            <a:ext cx="1234440" cy="123444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A7BDBD5-0C95-F881-9992-9798E372AFA1}"/>
              </a:ext>
            </a:extLst>
          </p:cNvPr>
          <p:cNvSpPr/>
          <p:nvPr/>
        </p:nvSpPr>
        <p:spPr>
          <a:xfrm>
            <a:off x="826274" y="1898432"/>
            <a:ext cx="3474720" cy="3474720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5F2A7-37C4-1630-7656-E80BF97D7888}"/>
              </a:ext>
            </a:extLst>
          </p:cNvPr>
          <p:cNvSpPr txBox="1"/>
          <p:nvPr/>
        </p:nvSpPr>
        <p:spPr>
          <a:xfrm>
            <a:off x="4675741" y="1468581"/>
            <a:ext cx="2165685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Why are there no arrows near these white circles?</a:t>
            </a:r>
          </a:p>
        </p:txBody>
      </p:sp>
    </p:spTree>
    <p:extLst>
      <p:ext uri="{BB962C8B-B14F-4D97-AF65-F5344CB8AC3E}">
        <p14:creationId xmlns:p14="http://schemas.microsoft.com/office/powerpoint/2010/main" val="115225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 animBg="1"/>
      <p:bldP spid="4" grpId="0" animBg="1"/>
      <p:bldP spid="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88AA041-178B-8E97-BAA7-21C5A2C81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Session </a:t>
            </a:r>
            <a:r>
              <a:rPr lang="en-US" sz="3200" b="1" dirty="0">
                <a:latin typeface="+mn-lt"/>
              </a:rPr>
              <a:t>17</a:t>
            </a:r>
            <a:r>
              <a:rPr lang="en-US" sz="3200" dirty="0">
                <a:latin typeface="+mn-lt"/>
              </a:rPr>
              <a:t> – Now You Know…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draw 3D images with </a:t>
            </a:r>
            <a:r>
              <a:rPr lang="en-US" sz="2400" b="1" dirty="0">
                <a:solidFill>
                  <a:srgbClr val="00B050"/>
                </a:solidFill>
              </a:rPr>
              <a:t>matplotlib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create </a:t>
            </a:r>
            <a:r>
              <a:rPr lang="en-US" sz="2400" b="1" dirty="0"/>
              <a:t>vertices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70C0"/>
                </a:solidFill>
              </a:rPr>
              <a:t>facets</a:t>
            </a:r>
            <a:r>
              <a:rPr lang="en-US" sz="2400" dirty="0"/>
              <a:t> to </a:t>
            </a:r>
            <a:r>
              <a:rPr lang="en-US" sz="2400" i="1" dirty="0"/>
              <a:t>manually</a:t>
            </a:r>
            <a:r>
              <a:rPr lang="en-US" sz="2400" dirty="0"/>
              <a:t> build wireframe and surface plots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How to create vectors of 3D coordinates using radial </a:t>
            </a:r>
            <a:r>
              <a:rPr lang="en-US" sz="2400" b="1" dirty="0"/>
              <a:t>angles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FF0000"/>
                </a:solidFill>
              </a:rPr>
              <a:t>outer products </a:t>
            </a:r>
            <a:r>
              <a:rPr lang="en-US" sz="2400" dirty="0"/>
              <a:t>and then letting matplotlib automatically connect </a:t>
            </a:r>
            <a:r>
              <a:rPr lang="en-US" sz="2400" i="1" dirty="0"/>
              <a:t>nearby</a:t>
            </a:r>
            <a:r>
              <a:rPr lang="en-US" sz="2400" dirty="0"/>
              <a:t> vertices, so </a:t>
            </a:r>
            <a:r>
              <a:rPr lang="en-US" sz="2400" u="sng" dirty="0"/>
              <a:t>it</a:t>
            </a:r>
            <a:r>
              <a:rPr lang="en-US" sz="2400" dirty="0"/>
              <a:t> can render wireframes and surface plots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497699-63A9-2600-9BA1-C0D7948CE7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Vector algebra</a:t>
            </a:r>
            <a:r>
              <a:rPr lang="en-US" sz="2400" dirty="0"/>
              <a:t>, including </a:t>
            </a:r>
            <a:r>
              <a:rPr lang="en-US" sz="2400" i="1" dirty="0"/>
              <a:t>inner</a:t>
            </a:r>
            <a:r>
              <a:rPr lang="en-US" sz="2400" dirty="0"/>
              <a:t> (</a:t>
            </a:r>
            <a:r>
              <a:rPr lang="en-US" sz="2400" b="1" dirty="0">
                <a:solidFill>
                  <a:srgbClr val="00B050"/>
                </a:solidFill>
              </a:rPr>
              <a:t>dot</a:t>
            </a:r>
            <a:r>
              <a:rPr lang="en-US" sz="2400" dirty="0"/>
              <a:t>) product and </a:t>
            </a:r>
            <a:r>
              <a:rPr lang="en-US" sz="2400" b="1" dirty="0">
                <a:solidFill>
                  <a:srgbClr val="0070C0"/>
                </a:solidFill>
              </a:rPr>
              <a:t>cross</a:t>
            </a:r>
            <a:r>
              <a:rPr lang="en-US" sz="2400" dirty="0"/>
              <a:t> product, can be used to enable </a:t>
            </a:r>
            <a:r>
              <a:rPr lang="en-US" sz="2400" b="1" dirty="0"/>
              <a:t>back-face culling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7030A0"/>
                </a:solidFill>
              </a:rPr>
              <a:t>facet shading</a:t>
            </a:r>
          </a:p>
          <a:p>
            <a:r>
              <a:rPr lang="en-US" sz="2400" dirty="0"/>
              <a:t>Two shapes that are not </a:t>
            </a:r>
            <a:r>
              <a:rPr lang="en-US" sz="2400" b="1" dirty="0">
                <a:ea typeface="Cambria Math" panose="02040503050406030204" pitchFamily="18" charset="0"/>
              </a:rPr>
              <a:t>homeomorphic</a:t>
            </a:r>
            <a:r>
              <a:rPr lang="en-US" sz="2400" dirty="0">
                <a:ea typeface="Cambria Math" panose="02040503050406030204" pitchFamily="18" charset="0"/>
              </a:rPr>
              <a:t> may require additions to the parametric equations (inserting another radius or tracking another angular measure) such as drawing a </a:t>
            </a:r>
            <a:r>
              <a:rPr lang="en-US" sz="2400" b="1" dirty="0">
                <a:solidFill>
                  <a:srgbClr val="00B050"/>
                </a:solidFill>
                <a:ea typeface="Cambria Math" panose="02040503050406030204" pitchFamily="18" charset="0"/>
              </a:rPr>
              <a:t>torus</a:t>
            </a:r>
            <a:r>
              <a:rPr lang="en-US" sz="2400" dirty="0">
                <a:ea typeface="Cambria Math" panose="02040503050406030204" pitchFamily="18" charset="0"/>
              </a:rPr>
              <a:t> vs. a </a:t>
            </a:r>
            <a:r>
              <a:rPr lang="en-US" sz="2400" b="1" dirty="0">
                <a:solidFill>
                  <a:srgbClr val="0070C0"/>
                </a:solidFill>
                <a:ea typeface="Cambria Math" panose="02040503050406030204" pitchFamily="18" charset="0"/>
              </a:rPr>
              <a:t>sphere</a:t>
            </a:r>
            <a:endParaRPr lang="en-US" sz="2400" b="1" dirty="0">
              <a:solidFill>
                <a:srgbClr val="0070C0"/>
              </a:solidFill>
            </a:endParaRPr>
          </a:p>
          <a:p>
            <a:endParaRPr lang="en-US" sz="2400" b="1" i="1" dirty="0">
              <a:solidFill>
                <a:srgbClr val="7030A0"/>
              </a:solidFill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61</a:t>
            </a:fld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142035" y="1825625"/>
            <a:ext cx="353304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12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B468A6-A156-0C3B-5749-8FB6755C7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682" y="1376971"/>
            <a:ext cx="4474812" cy="45237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Task 17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3787877" cy="4351338"/>
          </a:xfrm>
        </p:spPr>
        <p:txBody>
          <a:bodyPr>
            <a:normAutofit/>
          </a:bodyPr>
          <a:lstStyle/>
          <a:p>
            <a:r>
              <a:rPr lang="en-US" sz="2400" dirty="0"/>
              <a:t>Update the Python file called </a:t>
            </a:r>
            <a:r>
              <a:rPr lang="en-US" sz="2400" b="1" dirty="0"/>
              <a:t>plot3d_cylinder.py </a:t>
            </a:r>
            <a:r>
              <a:rPr lang="en-US" sz="2400" dirty="0"/>
              <a:t>that uses matplotlib to draw a shaded </a:t>
            </a:r>
            <a:r>
              <a:rPr lang="en-US" sz="2400" b="1" dirty="0">
                <a:solidFill>
                  <a:srgbClr val="FF0000"/>
                </a:solidFill>
              </a:rPr>
              <a:t>red</a:t>
            </a:r>
            <a:r>
              <a:rPr lang="en-US" sz="2400" dirty="0"/>
              <a:t> cylinder of </a:t>
            </a:r>
            <a:r>
              <a:rPr lang="en-US" sz="2400" b="1" dirty="0"/>
              <a:t>radius 10 </a:t>
            </a:r>
            <a:r>
              <a:rPr lang="en-US" sz="2400" dirty="0"/>
              <a:t>and </a:t>
            </a:r>
            <a:r>
              <a:rPr lang="en-US" sz="2400" b="1" dirty="0"/>
              <a:t>height 50</a:t>
            </a:r>
          </a:p>
          <a:p>
            <a:r>
              <a:rPr lang="en-US" sz="2400" dirty="0"/>
              <a:t>The cylinder should be aligned along the z-axis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1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12622</TotalTime>
  <Words>1890</Words>
  <Application>Microsoft Office PowerPoint</Application>
  <PresentationFormat>On-screen Show (4:3)</PresentationFormat>
  <Paragraphs>502</Paragraphs>
  <Slides>62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Session 17 – Topics</vt:lpstr>
      <vt:lpstr>3D Cartesian Coordinates in matplotlib</vt:lpstr>
      <vt:lpstr>Viewing Angles in matplotlib</vt:lpstr>
      <vt:lpstr>Parametric Curves</vt:lpstr>
      <vt:lpstr>Open plot3d_helix.py</vt:lpstr>
      <vt:lpstr>Run plot3d_helix.py</vt:lpstr>
      <vt:lpstr>Run plot3d_helix.py</vt:lpstr>
      <vt:lpstr>Run plot3d_helix.py</vt:lpstr>
      <vt:lpstr>3D Axes in matplotlib</vt:lpstr>
      <vt:lpstr>Drawing a Monolith</vt:lpstr>
      <vt:lpstr>3D Cartesian Coordinates in matplotlib</vt:lpstr>
      <vt:lpstr>3D Cartesian Coordinates in matplotlib</vt:lpstr>
      <vt:lpstr>3D Cartesian Coordinates in matplotlib</vt:lpstr>
      <vt:lpstr>Open plot3d_monolith.py</vt:lpstr>
      <vt:lpstr>View plot3d_monolith.py</vt:lpstr>
      <vt:lpstr>Run plot3d_monolith.py</vt:lpstr>
      <vt:lpstr>Run plot3d_monolith.py</vt:lpstr>
      <vt:lpstr>Drawing a Pyramid</vt:lpstr>
      <vt:lpstr>The Golden Ratio</vt:lpstr>
      <vt:lpstr>Drawing a Pyramid</vt:lpstr>
      <vt:lpstr>Open plot3d_pyramid.py</vt:lpstr>
      <vt:lpstr>View plot3d_pyramid.py</vt:lpstr>
      <vt:lpstr>Run plot3d_pyramid.py</vt:lpstr>
      <vt:lpstr>Edit plot3d_pyramid.py</vt:lpstr>
      <vt:lpstr>Run plot3d_pyramid.py</vt:lpstr>
      <vt:lpstr>View plot3d_pyramid.py</vt:lpstr>
      <vt:lpstr>3D Axes in matplotlib</vt:lpstr>
      <vt:lpstr>Poloidal and Toroidal Angles</vt:lpstr>
      <vt:lpstr>Matrices and Outer Product</vt:lpstr>
      <vt:lpstr>Open plot3d_sphere.py</vt:lpstr>
      <vt:lpstr>Run plot3d_sphere.py</vt:lpstr>
      <vt:lpstr>Run plot3d_sphere.py</vt:lpstr>
      <vt:lpstr>Edit plot3d_sphere.py</vt:lpstr>
      <vt:lpstr>Run plot3d_sphere.py</vt:lpstr>
      <vt:lpstr>View plot3d_sphere.py</vt:lpstr>
      <vt:lpstr>Real Vectors</vt:lpstr>
      <vt:lpstr>Backface Culling</vt:lpstr>
      <vt:lpstr>Vector Cross Product</vt:lpstr>
      <vt:lpstr>Every Facet has a Surface Normal Vector</vt:lpstr>
      <vt:lpstr>Vector Dot Product</vt:lpstr>
      <vt:lpstr>Backface Culling and Facet Shading</vt:lpstr>
      <vt:lpstr>Edit plot3d_sphere.py</vt:lpstr>
      <vt:lpstr>Run plot3d_sphere.py</vt:lpstr>
      <vt:lpstr>Run plot3d_sphere.py</vt:lpstr>
      <vt:lpstr>Modelling a Torus</vt:lpstr>
      <vt:lpstr>Modelling a Torus</vt:lpstr>
      <vt:lpstr>Modelling a Torus</vt:lpstr>
      <vt:lpstr>Open plot3d_torus.py</vt:lpstr>
      <vt:lpstr>Run plot3d_torus.py</vt:lpstr>
      <vt:lpstr>Edit plot3d_torus.py</vt:lpstr>
      <vt:lpstr>Run plot3d_torus.py</vt:lpstr>
      <vt:lpstr>Open plot3d_surface.py</vt:lpstr>
      <vt:lpstr>Run plot3d_surface.py</vt:lpstr>
      <vt:lpstr>View plot3d_surface.py</vt:lpstr>
      <vt:lpstr>The Gradient Operator</vt:lpstr>
      <vt:lpstr>The Gradient Operator</vt:lpstr>
      <vt:lpstr>The Gradient Operator</vt:lpstr>
      <vt:lpstr>Open plot3d_gradient.py</vt:lpstr>
      <vt:lpstr>Run plot3d_gradient.py</vt:lpstr>
      <vt:lpstr>Session 17 – Now You Know…</vt:lpstr>
      <vt:lpstr>Task 17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1246</cp:revision>
  <cp:lastPrinted>2015-06-01T00:45:11Z</cp:lastPrinted>
  <dcterms:created xsi:type="dcterms:W3CDTF">2014-09-21T17:58:26Z</dcterms:created>
  <dcterms:modified xsi:type="dcterms:W3CDTF">2026-04-16T02:18:01Z</dcterms:modified>
</cp:coreProperties>
</file>