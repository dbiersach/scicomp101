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1220" r:id="rId2"/>
    <p:sldId id="972" r:id="rId3"/>
    <p:sldId id="1409" r:id="rId4"/>
    <p:sldId id="1263" r:id="rId5"/>
    <p:sldId id="1008" r:id="rId6"/>
    <p:sldId id="373" r:id="rId7"/>
    <p:sldId id="1414" r:id="rId8"/>
    <p:sldId id="374" r:id="rId9"/>
    <p:sldId id="1337" r:id="rId10"/>
    <p:sldId id="1304" r:id="rId11"/>
    <p:sldId id="1331" r:id="rId12"/>
    <p:sldId id="1419" r:id="rId13"/>
    <p:sldId id="1415" r:id="rId14"/>
    <p:sldId id="1420" r:id="rId15"/>
    <p:sldId id="1421" r:id="rId16"/>
    <p:sldId id="1422" r:id="rId17"/>
    <p:sldId id="1423" r:id="rId18"/>
    <p:sldId id="1424" r:id="rId19"/>
    <p:sldId id="1427" r:id="rId20"/>
    <p:sldId id="1425" r:id="rId21"/>
    <p:sldId id="1428" r:id="rId22"/>
    <p:sldId id="1426" r:id="rId23"/>
    <p:sldId id="1429" r:id="rId24"/>
    <p:sldId id="1266" r:id="rId25"/>
    <p:sldId id="991" r:id="rId26"/>
    <p:sldId id="1412" r:id="rId27"/>
    <p:sldId id="1268" r:id="rId28"/>
    <p:sldId id="1325" r:id="rId29"/>
    <p:sldId id="1277" r:id="rId30"/>
    <p:sldId id="1307" r:id="rId31"/>
    <p:sldId id="266" r:id="rId32"/>
    <p:sldId id="1430" r:id="rId33"/>
    <p:sldId id="265" r:id="rId34"/>
    <p:sldId id="1278" r:id="rId35"/>
    <p:sldId id="965" r:id="rId36"/>
    <p:sldId id="1308" r:id="rId37"/>
    <p:sldId id="1309" r:id="rId38"/>
    <p:sldId id="1310" r:id="rId39"/>
    <p:sldId id="1026" r:id="rId40"/>
    <p:sldId id="1027" r:id="rId41"/>
    <p:sldId id="1029" r:id="rId42"/>
    <p:sldId id="1028" r:id="rId43"/>
    <p:sldId id="1311" r:id="rId44"/>
    <p:sldId id="1312" r:id="rId45"/>
    <p:sldId id="1313" r:id="rId46"/>
    <p:sldId id="1031" r:id="rId47"/>
    <p:sldId id="1431" r:id="rId48"/>
    <p:sldId id="1280" r:id="rId49"/>
    <p:sldId id="1439" r:id="rId50"/>
    <p:sldId id="1442" r:id="rId51"/>
    <p:sldId id="1441" r:id="rId52"/>
    <p:sldId id="1436" r:id="rId53"/>
    <p:sldId id="1437" r:id="rId54"/>
    <p:sldId id="1438" r:id="rId55"/>
    <p:sldId id="1287" r:id="rId56"/>
    <p:sldId id="1288" r:id="rId57"/>
    <p:sldId id="1272" r:id="rId58"/>
    <p:sldId id="1434" r:id="rId59"/>
    <p:sldId id="1443" r:id="rId60"/>
    <p:sldId id="1253" r:id="rId61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8E23"/>
    <a:srgbClr val="C7758A"/>
    <a:srgbClr val="D09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77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94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08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01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D021-AC24-96AA-2F46-F1C5EAAD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4ACC9-9B7C-D9DF-2A37-365A93D4E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1147F-5624-D0C0-0D49-5DDBCD75E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B1CEC-401D-8F9D-7838-520C85C4AE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43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22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72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13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53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91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50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ealpython.com/numpy-array-programming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hyperlink" Target="https://realpython.com/python-arra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numpy/numpy_array_slicing.asp" TargetMode="External"/><Relationship Id="rId2" Type="http://schemas.openxmlformats.org/officeDocument/2006/relationships/hyperlink" Target="https://problemsolvingwithpython.com/05-NumPy-and-Arrays/05.06-Array-Slicing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plotlib.org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vectorized-operations-in-numpy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atex-project.org/" TargetMode="External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verleaf.com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learn/latex/Learn_LaTeX_in_30_minut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xstudio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pathlib.html" TargetMode="Externa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hyperlink" Target="https://www.pythonmorsels.com/dunder-variables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05</a:t>
            </a:r>
          </a:p>
          <a:p>
            <a:pPr algn="ctr"/>
            <a:r>
              <a:rPr lang="en-US" dirty="0"/>
              <a:t>Cartesian Graphs and Conic Sections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05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Leverage the </a:t>
            </a:r>
            <a:r>
              <a:rPr lang="en-US" sz="2400" b="1" dirty="0">
                <a:solidFill>
                  <a:srgbClr val="0070C0"/>
                </a:solidFill>
              </a:rPr>
              <a:t>NumPy</a:t>
            </a:r>
            <a:r>
              <a:rPr lang="en-US" sz="2400" dirty="0"/>
              <a:t> package to create </a:t>
            </a:r>
            <a:r>
              <a:rPr lang="en-US" sz="2400" b="1" dirty="0">
                <a:solidFill>
                  <a:srgbClr val="FF0000"/>
                </a:solidFill>
              </a:rPr>
              <a:t>arrays</a:t>
            </a:r>
            <a:r>
              <a:rPr lang="en-US" sz="2400" dirty="0"/>
              <a:t> using </a:t>
            </a:r>
            <a:r>
              <a:rPr lang="en-US" sz="2400" b="1" dirty="0"/>
              <a:t>np.linspace()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Understand </a:t>
            </a:r>
            <a:r>
              <a:rPr lang="en-US" sz="2400" b="1" dirty="0">
                <a:solidFill>
                  <a:srgbClr val="7030A0"/>
                </a:solidFill>
              </a:rPr>
              <a:t>vectorized</a:t>
            </a:r>
            <a:r>
              <a:rPr lang="en-US" sz="2400" dirty="0"/>
              <a:t> operations that implicitly operate on an entire NumPy </a:t>
            </a:r>
            <a:r>
              <a:rPr lang="en-US" sz="2400" b="1" dirty="0"/>
              <a:t>array</a:t>
            </a:r>
            <a:r>
              <a:rPr lang="en-US" sz="2400" dirty="0"/>
              <a:t> with just one algebraic expression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NumPy’s </a:t>
            </a:r>
            <a:r>
              <a:rPr lang="en-US" sz="2400" b="1" dirty="0"/>
              <a:t>slicing syntax</a:t>
            </a:r>
            <a:r>
              <a:rPr lang="en-US" sz="2400" dirty="0"/>
              <a:t> to extract specific subarrays from a larger array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Plot 2-D equations using the Python package </a:t>
            </a:r>
            <a:r>
              <a:rPr lang="en-US" sz="2400" b="1" dirty="0">
                <a:solidFill>
                  <a:srgbClr val="00B050"/>
                </a:solidFill>
              </a:rPr>
              <a:t>matplotlib</a:t>
            </a:r>
            <a:r>
              <a:rPr lang="en-US" sz="2400" dirty="0"/>
              <a:t> and its </a:t>
            </a:r>
            <a:r>
              <a:rPr lang="en-US" sz="2400" b="1" dirty="0">
                <a:solidFill>
                  <a:srgbClr val="00B050"/>
                </a:solidFill>
              </a:rPr>
              <a:t>pyplot</a:t>
            </a:r>
            <a:r>
              <a:rPr lang="en-US" sz="2400" dirty="0"/>
              <a:t> module</a:t>
            </a:r>
            <a:endParaRPr lang="en-US" sz="2400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Relate the pyplot </a:t>
            </a:r>
            <a:r>
              <a:rPr lang="en-US" sz="2400" b="1" dirty="0"/>
              <a:t>figure</a:t>
            </a:r>
            <a:r>
              <a:rPr lang="en-US" sz="2400" dirty="0"/>
              <a:t> object to its </a:t>
            </a:r>
            <a:r>
              <a:rPr lang="en-US" sz="2400" b="1" dirty="0"/>
              <a:t>axes</a:t>
            </a:r>
            <a:r>
              <a:rPr lang="en-US" sz="2400" dirty="0"/>
              <a:t> object, and learn how to decorate plots with titles, labels, grids, etc.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Learn how </a:t>
            </a:r>
            <a:r>
              <a:rPr lang="en-US" sz="2400" b="1" dirty="0">
                <a:solidFill>
                  <a:srgbClr val="FF0000"/>
                </a:solidFill>
              </a:rPr>
              <a:t>LaTeX</a:t>
            </a:r>
            <a:r>
              <a:rPr lang="en-US" sz="2400" dirty="0"/>
              <a:t> can display </a:t>
            </a:r>
            <a:r>
              <a:rPr lang="en-US" sz="2400" i="1" dirty="0"/>
              <a:t>proper</a:t>
            </a:r>
            <a:r>
              <a:rPr lang="en-US" sz="2400" dirty="0"/>
              <a:t> mathematical symbols</a:t>
            </a:r>
          </a:p>
          <a:p>
            <a:endParaRPr lang="en-US" sz="2400" dirty="0"/>
          </a:p>
          <a:p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A721-5757-29E4-8367-ECFF782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D668-FE35-32A3-5355-C0D757BB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05</a:t>
            </a:r>
            <a:r>
              <a:rPr lang="en-US" sz="3200" dirty="0">
                <a:latin typeface="+mn-lt"/>
              </a:rPr>
              <a:t> – Goals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96B3E-E3CA-AA8E-4FA7-26967CFB3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Draw a line graph using </a:t>
            </a:r>
            <a:r>
              <a:rPr lang="en-US" sz="2400" b="1" dirty="0">
                <a:solidFill>
                  <a:srgbClr val="0070C0"/>
                </a:solidFill>
              </a:rPr>
              <a:t>numpy arrays</a:t>
            </a:r>
            <a:r>
              <a:rPr lang="en-US" sz="2400" dirty="0"/>
              <a:t> to hold the </a:t>
            </a:r>
            <a:r>
              <a:rPr lang="en-US" sz="2400" b="1" dirty="0"/>
              <a:t>independent</a:t>
            </a:r>
            <a:r>
              <a:rPr lang="en-US" sz="2400" dirty="0"/>
              <a:t> and </a:t>
            </a:r>
            <a:r>
              <a:rPr lang="en-US" sz="2400" b="1" dirty="0"/>
              <a:t>dependent</a:t>
            </a:r>
            <a:r>
              <a:rPr lang="en-US" sz="2400" dirty="0"/>
              <a:t> variable values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Draw the </a:t>
            </a:r>
            <a:r>
              <a:rPr lang="en-US" sz="2400" b="1" dirty="0">
                <a:solidFill>
                  <a:srgbClr val="00B050"/>
                </a:solidFill>
              </a:rPr>
              <a:t>parabola</a:t>
            </a:r>
            <a:r>
              <a:rPr lang="en-US" sz="2400" dirty="0"/>
              <a:t>, </a:t>
            </a:r>
            <a:r>
              <a:rPr lang="en-US" sz="2400" b="1" dirty="0"/>
              <a:t>circle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FF0000"/>
                </a:solidFill>
              </a:rPr>
              <a:t>ellipse</a:t>
            </a:r>
            <a:r>
              <a:rPr lang="en-US" sz="2400" dirty="0"/>
              <a:t> conic sections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Leverage the </a:t>
            </a:r>
            <a:r>
              <a:rPr lang="en-US" sz="2400" b="1" dirty="0">
                <a:solidFill>
                  <a:srgbClr val="7030A0"/>
                </a:solidFill>
              </a:rPr>
              <a:t>symmetries</a:t>
            </a:r>
            <a:r>
              <a:rPr lang="en-US" sz="2400" dirty="0"/>
              <a:t> in conic sections to reduce the calculations required to plot each curve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Visualize the </a:t>
            </a:r>
            <a:r>
              <a:rPr lang="en-US" sz="2400" b="1" dirty="0">
                <a:solidFill>
                  <a:srgbClr val="00B050"/>
                </a:solidFill>
              </a:rPr>
              <a:t>Fahrenheit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Celsius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7030A0"/>
                </a:solidFill>
              </a:rPr>
              <a:t>Kelvin</a:t>
            </a:r>
            <a:r>
              <a:rPr lang="en-US" sz="2400" dirty="0"/>
              <a:t> scales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3F89F-C4F4-D8D9-9B2D-44B7B64D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5A196F-EF44-6C48-5841-CECC50976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71" y="1890646"/>
            <a:ext cx="7225259" cy="46881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Extending Python via the </a:t>
            </a:r>
            <a:r>
              <a:rPr lang="en-US" sz="3200" b="1" dirty="0">
                <a:latin typeface="+mn-lt"/>
              </a:rPr>
              <a:t>numpy</a:t>
            </a:r>
            <a:r>
              <a:rPr lang="en-US" sz="3200" dirty="0">
                <a:latin typeface="+mn-lt"/>
              </a:rPr>
              <a:t> Package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28FBA-9A18-C43F-0200-822C69EF5FA4}"/>
              </a:ext>
            </a:extLst>
          </p:cNvPr>
          <p:cNvSpPr txBox="1"/>
          <p:nvPr/>
        </p:nvSpPr>
        <p:spPr>
          <a:xfrm>
            <a:off x="3354049" y="1402598"/>
            <a:ext cx="2435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https://numpy.org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E6D21-0922-B1D6-3F20-C56734F729BB}"/>
              </a:ext>
            </a:extLst>
          </p:cNvPr>
          <p:cNvSpPr/>
          <p:nvPr/>
        </p:nvSpPr>
        <p:spPr>
          <a:xfrm>
            <a:off x="4796853" y="2338465"/>
            <a:ext cx="2893101" cy="2098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BA338-F2D0-863F-CC78-C5E262734130}"/>
              </a:ext>
            </a:extLst>
          </p:cNvPr>
          <p:cNvSpPr/>
          <p:nvPr/>
        </p:nvSpPr>
        <p:spPr>
          <a:xfrm>
            <a:off x="1156742" y="3843636"/>
            <a:ext cx="1803816" cy="2098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0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About </a:t>
            </a:r>
            <a:r>
              <a:rPr lang="en-US" sz="3200" b="1" dirty="0">
                <a:latin typeface="+mn-lt"/>
              </a:rPr>
              <a:t>PyPI</a:t>
            </a:r>
            <a:r>
              <a:rPr lang="en-US" sz="3200" dirty="0">
                <a:latin typeface="+mn-lt"/>
              </a:rPr>
              <a:t> (Python </a:t>
            </a:r>
            <a:r>
              <a:rPr lang="en-US" sz="3200" b="1" dirty="0">
                <a:latin typeface="+mn-lt"/>
              </a:rPr>
              <a:t>Package</a:t>
            </a:r>
            <a:r>
              <a:rPr lang="en-US" sz="3200" dirty="0">
                <a:latin typeface="+mn-lt"/>
              </a:rPr>
              <a:t> Index)</a:t>
            </a:r>
            <a:endParaRPr lang="en-US" sz="3200" b="1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19FDAD-556C-3882-1588-F876A654DAD3}"/>
              </a:ext>
            </a:extLst>
          </p:cNvPr>
          <p:cNvSpPr/>
          <p:nvPr/>
        </p:nvSpPr>
        <p:spPr>
          <a:xfrm>
            <a:off x="6243403" y="2078674"/>
            <a:ext cx="1064302" cy="267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2BCC5-C94B-A4F5-3B24-FA62E54A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64" y="1978929"/>
            <a:ext cx="7052872" cy="4377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ECD16B-B57B-BCD5-AFF1-4F85DFC5AC27}"/>
              </a:ext>
            </a:extLst>
          </p:cNvPr>
          <p:cNvSpPr txBox="1"/>
          <p:nvPr/>
        </p:nvSpPr>
        <p:spPr>
          <a:xfrm>
            <a:off x="3552669" y="1366816"/>
            <a:ext cx="203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https://pypi.org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0F23E-7502-274A-488A-F270E38429F3}"/>
              </a:ext>
            </a:extLst>
          </p:cNvPr>
          <p:cNvSpPr/>
          <p:nvPr/>
        </p:nvSpPr>
        <p:spPr>
          <a:xfrm>
            <a:off x="2360951" y="4204741"/>
            <a:ext cx="1034321" cy="2473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1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Numpy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numpy </a:t>
            </a:r>
            <a:r>
              <a:rPr lang="en-US" sz="2400" b="1" dirty="0"/>
              <a:t>array</a:t>
            </a:r>
            <a:r>
              <a:rPr lang="en-US" sz="2400" dirty="0"/>
              <a:t> is a set of </a:t>
            </a:r>
            <a:r>
              <a:rPr lang="en-US" sz="2400" i="1" dirty="0"/>
              <a:t>elements</a:t>
            </a:r>
            <a:r>
              <a:rPr lang="en-US" sz="2400" dirty="0"/>
              <a:t> having all the same </a:t>
            </a:r>
            <a:r>
              <a:rPr lang="en-US" sz="2400" b="1" dirty="0">
                <a:solidFill>
                  <a:srgbClr val="7030A0"/>
                </a:solidFill>
              </a:rPr>
              <a:t>type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An individual element in an array is accessed by using its </a:t>
            </a:r>
            <a:r>
              <a:rPr lang="en-US" sz="2400" b="1" dirty="0"/>
              <a:t>index number </a:t>
            </a:r>
            <a:r>
              <a:rPr lang="en-US" sz="2400" dirty="0"/>
              <a:t>within square </a:t>
            </a:r>
            <a:r>
              <a:rPr lang="en-US" sz="2400" b="1" dirty="0"/>
              <a:t>[]</a:t>
            </a:r>
            <a:r>
              <a:rPr lang="en-US" sz="2400" dirty="0"/>
              <a:t> brackets</a:t>
            </a:r>
            <a:endParaRPr lang="en-US" sz="2400" b="1" dirty="0">
              <a:solidFill>
                <a:srgbClr val="00B050"/>
              </a:solidFill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Every element has a unique index number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No two elements share the same index number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FF0000"/>
                </a:solidFill>
              </a:rPr>
              <a:t>The first element has an index = 0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For </a:t>
            </a:r>
            <a:r>
              <a:rPr lang="en-US" sz="2400" b="1" dirty="0"/>
              <a:t>1D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numpy</a:t>
            </a:r>
            <a:r>
              <a:rPr lang="en-US" sz="2400" dirty="0"/>
              <a:t> arrays, the </a:t>
            </a:r>
            <a:r>
              <a:rPr lang="en-US" sz="2400" b="1" dirty="0">
                <a:solidFill>
                  <a:srgbClr val="00B050"/>
                </a:solidFill>
              </a:rPr>
              <a:t>len()</a:t>
            </a:r>
            <a:r>
              <a:rPr lang="en-US" sz="2400" dirty="0"/>
              <a:t> </a:t>
            </a:r>
            <a:r>
              <a:rPr lang="en-US" sz="2400" i="1" dirty="0"/>
              <a:t>function</a:t>
            </a:r>
            <a:r>
              <a:rPr lang="en-US" sz="2400" dirty="0"/>
              <a:t> (or </a:t>
            </a:r>
            <a:r>
              <a:rPr lang="en-US" sz="2400" b="1" dirty="0">
                <a:solidFill>
                  <a:srgbClr val="00B050"/>
                </a:solidFill>
              </a:rPr>
              <a:t>size</a:t>
            </a:r>
            <a:r>
              <a:rPr lang="en-US" sz="2400" dirty="0"/>
              <a:t> </a:t>
            </a:r>
            <a:r>
              <a:rPr lang="en-US" sz="2400" i="1" dirty="0"/>
              <a:t>property</a:t>
            </a:r>
            <a:r>
              <a:rPr lang="en-US" sz="2400" dirty="0"/>
              <a:t>) returns the </a:t>
            </a:r>
            <a:r>
              <a:rPr lang="en-US" sz="2400" i="1" dirty="0"/>
              <a:t>length</a:t>
            </a:r>
            <a:r>
              <a:rPr lang="en-US" sz="2400" dirty="0"/>
              <a:t> of an array, which is the number of elements in the array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Why is the </a:t>
            </a:r>
            <a:r>
              <a:rPr lang="en-US" sz="2400" i="1" dirty="0"/>
              <a:t>last</a:t>
            </a:r>
            <a:r>
              <a:rPr lang="en-US" sz="2400" dirty="0"/>
              <a:t> element in an array at </a:t>
            </a:r>
            <a:r>
              <a:rPr lang="en-US" sz="2400" b="1" dirty="0"/>
              <a:t>[</a:t>
            </a:r>
            <a:r>
              <a:rPr lang="en-US" sz="2400" dirty="0">
                <a:solidFill>
                  <a:srgbClr val="0070C0"/>
                </a:solidFill>
              </a:rPr>
              <a:t>size</a:t>
            </a:r>
            <a:r>
              <a:rPr lang="en-US" sz="2400" dirty="0"/>
              <a:t> – 1</a:t>
            </a:r>
            <a:r>
              <a:rPr lang="en-US" sz="2400" b="1" dirty="0"/>
              <a:t>]</a:t>
            </a:r>
            <a:r>
              <a:rPr lang="en-US" sz="24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30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NumPy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4C20C2-116E-EDE9-093F-E03DBC6CF398}"/>
              </a:ext>
            </a:extLst>
          </p:cNvPr>
          <p:cNvGrpSpPr/>
          <p:nvPr/>
        </p:nvGrpSpPr>
        <p:grpSpPr>
          <a:xfrm>
            <a:off x="139837" y="1643065"/>
            <a:ext cx="4674020" cy="4153760"/>
            <a:chOff x="290945" y="1408798"/>
            <a:chExt cx="4674020" cy="41537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63A6D2-B1C2-06EF-4442-E1F52E53783D}"/>
                </a:ext>
              </a:extLst>
            </p:cNvPr>
            <p:cNvSpPr txBox="1"/>
            <p:nvPr/>
          </p:nvSpPr>
          <p:spPr>
            <a:xfrm>
              <a:off x="290945" y="1408798"/>
              <a:ext cx="467402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hlinkClick r:id="rId2"/>
                </a:rPr>
                <a:t>https://realpython.com/numpy-array-programming</a:t>
              </a:r>
              <a:endParaRPr lang="en-US" sz="1600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1D06D4A-4F02-94AA-C65D-6145B8AE9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10" y="2039383"/>
              <a:ext cx="3847891" cy="35231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DA3A4AF-0086-A96E-4586-E950E5655BEF}"/>
              </a:ext>
            </a:extLst>
          </p:cNvPr>
          <p:cNvGrpSpPr/>
          <p:nvPr/>
        </p:nvGrpSpPr>
        <p:grpSpPr>
          <a:xfrm>
            <a:off x="4812839" y="1643065"/>
            <a:ext cx="3828589" cy="4153759"/>
            <a:chOff x="4963947" y="1408798"/>
            <a:chExt cx="3828589" cy="415375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01AB7FF-4891-97CF-C513-1D7AFEFD3837}"/>
                </a:ext>
              </a:extLst>
            </p:cNvPr>
            <p:cNvSpPr txBox="1"/>
            <p:nvPr/>
          </p:nvSpPr>
          <p:spPr>
            <a:xfrm>
              <a:off x="4975761" y="1408798"/>
              <a:ext cx="380496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hlinkClick r:id="rId4"/>
                </a:rPr>
                <a:t>https://realpython.com/python-array</a:t>
              </a:r>
              <a:endParaRPr lang="en-US" sz="16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CDC9877-E8CC-85F3-A544-8FEC315C8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3947" y="2039382"/>
              <a:ext cx="3828589" cy="35231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74981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Index</a:t>
            </a:r>
            <a:r>
              <a:rPr lang="en-US" sz="3200" dirty="0">
                <a:latin typeface="+mn-lt"/>
              </a:rPr>
              <a:t> Number versus Element </a:t>
            </a:r>
            <a:r>
              <a:rPr lang="en-US" sz="3200" b="1" dirty="0">
                <a:latin typeface="+mn-lt"/>
              </a:rPr>
              <a:t>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64" y="1738986"/>
            <a:ext cx="3693871" cy="2480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1E98A0-61EA-EFD8-3FB3-B7A89CE3D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426" y="2605190"/>
            <a:ext cx="3162569" cy="322932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00EF04C-1274-1D04-1848-41B05DFC20B1}"/>
              </a:ext>
            </a:extLst>
          </p:cNvPr>
          <p:cNvSpPr/>
          <p:nvPr/>
        </p:nvSpPr>
        <p:spPr>
          <a:xfrm>
            <a:off x="3320321" y="4569163"/>
            <a:ext cx="1827532" cy="582107"/>
          </a:xfrm>
          <a:prstGeom prst="wedgeRoundRectCallout">
            <a:avLst>
              <a:gd name="adj1" fmla="val 117952"/>
              <a:gd name="adj2" fmla="val -184715"/>
              <a:gd name="adj3" fmla="val 166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array_name</a:t>
            </a: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[2]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EF03C-AB2D-67D6-204C-3E027422B1B3}"/>
              </a:ext>
            </a:extLst>
          </p:cNvPr>
          <p:cNvSpPr txBox="1"/>
          <p:nvPr/>
        </p:nvSpPr>
        <p:spPr>
          <a:xfrm>
            <a:off x="1046749" y="5463684"/>
            <a:ext cx="2979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The first addressable element in an array is at index </a:t>
            </a:r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7872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6FBD-9E5A-911D-8B38-2353D52C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B10732-DEF7-A13F-0F6D-71DF507935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69" t="30404" r="7158" b="3619"/>
          <a:stretch/>
        </p:blipFill>
        <p:spPr>
          <a:xfrm>
            <a:off x="2637020" y="1603456"/>
            <a:ext cx="3680085" cy="17051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6963BB-C6D0-BF3F-F600-E34F8974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 Numpy 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Linearly Spaced </a:t>
            </a:r>
            <a:r>
              <a:rPr lang="en-US" sz="3200" dirty="0">
                <a:latin typeface="+mn-lt"/>
              </a:rPr>
              <a:t>Array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6C65B-A203-C8F2-28E9-57E8A15B4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F27794-0E8A-6462-BA7D-925CBC66A33A}"/>
              </a:ext>
            </a:extLst>
          </p:cNvPr>
          <p:cNvSpPr txBox="1"/>
          <p:nvPr/>
        </p:nvSpPr>
        <p:spPr>
          <a:xfrm>
            <a:off x="351020" y="1761044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Creates a "street" of </a:t>
            </a:r>
            <a:r>
              <a:rPr lang="en-US" i="1" dirty="0">
                <a:solidFill>
                  <a:srgbClr val="7030A0"/>
                </a:solidFill>
              </a:rPr>
              <a:t>mailboxes</a:t>
            </a:r>
            <a:r>
              <a:rPr lang="en-US" dirty="0">
                <a:solidFill>
                  <a:srgbClr val="7030A0"/>
                </a:solidFill>
              </a:rPr>
              <a:t> where the </a:t>
            </a:r>
            <a:r>
              <a:rPr lang="en-US" b="1" dirty="0">
                <a:solidFill>
                  <a:srgbClr val="7030A0"/>
                </a:solidFill>
              </a:rPr>
              <a:t>values</a:t>
            </a:r>
            <a:r>
              <a:rPr lang="en-US" dirty="0">
                <a:solidFill>
                  <a:srgbClr val="7030A0"/>
                </a:solidFill>
              </a:rPr>
              <a:t> inside are </a:t>
            </a:r>
            <a:r>
              <a:rPr lang="en-US" u="sng" dirty="0">
                <a:solidFill>
                  <a:srgbClr val="7030A0"/>
                </a:solidFill>
              </a:rPr>
              <a:t>equally</a:t>
            </a:r>
            <a:r>
              <a:rPr lang="en-US" dirty="0">
                <a:solidFill>
                  <a:srgbClr val="7030A0"/>
                </a:solidFill>
              </a:rPr>
              <a:t> spaced between [start, stop]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AFC43C-B356-016B-62BE-EFFAC8B248F4}"/>
              </a:ext>
            </a:extLst>
          </p:cNvPr>
          <p:cNvSpPr/>
          <p:nvPr/>
        </p:nvSpPr>
        <p:spPr>
          <a:xfrm>
            <a:off x="3230381" y="1761044"/>
            <a:ext cx="2375939" cy="3012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E57D3-9783-CF23-A178-38C67CFC0E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959" b="9875"/>
          <a:stretch/>
        </p:blipFill>
        <p:spPr>
          <a:xfrm>
            <a:off x="1393305" y="3930171"/>
            <a:ext cx="6192500" cy="1181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99733B-82D1-3665-9F88-CC937DB1B53F}"/>
              </a:ext>
            </a:extLst>
          </p:cNvPr>
          <p:cNvSpPr txBox="1"/>
          <p:nvPr/>
        </p:nvSpPr>
        <p:spPr>
          <a:xfrm>
            <a:off x="2214171" y="5569544"/>
            <a:ext cx="4525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np.linspace() </a:t>
            </a:r>
            <a:r>
              <a:rPr lang="en-US" dirty="0">
                <a:solidFill>
                  <a:srgbClr val="7030A0"/>
                </a:solidFill>
              </a:rPr>
              <a:t>figures out the </a:t>
            </a:r>
            <a:r>
              <a:rPr lang="en-US" i="1" dirty="0">
                <a:solidFill>
                  <a:srgbClr val="7030A0"/>
                </a:solidFill>
              </a:rPr>
              <a:t>step</a:t>
            </a:r>
            <a:r>
              <a:rPr lang="en-US" dirty="0">
                <a:solidFill>
                  <a:srgbClr val="7030A0"/>
                </a:solidFill>
              </a:rPr>
              <a:t> size based on the range of the linear space and the </a:t>
            </a:r>
            <a:r>
              <a:rPr lang="en-US" u="sng" dirty="0">
                <a:solidFill>
                  <a:srgbClr val="7030A0"/>
                </a:solidFill>
              </a:rPr>
              <a:t>number</a:t>
            </a:r>
            <a:r>
              <a:rPr lang="en-US" dirty="0">
                <a:solidFill>
                  <a:srgbClr val="7030A0"/>
                </a:solidFill>
              </a:rPr>
              <a:t> of elements you request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F7635-5DFF-3914-33AC-F95B21568871}"/>
              </a:ext>
            </a:extLst>
          </p:cNvPr>
          <p:cNvSpPr txBox="1"/>
          <p:nvPr/>
        </p:nvSpPr>
        <p:spPr>
          <a:xfrm>
            <a:off x="1918740" y="3859967"/>
            <a:ext cx="727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Index [0]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3DBBD-6C6B-24F3-14FC-9AA40052A842}"/>
              </a:ext>
            </a:extLst>
          </p:cNvPr>
          <p:cNvSpPr txBox="1"/>
          <p:nvPr/>
        </p:nvSpPr>
        <p:spPr>
          <a:xfrm>
            <a:off x="6333347" y="3859967"/>
            <a:ext cx="727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Index [6]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5C380E-9AAB-7E53-498F-70967EF0D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381" y="3541930"/>
            <a:ext cx="3095238" cy="419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AB97CA-57C7-F1C4-DFC2-681E76D528F8}"/>
              </a:ext>
            </a:extLst>
          </p:cNvPr>
          <p:cNvSpPr txBox="1"/>
          <p:nvPr/>
        </p:nvSpPr>
        <p:spPr>
          <a:xfrm>
            <a:off x="6128748" y="1761044"/>
            <a:ext cx="2770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provide </a:t>
            </a:r>
            <a:r>
              <a:rPr lang="en-US" b="1" i="1" dirty="0">
                <a:solidFill>
                  <a:srgbClr val="7030A0"/>
                </a:solidFill>
              </a:rPr>
              <a:t>both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start and stop values!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 The stop value is </a:t>
            </a:r>
            <a:r>
              <a:rPr lang="en-US" u="sng" dirty="0">
                <a:solidFill>
                  <a:srgbClr val="7030A0"/>
                </a:solidFill>
              </a:rPr>
              <a:t>inclusive</a:t>
            </a:r>
            <a:endParaRPr lang="en-US" b="1" u="sng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20596-5045-4D84-988B-4BBCA8D2A02D}"/>
              </a:ext>
            </a:extLst>
          </p:cNvPr>
          <p:cNvSpPr txBox="1"/>
          <p:nvPr/>
        </p:nvSpPr>
        <p:spPr>
          <a:xfrm>
            <a:off x="6128748" y="2754578"/>
            <a:ext cx="2770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third</a:t>
            </a:r>
            <a:r>
              <a:rPr lang="en-US" dirty="0">
                <a:solidFill>
                  <a:srgbClr val="7030A0"/>
                </a:solidFill>
              </a:rPr>
              <a:t> number is the </a:t>
            </a:r>
            <a:r>
              <a:rPr lang="en-US" i="1" dirty="0">
                <a:solidFill>
                  <a:srgbClr val="7030A0"/>
                </a:solidFill>
              </a:rPr>
              <a:t>number of mailboxes</a:t>
            </a:r>
            <a:r>
              <a:rPr lang="en-US" dirty="0">
                <a:solidFill>
                  <a:srgbClr val="7030A0"/>
                </a:solidFill>
              </a:rPr>
              <a:t> you want in the array</a:t>
            </a:r>
            <a:endParaRPr lang="en-US" u="sn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89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 animBg="1"/>
      <p:bldP spid="6" grpId="0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Numpy </a:t>
            </a:r>
            <a:r>
              <a:rPr lang="en-US" sz="3200" b="1" dirty="0">
                <a:latin typeface="+mn-lt"/>
              </a:rPr>
              <a:t>Vectorized</a:t>
            </a:r>
            <a:r>
              <a:rPr lang="en-US" sz="3200" dirty="0">
                <a:latin typeface="+mn-lt"/>
              </a:rPr>
              <a:t>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756A6-0F5C-A849-A5B8-6A4442644E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254"/>
          <a:stretch/>
        </p:blipFill>
        <p:spPr>
          <a:xfrm>
            <a:off x="1566472" y="2013970"/>
            <a:ext cx="6011056" cy="308810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C086B24-8BBA-444C-EE12-F47263027E6D}"/>
              </a:ext>
            </a:extLst>
          </p:cNvPr>
          <p:cNvGrpSpPr/>
          <p:nvPr/>
        </p:nvGrpSpPr>
        <p:grpSpPr>
          <a:xfrm>
            <a:off x="617642" y="2593298"/>
            <a:ext cx="442210" cy="2233706"/>
            <a:chOff x="617642" y="2593298"/>
            <a:chExt cx="442210" cy="223370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70F5EC-F851-8C89-2CAA-B1D4711C3E6C}"/>
                </a:ext>
              </a:extLst>
            </p:cNvPr>
            <p:cNvSpPr txBox="1"/>
            <p:nvPr/>
          </p:nvSpPr>
          <p:spPr>
            <a:xfrm>
              <a:off x="617642" y="259329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D9512B-0411-4FAF-6C42-4BD4DF58410F}"/>
                </a:ext>
              </a:extLst>
            </p:cNvPr>
            <p:cNvSpPr txBox="1"/>
            <p:nvPr/>
          </p:nvSpPr>
          <p:spPr>
            <a:xfrm>
              <a:off x="617642" y="313573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*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756C5D-6C6B-A1A4-365C-759C3CC77A6B}"/>
                </a:ext>
              </a:extLst>
            </p:cNvPr>
            <p:cNvSpPr txBox="1"/>
            <p:nvPr/>
          </p:nvSpPr>
          <p:spPr>
            <a:xfrm>
              <a:off x="617642" y="352603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BE3644-368B-D9BA-520D-8C287DAD2317}"/>
                </a:ext>
              </a:extLst>
            </p:cNvPr>
            <p:cNvSpPr txBox="1"/>
            <p:nvPr/>
          </p:nvSpPr>
          <p:spPr>
            <a:xfrm>
              <a:off x="617642" y="4457672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5AED15-2F3D-8B4A-99DC-B72B10381028}"/>
              </a:ext>
            </a:extLst>
          </p:cNvPr>
          <p:cNvGrpSpPr/>
          <p:nvPr/>
        </p:nvGrpSpPr>
        <p:grpSpPr>
          <a:xfrm>
            <a:off x="6877674" y="2600793"/>
            <a:ext cx="1217952" cy="2226211"/>
            <a:chOff x="6877674" y="2600793"/>
            <a:chExt cx="1217952" cy="22262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DAEA7F-F6A1-0339-BEEE-E2E9F26F2D35}"/>
                </a:ext>
              </a:extLst>
            </p:cNvPr>
            <p:cNvSpPr txBox="1"/>
            <p:nvPr/>
          </p:nvSpPr>
          <p:spPr>
            <a:xfrm>
              <a:off x="7168109" y="2600793"/>
              <a:ext cx="63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F8A3AF-7A73-F57B-FEE5-1DF0FC9A87DC}"/>
                </a:ext>
              </a:extLst>
            </p:cNvPr>
            <p:cNvSpPr txBox="1"/>
            <p:nvPr/>
          </p:nvSpPr>
          <p:spPr>
            <a:xfrm>
              <a:off x="7168109" y="3526038"/>
              <a:ext cx="63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BD0B33-D64A-4174-686C-1BA4164A6A1F}"/>
                </a:ext>
              </a:extLst>
            </p:cNvPr>
            <p:cNvSpPr txBox="1"/>
            <p:nvPr/>
          </p:nvSpPr>
          <p:spPr>
            <a:xfrm>
              <a:off x="6877674" y="4457672"/>
              <a:ext cx="1217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a[n]*b[n]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DF9408-A5F1-187B-E025-FD615A9BE6D4}"/>
                </a:ext>
              </a:extLst>
            </p:cNvPr>
            <p:cNvSpPr txBox="1"/>
            <p:nvPr/>
          </p:nvSpPr>
          <p:spPr>
            <a:xfrm>
              <a:off x="7249150" y="3135738"/>
              <a:ext cx="4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*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010C2E5-CA54-AA87-5FEF-A2FF2CE04587}"/>
              </a:ext>
            </a:extLst>
          </p:cNvPr>
          <p:cNvSpPr txBox="1"/>
          <p:nvPr/>
        </p:nvSpPr>
        <p:spPr>
          <a:xfrm>
            <a:off x="4629502" y="5317406"/>
            <a:ext cx="3662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vectorized </a:t>
            </a:r>
            <a:r>
              <a:rPr lang="en-US" b="1" dirty="0"/>
              <a:t>array</a:t>
            </a:r>
            <a:r>
              <a:rPr lang="en-US" dirty="0"/>
              <a:t> operation applies a function to elements in </a:t>
            </a:r>
            <a:r>
              <a:rPr lang="en-US" i="1" dirty="0"/>
              <a:t>both</a:t>
            </a:r>
            <a:r>
              <a:rPr lang="en-US" dirty="0"/>
              <a:t> arrays that have the same </a:t>
            </a:r>
            <a:r>
              <a:rPr lang="en-US" u="sng" dirty="0"/>
              <a:t>index</a:t>
            </a:r>
            <a:r>
              <a:rPr lang="en-US" dirty="0"/>
              <a:t>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99D66-D397-E7E3-B931-309DD56FF53B}"/>
              </a:ext>
            </a:extLst>
          </p:cNvPr>
          <p:cNvSpPr txBox="1"/>
          <p:nvPr/>
        </p:nvSpPr>
        <p:spPr>
          <a:xfrm>
            <a:off x="645633" y="5317406"/>
            <a:ext cx="3665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vectorized </a:t>
            </a:r>
            <a:r>
              <a:rPr lang="en-US" b="1" dirty="0"/>
              <a:t>scalar</a:t>
            </a:r>
            <a:r>
              <a:rPr lang="en-US" dirty="0"/>
              <a:t> operation applies a </a:t>
            </a:r>
            <a:r>
              <a:rPr lang="en-US" u="sng" dirty="0"/>
              <a:t>function</a:t>
            </a:r>
            <a:r>
              <a:rPr lang="en-US" dirty="0"/>
              <a:t> to every element in a </a:t>
            </a:r>
            <a:r>
              <a:rPr lang="en-US" i="1" dirty="0"/>
              <a:t>single</a:t>
            </a:r>
            <a:r>
              <a:rPr lang="en-US" dirty="0"/>
              <a:t> array (to each individual cell)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4C2201-075A-C8FD-C592-35846E03B025}"/>
              </a:ext>
            </a:extLst>
          </p:cNvPr>
          <p:cNvSpPr/>
          <p:nvPr/>
        </p:nvSpPr>
        <p:spPr>
          <a:xfrm>
            <a:off x="3215390" y="1918741"/>
            <a:ext cx="3662284" cy="3183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4E06EE-9162-31E8-4461-B8889274229B}"/>
                  </a:ext>
                </a:extLst>
              </p:cNvPr>
              <p:cNvSpPr txBox="1"/>
              <p:nvPr/>
            </p:nvSpPr>
            <p:spPr>
              <a:xfrm>
                <a:off x="1363253" y="6308208"/>
                <a:ext cx="22298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4E06EE-9162-31E8-4461-B88892742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253" y="6308208"/>
                <a:ext cx="2229854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30E5C0-9726-0247-4E14-186A23FA68DC}"/>
                  </a:ext>
                </a:extLst>
              </p:cNvPr>
              <p:cNvSpPr txBox="1"/>
              <p:nvPr/>
            </p:nvSpPr>
            <p:spPr>
              <a:xfrm>
                <a:off x="5911516" y="6313876"/>
                <a:ext cx="13555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30E5C0-9726-0247-4E14-186A23FA6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516" y="6313876"/>
                <a:ext cx="135555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11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 animBg="1"/>
      <p:bldP spid="15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0FC2-D001-9466-16C6-6D2999EB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5F1093-35D2-F0FF-0CB1-2F04F790FB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48" y="1690689"/>
            <a:ext cx="7961905" cy="4161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27335D-6DD4-B400-2239-12F31A1BF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9D483-B8B3-15F2-FCDD-F8415FA1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7E6FDD-70A1-ABBF-ED62-774C9A8D44B5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B144CE-5102-4889-DE3F-8CA85B68E032}"/>
              </a:ext>
            </a:extLst>
          </p:cNvPr>
          <p:cNvGrpSpPr/>
          <p:nvPr/>
        </p:nvGrpSpPr>
        <p:grpSpPr>
          <a:xfrm>
            <a:off x="2939665" y="3952947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2CA3C8-AED0-7164-10DA-655F13C770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2697AA-FEB3-0C95-59C5-666E14E5B48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B818EB-C9F2-9F7A-3D62-BC0CCB4ADFF2}"/>
              </a:ext>
            </a:extLst>
          </p:cNvPr>
          <p:cNvGrpSpPr/>
          <p:nvPr/>
        </p:nvGrpSpPr>
        <p:grpSpPr>
          <a:xfrm>
            <a:off x="3503594" y="4632180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79F046-13A8-F9E5-2E9B-B3D6C623CA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845A3E-D1B0-7FC2-DFC2-90C6784B231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3E16B3-CE9C-285B-C6F6-09A5F66B681B}"/>
              </a:ext>
            </a:extLst>
          </p:cNvPr>
          <p:cNvGrpSpPr/>
          <p:nvPr/>
        </p:nvGrpSpPr>
        <p:grpSpPr>
          <a:xfrm>
            <a:off x="1937031" y="4862147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8E8FB12-DAF0-2970-4BC7-A1FA9D165D2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C86DBF9-3C98-EFBB-C727-B1DDC4741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8A9A84-6F73-9D26-0834-2072252C015F}"/>
              </a:ext>
            </a:extLst>
          </p:cNvPr>
          <p:cNvGrpSpPr/>
          <p:nvPr/>
        </p:nvGrpSpPr>
        <p:grpSpPr>
          <a:xfrm>
            <a:off x="2410886" y="5097983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765EE1-25BE-9CF5-A617-EC6198AA155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E802E67-6918-CA19-160A-9A987D20A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372455-0384-940F-2EEE-52B68BDA52F8}"/>
              </a:ext>
            </a:extLst>
          </p:cNvPr>
          <p:cNvGrpSpPr/>
          <p:nvPr/>
        </p:nvGrpSpPr>
        <p:grpSpPr>
          <a:xfrm>
            <a:off x="1817089" y="5318530"/>
            <a:ext cx="1068643" cy="369332"/>
            <a:chOff x="3647644" y="5359159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71A8F6-13F3-8F81-B724-F6BA0D4CB31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D781312-4203-FA8E-640F-5F96AA873E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350A06-FA73-AF6D-08E4-054949ADFFC6}"/>
              </a:ext>
            </a:extLst>
          </p:cNvPr>
          <p:cNvSpPr txBox="1"/>
          <p:nvPr/>
        </p:nvSpPr>
        <p:spPr>
          <a:xfrm>
            <a:off x="4196768" y="3675948"/>
            <a:ext cx="303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np</a:t>
            </a:r>
            <a:r>
              <a:rPr lang="en-US" dirty="0">
                <a:solidFill>
                  <a:srgbClr val="FFFF00"/>
                </a:solidFill>
              </a:rPr>
              <a:t> is now an </a:t>
            </a:r>
            <a:r>
              <a:rPr lang="en-US" i="1" dirty="0">
                <a:solidFill>
                  <a:srgbClr val="FFFF00"/>
                </a:solidFill>
              </a:rPr>
              <a:t>alias</a:t>
            </a:r>
            <a:r>
              <a:rPr lang="en-US" dirty="0">
                <a:solidFill>
                  <a:srgbClr val="FFFF00"/>
                </a:solidFill>
              </a:rPr>
              <a:t> for the full package name </a:t>
            </a:r>
            <a:r>
              <a:rPr lang="en-US" b="1" dirty="0">
                <a:solidFill>
                  <a:srgbClr val="FFFF00"/>
                </a:solidFill>
              </a:rPr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76913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BD21-2ABF-1013-A0EC-680D8BE7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64FC-8F6C-22AC-1604-A8D50AA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77268-AFB8-40B7-7EDC-E36CA5A6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5628E-6CC3-9929-6E48-F2A66D399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677" y="2912807"/>
            <a:ext cx="2524643" cy="723623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BB789FC1-8BB3-9FFE-E33A-645B894CC78B}"/>
              </a:ext>
            </a:extLst>
          </p:cNvPr>
          <p:cNvGrpSpPr/>
          <p:nvPr/>
        </p:nvGrpSpPr>
        <p:grpSpPr>
          <a:xfrm>
            <a:off x="4166503" y="4698520"/>
            <a:ext cx="2771829" cy="380546"/>
            <a:chOff x="4166503" y="4698520"/>
            <a:chExt cx="2771829" cy="380546"/>
          </a:xfrm>
        </p:grpSpPr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4509F40C-D2AD-51EE-C6F4-45D21C9B6B3D}"/>
                </a:ext>
              </a:extLst>
            </p:cNvPr>
            <p:cNvCxnSpPr>
              <a:stCxn id="8" idx="2"/>
              <a:endCxn id="35" idx="0"/>
            </p:cNvCxnSpPr>
            <p:nvPr/>
          </p:nvCxnSpPr>
          <p:spPr>
            <a:xfrm rot="5400000">
              <a:off x="3976232" y="4888791"/>
              <a:ext cx="380546" cy="3"/>
            </a:xfrm>
            <a:prstGeom prst="bentConnector3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8E22A225-7067-8872-5C23-2ED665E1064D}"/>
                </a:ext>
              </a:extLst>
            </p:cNvPr>
            <p:cNvCxnSpPr>
              <a:cxnSpLocks/>
              <a:stCxn id="26" idx="2"/>
              <a:endCxn id="36" idx="0"/>
            </p:cNvCxnSpPr>
            <p:nvPr/>
          </p:nvCxnSpPr>
          <p:spPr>
            <a:xfrm rot="5400000">
              <a:off x="4669189" y="4888791"/>
              <a:ext cx="380546" cy="3"/>
            </a:xfrm>
            <a:prstGeom prst="bentConnector3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4776C6EF-1B1E-5710-2F67-8888B3BC6C1B}"/>
                </a:ext>
              </a:extLst>
            </p:cNvPr>
            <p:cNvCxnSpPr>
              <a:cxnSpLocks/>
              <a:stCxn id="27" idx="2"/>
              <a:endCxn id="37" idx="0"/>
            </p:cNvCxnSpPr>
            <p:nvPr/>
          </p:nvCxnSpPr>
          <p:spPr>
            <a:xfrm rot="5400000">
              <a:off x="5362146" y="4888791"/>
              <a:ext cx="380546" cy="3"/>
            </a:xfrm>
            <a:prstGeom prst="bentConnector3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D4BD82D2-5812-8FFB-78FE-E674CABAC0E9}"/>
                </a:ext>
              </a:extLst>
            </p:cNvPr>
            <p:cNvCxnSpPr>
              <a:cxnSpLocks/>
              <a:stCxn id="28" idx="2"/>
              <a:endCxn id="38" idx="0"/>
            </p:cNvCxnSpPr>
            <p:nvPr/>
          </p:nvCxnSpPr>
          <p:spPr>
            <a:xfrm rot="5400000">
              <a:off x="6055103" y="4888791"/>
              <a:ext cx="380546" cy="3"/>
            </a:xfrm>
            <a:prstGeom prst="bentConnector3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3F384E5C-1551-33DA-3BCF-9586F7A41A43}"/>
                </a:ext>
              </a:extLst>
            </p:cNvPr>
            <p:cNvCxnSpPr>
              <a:cxnSpLocks/>
              <a:stCxn id="29" idx="2"/>
              <a:endCxn id="39" idx="0"/>
            </p:cNvCxnSpPr>
            <p:nvPr/>
          </p:nvCxnSpPr>
          <p:spPr>
            <a:xfrm rot="5400000">
              <a:off x="6748058" y="4888791"/>
              <a:ext cx="380546" cy="3"/>
            </a:xfrm>
            <a:prstGeom prst="bentConnector3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423DC70-F674-92FC-EF9A-176BECE2823D}"/>
              </a:ext>
            </a:extLst>
          </p:cNvPr>
          <p:cNvGrpSpPr/>
          <p:nvPr/>
        </p:nvGrpSpPr>
        <p:grpSpPr>
          <a:xfrm>
            <a:off x="1895132" y="4236854"/>
            <a:ext cx="5353739" cy="461665"/>
            <a:chOff x="1895132" y="4236854"/>
            <a:chExt cx="5353739" cy="461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3598B6-19AC-3E2C-1219-43E4606B64AA}"/>
                </a:ext>
              </a:extLst>
            </p:cNvPr>
            <p:cNvSpPr txBox="1"/>
            <p:nvPr/>
          </p:nvSpPr>
          <p:spPr>
            <a:xfrm>
              <a:off x="3855966" y="4236854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[0]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A404B9-3C82-D147-7B55-AAE6A144DD88}"/>
                </a:ext>
              </a:extLst>
            </p:cNvPr>
            <p:cNvSpPr txBox="1"/>
            <p:nvPr/>
          </p:nvSpPr>
          <p:spPr>
            <a:xfrm>
              <a:off x="4548923" y="4236854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[1]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5C52059-279B-D10A-1987-1320F2349E57}"/>
                </a:ext>
              </a:extLst>
            </p:cNvPr>
            <p:cNvSpPr txBox="1"/>
            <p:nvPr/>
          </p:nvSpPr>
          <p:spPr>
            <a:xfrm>
              <a:off x="5241880" y="4236854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[2]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E20797-3CE5-DC37-36E5-6F13AEBB52A1}"/>
                </a:ext>
              </a:extLst>
            </p:cNvPr>
            <p:cNvSpPr txBox="1"/>
            <p:nvPr/>
          </p:nvSpPr>
          <p:spPr>
            <a:xfrm>
              <a:off x="5934837" y="4236854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[3]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8CE4357-F388-6217-6429-BBB5AFA2D18B}"/>
                </a:ext>
              </a:extLst>
            </p:cNvPr>
            <p:cNvSpPr txBox="1"/>
            <p:nvPr/>
          </p:nvSpPr>
          <p:spPr>
            <a:xfrm>
              <a:off x="6627792" y="4236854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[4]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E28AC99-604E-CAAB-288B-EEF3E2F1112B}"/>
                </a:ext>
              </a:extLst>
            </p:cNvPr>
            <p:cNvSpPr txBox="1"/>
            <p:nvPr/>
          </p:nvSpPr>
          <p:spPr>
            <a:xfrm>
              <a:off x="1895132" y="4283020"/>
              <a:ext cx="18889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Index</a:t>
              </a:r>
              <a:r>
                <a:rPr lang="en-US" dirty="0">
                  <a:solidFill>
                    <a:srgbClr val="7030A0"/>
                  </a:solidFill>
                </a:rPr>
                <a:t> Number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935029-F492-4C94-042D-FEBC4AEBEB57}"/>
              </a:ext>
            </a:extLst>
          </p:cNvPr>
          <p:cNvGrpSpPr/>
          <p:nvPr/>
        </p:nvGrpSpPr>
        <p:grpSpPr>
          <a:xfrm>
            <a:off x="1895129" y="5079065"/>
            <a:ext cx="5353739" cy="461665"/>
            <a:chOff x="1895129" y="5079065"/>
            <a:chExt cx="5353739" cy="46166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57FDF08-7D3B-D3FA-A187-EABEBCE1ECEF}"/>
                </a:ext>
              </a:extLst>
            </p:cNvPr>
            <p:cNvSpPr txBox="1"/>
            <p:nvPr/>
          </p:nvSpPr>
          <p:spPr>
            <a:xfrm>
              <a:off x="3855963" y="5079065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493466-3463-28FD-91F2-84D55AE614D2}"/>
                </a:ext>
              </a:extLst>
            </p:cNvPr>
            <p:cNvSpPr txBox="1"/>
            <p:nvPr/>
          </p:nvSpPr>
          <p:spPr>
            <a:xfrm>
              <a:off x="4548920" y="5079065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43E5BC-5D18-3577-BFD3-D1DA135B447E}"/>
                </a:ext>
              </a:extLst>
            </p:cNvPr>
            <p:cNvSpPr txBox="1"/>
            <p:nvPr/>
          </p:nvSpPr>
          <p:spPr>
            <a:xfrm>
              <a:off x="5241877" y="5079065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1147D58-0AD5-D309-A8C8-4AB45618C968}"/>
                </a:ext>
              </a:extLst>
            </p:cNvPr>
            <p:cNvSpPr txBox="1"/>
            <p:nvPr/>
          </p:nvSpPr>
          <p:spPr>
            <a:xfrm>
              <a:off x="5934834" y="5079065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F274632-54E9-9FE7-E47F-7D50E25FF55C}"/>
                </a:ext>
              </a:extLst>
            </p:cNvPr>
            <p:cNvSpPr txBox="1"/>
            <p:nvPr/>
          </p:nvSpPr>
          <p:spPr>
            <a:xfrm>
              <a:off x="6627789" y="5079065"/>
              <a:ext cx="6210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E1D0E94-2731-EA6F-7E4C-A68DBA87F012}"/>
                </a:ext>
              </a:extLst>
            </p:cNvPr>
            <p:cNvSpPr txBox="1"/>
            <p:nvPr/>
          </p:nvSpPr>
          <p:spPr>
            <a:xfrm>
              <a:off x="1895129" y="5125231"/>
              <a:ext cx="18889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Element</a:t>
              </a:r>
              <a:r>
                <a:rPr lang="en-US" dirty="0">
                  <a:solidFill>
                    <a:srgbClr val="7030A0"/>
                  </a:solidFill>
                </a:rPr>
                <a:t> Value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958C26-3967-C635-B3F6-49CC766A9DD9}"/>
              </a:ext>
            </a:extLst>
          </p:cNvPr>
          <p:cNvGrpSpPr/>
          <p:nvPr/>
        </p:nvGrpSpPr>
        <p:grpSpPr>
          <a:xfrm>
            <a:off x="672339" y="4467686"/>
            <a:ext cx="1356971" cy="858253"/>
            <a:chOff x="672339" y="4467686"/>
            <a:chExt cx="1356971" cy="858253"/>
          </a:xfrm>
        </p:grpSpPr>
        <p:sp>
          <p:nvSpPr>
            <p:cNvPr id="62" name="Left Brace 61">
              <a:extLst>
                <a:ext uri="{FF2B5EF4-FFF2-40B4-BE49-F238E27FC236}">
                  <a16:creationId xmlns:a16="http://schemas.microsoft.com/office/drawing/2014/main" id="{C433F619-FA9D-A33A-5315-022AFF24CCEC}"/>
                </a:ext>
              </a:extLst>
            </p:cNvPr>
            <p:cNvSpPr/>
            <p:nvPr/>
          </p:nvSpPr>
          <p:spPr>
            <a:xfrm>
              <a:off x="1563136" y="4467686"/>
              <a:ext cx="466174" cy="858253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BB5BA4E-5A99-1D7C-6583-422EB801EE67}"/>
                </a:ext>
              </a:extLst>
            </p:cNvPr>
            <p:cNvSpPr txBox="1"/>
            <p:nvPr/>
          </p:nvSpPr>
          <p:spPr>
            <a:xfrm>
              <a:off x="672339" y="4698519"/>
              <a:ext cx="94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Array</a:t>
              </a:r>
              <a:r>
                <a:rPr lang="en-US" dirty="0"/>
                <a:t> </a:t>
              </a:r>
              <a:r>
                <a:rPr lang="en-US" dirty="0">
                  <a:solidFill>
                    <a:srgbClr val="00B0F0"/>
                  </a:solidFill>
                </a:rPr>
                <a:t>x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A6B5246-4579-9474-A63F-F1FCDD9AEE8A}"/>
              </a:ext>
            </a:extLst>
          </p:cNvPr>
          <p:cNvSpPr txBox="1"/>
          <p:nvPr/>
        </p:nvSpPr>
        <p:spPr>
          <a:xfrm>
            <a:off x="1961148" y="5871412"/>
            <a:ext cx="5221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The first addressable element in an array is at index </a:t>
            </a:r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21B8BB-3275-C8ED-ADAC-B98012E9601E}"/>
              </a:ext>
            </a:extLst>
          </p:cNvPr>
          <p:cNvGrpSpPr/>
          <p:nvPr/>
        </p:nvGrpSpPr>
        <p:grpSpPr>
          <a:xfrm>
            <a:off x="5899910" y="2934697"/>
            <a:ext cx="1076632" cy="369332"/>
            <a:chOff x="4968362" y="2079211"/>
            <a:chExt cx="1076632" cy="36933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3C3FA7F-74E2-90A8-7087-65664FA78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848585-701F-0667-2670-A34E0C730D4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5FE6445-03EF-8272-ABE6-2390969BE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677" y="1696066"/>
            <a:ext cx="3256730" cy="9616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064955D-C596-F708-5B1A-4AF2BD8E7663}"/>
              </a:ext>
            </a:extLst>
          </p:cNvPr>
          <p:cNvGrpSpPr/>
          <p:nvPr/>
        </p:nvGrpSpPr>
        <p:grpSpPr>
          <a:xfrm>
            <a:off x="3696793" y="3247773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3FDBDB6-5963-6A40-C97C-941256451D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79342C-145D-3CA0-6C74-2B2ACF993FE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382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NumPy Array Slicing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21A61-C331-F97F-4808-0F0260C56B88}"/>
              </a:ext>
            </a:extLst>
          </p:cNvPr>
          <p:cNvSpPr txBox="1"/>
          <p:nvPr/>
        </p:nvSpPr>
        <p:spPr>
          <a:xfrm>
            <a:off x="423472" y="5331377"/>
            <a:ext cx="8297055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https://problemsolvingwithpython.com/05-NumPy-and-Arrays/05.06-Array-Slicing</a:t>
            </a:r>
            <a:endParaRPr lang="en-US" dirty="0"/>
          </a:p>
          <a:p>
            <a:pPr algn="ctr"/>
            <a:r>
              <a:rPr lang="en-US" dirty="0">
                <a:hlinkClick r:id="rId3"/>
              </a:rPr>
              <a:t>https://www.w3schools.com/python/numpy/numpy_array_slicing.asp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884F4-37E8-A744-7B01-34C541046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477" y="1714050"/>
            <a:ext cx="6761905" cy="25047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7A1369-823B-FA08-FAF9-60198922E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2473" y="2609878"/>
            <a:ext cx="6333333" cy="234285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30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B719B-12B3-2270-83AF-8CD77AD2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661224-3F20-64D9-C0CF-AD4D9EC930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60" y="1690691"/>
            <a:ext cx="6088481" cy="41619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CAD8F0-74F0-50C9-2347-338D35DB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1F99B-B11A-93BF-A84F-89231B24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1AB9E8-8DA1-82FA-076A-3D9097DCE05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32C821D-2CF7-2048-56E4-4635DFF51DDF}"/>
              </a:ext>
            </a:extLst>
          </p:cNvPr>
          <p:cNvGrpSpPr/>
          <p:nvPr/>
        </p:nvGrpSpPr>
        <p:grpSpPr>
          <a:xfrm>
            <a:off x="3719252" y="2260505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F69E9C8-6B48-8076-9E0D-ECCAAA6568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AE7D01-3FAB-B784-5913-01F0FC74C51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9A9293-0AE3-E853-DB08-9490D5B5E461}"/>
              </a:ext>
            </a:extLst>
          </p:cNvPr>
          <p:cNvGrpSpPr/>
          <p:nvPr/>
        </p:nvGrpSpPr>
        <p:grpSpPr>
          <a:xfrm>
            <a:off x="3630491" y="2557761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269ABFC-6B1C-9E2C-E3FE-D11B6A04B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73305A-576F-1034-C6D4-BA6F60A5DC4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B30B57-9BCC-6908-27E4-BF067F17FC56}"/>
              </a:ext>
            </a:extLst>
          </p:cNvPr>
          <p:cNvGrpSpPr/>
          <p:nvPr/>
        </p:nvGrpSpPr>
        <p:grpSpPr>
          <a:xfrm>
            <a:off x="3166261" y="2855017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7DC9D5C-F0F4-4E44-63F1-E24DC21355E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0BD65AC-833D-28EB-B419-52143210C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E07F0A-C8EF-2083-F4E6-AF9898F26588}"/>
              </a:ext>
            </a:extLst>
          </p:cNvPr>
          <p:cNvGrpSpPr/>
          <p:nvPr/>
        </p:nvGrpSpPr>
        <p:grpSpPr>
          <a:xfrm>
            <a:off x="3702568" y="3753049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4884C5-BBE0-0F4A-6B2E-8D175A8ACDE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CBB7C7F-A1D9-6483-C95A-63599C4683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00966E-C1CD-E148-88C5-1B10AEF9F287}"/>
              </a:ext>
            </a:extLst>
          </p:cNvPr>
          <p:cNvGrpSpPr/>
          <p:nvPr/>
        </p:nvGrpSpPr>
        <p:grpSpPr>
          <a:xfrm>
            <a:off x="3871485" y="4033259"/>
            <a:ext cx="1068643" cy="369332"/>
            <a:chOff x="3647644" y="5359159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DE1099-5DD3-B0E6-CEF3-B90F9FA357A9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616A274-8316-F594-4684-16074993FB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216BC6-3DFD-0BB9-5540-1D93160AABA6}"/>
              </a:ext>
            </a:extLst>
          </p:cNvPr>
          <p:cNvSpPr txBox="1"/>
          <p:nvPr/>
        </p:nvSpPr>
        <p:spPr>
          <a:xfrm>
            <a:off x="1662364" y="6053076"/>
            <a:ext cx="5819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[</a:t>
            </a:r>
            <a:r>
              <a:rPr lang="en-US" sz="2000" b="1" dirty="0">
                <a:solidFill>
                  <a:srgbClr val="00B050"/>
                </a:solidFill>
              </a:rPr>
              <a:t>start</a:t>
            </a:r>
            <a:r>
              <a:rPr lang="en-US" sz="2000" dirty="0">
                <a:solidFill>
                  <a:srgbClr val="00B050"/>
                </a:solidFill>
              </a:rPr>
              <a:t> = 0 (inclusive) </a:t>
            </a:r>
            <a:r>
              <a:rPr lang="en-US" sz="2000" b="1" dirty="0">
                <a:solidFill>
                  <a:srgbClr val="00B050"/>
                </a:solidFill>
              </a:rPr>
              <a:t>: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stop</a:t>
            </a:r>
            <a:r>
              <a:rPr lang="en-US" sz="2000" dirty="0">
                <a:solidFill>
                  <a:srgbClr val="00B050"/>
                </a:solidFill>
              </a:rPr>
              <a:t> = size (exclusive) </a:t>
            </a:r>
            <a:r>
              <a:rPr lang="en-US" sz="2000" b="1" dirty="0">
                <a:solidFill>
                  <a:srgbClr val="00B050"/>
                </a:solidFill>
              </a:rPr>
              <a:t>: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step</a:t>
            </a:r>
            <a:r>
              <a:rPr lang="en-US" sz="2000" dirty="0">
                <a:solidFill>
                  <a:srgbClr val="00B050"/>
                </a:solidFill>
              </a:rPr>
              <a:t> = 1]</a:t>
            </a:r>
            <a:endParaRPr lang="en-US" sz="2000" b="1" dirty="0">
              <a:solidFill>
                <a:srgbClr val="00B05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1B54CF-649E-5CA2-6834-1CF49344BA70}"/>
              </a:ext>
            </a:extLst>
          </p:cNvPr>
          <p:cNvGrpSpPr/>
          <p:nvPr/>
        </p:nvGrpSpPr>
        <p:grpSpPr>
          <a:xfrm>
            <a:off x="3912989" y="4335506"/>
            <a:ext cx="1076632" cy="369332"/>
            <a:chOff x="2157212" y="5356391"/>
            <a:chExt cx="1076632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F67239-7264-8A27-7428-2AA02EA0A5D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F5B117C-8DB1-9729-FC65-B8E6D8F353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3123FC-1308-8B9E-BC00-4048BFCC0314}"/>
              </a:ext>
            </a:extLst>
          </p:cNvPr>
          <p:cNvGrpSpPr/>
          <p:nvPr/>
        </p:nvGrpSpPr>
        <p:grpSpPr>
          <a:xfrm>
            <a:off x="3849992" y="4630249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B343F96-92FB-F10B-C6FB-A301DADBC06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3749BB1-1E84-4406-0C06-71202D497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3B7A898-0794-9DBF-6CB8-FEBAB93356A2}"/>
              </a:ext>
            </a:extLst>
          </p:cNvPr>
          <p:cNvGrpSpPr/>
          <p:nvPr/>
        </p:nvGrpSpPr>
        <p:grpSpPr>
          <a:xfrm>
            <a:off x="3991302" y="4927400"/>
            <a:ext cx="1076632" cy="369332"/>
            <a:chOff x="2157212" y="5356391"/>
            <a:chExt cx="1076632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0A7D56-FB4B-772A-4748-4BBD15710AB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0DB5755-D0CA-4CDC-23AB-8B8D0BB75D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7298E95-3C54-333D-C6BB-4A58BE49A9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94"/>
          <a:stretch>
            <a:fillRect/>
          </a:stretch>
        </p:blipFill>
        <p:spPr>
          <a:xfrm>
            <a:off x="5316360" y="3997399"/>
            <a:ext cx="3350063" cy="810383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74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81EF-35FD-FAA2-E657-0694CC61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EB583-76FA-FAA5-7013-DCEAB25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7B1C1-3881-040A-EA9B-83B454B8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3B109F-EA2D-84F4-662D-A25758504948}"/>
              </a:ext>
            </a:extLst>
          </p:cNvPr>
          <p:cNvSpPr txBox="1"/>
          <p:nvPr/>
        </p:nvSpPr>
        <p:spPr>
          <a:xfrm>
            <a:off x="6228912" y="4284879"/>
            <a:ext cx="2224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The first addressable element in an array is at index </a:t>
            </a:r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657FB-658B-8F63-2E3B-94C5645C28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63" y="1527445"/>
            <a:ext cx="3244899" cy="4064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F8502A-581F-95F9-63F4-8792B41DD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94"/>
          <a:stretch>
            <a:fillRect/>
          </a:stretch>
        </p:blipFill>
        <p:spPr>
          <a:xfrm>
            <a:off x="4923329" y="1565145"/>
            <a:ext cx="3350063" cy="810383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5D327E-8126-3DC9-DD4B-0233C16985AA}"/>
                  </a:ext>
                </a:extLst>
              </p:cNvPr>
              <p:cNvSpPr txBox="1"/>
              <p:nvPr/>
            </p:nvSpPr>
            <p:spPr>
              <a:xfrm>
                <a:off x="5358064" y="2631113"/>
                <a:ext cx="9785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5D327E-8126-3DC9-DD4B-0233C169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064" y="2631113"/>
                <a:ext cx="9785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507D5AA-D068-6FC5-0ECD-4E9F157F7EA4}"/>
              </a:ext>
            </a:extLst>
          </p:cNvPr>
          <p:cNvGrpSpPr/>
          <p:nvPr/>
        </p:nvGrpSpPr>
        <p:grpSpPr>
          <a:xfrm>
            <a:off x="4385013" y="2631113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63C255B-0E4F-7C5A-D1AC-562288AEFE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7F2E07-B56D-E2DE-C10E-6F45DDA8364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F17249-BBA0-FD9E-C255-EEA42878FF8E}"/>
              </a:ext>
            </a:extLst>
          </p:cNvPr>
          <p:cNvGrpSpPr/>
          <p:nvPr/>
        </p:nvGrpSpPr>
        <p:grpSpPr>
          <a:xfrm>
            <a:off x="4385013" y="2985615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B8FCDCD-7F76-B12C-5769-BDBF805B0D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5C4BA0-6C2E-5D5C-BCAC-4A093CB9EF7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CA4B28-0E3E-70F3-A7B2-15EB653B7E83}"/>
                  </a:ext>
                </a:extLst>
              </p:cNvPr>
              <p:cNvSpPr txBox="1"/>
              <p:nvPr/>
            </p:nvSpPr>
            <p:spPr>
              <a:xfrm>
                <a:off x="5358064" y="2978165"/>
                <a:ext cx="9785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CA4B28-0E3E-70F3-A7B2-15EB653B7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064" y="2978165"/>
                <a:ext cx="9785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D2930-B415-8CE5-7575-49AB143BFAC6}"/>
              </a:ext>
            </a:extLst>
          </p:cNvPr>
          <p:cNvGrpSpPr>
            <a:grpSpLocks/>
          </p:cNvGrpSpPr>
          <p:nvPr/>
        </p:nvGrpSpPr>
        <p:grpSpPr>
          <a:xfrm>
            <a:off x="2474445" y="3708716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ACEF8B-6D4C-D448-225A-1A13D314F258}"/>
                </a:ext>
              </a:extLst>
            </p:cNvPr>
            <p:cNvSpPr txBox="1">
              <a:spLocks/>
            </p:cNvSpPr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98F13D8-1455-C5F8-FA06-F0E6C2A6C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6156E29-231C-8024-E91B-E5CE462FA83D}"/>
              </a:ext>
            </a:extLst>
          </p:cNvPr>
          <p:cNvSpPr txBox="1">
            <a:spLocks/>
          </p:cNvSpPr>
          <p:nvPr/>
        </p:nvSpPr>
        <p:spPr>
          <a:xfrm>
            <a:off x="4700340" y="3708716"/>
            <a:ext cx="135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x[3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]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90B902-C96C-A9F6-9538-DF351FB59D34}"/>
              </a:ext>
            </a:extLst>
          </p:cNvPr>
          <p:cNvGrpSpPr>
            <a:grpSpLocks/>
          </p:cNvGrpSpPr>
          <p:nvPr/>
        </p:nvGrpSpPr>
        <p:grpSpPr>
          <a:xfrm>
            <a:off x="2763201" y="4072020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D3FF273-93E7-B55F-C081-30A8E4A5BD9D}"/>
                </a:ext>
              </a:extLst>
            </p:cNvPr>
            <p:cNvSpPr txBox="1">
              <a:spLocks/>
            </p:cNvSpPr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AB72E64-4401-0B4D-3678-C7AA4DA9E7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CCC5E94-B7C5-7F8C-0C74-F3B16965E702}"/>
              </a:ext>
            </a:extLst>
          </p:cNvPr>
          <p:cNvGrpSpPr>
            <a:grpSpLocks/>
          </p:cNvGrpSpPr>
          <p:nvPr/>
        </p:nvGrpSpPr>
        <p:grpSpPr>
          <a:xfrm>
            <a:off x="2339797" y="4435324"/>
            <a:ext cx="1068643" cy="369332"/>
            <a:chOff x="3647644" y="5359159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63E7CD-AA67-1128-6EE6-29ACC0EE60BB}"/>
                </a:ext>
              </a:extLst>
            </p:cNvPr>
            <p:cNvSpPr txBox="1">
              <a:spLocks/>
            </p:cNvSpPr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90C3389-F9AA-1AA4-19A3-5F2CB77A62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3048DF-6EAA-630A-58C4-7D9949AC877A}"/>
              </a:ext>
            </a:extLst>
          </p:cNvPr>
          <p:cNvGrpSpPr>
            <a:grpSpLocks/>
          </p:cNvGrpSpPr>
          <p:nvPr/>
        </p:nvGrpSpPr>
        <p:grpSpPr>
          <a:xfrm>
            <a:off x="2816627" y="4798628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053D7A-01FF-6503-A083-BA9AD218B501}"/>
                </a:ext>
              </a:extLst>
            </p:cNvPr>
            <p:cNvSpPr txBox="1">
              <a:spLocks/>
            </p:cNvSpPr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4DC7B64-8F69-C961-88AD-E1D1F9C9E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1C0947-F924-931A-B721-524E280D7874}"/>
              </a:ext>
            </a:extLst>
          </p:cNvPr>
          <p:cNvGrpSpPr>
            <a:grpSpLocks/>
          </p:cNvGrpSpPr>
          <p:nvPr/>
        </p:nvGrpSpPr>
        <p:grpSpPr>
          <a:xfrm>
            <a:off x="3701530" y="5161931"/>
            <a:ext cx="1076632" cy="369332"/>
            <a:chOff x="2157212" y="5356391"/>
            <a:chExt cx="1076632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97BD937-B52A-4C50-F7D3-226C16538F81}"/>
                </a:ext>
              </a:extLst>
            </p:cNvPr>
            <p:cNvSpPr txBox="1">
              <a:spLocks/>
            </p:cNvSpPr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24F2A97-D397-6D0A-EAA6-3E3FC33429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16758DE-248E-AFFD-8541-EC5062FA70A0}"/>
              </a:ext>
            </a:extLst>
          </p:cNvPr>
          <p:cNvSpPr txBox="1"/>
          <p:nvPr/>
        </p:nvSpPr>
        <p:spPr>
          <a:xfrm>
            <a:off x="4700340" y="4071630"/>
            <a:ext cx="135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x[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3]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D6E532-37C7-BC44-98D9-30E12E392D66}"/>
              </a:ext>
            </a:extLst>
          </p:cNvPr>
          <p:cNvSpPr txBox="1"/>
          <p:nvPr/>
        </p:nvSpPr>
        <p:spPr>
          <a:xfrm>
            <a:off x="4700340" y="4434544"/>
            <a:ext cx="135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x[2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4]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455F7C-A49C-A3D3-AF53-66B8B3A99831}"/>
              </a:ext>
            </a:extLst>
          </p:cNvPr>
          <p:cNvSpPr txBox="1"/>
          <p:nvPr/>
        </p:nvSpPr>
        <p:spPr>
          <a:xfrm>
            <a:off x="4700340" y="4797458"/>
            <a:ext cx="135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x[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2]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377085-60F8-3417-B939-8997D020E767}"/>
              </a:ext>
            </a:extLst>
          </p:cNvPr>
          <p:cNvSpPr txBox="1"/>
          <p:nvPr/>
        </p:nvSpPr>
        <p:spPr>
          <a:xfrm>
            <a:off x="4700340" y="5160370"/>
            <a:ext cx="135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x[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-1]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67F706-0872-C0EF-F9D0-6BD5E7DBBC52}"/>
              </a:ext>
            </a:extLst>
          </p:cNvPr>
          <p:cNvSpPr txBox="1"/>
          <p:nvPr/>
        </p:nvSpPr>
        <p:spPr>
          <a:xfrm>
            <a:off x="1662364" y="6053076"/>
            <a:ext cx="5819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[</a:t>
            </a:r>
            <a:r>
              <a:rPr lang="en-US" sz="2000" b="1" dirty="0">
                <a:solidFill>
                  <a:srgbClr val="00B050"/>
                </a:solidFill>
              </a:rPr>
              <a:t>start</a:t>
            </a:r>
            <a:r>
              <a:rPr lang="en-US" sz="2000" dirty="0">
                <a:solidFill>
                  <a:srgbClr val="00B050"/>
                </a:solidFill>
              </a:rPr>
              <a:t> = 0 (</a:t>
            </a:r>
            <a:r>
              <a:rPr lang="en-US" sz="2000" i="1" dirty="0">
                <a:solidFill>
                  <a:srgbClr val="00B050"/>
                </a:solidFill>
              </a:rPr>
              <a:t>inclusive</a:t>
            </a:r>
            <a:r>
              <a:rPr lang="en-US" sz="2000" dirty="0">
                <a:solidFill>
                  <a:srgbClr val="00B050"/>
                </a:solidFill>
              </a:rPr>
              <a:t>) </a:t>
            </a:r>
            <a:r>
              <a:rPr lang="en-US" sz="2000" b="1" dirty="0">
                <a:solidFill>
                  <a:srgbClr val="00B050"/>
                </a:solidFill>
              </a:rPr>
              <a:t>: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stop</a:t>
            </a:r>
            <a:r>
              <a:rPr lang="en-US" sz="2000" dirty="0">
                <a:solidFill>
                  <a:srgbClr val="00B050"/>
                </a:solidFill>
              </a:rPr>
              <a:t> = size (</a:t>
            </a:r>
            <a:r>
              <a:rPr lang="en-US" sz="2000" u="sng" dirty="0">
                <a:solidFill>
                  <a:srgbClr val="00B050"/>
                </a:solidFill>
              </a:rPr>
              <a:t>exclusive</a:t>
            </a:r>
            <a:r>
              <a:rPr lang="en-US" sz="2000" dirty="0">
                <a:solidFill>
                  <a:srgbClr val="00B050"/>
                </a:solidFill>
              </a:rPr>
              <a:t>) </a:t>
            </a:r>
            <a:r>
              <a:rPr lang="en-US" sz="2000" b="1" dirty="0">
                <a:solidFill>
                  <a:srgbClr val="00B050"/>
                </a:solidFill>
              </a:rPr>
              <a:t>: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step</a:t>
            </a:r>
            <a:r>
              <a:rPr lang="en-US" sz="2000" dirty="0">
                <a:solidFill>
                  <a:srgbClr val="00B050"/>
                </a:solidFill>
              </a:rPr>
              <a:t> = 1]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D61877-637B-FEFF-C7B7-923A7E97200B}"/>
              </a:ext>
            </a:extLst>
          </p:cNvPr>
          <p:cNvSpPr/>
          <p:nvPr/>
        </p:nvSpPr>
        <p:spPr>
          <a:xfrm>
            <a:off x="5024851" y="3790457"/>
            <a:ext cx="159130" cy="2338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3469424-4163-E0EF-CDEB-FA15F6E97902}"/>
              </a:ext>
            </a:extLst>
          </p:cNvPr>
          <p:cNvSpPr/>
          <p:nvPr/>
        </p:nvSpPr>
        <p:spPr>
          <a:xfrm>
            <a:off x="7551482" y="1584625"/>
            <a:ext cx="233618" cy="2338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4CE5442-76CA-8BE3-3E7E-974CABBFF505}"/>
              </a:ext>
            </a:extLst>
          </p:cNvPr>
          <p:cNvCxnSpPr>
            <a:cxnSpLocks/>
            <a:stCxn id="54" idx="2"/>
            <a:endCxn id="57" idx="0"/>
          </p:cNvCxnSpPr>
          <p:nvPr/>
        </p:nvCxnSpPr>
        <p:spPr>
          <a:xfrm rot="5400000" flipH="1" flipV="1">
            <a:off x="5166509" y="1522531"/>
            <a:ext cx="2439688" cy="2563875"/>
          </a:xfrm>
          <a:prstGeom prst="bentConnector5">
            <a:avLst>
              <a:gd name="adj1" fmla="val -4438"/>
              <a:gd name="adj2" fmla="val 134369"/>
              <a:gd name="adj3" fmla="val 112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3CA380-215B-2E07-968F-5931AD880641}"/>
                  </a:ext>
                </a:extLst>
              </p:cNvPr>
              <p:cNvSpPr txBox="1"/>
              <p:nvPr/>
            </p:nvSpPr>
            <p:spPr>
              <a:xfrm>
                <a:off x="3801599" y="1589608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FFFF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ln>
                    <a:solidFill>
                      <a:srgbClr val="FFFF00"/>
                    </a:solidFill>
                  </a:ln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3CA380-215B-2E07-968F-5931AD880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599" y="1589608"/>
                <a:ext cx="18332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43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9" grpId="0"/>
      <p:bldP spid="16" grpId="0"/>
      <p:bldP spid="20" grpId="0"/>
      <p:bldP spid="47" grpId="0"/>
      <p:bldP spid="48" grpId="0"/>
      <p:bldP spid="50" grpId="0"/>
      <p:bldP spid="51" grpId="0"/>
      <p:bldP spid="53" grpId="0"/>
      <p:bldP spid="54" grpId="0" animBg="1"/>
      <p:bldP spid="57" grpId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C9A6F-BE5C-82D7-943C-0CB3CB0D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188AE4-3F5A-A8F7-5AAF-06BF793AFC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17" y="1715914"/>
            <a:ext cx="5683166" cy="26013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36F13-07CB-D52F-7E46-951D2913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10023-C441-474A-A830-85DC1ABF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159BF7-8610-B08C-3FE2-4CEC43EE10AF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69CC3-4EE1-7DE8-2ED5-E11169935EBC}"/>
              </a:ext>
            </a:extLst>
          </p:cNvPr>
          <p:cNvGrpSpPr/>
          <p:nvPr/>
        </p:nvGrpSpPr>
        <p:grpSpPr>
          <a:xfrm>
            <a:off x="4882307" y="1986694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36A4804-CF64-77CD-C905-A9015B293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F0B653-199E-6E6B-15B4-F0B8E91B7A1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53E65-9C23-B195-877F-34D2E0E7B407}"/>
              </a:ext>
            </a:extLst>
          </p:cNvPr>
          <p:cNvGrpSpPr/>
          <p:nvPr/>
        </p:nvGrpSpPr>
        <p:grpSpPr>
          <a:xfrm>
            <a:off x="3310161" y="2277932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82FB6F3-8252-7B02-BA7B-A791FB6558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5AF33D-C654-F10E-CE68-4DB1C2B3689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8381A8-EC5E-FD47-B0DA-55E424DF9ADB}"/>
              </a:ext>
            </a:extLst>
          </p:cNvPr>
          <p:cNvGrpSpPr/>
          <p:nvPr/>
        </p:nvGrpSpPr>
        <p:grpSpPr>
          <a:xfrm>
            <a:off x="3970399" y="2549750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A10680-858E-FFBC-C037-A93BF3514C1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6903E39-9188-D08A-8383-F5D6A3B75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ADC60B-D7E3-BBE0-CA09-E14304FAA75D}"/>
              </a:ext>
            </a:extLst>
          </p:cNvPr>
          <p:cNvGrpSpPr/>
          <p:nvPr/>
        </p:nvGrpSpPr>
        <p:grpSpPr>
          <a:xfrm>
            <a:off x="3691758" y="2842745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A0D270-A692-FED9-30E4-E9C0516BBAF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F054980-4104-7A1B-1731-B29F98D11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DB7BA4-FA25-42DB-B72F-2528401C4FB5}"/>
              </a:ext>
            </a:extLst>
          </p:cNvPr>
          <p:cNvGrpSpPr/>
          <p:nvPr/>
        </p:nvGrpSpPr>
        <p:grpSpPr>
          <a:xfrm>
            <a:off x="3808981" y="3117751"/>
            <a:ext cx="1068643" cy="369332"/>
            <a:chOff x="3647644" y="5359159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767D64-E62F-59AC-37CE-57B3F10304D7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DC20DCB-0B28-6B3C-0D40-A518F8D06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5681F32-83E9-4217-ECD5-B6C9AA63705C}"/>
              </a:ext>
            </a:extLst>
          </p:cNvPr>
          <p:cNvGrpSpPr/>
          <p:nvPr/>
        </p:nvGrpSpPr>
        <p:grpSpPr>
          <a:xfrm>
            <a:off x="4323231" y="3396914"/>
            <a:ext cx="1076632" cy="369332"/>
            <a:chOff x="2157212" y="5356391"/>
            <a:chExt cx="1076632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A77A76-8CD0-9104-197D-9641A03E21B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272240F-A7BA-DC7D-616C-3FD00BBB5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147248-AEFD-07A3-E1AB-E0F2DF366886}"/>
              </a:ext>
            </a:extLst>
          </p:cNvPr>
          <p:cNvGrpSpPr/>
          <p:nvPr/>
        </p:nvGrpSpPr>
        <p:grpSpPr>
          <a:xfrm>
            <a:off x="3169484" y="3665766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5F0504D-C11E-C091-0C4D-8BA3D01ECA4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0963927-FA1A-726E-C1FE-F045717638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3B8D6EF-0A85-FAB5-6EC7-EF8B3A140660}"/>
              </a:ext>
            </a:extLst>
          </p:cNvPr>
          <p:cNvSpPr txBox="1"/>
          <p:nvPr/>
        </p:nvSpPr>
        <p:spPr>
          <a:xfrm>
            <a:off x="1662363" y="4683397"/>
            <a:ext cx="5819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A np.linspace() with </a:t>
            </a:r>
            <a:r>
              <a:rPr lang="en-US" sz="2000" i="1" dirty="0">
                <a:solidFill>
                  <a:srgbClr val="00B050"/>
                </a:solidFill>
              </a:rPr>
              <a:t>no given length</a:t>
            </a:r>
          </a:p>
          <a:p>
            <a:pPr algn="ctr"/>
            <a:r>
              <a:rPr lang="en-US" sz="2000" dirty="0">
                <a:solidFill>
                  <a:srgbClr val="00B050"/>
                </a:solidFill>
              </a:rPr>
              <a:t>assumes a default size of </a:t>
            </a:r>
            <a:r>
              <a:rPr lang="en-US" sz="2000" b="1" dirty="0">
                <a:solidFill>
                  <a:srgbClr val="00B050"/>
                </a:solidFill>
              </a:rPr>
              <a:t>50</a:t>
            </a:r>
            <a:r>
              <a:rPr lang="en-US" sz="2000" dirty="0">
                <a:solidFill>
                  <a:srgbClr val="00B050"/>
                </a:solidFill>
              </a:rPr>
              <a:t> elements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81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4596-315B-22AE-784D-99C57F88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8874-4B29-FF12-426F-CF51ACF4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AC14B-B212-0791-65C4-611DAD0D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663F0-C3AC-787E-0027-4D3DD99F8E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381" y="1718256"/>
            <a:ext cx="5895238" cy="463809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DA7A6F-2CB9-53AD-35C0-52336579BE11}"/>
              </a:ext>
            </a:extLst>
          </p:cNvPr>
          <p:cNvGrpSpPr/>
          <p:nvPr/>
        </p:nvGrpSpPr>
        <p:grpSpPr>
          <a:xfrm>
            <a:off x="7615940" y="2493115"/>
            <a:ext cx="1076632" cy="369332"/>
            <a:chOff x="4968362" y="2079211"/>
            <a:chExt cx="1076632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066FAF4-4D5E-E508-3894-0AFAA81902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52AF9EF-9DB0-EBA4-D99C-31D3E0C2D39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7AE8F06-4068-0A78-C5BA-5ABC5014FB6E}"/>
              </a:ext>
            </a:extLst>
          </p:cNvPr>
          <p:cNvGrpSpPr/>
          <p:nvPr/>
        </p:nvGrpSpPr>
        <p:grpSpPr>
          <a:xfrm>
            <a:off x="1937034" y="3685225"/>
            <a:ext cx="1076632" cy="369332"/>
            <a:chOff x="4704120" y="2356972"/>
            <a:chExt cx="1076632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1B516AE-D543-F451-0676-F48B50F1A1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D9CC75-69EC-19CD-8E56-666E52D4C5E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072795-E97C-9311-C707-3E1E2E9441AF}"/>
              </a:ext>
            </a:extLst>
          </p:cNvPr>
          <p:cNvGrpSpPr/>
          <p:nvPr/>
        </p:nvGrpSpPr>
        <p:grpSpPr>
          <a:xfrm>
            <a:off x="2097551" y="3889438"/>
            <a:ext cx="1068643" cy="369332"/>
            <a:chOff x="3647644" y="4910075"/>
            <a:chExt cx="1068643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9C5F36-CD8A-AF6D-A502-CAC88D72548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25AB946-0C78-DFEE-6D14-AA55FCA763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9505A95-3DDA-E7FC-69D4-F7404937F652}"/>
              </a:ext>
            </a:extLst>
          </p:cNvPr>
          <p:cNvGrpSpPr/>
          <p:nvPr/>
        </p:nvGrpSpPr>
        <p:grpSpPr>
          <a:xfrm>
            <a:off x="2099329" y="4101673"/>
            <a:ext cx="1064340" cy="369332"/>
            <a:chOff x="3647644" y="5421073"/>
            <a:chExt cx="1064340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E1829FF-3E2C-3BD1-4887-64657B025DD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4CF276E-4C4A-6F8A-3AD2-958EB25E5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80E5B90-1F67-1184-CED9-7630A10EADFF}"/>
              </a:ext>
            </a:extLst>
          </p:cNvPr>
          <p:cNvGrpSpPr/>
          <p:nvPr/>
        </p:nvGrpSpPr>
        <p:grpSpPr>
          <a:xfrm>
            <a:off x="7615940" y="4931914"/>
            <a:ext cx="1068643" cy="369332"/>
            <a:chOff x="3647644" y="5359159"/>
            <a:chExt cx="1068643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17240AA-E1DE-89BC-C18C-42E7D0FA4F8B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3C108ED-0499-ECD0-D716-2E4379E03A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0AEDF5-C1C5-75E8-30BE-5C4834BC58C7}"/>
                  </a:ext>
                </a:extLst>
              </p:cNvPr>
              <p:cNvSpPr txBox="1"/>
              <p:nvPr/>
            </p:nvSpPr>
            <p:spPr>
              <a:xfrm>
                <a:off x="7597301" y="2850974"/>
                <a:ext cx="134611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US" sz="2400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0AEDF5-C1C5-75E8-30BE-5C4834BC5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301" y="2850974"/>
                <a:ext cx="13461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496734-558F-C606-6C6E-4FDDC205BCF6}"/>
                  </a:ext>
                </a:extLst>
              </p:cNvPr>
              <p:cNvSpPr txBox="1"/>
              <p:nvPr/>
            </p:nvSpPr>
            <p:spPr>
              <a:xfrm>
                <a:off x="8034121" y="5184592"/>
                <a:ext cx="472477" cy="3781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b="0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rad>
                    </m:oMath>
                  </m:oMathPara>
                </a14:m>
                <a:endParaRPr lang="en-US" sz="2400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496734-558F-C606-6C6E-4FDDC205B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121" y="5184592"/>
                <a:ext cx="472477" cy="378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A3D84B5-6211-EB24-8FE2-CFC0C8B66603}"/>
              </a:ext>
            </a:extLst>
          </p:cNvPr>
          <p:cNvSpPr/>
          <p:nvPr/>
        </p:nvSpPr>
        <p:spPr>
          <a:xfrm>
            <a:off x="1766759" y="1873667"/>
            <a:ext cx="196466" cy="22459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6C85F-10D8-55DF-4186-7DD118CE7D9A}"/>
              </a:ext>
            </a:extLst>
          </p:cNvPr>
          <p:cNvSpPr/>
          <p:nvPr/>
        </p:nvSpPr>
        <p:spPr>
          <a:xfrm>
            <a:off x="2715683" y="3541856"/>
            <a:ext cx="196466" cy="22459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4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3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E9AA-E8AB-C4D9-920E-B6851870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21B71-0497-A95E-1B75-40184643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608"/>
          <a:stretch>
            <a:fillRect/>
          </a:stretch>
        </p:blipFill>
        <p:spPr>
          <a:xfrm>
            <a:off x="940971" y="1656941"/>
            <a:ext cx="7122367" cy="1637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A2CA6B-7583-0A21-5B3D-2751B747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024AF-FD67-E1F2-3090-53A772F5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B94951-6BB5-8D1E-0489-279503B20EB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3FFC6A-6715-B66B-31F3-AF277D3A090D}"/>
              </a:ext>
            </a:extLst>
          </p:cNvPr>
          <p:cNvGrpSpPr/>
          <p:nvPr/>
        </p:nvGrpSpPr>
        <p:grpSpPr>
          <a:xfrm>
            <a:off x="4293616" y="1898234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2A920C3-B4EE-7E00-7700-ACEBFF897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183AD3-E752-197B-949F-F25FD120C86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505511-F692-F059-018F-FCF019E94EE8}"/>
              </a:ext>
            </a:extLst>
          </p:cNvPr>
          <p:cNvGrpSpPr/>
          <p:nvPr/>
        </p:nvGrpSpPr>
        <p:grpSpPr>
          <a:xfrm>
            <a:off x="2556182" y="2174469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4F104FD-A993-41A4-E875-D93A39D448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09ACEC-E839-D1BA-8069-89D73AB869B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314FD8-7E06-62F9-3E51-46B4AB96174F}"/>
              </a:ext>
            </a:extLst>
          </p:cNvPr>
          <p:cNvGrpSpPr/>
          <p:nvPr/>
        </p:nvGrpSpPr>
        <p:grpSpPr>
          <a:xfrm>
            <a:off x="3433511" y="2439231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3802A8-1C1C-E0AD-A474-D8C45D9F98D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48E28D1-3D90-3D6C-ABA7-41E996A00E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3B9A321-14CD-061E-38CF-815616F9DBD1}"/>
              </a:ext>
            </a:extLst>
          </p:cNvPr>
          <p:cNvGrpSpPr/>
          <p:nvPr/>
        </p:nvGrpSpPr>
        <p:grpSpPr>
          <a:xfrm>
            <a:off x="2431423" y="2716906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7717CA-87C6-AC0E-FF13-1EF64EB0B45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125538A-87AB-72DE-74C8-D63965E63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547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EF23-095E-4726-9B5A-BF5CC523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3D2BCB-8E19-4CDE-2217-7DDA23A3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10" y="1726783"/>
            <a:ext cx="7095181" cy="4601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8ABCC4-B4EF-DCAA-71FC-6B714A57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52B2C-2451-4BE6-D4E8-16833C46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0C27F9-9E12-3A54-5F08-7111B4F5BC5A}"/>
              </a:ext>
            </a:extLst>
          </p:cNvPr>
          <p:cNvGrpSpPr/>
          <p:nvPr/>
        </p:nvGrpSpPr>
        <p:grpSpPr>
          <a:xfrm>
            <a:off x="1624106" y="1794113"/>
            <a:ext cx="1076632" cy="369332"/>
            <a:chOff x="4968362" y="2079211"/>
            <a:chExt cx="1076632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D8E9BB9-5747-E822-738E-87B2EB26DF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7337C47-12B0-ABE8-996B-13611A14D525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081D50-967A-C285-3D27-9CFE642DFF6E}"/>
              </a:ext>
            </a:extLst>
          </p:cNvPr>
          <p:cNvGrpSpPr/>
          <p:nvPr/>
        </p:nvGrpSpPr>
        <p:grpSpPr>
          <a:xfrm>
            <a:off x="1624106" y="4074104"/>
            <a:ext cx="1076632" cy="369332"/>
            <a:chOff x="4704120" y="2356972"/>
            <a:chExt cx="1076632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23439E-7FAD-1A85-5DF2-CED20530F7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D83D12-3F80-F526-8B3E-2D2F3D0E077D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5E2FB7-AC98-D87C-0BE9-3BC91C4E612C}"/>
                  </a:ext>
                </a:extLst>
              </p:cNvPr>
              <p:cNvSpPr txBox="1"/>
              <p:nvPr/>
            </p:nvSpPr>
            <p:spPr>
              <a:xfrm>
                <a:off x="7435804" y="1794113"/>
                <a:ext cx="47247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n>
                            <a:solidFill>
                              <a:srgbClr val="FFFF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 dirty="0">
                  <a:ln>
                    <a:solidFill>
                      <a:srgbClr val="FFFF00"/>
                    </a:solidFill>
                  </a:ln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5E2FB7-AC98-D87C-0BE9-3BC91C4E6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804" y="1794113"/>
                <a:ext cx="47247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6A860F3-F095-2F0E-8DB5-DCDFAC6F661B}"/>
                  </a:ext>
                </a:extLst>
              </p:cNvPr>
              <p:cNvSpPr txBox="1"/>
              <p:nvPr/>
            </p:nvSpPr>
            <p:spPr>
              <a:xfrm>
                <a:off x="7435804" y="3763586"/>
                <a:ext cx="472477" cy="3781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n>
                                <a:solidFill>
                                  <a:srgbClr val="FFFF00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n>
                                <a:solidFill>
                                  <a:srgbClr val="FFFF00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400" dirty="0">
                  <a:ln>
                    <a:solidFill>
                      <a:srgbClr val="FFFF00"/>
                    </a:solidFill>
                  </a:ln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6A860F3-F095-2F0E-8DB5-DCDFAC6F6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804" y="3763586"/>
                <a:ext cx="472477" cy="378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58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2E108-A8EF-5B3F-CF6B-F102D139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F4945D-6E48-D620-12C5-D99352173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512"/>
          <a:stretch>
            <a:fillRect/>
          </a:stretch>
        </p:blipFill>
        <p:spPr>
          <a:xfrm>
            <a:off x="940971" y="1656941"/>
            <a:ext cx="7122367" cy="2695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1AFD2B-2061-CE11-492A-EC358CA1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1A3A1-3867-C905-541C-EA9E3984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BDD307-9568-8C17-6179-CE1B020FC75D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9EDD9C-F072-CD0B-6B0B-044C98C5E5CD}"/>
              </a:ext>
            </a:extLst>
          </p:cNvPr>
          <p:cNvGrpSpPr/>
          <p:nvPr/>
        </p:nvGrpSpPr>
        <p:grpSpPr>
          <a:xfrm>
            <a:off x="4293616" y="1898234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953593B-7AE5-51AE-5723-1B8E7DA14A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0B9FCA-B1BC-8A90-2D35-718B74107B2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03AFFB-17AC-5D57-18B3-1666AA73E0BF}"/>
              </a:ext>
            </a:extLst>
          </p:cNvPr>
          <p:cNvGrpSpPr/>
          <p:nvPr/>
        </p:nvGrpSpPr>
        <p:grpSpPr>
          <a:xfrm>
            <a:off x="2556182" y="2174469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E695F8B-DE62-B91C-DC21-78CB54465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1AB4A2-61DB-67FD-B120-426F700F5CC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EB0995-85A9-C295-97DD-7B6F6BBEF488}"/>
              </a:ext>
            </a:extLst>
          </p:cNvPr>
          <p:cNvGrpSpPr/>
          <p:nvPr/>
        </p:nvGrpSpPr>
        <p:grpSpPr>
          <a:xfrm>
            <a:off x="3433511" y="2439231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05F8B0-393C-E072-D0E4-DEBE38AF292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EA407C2-D87C-CB58-F3B1-D94A5C3E5E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1458332-84DC-7623-E2A9-9CD5F6134FE1}"/>
              </a:ext>
            </a:extLst>
          </p:cNvPr>
          <p:cNvGrpSpPr/>
          <p:nvPr/>
        </p:nvGrpSpPr>
        <p:grpSpPr>
          <a:xfrm>
            <a:off x="2431423" y="2716906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25648F-B1C3-5D9C-DB48-8F47A189DEC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737F820-DE03-30F4-DA82-418EDA275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E2876B0-DC53-D745-5169-1E584C1B1530}"/>
              </a:ext>
            </a:extLst>
          </p:cNvPr>
          <p:cNvGrpSpPr/>
          <p:nvPr/>
        </p:nvGrpSpPr>
        <p:grpSpPr>
          <a:xfrm>
            <a:off x="3838312" y="3535755"/>
            <a:ext cx="1068643" cy="369332"/>
            <a:chOff x="3647644" y="5359159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443D7B-A62D-F333-C014-2BF117DD15A4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5A6297F-7181-F9DC-60B6-7DE9BC08EF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392CC8A-0542-59AE-670F-7205A7521E1D}"/>
              </a:ext>
            </a:extLst>
          </p:cNvPr>
          <p:cNvGrpSpPr/>
          <p:nvPr/>
        </p:nvGrpSpPr>
        <p:grpSpPr>
          <a:xfrm>
            <a:off x="2372555" y="3784860"/>
            <a:ext cx="1076632" cy="369332"/>
            <a:chOff x="2157212" y="5356391"/>
            <a:chExt cx="1076632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BE1060-5BA7-8DE9-D4D7-1A547A22D92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C222358-C0F5-1A7D-D204-18A94B617D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520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6B60-0879-645C-D74B-ECBBDC8D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F47AF1-B1CD-1202-5A72-4E3ECA85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42" y="1932344"/>
            <a:ext cx="7956517" cy="2445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9475C4-0E51-6EA3-7E8D-508F8C1A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8F8CB-0F3F-915A-8D79-2558009F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92EEC5-134C-6F29-7B0B-A040C09E0EFC}"/>
              </a:ext>
            </a:extLst>
          </p:cNvPr>
          <p:cNvGrpSpPr/>
          <p:nvPr/>
        </p:nvGrpSpPr>
        <p:grpSpPr>
          <a:xfrm>
            <a:off x="2741294" y="1149036"/>
            <a:ext cx="598417" cy="870598"/>
            <a:chOff x="4772004" y="1834255"/>
            <a:chExt cx="598417" cy="8705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99D9B0F-3FB4-22A6-8B4D-A15FE69900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2004" y="2155624"/>
              <a:ext cx="312819" cy="5492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2E36D6-8288-D124-DEE5-CBA3C7C345E4}"/>
                </a:ext>
              </a:extLst>
            </p:cNvPr>
            <p:cNvSpPr txBox="1"/>
            <p:nvPr/>
          </p:nvSpPr>
          <p:spPr>
            <a:xfrm>
              <a:off x="4986963" y="183425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D6E901-9119-8FC2-087B-252C4DA0E702}"/>
                  </a:ext>
                </a:extLst>
              </p:cNvPr>
              <p:cNvSpPr txBox="1"/>
              <p:nvPr/>
            </p:nvSpPr>
            <p:spPr>
              <a:xfrm>
                <a:off x="3661683" y="4745860"/>
                <a:ext cx="18206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2400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D6E901-9119-8FC2-087B-252C4DA0E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683" y="4745860"/>
                <a:ext cx="182063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378F76-3C96-6797-D314-9274A93C0658}"/>
                  </a:ext>
                </a:extLst>
              </p:cNvPr>
              <p:cNvSpPr txBox="1"/>
              <p:nvPr/>
            </p:nvSpPr>
            <p:spPr>
              <a:xfrm>
                <a:off x="2375304" y="5505692"/>
                <a:ext cx="1980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=0.04081633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378F76-3C96-6797-D314-9274A93C0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304" y="5505692"/>
                <a:ext cx="1980157" cy="276999"/>
              </a:xfrm>
              <a:prstGeom prst="rect">
                <a:avLst/>
              </a:prstGeom>
              <a:blipFill>
                <a:blip r:embed="rId4"/>
                <a:stretch>
                  <a:fillRect l="-2469" r="-277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8C07EB-1775-AA2F-FE96-6C4F28C52F00}"/>
                  </a:ext>
                </a:extLst>
              </p:cNvPr>
              <p:cNvSpPr txBox="1"/>
              <p:nvPr/>
            </p:nvSpPr>
            <p:spPr>
              <a:xfrm>
                <a:off x="4729227" y="5505692"/>
                <a:ext cx="20394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=−9.59183673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8C07EB-1775-AA2F-FE96-6C4F28C52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227" y="5505692"/>
                <a:ext cx="2039469" cy="276999"/>
              </a:xfrm>
              <a:prstGeom prst="rect">
                <a:avLst/>
              </a:prstGeom>
              <a:blipFill>
                <a:blip r:embed="rId5"/>
                <a:stretch>
                  <a:fillRect l="-1198" r="-299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2AD6F2-7703-816A-B9F3-2ACFAB8B9DFB}"/>
                  </a:ext>
                </a:extLst>
              </p:cNvPr>
              <p:cNvSpPr txBox="1"/>
              <p:nvPr/>
            </p:nvSpPr>
            <p:spPr>
              <a:xfrm>
                <a:off x="1574352" y="6067860"/>
                <a:ext cx="59952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0.04081633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9.59183673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+3.14159265=2.75008911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2AD6F2-7703-816A-B9F3-2ACFAB8B9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352" y="6067860"/>
                <a:ext cx="5995296" cy="276999"/>
              </a:xfrm>
              <a:prstGeom prst="rect">
                <a:avLst/>
              </a:prstGeom>
              <a:blipFill>
                <a:blip r:embed="rId6"/>
                <a:stretch>
                  <a:fillRect r="-50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56C965E-56C2-BED7-2B36-B8376391B6B0}"/>
              </a:ext>
            </a:extLst>
          </p:cNvPr>
          <p:cNvSpPr txBox="1"/>
          <p:nvPr/>
        </p:nvSpPr>
        <p:spPr>
          <a:xfrm>
            <a:off x="7414461" y="5975526"/>
            <a:ext cx="713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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AF82B8-B33D-2727-62CC-2E94FB0E0C60}"/>
              </a:ext>
            </a:extLst>
          </p:cNvPr>
          <p:cNvSpPr txBox="1"/>
          <p:nvPr/>
        </p:nvSpPr>
        <p:spPr>
          <a:xfrm>
            <a:off x="2839975" y="1572704"/>
            <a:ext cx="713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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90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0" grpId="0"/>
      <p:bldP spid="11" grpId="0"/>
      <p:bldP spid="12" grpId="0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77467-2A3A-A6C6-9775-7D4E2C43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7722F0-A760-4E3A-C31D-2B143A3CB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71" y="1656941"/>
            <a:ext cx="7122367" cy="4053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F8628E-5198-5553-A445-DDA5424D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7477C-3534-414C-011C-5E520FE1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A06267-F0BB-A3D3-15CF-A4A2187EEC58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DEFD4E-F9BA-F371-2E93-4FFBC61CE5B2}"/>
              </a:ext>
            </a:extLst>
          </p:cNvPr>
          <p:cNvGrpSpPr/>
          <p:nvPr/>
        </p:nvGrpSpPr>
        <p:grpSpPr>
          <a:xfrm>
            <a:off x="4293616" y="1898234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78165B-44EE-E0C8-43CE-4C6D5E7A8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531209-4088-095A-E857-66B901B5E6C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1AD564-D991-14D4-295E-67FEDC209AC5}"/>
              </a:ext>
            </a:extLst>
          </p:cNvPr>
          <p:cNvGrpSpPr/>
          <p:nvPr/>
        </p:nvGrpSpPr>
        <p:grpSpPr>
          <a:xfrm>
            <a:off x="2556182" y="2174469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CB7A849-B9F3-6C0C-359C-75635B08B2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15F2AB-7432-9FF8-C348-496CB7682A0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FA0099-D206-2603-0666-F730E2DA00E4}"/>
              </a:ext>
            </a:extLst>
          </p:cNvPr>
          <p:cNvGrpSpPr/>
          <p:nvPr/>
        </p:nvGrpSpPr>
        <p:grpSpPr>
          <a:xfrm>
            <a:off x="3433511" y="2439231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630A1C-4BD7-9699-1C6F-16CBD8387FE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E9B4DF0-CAA4-F7C3-EFF8-D3C5C9EE6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165325-DEDD-525A-B034-E8493D4011FF}"/>
              </a:ext>
            </a:extLst>
          </p:cNvPr>
          <p:cNvGrpSpPr/>
          <p:nvPr/>
        </p:nvGrpSpPr>
        <p:grpSpPr>
          <a:xfrm>
            <a:off x="2431423" y="2716906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FF126D-74FF-9771-D698-DA2DB831BD3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A9444FD-8D9E-E1F1-26D0-8F8273FD43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CE2378-025D-8C09-0894-9FEC0231F108}"/>
              </a:ext>
            </a:extLst>
          </p:cNvPr>
          <p:cNvGrpSpPr/>
          <p:nvPr/>
        </p:nvGrpSpPr>
        <p:grpSpPr>
          <a:xfrm>
            <a:off x="3838312" y="3535755"/>
            <a:ext cx="1068643" cy="369332"/>
            <a:chOff x="3647644" y="5359159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9543DF-81FB-D3B2-1E72-0D06D1475EA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C188DD6-61EE-3C3F-0BFF-BB27C637C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AD52927-5E12-2DFA-7D07-5B48842066A6}"/>
              </a:ext>
            </a:extLst>
          </p:cNvPr>
          <p:cNvGrpSpPr/>
          <p:nvPr/>
        </p:nvGrpSpPr>
        <p:grpSpPr>
          <a:xfrm>
            <a:off x="2372555" y="3784860"/>
            <a:ext cx="1076632" cy="369332"/>
            <a:chOff x="2157212" y="5356391"/>
            <a:chExt cx="1076632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C66D8A-CE62-0884-B330-CDE4606A17A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D676B7-B88F-4C13-3243-2A18C5734F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EFE4B6-4CC9-9AAA-1CDE-64F8FE7439FF}"/>
              </a:ext>
            </a:extLst>
          </p:cNvPr>
          <p:cNvGrpSpPr/>
          <p:nvPr/>
        </p:nvGrpSpPr>
        <p:grpSpPr>
          <a:xfrm>
            <a:off x="7909926" y="4588188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E336DDA-E2E1-B4A7-4143-3BC64D54C4D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C74E8DD-0289-28C5-D5A4-CAD3396A29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13B7B44-6DA7-40E9-387F-BFD834C4A7E3}"/>
              </a:ext>
            </a:extLst>
          </p:cNvPr>
          <p:cNvGrpSpPr/>
          <p:nvPr/>
        </p:nvGrpSpPr>
        <p:grpSpPr>
          <a:xfrm>
            <a:off x="4862365" y="4842769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0AB08D-9CEA-4E36-4963-F0CCB673DC1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03CBA9A-C3F0-EA3A-9913-206D4DC36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A90B08-544D-6C9E-E6EA-55B09D9DED71}"/>
              </a:ext>
            </a:extLst>
          </p:cNvPr>
          <p:cNvGrpSpPr/>
          <p:nvPr/>
        </p:nvGrpSpPr>
        <p:grpSpPr>
          <a:xfrm>
            <a:off x="7088090" y="5112849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7E99CE-EFA8-65EB-C7CB-180AB34F5E7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83F3734-C7B9-E484-E425-52EA04E176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164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6ACD-22AE-C6CF-54A1-17731348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64EE6-F6D2-7F95-F2E3-4608AD9ADD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1" b="1123"/>
          <a:stretch>
            <a:fillRect/>
          </a:stretch>
        </p:blipFill>
        <p:spPr>
          <a:xfrm>
            <a:off x="628650" y="1610480"/>
            <a:ext cx="7893684" cy="31511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483B05-A312-BCB7-F348-11AC90E0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numpy_arrays.py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44487-5F66-CA7B-D409-A0A58993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08A888-8DF0-D113-2202-9A1489DDD48A}"/>
              </a:ext>
            </a:extLst>
          </p:cNvPr>
          <p:cNvGrpSpPr/>
          <p:nvPr/>
        </p:nvGrpSpPr>
        <p:grpSpPr>
          <a:xfrm>
            <a:off x="4976906" y="1950075"/>
            <a:ext cx="1076632" cy="369332"/>
            <a:chOff x="4968362" y="2079211"/>
            <a:chExt cx="1076632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5A28E00-2E1B-2A78-16F2-9BCB6C60E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6FA3371-5F02-82EA-744D-A89C1B9A7A9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FD1DFF-1F75-FC9B-4EF7-D1634FDA1A93}"/>
              </a:ext>
            </a:extLst>
          </p:cNvPr>
          <p:cNvGrpSpPr/>
          <p:nvPr/>
        </p:nvGrpSpPr>
        <p:grpSpPr>
          <a:xfrm>
            <a:off x="2101513" y="3204229"/>
            <a:ext cx="1076632" cy="369332"/>
            <a:chOff x="4704120" y="2356972"/>
            <a:chExt cx="1076632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14D620-88F8-CC4D-C0DD-18147C33F4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E136F9-A4BA-D5B8-D4C2-7C7C08946E6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C010575-C441-6D0A-05DB-7156D8125D07}"/>
              </a:ext>
            </a:extLst>
          </p:cNvPr>
          <p:cNvSpPr txBox="1"/>
          <p:nvPr/>
        </p:nvSpPr>
        <p:spPr>
          <a:xfrm>
            <a:off x="774031" y="4980038"/>
            <a:ext cx="7595937" cy="324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Indices where condition is True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223C4-02E5-12DF-5441-FD757DCE2B1B}"/>
              </a:ext>
            </a:extLst>
          </p:cNvPr>
          <p:cNvSpPr txBox="1"/>
          <p:nvPr/>
        </p:nvSpPr>
        <p:spPr>
          <a:xfrm>
            <a:off x="2053388" y="5523243"/>
            <a:ext cx="3930317" cy="324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Boolean array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4CE26B-7751-2BA1-1DD1-169105583D84}"/>
              </a:ext>
            </a:extLst>
          </p:cNvPr>
          <p:cNvSpPr txBox="1"/>
          <p:nvPr/>
        </p:nvSpPr>
        <p:spPr>
          <a:xfrm>
            <a:off x="1690860" y="6066448"/>
            <a:ext cx="6378319" cy="324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Values where condition is True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D4810A-2689-B2E0-CDAF-BFE56BD93E1E}"/>
              </a:ext>
            </a:extLst>
          </p:cNvPr>
          <p:cNvGrpSpPr/>
          <p:nvPr/>
        </p:nvGrpSpPr>
        <p:grpSpPr>
          <a:xfrm>
            <a:off x="2197766" y="4422605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B8DD3D0-566E-4163-655D-6D806B5638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F8941BA-8D8C-6D7E-AD3D-A02D0B5A4D0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9B94A99-95B4-8487-DEEA-609B3E19018E}"/>
              </a:ext>
            </a:extLst>
          </p:cNvPr>
          <p:cNvSpPr txBox="1"/>
          <p:nvPr/>
        </p:nvSpPr>
        <p:spPr>
          <a:xfrm>
            <a:off x="5983705" y="1934033"/>
            <a:ext cx="231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Conditional Indexing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2C78F-4FC5-C8AA-843F-52B8EA720F7C}"/>
              </a:ext>
            </a:extLst>
          </p:cNvPr>
          <p:cNvSpPr txBox="1"/>
          <p:nvPr/>
        </p:nvSpPr>
        <p:spPr>
          <a:xfrm>
            <a:off x="3110012" y="3203323"/>
            <a:ext cx="231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Vectorized comparison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9948FE-AD6E-DE76-3C96-89DD58E55C43}"/>
              </a:ext>
            </a:extLst>
          </p:cNvPr>
          <p:cNvSpPr txBox="1"/>
          <p:nvPr/>
        </p:nvSpPr>
        <p:spPr>
          <a:xfrm>
            <a:off x="3302517" y="4407470"/>
            <a:ext cx="476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Boolean/Fancy indexing (where mask = True)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4AC36-322A-F9EF-8A20-8D69D063B821}"/>
              </a:ext>
            </a:extLst>
          </p:cNvPr>
          <p:cNvSpPr txBox="1"/>
          <p:nvPr/>
        </p:nvSpPr>
        <p:spPr>
          <a:xfrm>
            <a:off x="621666" y="1305058"/>
            <a:ext cx="2852487" cy="324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pl-PL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pl-PL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l-PL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pl-PL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l-PL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linspace</a:t>
            </a:r>
            <a:r>
              <a:rPr lang="pl-PL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l-PL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l-PL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l-PL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l-PL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3E9F00-80F3-BA38-34EB-90D66C8E8C4E}"/>
              </a:ext>
            </a:extLst>
          </p:cNvPr>
          <p:cNvSpPr/>
          <p:nvPr/>
        </p:nvSpPr>
        <p:spPr>
          <a:xfrm>
            <a:off x="4252914" y="1996111"/>
            <a:ext cx="285750" cy="266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CEFEDF-0D30-5BDB-963C-64B2485A5D35}"/>
              </a:ext>
            </a:extLst>
          </p:cNvPr>
          <p:cNvSpPr/>
          <p:nvPr/>
        </p:nvSpPr>
        <p:spPr>
          <a:xfrm>
            <a:off x="1469608" y="2742207"/>
            <a:ext cx="583779" cy="266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7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7" grpId="0"/>
      <p:bldP spid="18" grpId="0"/>
      <p:bldP spid="19" grpId="0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Line Graphs using matplotlib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Your scientist has asked you to plot the following two functions: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=−0.3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+15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The domain for both functions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You should plot both curves on the same graph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1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3E1F1E-20BF-42B2-B9AE-F806AB3C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52" y="1277939"/>
            <a:ext cx="5658294" cy="53662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15AEA-EDD1-432A-B3AC-64B348E9C427}"/>
              </a:ext>
            </a:extLst>
          </p:cNvPr>
          <p:cNvSpPr txBox="1"/>
          <p:nvPr/>
        </p:nvSpPr>
        <p:spPr>
          <a:xfrm>
            <a:off x="2993922" y="714058"/>
            <a:ext cx="315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https://matplotlib.org</a:t>
            </a:r>
            <a:r>
              <a:rPr lang="en-US" dirty="0"/>
              <a:t>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6B530-5900-415F-8909-0D3FE4F41FDB}"/>
              </a:ext>
            </a:extLst>
          </p:cNvPr>
          <p:cNvSpPr/>
          <p:nvPr/>
        </p:nvSpPr>
        <p:spPr>
          <a:xfrm>
            <a:off x="1799303" y="3156156"/>
            <a:ext cx="4564626" cy="2507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48AC1BF-07EC-4001-B09A-963CE289DA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6"/>
          <a:stretch/>
        </p:blipFill>
        <p:spPr>
          <a:xfrm>
            <a:off x="2499335" y="1690689"/>
            <a:ext cx="4145330" cy="43295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607274B-43E7-683E-54F1-5F13703A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Matplotlib Container Hierarchy</a:t>
            </a:r>
          </a:p>
        </p:txBody>
      </p:sp>
    </p:spTree>
    <p:extLst>
      <p:ext uri="{BB962C8B-B14F-4D97-AF65-F5344CB8AC3E}">
        <p14:creationId xmlns:p14="http://schemas.microsoft.com/office/powerpoint/2010/main" val="135715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Cartesian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8988" y="1821585"/>
            <a:ext cx="2184400" cy="10731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Created by René Descartes in 1637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88" y="3025631"/>
            <a:ext cx="2200000" cy="27523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919" y="1825624"/>
            <a:ext cx="4242112" cy="424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59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8A82-92D0-2528-BC94-CE462866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7CB0486B-F1ED-C2C9-ED47-7CF543213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57" y="1787104"/>
            <a:ext cx="3114286" cy="364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DBB80-73D6-1749-7BAA-CB5BEC08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line_graphs.py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46E08-6620-BC51-56E6-29882410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9382A-E03D-E80C-8518-87607BAB2499}"/>
              </a:ext>
            </a:extLst>
          </p:cNvPr>
          <p:cNvSpPr txBox="1"/>
          <p:nvPr/>
        </p:nvSpPr>
        <p:spPr>
          <a:xfrm>
            <a:off x="2725603" y="5961592"/>
            <a:ext cx="369279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Vectorized Operations in NumPy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B65439-41DB-4076-A238-F2F0DC9AEF9E}"/>
              </a:ext>
            </a:extLst>
          </p:cNvPr>
          <p:cNvGrpSpPr/>
          <p:nvPr/>
        </p:nvGrpSpPr>
        <p:grpSpPr>
          <a:xfrm>
            <a:off x="5542071" y="2410095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D681406-EEF5-A637-F29E-625F12D1C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DE2546-49C0-F01D-1343-F872FEE5573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AD5D35-8874-1585-4C18-14FE3FD3B026}"/>
              </a:ext>
            </a:extLst>
          </p:cNvPr>
          <p:cNvGrpSpPr/>
          <p:nvPr/>
        </p:nvGrpSpPr>
        <p:grpSpPr>
          <a:xfrm>
            <a:off x="6089135" y="2875933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4DA1D35-197A-564B-D3B9-2CA8F740A3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037ADA-A515-BAC6-8895-DEDD4114647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7FF8BF-AE7B-DEA2-C10A-917C1FBE5019}"/>
              </a:ext>
            </a:extLst>
          </p:cNvPr>
          <p:cNvGrpSpPr/>
          <p:nvPr/>
        </p:nvGrpSpPr>
        <p:grpSpPr>
          <a:xfrm>
            <a:off x="4901347" y="3118190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70A63C-E85E-47C1-834E-D8E1B7BB1E2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A302A6C-2707-01DA-860C-FBEE75C1F8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2CB07B-486A-FA6B-02D0-4B205B702F9A}"/>
              </a:ext>
            </a:extLst>
          </p:cNvPr>
          <p:cNvGrpSpPr/>
          <p:nvPr/>
        </p:nvGrpSpPr>
        <p:grpSpPr>
          <a:xfrm>
            <a:off x="5439663" y="3563605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2A1B1A-010A-CCC4-6960-BB00FAD5A97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EA2804E-BEF4-60F7-17AE-28ADC6A8B5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80E125-171F-C8E5-5E95-D74E4B888B11}"/>
              </a:ext>
            </a:extLst>
          </p:cNvPr>
          <p:cNvGrpSpPr/>
          <p:nvPr/>
        </p:nvGrpSpPr>
        <p:grpSpPr>
          <a:xfrm>
            <a:off x="4528436" y="3786595"/>
            <a:ext cx="1068643" cy="369332"/>
            <a:chOff x="3647644" y="5359159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DA06021-2724-B519-124D-F36F40F6DF9C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0E4F89D-2420-6E89-AC59-3030CE86CC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17F950-A2AB-80A2-2BFA-6363C84166E6}"/>
              </a:ext>
            </a:extLst>
          </p:cNvPr>
          <p:cNvGrpSpPr/>
          <p:nvPr/>
        </p:nvGrpSpPr>
        <p:grpSpPr>
          <a:xfrm>
            <a:off x="5097541" y="4025895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CE0050-31DA-37E9-3834-54CBAA9E16A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7AAAAEE-09CD-EEEC-8A75-D3DB68A9AF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623FC2-37DC-0CD1-68B8-2BDC9BA8F66E}"/>
              </a:ext>
            </a:extLst>
          </p:cNvPr>
          <p:cNvGrpSpPr/>
          <p:nvPr/>
        </p:nvGrpSpPr>
        <p:grpSpPr>
          <a:xfrm>
            <a:off x="6114565" y="4489447"/>
            <a:ext cx="1076632" cy="369332"/>
            <a:chOff x="2157212" y="5356391"/>
            <a:chExt cx="1076632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889A731-9AF9-81F0-1BC4-3ABD7428E34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168ABC0-A6B3-165F-6EA5-57D4965AF3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Speech Bubble: Rectangle 59">
            <a:extLst>
              <a:ext uri="{FF2B5EF4-FFF2-40B4-BE49-F238E27FC236}">
                <a16:creationId xmlns:a16="http://schemas.microsoft.com/office/drawing/2014/main" id="{BD2CD434-5EC8-C15B-EE42-9E2E184F0E92}"/>
              </a:ext>
            </a:extLst>
          </p:cNvPr>
          <p:cNvSpPr/>
          <p:nvPr/>
        </p:nvSpPr>
        <p:spPr>
          <a:xfrm>
            <a:off x="360452" y="3867344"/>
            <a:ext cx="1930882" cy="1127328"/>
          </a:xfrm>
          <a:prstGeom prst="wedgeRectCallout">
            <a:avLst>
              <a:gd name="adj1" fmla="val 90317"/>
              <a:gd name="adj2" fmla="val -60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 is now an array containing </a:t>
            </a:r>
            <a:r>
              <a:rPr lang="en-US" b="1" dirty="0">
                <a:solidFill>
                  <a:srgbClr val="FFFF00"/>
                </a:solidFill>
              </a:rPr>
              <a:t>50</a:t>
            </a:r>
            <a:r>
              <a:rPr lang="en-US" dirty="0"/>
              <a:t> numbers between -10 and 10</a:t>
            </a:r>
          </a:p>
        </p:txBody>
      </p:sp>
      <p:sp>
        <p:nvSpPr>
          <p:cNvPr id="61" name="Speech Bubble: Rectangle 60">
            <a:extLst>
              <a:ext uri="{FF2B5EF4-FFF2-40B4-BE49-F238E27FC236}">
                <a16:creationId xmlns:a16="http://schemas.microsoft.com/office/drawing/2014/main" id="{B5140399-92CC-3E10-0BBB-6447BEE9955C}"/>
              </a:ext>
            </a:extLst>
          </p:cNvPr>
          <p:cNvSpPr/>
          <p:nvPr/>
        </p:nvSpPr>
        <p:spPr>
          <a:xfrm>
            <a:off x="378158" y="5169174"/>
            <a:ext cx="1930882" cy="1127328"/>
          </a:xfrm>
          <a:prstGeom prst="wedgeRectCallout">
            <a:avLst>
              <a:gd name="adj1" fmla="val 89143"/>
              <a:gd name="adj2" fmla="val -1251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y1 and y2 are now arrays containing </a:t>
            </a:r>
            <a:r>
              <a:rPr lang="en-US" b="1" dirty="0">
                <a:solidFill>
                  <a:srgbClr val="FFFF00"/>
                </a:solidFill>
              </a:rPr>
              <a:t>50</a:t>
            </a:r>
            <a:r>
              <a:rPr lang="en-US" dirty="0"/>
              <a:t> numbers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F925937-96D7-FB66-72AC-7453E3619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682" y="3817269"/>
            <a:ext cx="2057400" cy="62552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91B46FB-E4AA-7A74-46FD-8FF549AF52EB}"/>
              </a:ext>
            </a:extLst>
          </p:cNvPr>
          <p:cNvGrpSpPr/>
          <p:nvPr/>
        </p:nvGrpSpPr>
        <p:grpSpPr>
          <a:xfrm>
            <a:off x="4567246" y="4707119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37E2FA-7EE6-7CAB-34B3-05883C1B620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D04AA92-3A94-488B-36FD-CFE70BC965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27DF6B-C654-E2FA-6406-EA04D698592E}"/>
              </a:ext>
            </a:extLst>
          </p:cNvPr>
          <p:cNvGrpSpPr/>
          <p:nvPr/>
        </p:nvGrpSpPr>
        <p:grpSpPr>
          <a:xfrm>
            <a:off x="4567246" y="4905538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0F5CC8-1405-442F-96AD-533EDD8BF16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E6C612C-F781-0136-AFE7-BD9589541C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733EDA-49E4-5F94-C568-F07234E34314}"/>
              </a:ext>
            </a:extLst>
          </p:cNvPr>
          <p:cNvGrpSpPr/>
          <p:nvPr/>
        </p:nvGrpSpPr>
        <p:grpSpPr>
          <a:xfrm>
            <a:off x="4144978" y="5155679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511567-85F0-0D29-F655-E8D040EDBF0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F552F97-5B91-243D-8EDD-F776FC23C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B893A8C-56BD-7EF4-5ACF-AFB7F35A503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65208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0" grpId="0" animBg="1"/>
      <p:bldP spid="61" grpId="0" animBg="1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BA5630-1A09-18A3-9D5A-C28D84A3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3520"/>
            <a:ext cx="6114286" cy="52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line_graphs.py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29</a:t>
            </a:fld>
            <a:endParaRPr lang="en-US" dirty="0"/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AFF6B206-FFA2-6E07-ADE2-E439E738AD18}"/>
              </a:ext>
            </a:extLst>
          </p:cNvPr>
          <p:cNvSpPr/>
          <p:nvPr/>
        </p:nvSpPr>
        <p:spPr>
          <a:xfrm>
            <a:off x="7397089" y="2376312"/>
            <a:ext cx="1506511" cy="936886"/>
          </a:xfrm>
          <a:prstGeom prst="wedgeRoundRectCallout">
            <a:avLst>
              <a:gd name="adj1" fmla="val -48196"/>
              <a:gd name="adj2" fmla="val -1239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</a:t>
            </a:r>
            <a:r>
              <a:rPr lang="en-US" b="1" dirty="0">
                <a:solidFill>
                  <a:srgbClr val="FFFF00"/>
                </a:solidFill>
              </a:rPr>
              <a:t>must</a:t>
            </a:r>
            <a:r>
              <a:rPr lang="en-US" dirty="0"/>
              <a:t> </a:t>
            </a:r>
            <a:r>
              <a:rPr lang="en-US" u="sng" dirty="0"/>
              <a:t>close</a:t>
            </a:r>
            <a:r>
              <a:rPr lang="en-US" dirty="0"/>
              <a:t> the plot window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8515D8-61D8-1D6C-2FE9-4E1F0C825D20}"/>
              </a:ext>
            </a:extLst>
          </p:cNvPr>
          <p:cNvSpPr/>
          <p:nvPr/>
        </p:nvSpPr>
        <p:spPr>
          <a:xfrm>
            <a:off x="1772653" y="1473200"/>
            <a:ext cx="808622" cy="2174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5AF4-8CE1-AD82-651B-204953A9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A919-3BFB-4978-FDFB-F3C38D63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Plotting a Parabola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7D049-6DD7-5D89-2D58-C5464AE623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Your scientist has asked you to plot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domain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Make the line color </a:t>
                </a:r>
                <a:r>
                  <a:rPr lang="en-US" sz="2400" b="1" dirty="0">
                    <a:ln>
                      <a:solidFill>
                        <a:srgbClr val="6B8E23"/>
                      </a:solidFill>
                    </a:ln>
                    <a:solidFill>
                      <a:srgbClr val="6B8E23"/>
                    </a:solidFill>
                  </a:rPr>
                  <a:t>Olive Drab</a:t>
                </a:r>
                <a:r>
                  <a:rPr lang="en-US" sz="2400" b="1" dirty="0"/>
                  <a:t> </a:t>
                </a:r>
                <a:r>
                  <a:rPr lang="en-US" sz="2400" dirty="0"/>
                  <a:t>– like old US Army uniforms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7D049-6DD7-5D89-2D58-C5464AE623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196E9-981A-DD5E-5AA4-3A82D7D2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EE8879-98E9-A874-370A-8130EB271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175" y="3353476"/>
            <a:ext cx="4365650" cy="30028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834665-4C5D-D533-F49F-D3AA385C4821}"/>
              </a:ext>
            </a:extLst>
          </p:cNvPr>
          <p:cNvSpPr/>
          <p:nvPr/>
        </p:nvSpPr>
        <p:spPr>
          <a:xfrm>
            <a:off x="3767263" y="4339389"/>
            <a:ext cx="795338" cy="16523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6D180-6AFA-1CD6-8D14-4CEA722F0DEC}"/>
              </a:ext>
            </a:extLst>
          </p:cNvPr>
          <p:cNvSpPr txBox="1"/>
          <p:nvPr/>
        </p:nvSpPr>
        <p:spPr>
          <a:xfrm>
            <a:off x="7036800" y="4604084"/>
            <a:ext cx="1564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Dave Biersach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West Point 1988</a:t>
            </a:r>
          </a:p>
        </p:txBody>
      </p:sp>
    </p:spTree>
    <p:extLst>
      <p:ext uri="{BB962C8B-B14F-4D97-AF65-F5344CB8AC3E}">
        <p14:creationId xmlns:p14="http://schemas.microsoft.com/office/powerpoint/2010/main" val="312485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Various Colors in </a:t>
            </a:r>
            <a:r>
              <a:rPr lang="en-US" sz="3200" b="1" dirty="0">
                <a:latin typeface="+mn-lt"/>
              </a:rPr>
              <a:t>RGB</a:t>
            </a:r>
            <a:r>
              <a:rPr lang="en-US" sz="3200" dirty="0">
                <a:latin typeface="+mn-lt"/>
              </a:rPr>
              <a:t> Values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2" y="1419227"/>
            <a:ext cx="7515393" cy="49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41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615D-0CDF-748F-0C38-B8E59B39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E51FAA-D5A2-526E-199C-17E2FE363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83" y="1401386"/>
            <a:ext cx="8356433" cy="5222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F4C5D-F62C-AF6C-90D7-DC33514B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39" y="542395"/>
            <a:ext cx="7886700" cy="549274"/>
          </a:xfrm>
        </p:spPr>
        <p:txBody>
          <a:bodyPr anchor="t"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                          Colors “Names”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F1EB6-B507-7CE6-6D3D-08438B97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7EBC35-E001-BFFD-70CB-10A02DA2D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107" y="421751"/>
            <a:ext cx="2791326" cy="66991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A7A7C8-0B4D-F6C4-99AA-2D7F7933300E}"/>
              </a:ext>
            </a:extLst>
          </p:cNvPr>
          <p:cNvCxnSpPr/>
          <p:nvPr/>
        </p:nvCxnSpPr>
        <p:spPr>
          <a:xfrm flipH="1">
            <a:off x="8165432" y="2927684"/>
            <a:ext cx="6416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7A0003-30B1-4B09-6CBF-4D7E33141F2B}"/>
              </a:ext>
            </a:extLst>
          </p:cNvPr>
          <p:cNvCxnSpPr/>
          <p:nvPr/>
        </p:nvCxnSpPr>
        <p:spPr>
          <a:xfrm flipH="1">
            <a:off x="3368839" y="1524000"/>
            <a:ext cx="6416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67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769" y="365126"/>
            <a:ext cx="8124581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Alpha Blending = Opacity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297" y="1820985"/>
            <a:ext cx="5875407" cy="2379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5938" y="4552929"/>
            <a:ext cx="6275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Alpha = 0 means fully transparent (see through)</a:t>
            </a:r>
          </a:p>
          <a:p>
            <a:r>
              <a:rPr lang="en-US" sz="2400" dirty="0"/>
              <a:t>Alpha = 255 means fully opaque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7637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1E894B-4E78-781F-5C82-841E283985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478" y="1544948"/>
            <a:ext cx="4753643" cy="48097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plot_parabola.py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B6BA16-CD2B-E863-10E0-C9BA8F659D08}"/>
                  </a:ext>
                </a:extLst>
              </p:cNvPr>
              <p:cNvSpPr txBox="1"/>
              <p:nvPr/>
            </p:nvSpPr>
            <p:spPr>
              <a:xfrm>
                <a:off x="7356622" y="4622367"/>
                <a:ext cx="11354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B6BA16-CD2B-E863-10E0-C9BA8F659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622" y="4622367"/>
                <a:ext cx="1135439" cy="276999"/>
              </a:xfrm>
              <a:prstGeom prst="rect">
                <a:avLst/>
              </a:prstGeom>
              <a:blipFill>
                <a:blip r:embed="rId3"/>
                <a:stretch>
                  <a:fillRect l="-6989" r="-2151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FF224E-62EC-C01C-966D-A3AB368EE5D2}"/>
                  </a:ext>
                </a:extLst>
              </p:cNvPr>
              <p:cNvSpPr txBox="1"/>
              <p:nvPr/>
            </p:nvSpPr>
            <p:spPr>
              <a:xfrm>
                <a:off x="7356622" y="4259765"/>
                <a:ext cx="1215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FF224E-62EC-C01C-966D-A3AB368EE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622" y="4259765"/>
                <a:ext cx="1215654" cy="276999"/>
              </a:xfrm>
              <a:prstGeom prst="rect">
                <a:avLst/>
              </a:prstGeom>
              <a:blipFill>
                <a:blip r:embed="rId4"/>
                <a:stretch>
                  <a:fillRect l="-3015" r="-251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E6C05BF-ECAA-D888-A380-88E0D337B53E}"/>
              </a:ext>
            </a:extLst>
          </p:cNvPr>
          <p:cNvGrpSpPr/>
          <p:nvPr/>
        </p:nvGrpSpPr>
        <p:grpSpPr>
          <a:xfrm>
            <a:off x="5815915" y="2561228"/>
            <a:ext cx="1076632" cy="369332"/>
            <a:chOff x="4968362" y="2079211"/>
            <a:chExt cx="1076632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95F5E2F-46EA-9A0C-889E-35D67C357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C039088-D071-0E42-5816-F18025CE229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6D1AFA8-A40C-1AC2-CADB-A00C2C075095}"/>
              </a:ext>
            </a:extLst>
          </p:cNvPr>
          <p:cNvGrpSpPr/>
          <p:nvPr/>
        </p:nvGrpSpPr>
        <p:grpSpPr>
          <a:xfrm>
            <a:off x="6787056" y="3238587"/>
            <a:ext cx="1076632" cy="369332"/>
            <a:chOff x="4704120" y="2356972"/>
            <a:chExt cx="1076632" cy="369332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4512E1F-5AE4-1B35-9975-B49CC43F6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732E74-7F28-D9B1-7E57-4BC9B995E77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8A7BC0-BBAC-A1E1-E4B2-C2E2FE1C17A1}"/>
              </a:ext>
            </a:extLst>
          </p:cNvPr>
          <p:cNvGrpSpPr/>
          <p:nvPr/>
        </p:nvGrpSpPr>
        <p:grpSpPr>
          <a:xfrm>
            <a:off x="5019263" y="3564745"/>
            <a:ext cx="1068643" cy="369332"/>
            <a:chOff x="3647644" y="4910075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D6355C-5A5A-2A56-1DD9-C7DF6325CD6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9118868-A846-5AA9-4271-74F1CC13B2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3E0C13-5C36-B97E-2A3D-917F22F1E4DC}"/>
              </a:ext>
            </a:extLst>
          </p:cNvPr>
          <p:cNvGrpSpPr/>
          <p:nvPr/>
        </p:nvGrpSpPr>
        <p:grpSpPr>
          <a:xfrm>
            <a:off x="5475562" y="4224901"/>
            <a:ext cx="1064340" cy="369332"/>
            <a:chOff x="3647644" y="5421073"/>
            <a:chExt cx="1064340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05E2C1C-EF36-82B3-81C8-DA6AC5F6FEF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C8768B3-E241-CA46-55E0-CF16A0E9D8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C69FA39-2BC4-729B-B0BE-6831E2D35A08}"/>
              </a:ext>
            </a:extLst>
          </p:cNvPr>
          <p:cNvGrpSpPr/>
          <p:nvPr/>
        </p:nvGrpSpPr>
        <p:grpSpPr>
          <a:xfrm>
            <a:off x="5834153" y="4596881"/>
            <a:ext cx="1068643" cy="369332"/>
            <a:chOff x="3647644" y="5359159"/>
            <a:chExt cx="1068643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2F8C602-60E6-4BC0-32DF-8F382E952EC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06C5412-7B02-8827-5F47-7BF05E33FD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F7BA48-2557-A5D4-AE25-76D7ECA26B84}"/>
              </a:ext>
            </a:extLst>
          </p:cNvPr>
          <p:cNvGrpSpPr/>
          <p:nvPr/>
        </p:nvGrpSpPr>
        <p:grpSpPr>
          <a:xfrm>
            <a:off x="7010035" y="5584540"/>
            <a:ext cx="1076632" cy="369332"/>
            <a:chOff x="2157212" y="5356391"/>
            <a:chExt cx="1076632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6C37C6-3E9F-B5C1-5E5F-8B6728B9251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552268A-9C73-B236-0803-3DB98527ED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A64A4B-55A5-9D56-89EA-D0B682B2416D}"/>
              </a:ext>
            </a:extLst>
          </p:cNvPr>
          <p:cNvGrpSpPr/>
          <p:nvPr/>
        </p:nvGrpSpPr>
        <p:grpSpPr>
          <a:xfrm>
            <a:off x="3896418" y="5933986"/>
            <a:ext cx="1076632" cy="369332"/>
            <a:chOff x="2157212" y="5356391"/>
            <a:chExt cx="107663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747000-FBA7-C9D3-8827-0E8938EF79E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230AF3A-AD5C-316A-FD6D-891AA6F9C0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2E2897D-41F3-BC68-C266-42D6B4F576E6}"/>
              </a:ext>
            </a:extLst>
          </p:cNvPr>
          <p:cNvGrpSpPr/>
          <p:nvPr/>
        </p:nvGrpSpPr>
        <p:grpSpPr>
          <a:xfrm>
            <a:off x="6737607" y="5258011"/>
            <a:ext cx="1076632" cy="369332"/>
            <a:chOff x="2157212" y="5356391"/>
            <a:chExt cx="107663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63DEF3-2FA0-CAAF-4B6D-0D2FCAED05B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9340C61-C6A5-110E-5A77-CAA4A8086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5BEA7B-DB93-4B79-B983-DCE5BFC38A2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68068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7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68A935-EE59-AF51-622A-476A89151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388978"/>
            <a:ext cx="6114286" cy="52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plot_parabola.py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E7E36-9D11-4DC3-9B13-2DE700F60C7B}"/>
              </a:ext>
            </a:extLst>
          </p:cNvPr>
          <p:cNvSpPr/>
          <p:nvPr/>
        </p:nvSpPr>
        <p:spPr>
          <a:xfrm>
            <a:off x="4173794" y="3657600"/>
            <a:ext cx="235974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D62FB9-6F41-4080-86BC-B8AE25CB4435}"/>
              </a:ext>
            </a:extLst>
          </p:cNvPr>
          <p:cNvSpPr/>
          <p:nvPr/>
        </p:nvSpPr>
        <p:spPr>
          <a:xfrm>
            <a:off x="3094704" y="2740742"/>
            <a:ext cx="776748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68DE0867-BAF8-C1FB-784D-86F7B47BFC8F}"/>
              </a:ext>
            </a:extLst>
          </p:cNvPr>
          <p:cNvSpPr/>
          <p:nvPr/>
        </p:nvSpPr>
        <p:spPr>
          <a:xfrm>
            <a:off x="7465102" y="2330970"/>
            <a:ext cx="1506511" cy="936886"/>
          </a:xfrm>
          <a:prstGeom prst="wedgeRoundRectCallout">
            <a:avLst>
              <a:gd name="adj1" fmla="val -48196"/>
              <a:gd name="adj2" fmla="val -1239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</a:t>
            </a:r>
            <a:r>
              <a:rPr lang="en-US" b="1" dirty="0">
                <a:solidFill>
                  <a:srgbClr val="FFFF00"/>
                </a:solidFill>
              </a:rPr>
              <a:t>must</a:t>
            </a:r>
            <a:r>
              <a:rPr lang="en-US" dirty="0"/>
              <a:t> </a:t>
            </a:r>
            <a:r>
              <a:rPr lang="en-US" u="sng" dirty="0"/>
              <a:t>close</a:t>
            </a:r>
            <a:r>
              <a:rPr lang="en-US" dirty="0"/>
              <a:t> the plot window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6D8C7-E50F-1088-C24C-7AF66D2D9D15}"/>
              </a:ext>
            </a:extLst>
          </p:cNvPr>
          <p:cNvSpPr/>
          <p:nvPr/>
        </p:nvSpPr>
        <p:spPr>
          <a:xfrm>
            <a:off x="1772653" y="1388978"/>
            <a:ext cx="914400" cy="3017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4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C8658-A769-19D7-AA14-4035275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244A-900E-FA07-BF31-E6A824C4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Make a </a:t>
            </a:r>
            <a:r>
              <a:rPr lang="en-US" sz="3200" u="sng" dirty="0">
                <a:latin typeface="+mn-lt"/>
              </a:rPr>
              <a:t>Professional</a:t>
            </a:r>
            <a:r>
              <a:rPr lang="en-US" sz="3200" dirty="0">
                <a:latin typeface="+mn-lt"/>
              </a:rPr>
              <a:t>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0163A8-B6AF-69D4-4654-55F8EAE64C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Your scientist has asked you to plot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endParaRPr lang="en-US" sz="2400" b="0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The domain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endParaRPr lang="en-US" sz="2400" b="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</a:rPr>
                  <a:t>Make the line color “Olive Drab”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Plot a filled-in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circle marker at the </a:t>
                </a:r>
                <a:r>
                  <a:rPr lang="en-US" sz="2400" u="sng" dirty="0"/>
                  <a:t>minimum</a:t>
                </a:r>
                <a:r>
                  <a:rPr lang="en-US" sz="2400" dirty="0"/>
                  <a:t> point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Draw a dashed </a:t>
                </a:r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gray</a:t>
                </a:r>
                <a:r>
                  <a:rPr lang="en-US" sz="2400" dirty="0"/>
                  <a:t> horizontal tangent line passing through the minimum point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Adjust the limits of the plot to </a:t>
                </a:r>
                <a:r>
                  <a:rPr lang="en-US" sz="2400" i="1" dirty="0"/>
                  <a:t>center</a:t>
                </a:r>
                <a:r>
                  <a:rPr lang="en-US" sz="2400" dirty="0"/>
                  <a:t> the minimum point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Give the plot an appropriate </a:t>
                </a:r>
                <a:r>
                  <a:rPr lang="en-US" sz="2400" b="1" dirty="0"/>
                  <a:t>title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label each axis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Turn on a </a:t>
                </a:r>
                <a:r>
                  <a:rPr lang="en-US" sz="2400" b="1" dirty="0"/>
                  <a:t>grid</a:t>
                </a:r>
                <a:r>
                  <a:rPr lang="en-US" sz="2400" dirty="0"/>
                  <a:t> to give the viewer spatial orientation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graph is a story – make it easy for people to see 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0163A8-B6AF-69D4-4654-55F8EAE64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926" t="-1693" r="-231" b="-1432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059D-7BB2-E2F8-F56E-2DBBC01D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55E32-2E75-6C53-46E0-BF900D76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2F9359B-5905-97C1-0E2A-0DC3D0224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776" y="1644254"/>
            <a:ext cx="6078449" cy="4145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3559E7-B7BE-22C0-41A6-6F3922A7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plot_parabola.py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1593B-80A2-2B42-779D-764F2027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718BEA-AAC4-614E-E428-CE67E82A7498}"/>
              </a:ext>
            </a:extLst>
          </p:cNvPr>
          <p:cNvGrpSpPr/>
          <p:nvPr/>
        </p:nvGrpSpPr>
        <p:grpSpPr>
          <a:xfrm>
            <a:off x="6986427" y="3110025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1CE2A43-26CF-46FC-8562-9ACCE52ED4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394D79-124C-ABAC-A8AF-AE664249E8A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825526-4BED-1C4C-6EA0-C6FC36DFB081}"/>
              </a:ext>
            </a:extLst>
          </p:cNvPr>
          <p:cNvGrpSpPr/>
          <p:nvPr/>
        </p:nvGrpSpPr>
        <p:grpSpPr>
          <a:xfrm>
            <a:off x="7522835" y="3393322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B22FE07-9A15-8B0A-CA37-7A6CBE86B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6E12FA-69A8-77B9-B463-23955C384016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5E4FE0-F063-D6CE-C9F5-DEB448C84786}"/>
              </a:ext>
            </a:extLst>
          </p:cNvPr>
          <p:cNvGrpSpPr/>
          <p:nvPr/>
        </p:nvGrpSpPr>
        <p:grpSpPr>
          <a:xfrm>
            <a:off x="4861353" y="3686536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218352-45C3-6F92-5A5F-D343325AC12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446F077-3F99-02BF-1A54-0DC4F33880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A2F114D-FEF1-218D-269C-6FD49204EA01}"/>
              </a:ext>
            </a:extLst>
          </p:cNvPr>
          <p:cNvGrpSpPr/>
          <p:nvPr/>
        </p:nvGrpSpPr>
        <p:grpSpPr>
          <a:xfrm>
            <a:off x="4022324" y="3989733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ED3BC9-AFFF-CCC1-7F2B-66A064E8776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CA334FC-F451-165A-C129-0F36A93C4C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D99475-36DF-2839-C121-7990C2B86D6D}"/>
              </a:ext>
            </a:extLst>
          </p:cNvPr>
          <p:cNvGrpSpPr/>
          <p:nvPr/>
        </p:nvGrpSpPr>
        <p:grpSpPr>
          <a:xfrm>
            <a:off x="4022324" y="4277254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6AB74B-5F8B-2932-76AF-073A39157D98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B1D7D9C-EA5C-8B53-79E7-27E5D8CC29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44BBBA-E969-D906-8922-9EEBFC4F1318}"/>
              </a:ext>
            </a:extLst>
          </p:cNvPr>
          <p:cNvGrpSpPr/>
          <p:nvPr/>
        </p:nvGrpSpPr>
        <p:grpSpPr>
          <a:xfrm>
            <a:off x="4022324" y="4564775"/>
            <a:ext cx="1076632" cy="369332"/>
            <a:chOff x="2157212" y="5356391"/>
            <a:chExt cx="1076632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1B6B067-1863-9075-B7B0-E3A9B0ADC37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F74CE5A-90EE-682F-B468-95B0A0DCFE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B96A7BA-C87A-72B1-354B-278FA4F1E03B}"/>
              </a:ext>
            </a:extLst>
          </p:cNvPr>
          <p:cNvGrpSpPr/>
          <p:nvPr/>
        </p:nvGrpSpPr>
        <p:grpSpPr>
          <a:xfrm>
            <a:off x="4174723" y="4852297"/>
            <a:ext cx="1076632" cy="369332"/>
            <a:chOff x="2157212" y="5356391"/>
            <a:chExt cx="1076632" cy="3693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912CDE-C83D-C58E-C4C9-B9310D3354F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BB94184-7D08-6FAC-DF67-93CF8C7E81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2BDD8B7-C169-7911-FB2B-317D6D2C434C}"/>
              </a:ext>
            </a:extLst>
          </p:cNvPr>
          <p:cNvGrpSpPr/>
          <p:nvPr/>
        </p:nvGrpSpPr>
        <p:grpSpPr>
          <a:xfrm>
            <a:off x="3924078" y="5163516"/>
            <a:ext cx="1076632" cy="369332"/>
            <a:chOff x="2157212" y="5356391"/>
            <a:chExt cx="1076632" cy="3693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A5B3A46-2EDB-1158-0572-14D65714913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FD54410-1433-61CF-7E56-41C8677E4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FE4F3318-EB2C-5E3F-7342-E5F4B1CC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43" y="3655026"/>
            <a:ext cx="1109679" cy="4817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68F58F-FA66-537E-E47B-99962F2BE859}"/>
              </a:ext>
            </a:extLst>
          </p:cNvPr>
          <p:cNvSpPr/>
          <p:nvPr/>
        </p:nvSpPr>
        <p:spPr>
          <a:xfrm>
            <a:off x="2095787" y="3130130"/>
            <a:ext cx="5460043" cy="23657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EA3EC-0A59-3F5E-B2B6-1A00B1AAED9F}"/>
              </a:ext>
            </a:extLst>
          </p:cNvPr>
          <p:cNvSpPr txBox="1"/>
          <p:nvPr/>
        </p:nvSpPr>
        <p:spPr>
          <a:xfrm>
            <a:off x="2735568" y="5898919"/>
            <a:ext cx="3878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You must type in (add) the lines in the white rectangle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F2057C-CCC9-FD4D-B9AD-093CBBED75B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345817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F90D-9FD0-DFEF-88D7-21373AA3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CD74C2-7AF7-914C-7AA8-A6BEB117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388978"/>
            <a:ext cx="6114286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92EEBF-4666-DB73-9B36-F26080AD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plot_parabola.py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BF52-2FBD-92B8-39DF-D0F980B1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0C00B0-BB91-E942-6B53-FA2873D725C8}"/>
              </a:ext>
            </a:extLst>
          </p:cNvPr>
          <p:cNvSpPr/>
          <p:nvPr/>
        </p:nvSpPr>
        <p:spPr>
          <a:xfrm>
            <a:off x="4173794" y="3657600"/>
            <a:ext cx="235974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EDA0C-29E5-BE27-1A16-97FB548BD620}"/>
              </a:ext>
            </a:extLst>
          </p:cNvPr>
          <p:cNvSpPr/>
          <p:nvPr/>
        </p:nvSpPr>
        <p:spPr>
          <a:xfrm>
            <a:off x="3094704" y="2740742"/>
            <a:ext cx="776748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5A624-4B45-FBE1-65D3-5901C1866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322" y="1599642"/>
            <a:ext cx="1524132" cy="17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6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0347D6-BE96-4F8D-B65F-B69E56311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577" y="566296"/>
            <a:ext cx="1888847" cy="743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3D21CB-14F9-492F-A128-AB82223C7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58" y="2145178"/>
            <a:ext cx="7039683" cy="42282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115AEA-EDD1-432A-B3AC-64B348E9C427}"/>
              </a:ext>
            </a:extLst>
          </p:cNvPr>
          <p:cNvSpPr txBox="1"/>
          <p:nvPr/>
        </p:nvSpPr>
        <p:spPr>
          <a:xfrm>
            <a:off x="2993923" y="1444101"/>
            <a:ext cx="315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5"/>
              </a:rPr>
              <a:t>https://www.latex-project.org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90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B2CA1-319B-569C-8E32-E618B1E21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35" y="1384306"/>
            <a:ext cx="8143330" cy="39222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15AEA-EDD1-432A-B3AC-64B348E9C427}"/>
              </a:ext>
            </a:extLst>
          </p:cNvPr>
          <p:cNvSpPr txBox="1"/>
          <p:nvPr/>
        </p:nvSpPr>
        <p:spPr>
          <a:xfrm>
            <a:off x="2993922" y="714058"/>
            <a:ext cx="315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https://www.overleaf.com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7115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BB0B60-45E0-C35B-C76D-983E2354C461}"/>
              </a:ext>
            </a:extLst>
          </p:cNvPr>
          <p:cNvSpPr txBox="1"/>
          <p:nvPr/>
        </p:nvSpPr>
        <p:spPr>
          <a:xfrm>
            <a:off x="1125954" y="766524"/>
            <a:ext cx="689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https://www.overleaf.com/learn/latex/Learn_LaTeX_in_30_minutes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7E3D7-4057-B729-750E-A78D3B946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24" y="1381782"/>
            <a:ext cx="7614552" cy="49745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8943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15AEA-EDD1-432A-B3AC-64B348E9C427}"/>
              </a:ext>
            </a:extLst>
          </p:cNvPr>
          <p:cNvSpPr txBox="1"/>
          <p:nvPr/>
        </p:nvSpPr>
        <p:spPr>
          <a:xfrm>
            <a:off x="2993922" y="714058"/>
            <a:ext cx="315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https://www.texstudio.org</a:t>
            </a:r>
            <a:r>
              <a:rPr lang="en-US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C7EA8A-40F5-4DCA-B491-0729A8E90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69" y="1557402"/>
            <a:ext cx="7538659" cy="44523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0097CF9-50ED-4955-98E7-BC2C3ED39455}"/>
              </a:ext>
            </a:extLst>
          </p:cNvPr>
          <p:cNvSpPr/>
          <p:nvPr/>
        </p:nvSpPr>
        <p:spPr>
          <a:xfrm>
            <a:off x="5736612" y="4285173"/>
            <a:ext cx="2246462" cy="648164"/>
          </a:xfrm>
          <a:prstGeom prst="wedgeRectCallout">
            <a:avLst>
              <a:gd name="adj1" fmla="val 12743"/>
              <a:gd name="adj2" fmla="val -163265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100% free – runs on Windows, Mac, Linux</a:t>
            </a:r>
          </a:p>
        </p:txBody>
      </p:sp>
    </p:spTree>
    <p:extLst>
      <p:ext uri="{BB962C8B-B14F-4D97-AF65-F5344CB8AC3E}">
        <p14:creationId xmlns:p14="http://schemas.microsoft.com/office/powerpoint/2010/main" val="107854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402A4-493F-F3EE-A973-16C7FCF1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996A-4F1D-D5A7-9314-C8CCED39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Example </a:t>
            </a:r>
            <a:r>
              <a:rPr lang="en-US" sz="3200" b="1" dirty="0">
                <a:latin typeface="+mn-lt"/>
              </a:rPr>
              <a:t>LaTeX</a:t>
            </a:r>
            <a:r>
              <a:rPr lang="en-US" sz="3200" dirty="0">
                <a:latin typeface="+mn-lt"/>
              </a:rPr>
              <a:t> Commands in </a:t>
            </a:r>
            <a:r>
              <a:rPr lang="en-US" sz="3200" b="1" dirty="0">
                <a:latin typeface="+mn-lt"/>
              </a:rPr>
              <a:t>matplotlib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4C7CF-7F75-017D-1003-2FAEDD808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D9AC51-A70E-F884-E90D-6D9893846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62" y="1656515"/>
            <a:ext cx="7779476" cy="44181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35B96C-A929-B7AE-C5E0-5642CCA5B223}"/>
              </a:ext>
            </a:extLst>
          </p:cNvPr>
          <p:cNvSpPr/>
          <p:nvPr/>
        </p:nvSpPr>
        <p:spPr>
          <a:xfrm>
            <a:off x="883443" y="2433637"/>
            <a:ext cx="99887" cy="165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32080E-842D-A413-F210-2DCDE593A4A5}"/>
              </a:ext>
            </a:extLst>
          </p:cNvPr>
          <p:cNvSpPr/>
          <p:nvPr/>
        </p:nvSpPr>
        <p:spPr>
          <a:xfrm>
            <a:off x="1426368" y="2433636"/>
            <a:ext cx="99887" cy="165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BB0818-96EF-661E-488B-93FAD3668B79}"/>
              </a:ext>
            </a:extLst>
          </p:cNvPr>
          <p:cNvSpPr/>
          <p:nvPr/>
        </p:nvSpPr>
        <p:spPr>
          <a:xfrm>
            <a:off x="959518" y="2939215"/>
            <a:ext cx="99887" cy="165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6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406E2-F846-B399-8D80-ACA2D65DB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0DAF50-F236-582C-C107-650102467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63" y="1656515"/>
            <a:ext cx="7370875" cy="4420395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78F020-DEED-87B1-97FB-55E84445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Example </a:t>
            </a:r>
            <a:r>
              <a:rPr lang="en-US" sz="3200" b="1" dirty="0">
                <a:latin typeface="+mn-lt"/>
              </a:rPr>
              <a:t>LaTeX</a:t>
            </a:r>
            <a:r>
              <a:rPr lang="en-US" sz="3200" dirty="0">
                <a:latin typeface="+mn-lt"/>
              </a:rPr>
              <a:t> Commands in </a:t>
            </a:r>
            <a:r>
              <a:rPr lang="en-US" sz="3200" b="1" dirty="0">
                <a:latin typeface="+mn-lt"/>
              </a:rPr>
              <a:t>matplotlib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9AFA8-7CF9-5B66-8D46-FDE7A712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BC8C2-21D8-2047-4D9B-6A53E85151DE}"/>
              </a:ext>
            </a:extLst>
          </p:cNvPr>
          <p:cNvSpPr/>
          <p:nvPr/>
        </p:nvSpPr>
        <p:spPr>
          <a:xfrm>
            <a:off x="1511466" y="1880185"/>
            <a:ext cx="99887" cy="165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BDE430-46C4-56CC-D3D9-E0CFA35FC3A9}"/>
              </a:ext>
            </a:extLst>
          </p:cNvPr>
          <p:cNvSpPr/>
          <p:nvPr/>
        </p:nvSpPr>
        <p:spPr>
          <a:xfrm>
            <a:off x="1716250" y="1880184"/>
            <a:ext cx="99887" cy="165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1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EB5EC-7EC4-F811-9024-301B65F9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543F-DE55-F7F7-AF2F-DFA56724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Plotting a Quintic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90D04-66BF-FA00-DE6A-C12021EAF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Your scientist has asked you to plot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−120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+22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+2119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+1980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≤12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Make the line </a:t>
                </a:r>
                <a:r>
                  <a:rPr lang="en-US" sz="2400" b="1" dirty="0">
                    <a:solidFill>
                      <a:srgbClr val="07FF82"/>
                    </a:solidFill>
                  </a:rPr>
                  <a:t>Spring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7FF82"/>
                    </a:solidFill>
                  </a:rPr>
                  <a:t>Green</a:t>
                </a:r>
                <a:r>
                  <a:rPr lang="en-US" sz="2400" dirty="0"/>
                  <a:t> color</a:t>
                </a:r>
              </a:p>
              <a:p>
                <a:r>
                  <a:rPr lang="en-US" sz="2400" dirty="0"/>
                  <a:t>Give the plot an appropriate </a:t>
                </a:r>
                <a:r>
                  <a:rPr lang="en-US" sz="2400" b="1" dirty="0"/>
                  <a:t>title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label each axis</a:t>
                </a:r>
              </a:p>
              <a:p>
                <a:r>
                  <a:rPr lang="en-US" sz="2400" dirty="0"/>
                  <a:t>Turn on a </a:t>
                </a:r>
                <a:r>
                  <a:rPr lang="en-US" sz="2400" b="1" dirty="0"/>
                  <a:t>grid</a:t>
                </a:r>
                <a:r>
                  <a:rPr lang="en-US" sz="2400" dirty="0"/>
                  <a:t> to give the viewer spatial orientation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90D04-66BF-FA00-DE6A-C12021EAF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67623-3675-62B4-C5B8-B6309D28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52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823DC31-5BE4-0154-91F0-381D36C9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Thermodynamics</a:t>
            </a:r>
            <a:r>
              <a:rPr lang="en-US" sz="3200" dirty="0">
                <a:latin typeface="+mn-lt"/>
              </a:rPr>
              <a:t> of Calculation</a:t>
            </a:r>
            <a:endParaRPr lang="en-US" sz="3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178" y="1825625"/>
                <a:ext cx="8065645" cy="435133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These two forms possess the same information </a:t>
                </a:r>
                <a:r>
                  <a:rPr lang="en-US" sz="2400" i="1" dirty="0"/>
                  <a:t>content</a:t>
                </a:r>
                <a:r>
                  <a:rPr lang="en-US" sz="2400" dirty="0"/>
                  <a:t>:</a:t>
                </a:r>
              </a:p>
              <a:p>
                <a:pPr marL="91440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−120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+22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+2119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+1980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91440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+9)(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+4)(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−5)(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−11)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However, which form would be </a:t>
                </a:r>
                <a:r>
                  <a:rPr lang="en-US" sz="2400" i="1" dirty="0"/>
                  <a:t>easier</a:t>
                </a:r>
                <a:r>
                  <a:rPr lang="en-US" sz="2400" dirty="0"/>
                  <a:t> to calculate?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The first form has multiple exponentiations and large coefficients – would it require more </a:t>
                </a:r>
                <a:r>
                  <a:rPr lang="en-US" sz="2000" b="1" u="sng" dirty="0">
                    <a:solidFill>
                      <a:srgbClr val="FF0000"/>
                    </a:solidFill>
                  </a:rPr>
                  <a:t>enthalpy</a:t>
                </a:r>
                <a:r>
                  <a:rPr lang="en-US" sz="2000" dirty="0"/>
                  <a:t>?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The 2</a:t>
                </a:r>
                <a:r>
                  <a:rPr lang="en-US" sz="2000" baseline="30000" dirty="0"/>
                  <a:t>nd</a:t>
                </a:r>
                <a:r>
                  <a:rPr lang="en-US" sz="2000" dirty="0"/>
                  <a:t> form seems simpler: does it have less </a:t>
                </a:r>
                <a:r>
                  <a:rPr lang="en-US" sz="2000" b="1" u="sng" dirty="0">
                    <a:solidFill>
                      <a:srgbClr val="00B050"/>
                    </a:solidFill>
                  </a:rPr>
                  <a:t>entropy</a:t>
                </a:r>
                <a:r>
                  <a:rPr lang="en-US" sz="2000" dirty="0"/>
                  <a:t>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Which form </a:t>
                </a:r>
                <a:r>
                  <a:rPr lang="en-US" sz="2400" b="1" dirty="0"/>
                  <a:t>surfaces</a:t>
                </a:r>
                <a:r>
                  <a:rPr lang="en-US" sz="2400" dirty="0"/>
                  <a:t> the "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basis</a:t>
                </a:r>
                <a:r>
                  <a:rPr lang="en-US" sz="2400" dirty="0"/>
                  <a:t>" (roots) of the equation?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What makes one form more </a:t>
                </a:r>
                <a:r>
                  <a:rPr lang="en-US" sz="2400" b="1" i="1" dirty="0">
                    <a:solidFill>
                      <a:srgbClr val="7030A0"/>
                    </a:solidFill>
                  </a:rPr>
                  <a:t>fundamental </a:t>
                </a:r>
                <a:r>
                  <a:rPr lang="en-US" sz="2400" dirty="0"/>
                  <a:t>than the other?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goal with code is always </a:t>
                </a:r>
                <a:r>
                  <a:rPr lang="en-US" sz="2400" b="1" dirty="0"/>
                  <a:t>“correctness </a:t>
                </a:r>
                <a:r>
                  <a:rPr lang="en-US" sz="2400" b="1" i="1" dirty="0"/>
                  <a:t>with</a:t>
                </a:r>
                <a:r>
                  <a:rPr lang="en-US" sz="2400" b="1" dirty="0"/>
                  <a:t> simplicity”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178" y="1825625"/>
                <a:ext cx="8065645" cy="4351338"/>
              </a:xfrm>
              <a:blipFill>
                <a:blip r:embed="rId3"/>
                <a:stretch>
                  <a:fillRect l="-982" t="-1961" b="-5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5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80FE-2E5D-350A-4F70-AE6F5F389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4904882A-EC72-5EC0-9879-A191520769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94" y="2092371"/>
            <a:ext cx="5648212" cy="26485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9E87A6-324D-7995-EB28-C51FE8DF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plot_quintic.py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1A9F1-7E98-E6EA-76F4-8086C510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47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3A9F0B-4B1A-12B5-6F14-F184528EFBA3}"/>
              </a:ext>
            </a:extLst>
          </p:cNvPr>
          <p:cNvGrpSpPr/>
          <p:nvPr/>
        </p:nvGrpSpPr>
        <p:grpSpPr>
          <a:xfrm>
            <a:off x="4948345" y="2084583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00E8220-B079-3D0D-1F0F-981FB3F8B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6BEA00-B1F3-FC80-79F5-3B90BAC4961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37E113-67CD-7AB0-7CFD-829C4C2CC0E6}"/>
              </a:ext>
            </a:extLst>
          </p:cNvPr>
          <p:cNvGrpSpPr/>
          <p:nvPr/>
        </p:nvGrpSpPr>
        <p:grpSpPr>
          <a:xfrm>
            <a:off x="7380559" y="2345381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138FA2D-56B8-54CF-6E31-8B4168520E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57E58B-9237-13F9-B4A3-91FA4804945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72A068-CC49-12AC-911A-6785EDEDDD23}"/>
              </a:ext>
            </a:extLst>
          </p:cNvPr>
          <p:cNvGrpSpPr/>
          <p:nvPr/>
        </p:nvGrpSpPr>
        <p:grpSpPr>
          <a:xfrm>
            <a:off x="5112944" y="2836851"/>
            <a:ext cx="1068643" cy="369332"/>
            <a:chOff x="3647644" y="4910075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B071DE-DD63-D441-C29C-ADA6387821F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A636BF5-FA80-8AEE-1302-2B8B55503A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B69813-51C3-E53C-13A0-C956F3F5446D}"/>
              </a:ext>
            </a:extLst>
          </p:cNvPr>
          <p:cNvGrpSpPr/>
          <p:nvPr/>
        </p:nvGrpSpPr>
        <p:grpSpPr>
          <a:xfrm>
            <a:off x="5771332" y="3106593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DB27D9-5271-20A2-C69F-7C72AF2004A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8C4C58B-E8B6-80F7-18E9-33FF3A20A8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82EF9F-0F4B-76FD-FB87-FA0628FBEECF}"/>
              </a:ext>
            </a:extLst>
          </p:cNvPr>
          <p:cNvGrpSpPr/>
          <p:nvPr/>
        </p:nvGrpSpPr>
        <p:grpSpPr>
          <a:xfrm>
            <a:off x="7044780" y="3349970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0B6E1F-0A7F-F872-D573-13F59ECC5F6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CCC307A-C326-9A7B-774E-C7A8EC23D5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7B0F3CA-E83B-BA93-20AA-8CBEBD1C864F}"/>
              </a:ext>
            </a:extLst>
          </p:cNvPr>
          <p:cNvGrpSpPr/>
          <p:nvPr/>
        </p:nvGrpSpPr>
        <p:grpSpPr>
          <a:xfrm>
            <a:off x="3360188" y="4121006"/>
            <a:ext cx="1076632" cy="369332"/>
            <a:chOff x="2157212" y="5356391"/>
            <a:chExt cx="1076632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CF8C3F3-DE9A-9F96-47B4-8CD5B92D360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BE9A34A-B4FF-7A60-E6C2-5096684B4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F7DD164-87EB-B8CD-D6F0-2A843BCD5DBB}"/>
              </a:ext>
            </a:extLst>
          </p:cNvPr>
          <p:cNvGrpSpPr/>
          <p:nvPr/>
        </p:nvGrpSpPr>
        <p:grpSpPr>
          <a:xfrm>
            <a:off x="3578038" y="3711281"/>
            <a:ext cx="1076632" cy="369332"/>
            <a:chOff x="2157212" y="5356391"/>
            <a:chExt cx="1076632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3FD786C-4B6D-1A6C-3BC2-3D6F973C593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FC656EB-3392-DCED-7B90-39AB84A520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E209C77-2DEF-99CB-C65E-317E5DC61608}"/>
              </a:ext>
            </a:extLst>
          </p:cNvPr>
          <p:cNvSpPr txBox="1"/>
          <p:nvPr/>
        </p:nvSpPr>
        <p:spPr>
          <a:xfrm>
            <a:off x="2150288" y="5143462"/>
            <a:ext cx="4625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https://docs.python.org/3/library/pathlib.html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94D39-1BE5-650C-3E4A-ABE328725CBC}"/>
              </a:ext>
            </a:extLst>
          </p:cNvPr>
          <p:cNvSpPr txBox="1"/>
          <p:nvPr/>
        </p:nvSpPr>
        <p:spPr>
          <a:xfrm>
            <a:off x="1532226" y="5744621"/>
            <a:ext cx="607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https://www.pythonmorsels.com/dunder-variables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3DF26-EE3A-0840-519E-32A325F120BF}"/>
              </a:ext>
            </a:extLst>
          </p:cNvPr>
          <p:cNvSpPr txBox="1"/>
          <p:nvPr/>
        </p:nvSpPr>
        <p:spPr>
          <a:xfrm>
            <a:off x="337617" y="2628987"/>
            <a:ext cx="11946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“dunder” = </a:t>
            </a:r>
            <a:r>
              <a:rPr lang="en-US" sz="1600" b="1" dirty="0">
                <a:solidFill>
                  <a:srgbClr val="7030A0"/>
                </a:solidFill>
              </a:rPr>
              <a:t>double underscore</a:t>
            </a:r>
          </a:p>
          <a:p>
            <a:pPr algn="ctr"/>
            <a:endParaRPr lang="en-US" sz="1600" b="1" dirty="0">
              <a:solidFill>
                <a:srgbClr val="7030A0"/>
              </a:solidFill>
            </a:endParaRPr>
          </a:p>
          <a:p>
            <a:pPr algn="ctr"/>
            <a:r>
              <a:rPr lang="en-US" sz="1600" dirty="0">
                <a:solidFill>
                  <a:srgbClr val="7030A0"/>
                </a:solidFill>
              </a:rPr>
              <a:t>dunder </a:t>
            </a:r>
            <a:r>
              <a:rPr lang="en-US" sz="1600" b="1" dirty="0">
                <a:solidFill>
                  <a:srgbClr val="7030A0"/>
                </a:solidFill>
              </a:rPr>
              <a:t>variables</a:t>
            </a:r>
          </a:p>
          <a:p>
            <a:pPr algn="ctr"/>
            <a:endParaRPr lang="en-US" sz="1600" dirty="0">
              <a:solidFill>
                <a:srgbClr val="7030A0"/>
              </a:solidFill>
            </a:endParaRPr>
          </a:p>
          <a:p>
            <a:pPr algn="ctr"/>
            <a:r>
              <a:rPr lang="en-US" sz="1600" dirty="0">
                <a:solidFill>
                  <a:srgbClr val="7030A0"/>
                </a:solidFill>
              </a:rPr>
              <a:t>dunder </a:t>
            </a:r>
            <a:r>
              <a:rPr lang="en-US" sz="1600" b="1" dirty="0">
                <a:solidFill>
                  <a:srgbClr val="7030A0"/>
                </a:solidFill>
              </a:rPr>
              <a:t>methods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1A81FC-4238-D7C3-70AD-C5F057A0F4CC}"/>
              </a:ext>
            </a:extLst>
          </p:cNvPr>
          <p:cNvSpPr/>
          <p:nvPr/>
        </p:nvSpPr>
        <p:spPr>
          <a:xfrm>
            <a:off x="2983809" y="3445178"/>
            <a:ext cx="120296" cy="20666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37663B-E513-DB9D-4032-97D7E43F2E11}"/>
              </a:ext>
            </a:extLst>
          </p:cNvPr>
          <p:cNvSpPr/>
          <p:nvPr/>
        </p:nvSpPr>
        <p:spPr>
          <a:xfrm>
            <a:off x="6663810" y="3450148"/>
            <a:ext cx="120296" cy="20666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EA1E28E-2107-41BD-2C4F-C68CAEB16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071" y="3838975"/>
            <a:ext cx="1109679" cy="48172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A118D40-4D7F-CEE2-9E06-C9A7668C76DC}"/>
              </a:ext>
            </a:extLst>
          </p:cNvPr>
          <p:cNvGrpSpPr/>
          <p:nvPr/>
        </p:nvGrpSpPr>
        <p:grpSpPr>
          <a:xfrm>
            <a:off x="3031193" y="4371639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5DD46A-C131-22B9-4012-4E2050AC0EF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1535619-6718-394C-950A-00DC4DE80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D952B1F-9047-BFC3-0512-D5782366A9F8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164631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5" grpId="0"/>
      <p:bldP spid="6" grpId="0"/>
      <p:bldP spid="32" grpId="0" animBg="1"/>
      <p:bldP spid="33" grpId="0" animBg="1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FE1062-7577-4420-218A-5B3080AA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4491"/>
            <a:ext cx="6114286" cy="52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plot_quintic.py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BD11CE-0409-82DD-718F-DE4294E3F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07" y="2957452"/>
            <a:ext cx="5388629" cy="724212"/>
          </a:xfrm>
          <a:prstGeom prst="rect">
            <a:avLst/>
          </a:prstGeom>
          <a:ln w="28575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22FD9DB-11A9-A7EA-D8CD-FF5BFA58A876}"/>
              </a:ext>
            </a:extLst>
          </p:cNvPr>
          <p:cNvSpPr/>
          <p:nvPr/>
        </p:nvSpPr>
        <p:spPr>
          <a:xfrm>
            <a:off x="2594309" y="4640766"/>
            <a:ext cx="200527" cy="20052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DD3507-C5C6-17A1-F236-E39C691B4F57}"/>
              </a:ext>
            </a:extLst>
          </p:cNvPr>
          <p:cNvSpPr/>
          <p:nvPr/>
        </p:nvSpPr>
        <p:spPr>
          <a:xfrm>
            <a:off x="3580779" y="4640766"/>
            <a:ext cx="200527" cy="20052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FB3F55-FD21-214D-4E7D-993E52193007}"/>
              </a:ext>
            </a:extLst>
          </p:cNvPr>
          <p:cNvSpPr/>
          <p:nvPr/>
        </p:nvSpPr>
        <p:spPr>
          <a:xfrm>
            <a:off x="4143387" y="4640766"/>
            <a:ext cx="200527" cy="20052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654F5C-F05F-F1C9-1F2F-AF8E279F394F}"/>
              </a:ext>
            </a:extLst>
          </p:cNvPr>
          <p:cNvSpPr/>
          <p:nvPr/>
        </p:nvSpPr>
        <p:spPr>
          <a:xfrm>
            <a:off x="5339416" y="4640766"/>
            <a:ext cx="200527" cy="20052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D793E4-4372-A0B8-017B-EA4BD81B6487}"/>
              </a:ext>
            </a:extLst>
          </p:cNvPr>
          <p:cNvSpPr/>
          <p:nvPr/>
        </p:nvSpPr>
        <p:spPr>
          <a:xfrm>
            <a:off x="6499726" y="4640766"/>
            <a:ext cx="200527" cy="20052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2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7AC5-BF2E-CBF1-7DFD-4EB3E92B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F130F-DC17-72AE-97D2-C1CA4064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Plotting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4A4DE-CDB2-EC61-C961-0BBF10814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Your scientist has asked you to plot a </a:t>
                </a:r>
                <a:r>
                  <a:rPr lang="en-US" sz="2400" b="1" dirty="0"/>
                  <a:t>circle</a:t>
                </a:r>
                <a:r>
                  <a:rPr lang="en-US" sz="2400" dirty="0"/>
                  <a:t> with </a:t>
                </a:r>
                <a:r>
                  <a:rPr lang="en-US" sz="2400" b="1" dirty="0"/>
                  <a:t>radius 250 </a:t>
                </a:r>
                <a:r>
                  <a:rPr lang="en-US" sz="2400" i="1" dirty="0"/>
                  <a:t>centered at the origin</a:t>
                </a:r>
              </a:p>
              <a:p>
                <a:r>
                  <a:rPr lang="en-US" sz="2400" dirty="0"/>
                  <a:t>The standard form for a circle at the origin with a given radius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Color the perimeter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blue</a:t>
                </a:r>
              </a:p>
              <a:p>
                <a:r>
                  <a:rPr lang="en-US" sz="2400" dirty="0"/>
                  <a:t>Consider the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symmetries</a:t>
                </a:r>
                <a:r>
                  <a:rPr lang="en-US" sz="2400" dirty="0"/>
                  <a:t> within a circle that we can leverage to </a:t>
                </a:r>
                <a:r>
                  <a:rPr lang="en-US" sz="2400" dirty="0">
                    <a:solidFill>
                      <a:srgbClr val="FF0000"/>
                    </a:solidFill>
                  </a:rPr>
                  <a:t>avoid </a:t>
                </a:r>
                <a:r>
                  <a:rPr lang="en-US" sz="2400" dirty="0"/>
                  <a:t>redundant calculations?</a:t>
                </a:r>
              </a:p>
              <a:p>
                <a:r>
                  <a:rPr lang="en-US" sz="2400" dirty="0"/>
                  <a:t>What would be your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solution strategy?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4A4DE-CDB2-EC61-C961-0BBF10814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E65B0-AB6A-FEDC-375F-965AD559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5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00BC-4B47-2F3F-2EB0-5613D788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C79EC1-423D-053E-D3D7-259BCAFD3F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42" y="1510624"/>
            <a:ext cx="5285316" cy="50341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4B2EF4-CBC4-9324-2B83-80A8A82CF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plot_circle.py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AA4B2-5CD2-0D43-7DD9-B28788E4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50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55448AD-2D56-E206-4F30-259BAFFE0CF9}"/>
              </a:ext>
            </a:extLst>
          </p:cNvPr>
          <p:cNvGrpSpPr/>
          <p:nvPr/>
        </p:nvGrpSpPr>
        <p:grpSpPr>
          <a:xfrm>
            <a:off x="3427823" y="1494383"/>
            <a:ext cx="1076632" cy="369332"/>
            <a:chOff x="4968362" y="2079211"/>
            <a:chExt cx="1076632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65677B0-200B-04CF-B917-E4143BEF0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730C75-AA5A-8B45-AB4F-5C3FE44CA5A5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8B820A-F02B-EDDE-415D-C9046F1A9FBF}"/>
              </a:ext>
            </a:extLst>
          </p:cNvPr>
          <p:cNvGrpSpPr/>
          <p:nvPr/>
        </p:nvGrpSpPr>
        <p:grpSpPr>
          <a:xfrm>
            <a:off x="5508586" y="1753212"/>
            <a:ext cx="1076632" cy="369332"/>
            <a:chOff x="4704120" y="2356972"/>
            <a:chExt cx="1076632" cy="369332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9144E81-AAF0-C799-C717-20FCD31A5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48CDDB-81CD-F9D7-EFA9-0AF50B5F383D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9B5305C-BB63-7AD0-BF6C-2C1AFA0AC965}"/>
              </a:ext>
            </a:extLst>
          </p:cNvPr>
          <p:cNvGrpSpPr/>
          <p:nvPr/>
        </p:nvGrpSpPr>
        <p:grpSpPr>
          <a:xfrm>
            <a:off x="5230017" y="1984156"/>
            <a:ext cx="1068643" cy="369332"/>
            <a:chOff x="3647644" y="4910075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4A772B0-B9DC-C192-37D0-248D8E941C7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7DAA098-A12D-D233-E79C-2C707F4F7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FE2115E-A78B-3AAF-6999-6C98A9B5839A}"/>
              </a:ext>
            </a:extLst>
          </p:cNvPr>
          <p:cNvGrpSpPr/>
          <p:nvPr/>
        </p:nvGrpSpPr>
        <p:grpSpPr>
          <a:xfrm>
            <a:off x="4742889" y="2816526"/>
            <a:ext cx="1064340" cy="369332"/>
            <a:chOff x="3647644" y="5421073"/>
            <a:chExt cx="1064340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8EA8FA2-1BB3-7529-E44E-E4407F911C0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E22302C-B0BF-0F94-610E-E4162E545C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C054EF-F74C-C32A-9125-FB7B403359D8}"/>
              </a:ext>
            </a:extLst>
          </p:cNvPr>
          <p:cNvGrpSpPr/>
          <p:nvPr/>
        </p:nvGrpSpPr>
        <p:grpSpPr>
          <a:xfrm>
            <a:off x="4738586" y="3215931"/>
            <a:ext cx="1068643" cy="369332"/>
            <a:chOff x="3647644" y="5359159"/>
            <a:chExt cx="1068643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4F2F7E-82D7-643B-3F24-A10D4D69D00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4D670B3-6ADB-2CF1-81C2-DABD115A3A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3A7251-5B2C-3CAA-73F3-D2C0AC0B823F}"/>
              </a:ext>
            </a:extLst>
          </p:cNvPr>
          <p:cNvGrpSpPr/>
          <p:nvPr/>
        </p:nvGrpSpPr>
        <p:grpSpPr>
          <a:xfrm>
            <a:off x="7193129" y="4380321"/>
            <a:ext cx="1076632" cy="369332"/>
            <a:chOff x="2157212" y="5356391"/>
            <a:chExt cx="1076632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0CF1D3E-BD46-CE8F-CE8B-FE35699B8CA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E61EAF9-309A-AC25-AEEE-C843B9AD1C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E851F6F-3221-6173-CB42-EA7798014581}"/>
              </a:ext>
            </a:extLst>
          </p:cNvPr>
          <p:cNvGrpSpPr/>
          <p:nvPr/>
        </p:nvGrpSpPr>
        <p:grpSpPr>
          <a:xfrm>
            <a:off x="5915202" y="5270831"/>
            <a:ext cx="1076632" cy="369332"/>
            <a:chOff x="2157212" y="5356391"/>
            <a:chExt cx="107663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4629DED-5EF1-46F7-A41D-87BB2B041BE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3CBF899-7B81-8D31-031B-521FA0A984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6234083-7752-54AB-5D64-3C4AF9C26E42}"/>
              </a:ext>
            </a:extLst>
          </p:cNvPr>
          <p:cNvGrpSpPr/>
          <p:nvPr/>
        </p:nvGrpSpPr>
        <p:grpSpPr>
          <a:xfrm>
            <a:off x="5243149" y="3934843"/>
            <a:ext cx="1076632" cy="369332"/>
            <a:chOff x="2157212" y="5356391"/>
            <a:chExt cx="107663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14A449C-591A-0454-11DC-F4FC442D833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03F7CF0-75ED-F8B0-05E4-959A52B1B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B93CC25-3D7B-1904-7653-66BEE394B6E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26CA43-7FD8-F0CC-9B9F-8E743E31F75C}"/>
                  </a:ext>
                </a:extLst>
              </p:cNvPr>
              <p:cNvSpPr txBox="1"/>
              <p:nvPr/>
            </p:nvSpPr>
            <p:spPr>
              <a:xfrm>
                <a:off x="5709232" y="2289302"/>
                <a:ext cx="13921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26CA43-7FD8-F0CC-9B9F-8E743E31F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232" y="2289302"/>
                <a:ext cx="1392120" cy="338554"/>
              </a:xfrm>
              <a:prstGeom prst="rect">
                <a:avLst/>
              </a:prstGeom>
              <a:blipFill>
                <a:blip r:embed="rId3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050518-7FCE-66F5-C357-698158E8D9BD}"/>
                  </a:ext>
                </a:extLst>
              </p:cNvPr>
              <p:cNvSpPr txBox="1"/>
              <p:nvPr/>
            </p:nvSpPr>
            <p:spPr>
              <a:xfrm>
                <a:off x="5709232" y="2588082"/>
                <a:ext cx="1392120" cy="399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050518-7FCE-66F5-C357-698158E8D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232" y="2588082"/>
                <a:ext cx="1392120" cy="399405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49F8291-0DC8-AE21-7769-648912F1FB99}"/>
              </a:ext>
            </a:extLst>
          </p:cNvPr>
          <p:cNvSpPr txBox="1"/>
          <p:nvPr/>
        </p:nvSpPr>
        <p:spPr>
          <a:xfrm>
            <a:off x="5805036" y="3233405"/>
            <a:ext cx="130582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Symmetries!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72B1FE-C834-6254-F09F-26D033A7ABD7}"/>
              </a:ext>
            </a:extLst>
          </p:cNvPr>
          <p:cNvGrpSpPr/>
          <p:nvPr/>
        </p:nvGrpSpPr>
        <p:grpSpPr>
          <a:xfrm>
            <a:off x="5244980" y="5694314"/>
            <a:ext cx="1076632" cy="369332"/>
            <a:chOff x="2157212" y="5356391"/>
            <a:chExt cx="1076632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DE6BC4-9B97-0107-5B8F-77ED61DD782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284786-9E8C-401C-7C29-0FC2920AA2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5CA213-8D21-4B9D-5DCC-45ABA538F096}"/>
              </a:ext>
            </a:extLst>
          </p:cNvPr>
          <p:cNvGrpSpPr/>
          <p:nvPr/>
        </p:nvGrpSpPr>
        <p:grpSpPr>
          <a:xfrm>
            <a:off x="3600752" y="5954935"/>
            <a:ext cx="1076632" cy="369332"/>
            <a:chOff x="2157212" y="5356391"/>
            <a:chExt cx="1076632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5D05C7-928F-C36D-B85A-2EA44DF80B7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6F27782-0AF6-110E-A914-9C46A03BAA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6B6D58E-A0DF-3D83-B47D-45C638BEE009}"/>
              </a:ext>
            </a:extLst>
          </p:cNvPr>
          <p:cNvSpPr/>
          <p:nvPr/>
        </p:nvSpPr>
        <p:spPr>
          <a:xfrm>
            <a:off x="2433638" y="5767136"/>
            <a:ext cx="581025" cy="24551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1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5" grpId="0" animBg="1"/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F5F5-54E3-83BD-A854-054DE105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F0AC64B-01F1-7891-1794-CF39FD27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3520"/>
            <a:ext cx="6114286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056491-8947-9469-052D-0A3CB943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plot_circle.py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F8682-0A70-5C4E-C664-109C4F4E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51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9E6226-9B42-1E29-E80D-2D98FCA6C455}"/>
              </a:ext>
            </a:extLst>
          </p:cNvPr>
          <p:cNvCxnSpPr>
            <a:cxnSpLocks/>
          </p:cNvCxnSpPr>
          <p:nvPr/>
        </p:nvCxnSpPr>
        <p:spPr>
          <a:xfrm>
            <a:off x="4660795" y="4348474"/>
            <a:ext cx="1478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C9741E-1FCF-9A76-5888-85663B107434}"/>
              </a:ext>
            </a:extLst>
          </p:cNvPr>
          <p:cNvCxnSpPr>
            <a:cxnSpLocks/>
          </p:cNvCxnSpPr>
          <p:nvPr/>
        </p:nvCxnSpPr>
        <p:spPr>
          <a:xfrm>
            <a:off x="6114289" y="4343712"/>
            <a:ext cx="0" cy="17784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14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28E4A-DD53-457A-A1B4-679DE45B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B4F8-0E6D-0D62-4397-ADF35B82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Plotting an Ellipse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5ABD9-DCC2-975D-5AFA-D69238129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needs you to write a program to draw an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ellipse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standard form of an ellipse centered at the origin is 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/>
                  <a:t>Your ellipse should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=250</m:t>
                    </m:r>
                  </m:oMath>
                </a14:m>
                <a:r>
                  <a:rPr lang="en-US" sz="2400" dirty="0"/>
                  <a:t> (major axis)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ellipse should be oriented such that the </a:t>
                </a:r>
                <a:r>
                  <a:rPr lang="en-US" sz="2400" b="1" dirty="0"/>
                  <a:t>major axis </a:t>
                </a:r>
                <a:r>
                  <a:rPr lang="en-US" sz="2400" dirty="0"/>
                  <a:t>is aligned along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x-axis</a:t>
                </a:r>
                <a:r>
                  <a:rPr lang="en-US" sz="2400" dirty="0"/>
                  <a:t> of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Cartesian</a:t>
                </a:r>
                <a:r>
                  <a:rPr lang="en-US" sz="2400" dirty="0"/>
                  <a:t> plane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5ABD9-DCC2-975D-5AFA-D69238129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85F38-291B-CC02-CD80-F4EA8A6A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4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A760-C9BC-14C9-421F-09280452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DDC5-5DAE-AF05-728A-110D147D1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plot_ellipse.py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31242-8C91-9D40-282A-03600FD46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53</a:t>
            </a:fld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A1B987-3F27-D58F-A23A-9FFB5B78517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37D1B-A176-A5EA-3344-2748767A04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14" y="1590187"/>
            <a:ext cx="7028571" cy="486666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2C5677D-4FFD-AC4A-B882-2BC0BC5B60BA}"/>
              </a:ext>
            </a:extLst>
          </p:cNvPr>
          <p:cNvGrpSpPr/>
          <p:nvPr/>
        </p:nvGrpSpPr>
        <p:grpSpPr>
          <a:xfrm>
            <a:off x="2755175" y="1811325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EA7C27C-26C9-B676-0726-0CB823C373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93CE7C-1E8B-C906-6CFE-F998C0B1CC3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AD05C78-6C0E-BD86-6FF6-440C1AA0ACC4}"/>
                  </a:ext>
                </a:extLst>
              </p:cNvPr>
              <p:cNvSpPr txBox="1"/>
              <p:nvPr/>
            </p:nvSpPr>
            <p:spPr>
              <a:xfrm>
                <a:off x="5997711" y="1783029"/>
                <a:ext cx="1267326" cy="740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6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8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AD05C78-6C0E-BD86-6FF6-440C1AA0A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711" y="1783029"/>
                <a:ext cx="1267326" cy="740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F1F71E-A4D1-AFD9-BFB5-32E1C2338648}"/>
                  </a:ext>
                </a:extLst>
              </p:cNvPr>
              <p:cNvSpPr txBox="1"/>
              <p:nvPr/>
            </p:nvSpPr>
            <p:spPr>
              <a:xfrm>
                <a:off x="5791198" y="2459319"/>
                <a:ext cx="1892969" cy="973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8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F1F71E-A4D1-AFD9-BFB5-32E1C233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98" y="2459319"/>
                <a:ext cx="1892969" cy="973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6E114FD-4CF0-77C6-4E63-CF751C1AB075}"/>
              </a:ext>
            </a:extLst>
          </p:cNvPr>
          <p:cNvGrpSpPr/>
          <p:nvPr/>
        </p:nvGrpSpPr>
        <p:grpSpPr>
          <a:xfrm>
            <a:off x="3731823" y="2266632"/>
            <a:ext cx="1076632" cy="369332"/>
            <a:chOff x="4704120" y="2356972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D8C61F9-FA42-5849-AC85-16799CE6C1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B91ABB-C9EF-2425-BC4D-694DDDE2814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BCCE6D-FE6E-34B7-C063-DC8CFF41B7D7}"/>
              </a:ext>
            </a:extLst>
          </p:cNvPr>
          <p:cNvGrpSpPr/>
          <p:nvPr/>
        </p:nvGrpSpPr>
        <p:grpSpPr>
          <a:xfrm>
            <a:off x="4420242" y="2486021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724862-CECF-F48E-6CD9-7CD9FEB745A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7D3266E-EEAF-4AD8-2C7A-BA33BB153D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387910-93BF-0D94-76AE-E63AC50DE11C}"/>
              </a:ext>
            </a:extLst>
          </p:cNvPr>
          <p:cNvGrpSpPr/>
          <p:nvPr/>
        </p:nvGrpSpPr>
        <p:grpSpPr>
          <a:xfrm>
            <a:off x="2916179" y="3459455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BF4482-3269-F303-FF4C-C8CFDD5770F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8625EEE-AD59-5FD7-DDFB-F7805F8ED1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673178-C541-39B8-84E2-ED23B4164CCE}"/>
              </a:ext>
            </a:extLst>
          </p:cNvPr>
          <p:cNvGrpSpPr/>
          <p:nvPr/>
        </p:nvGrpSpPr>
        <p:grpSpPr>
          <a:xfrm>
            <a:off x="4078410" y="4171244"/>
            <a:ext cx="1068643" cy="369332"/>
            <a:chOff x="3647644" y="5359159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233DDC-3354-079D-27AF-1D38A2C9E7F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F257DD6-B625-FE25-0484-658383A634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936C26-EF17-B707-2BF8-D5ABA01DB29E}"/>
              </a:ext>
            </a:extLst>
          </p:cNvPr>
          <p:cNvGrpSpPr/>
          <p:nvPr/>
        </p:nvGrpSpPr>
        <p:grpSpPr>
          <a:xfrm>
            <a:off x="8050261" y="4541409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B828B77-FEFC-4DA0-2964-8E7B096C517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652C534-DAF4-6228-9B2D-A0135A87DF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4523F66-17CF-9587-7744-5288EE40E0E2}"/>
              </a:ext>
            </a:extLst>
          </p:cNvPr>
          <p:cNvGrpSpPr/>
          <p:nvPr/>
        </p:nvGrpSpPr>
        <p:grpSpPr>
          <a:xfrm>
            <a:off x="3686963" y="5312891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B106BC7-1C8F-6E34-BD8A-5761D330BDF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C2ADA73-821D-E8AD-68DF-6142B3AC2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466C789-DD74-C56E-A7ED-44C9B63D25D1}"/>
              </a:ext>
            </a:extLst>
          </p:cNvPr>
          <p:cNvGrpSpPr/>
          <p:nvPr/>
        </p:nvGrpSpPr>
        <p:grpSpPr>
          <a:xfrm>
            <a:off x="3968473" y="5700206"/>
            <a:ext cx="1076632" cy="369332"/>
            <a:chOff x="2157212" y="5356391"/>
            <a:chExt cx="1076632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50C461-2AD2-98CF-08FC-CCBF95C7AE1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C1B9911-15A2-7423-19F2-BB4FBF43B8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2A027AB-CB26-2BAC-B188-8447D1F5ADD7}"/>
              </a:ext>
            </a:extLst>
          </p:cNvPr>
          <p:cNvSpPr txBox="1"/>
          <p:nvPr/>
        </p:nvSpPr>
        <p:spPr>
          <a:xfrm>
            <a:off x="4048063" y="3474844"/>
            <a:ext cx="130582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Symmetries!</a:t>
            </a:r>
          </a:p>
        </p:txBody>
      </p:sp>
    </p:spTree>
    <p:extLst>
      <p:ext uri="{BB962C8B-B14F-4D97-AF65-F5344CB8AC3E}">
        <p14:creationId xmlns:p14="http://schemas.microsoft.com/office/powerpoint/2010/main" val="369302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3" grpId="0"/>
      <p:bldP spid="14" grpId="0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799C-0A02-64CD-BADB-D538D7DA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2AB0-0457-CA30-F6DF-5DC510F4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plot_ellipse.py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B0146-A9A1-C1C0-0DB8-F5905551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E1A91-6673-3111-3B0F-B8341AC0CDFE}"/>
              </a:ext>
            </a:extLst>
          </p:cNvPr>
          <p:cNvSpPr/>
          <p:nvPr/>
        </p:nvSpPr>
        <p:spPr>
          <a:xfrm>
            <a:off x="4173794" y="3657600"/>
            <a:ext cx="235974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BE50F3-434F-9C27-E5F6-74D191B8D42D}"/>
              </a:ext>
            </a:extLst>
          </p:cNvPr>
          <p:cNvSpPr/>
          <p:nvPr/>
        </p:nvSpPr>
        <p:spPr>
          <a:xfrm>
            <a:off x="3094704" y="2740742"/>
            <a:ext cx="776748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A8A2EB-9BA5-9967-7618-E8DDB83CF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25" y="1521476"/>
            <a:ext cx="6114286" cy="52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F869C6-E82C-B990-8FFF-EC9A4D41803B}"/>
              </a:ext>
            </a:extLst>
          </p:cNvPr>
          <p:cNvSpPr txBox="1"/>
          <p:nvPr/>
        </p:nvSpPr>
        <p:spPr>
          <a:xfrm>
            <a:off x="6457950" y="3532897"/>
            <a:ext cx="1305827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Symmetries!</a:t>
            </a:r>
          </a:p>
        </p:txBody>
      </p:sp>
    </p:spTree>
    <p:extLst>
      <p:ext uri="{BB962C8B-B14F-4D97-AF65-F5344CB8AC3E}">
        <p14:creationId xmlns:p14="http://schemas.microsoft.com/office/powerpoint/2010/main" val="21117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Temperature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35332"/>
          </a:xfrm>
        </p:spPr>
        <p:txBody>
          <a:bodyPr>
            <a:normAutofit/>
          </a:bodyPr>
          <a:lstStyle/>
          <a:p>
            <a:r>
              <a:rPr lang="en-US" sz="2400" dirty="0"/>
              <a:t>Your scientist has asked you to plot the </a:t>
            </a:r>
            <a:r>
              <a:rPr lang="en-US" sz="2400" b="1" dirty="0">
                <a:solidFill>
                  <a:srgbClr val="00B050"/>
                </a:solidFill>
              </a:rPr>
              <a:t>Fahrenheit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70C0"/>
                </a:solidFill>
              </a:rPr>
              <a:t>Celsius</a:t>
            </a:r>
            <a:r>
              <a:rPr lang="en-US" sz="2400" dirty="0"/>
              <a:t> temperature equivalents for temperatures in </a:t>
            </a:r>
            <a:r>
              <a:rPr lang="en-US" sz="2400" b="1" dirty="0">
                <a:solidFill>
                  <a:srgbClr val="7030A0"/>
                </a:solidFill>
              </a:rPr>
              <a:t>Kelvin</a:t>
            </a:r>
            <a:r>
              <a:rPr lang="en-US" sz="2400" dirty="0"/>
              <a:t> that span from </a:t>
            </a:r>
            <a:r>
              <a:rPr lang="en-US" sz="2400" b="1" dirty="0"/>
              <a:t>0K</a:t>
            </a:r>
            <a:r>
              <a:rPr lang="en-US" sz="2400" dirty="0"/>
              <a:t> to </a:t>
            </a:r>
            <a:r>
              <a:rPr lang="en-US" sz="2400" b="1" dirty="0"/>
              <a:t>400K</a:t>
            </a:r>
            <a:r>
              <a:rPr lang="en-US" sz="2400" dirty="0"/>
              <a:t> inclusive</a:t>
            </a:r>
            <a:endParaRPr lang="en-US" sz="2400" b="1" dirty="0"/>
          </a:p>
          <a:p>
            <a:r>
              <a:rPr lang="en-US" sz="2400" dirty="0"/>
              <a:t>Your plot should label the line graph of each temperature scale and show a </a:t>
            </a:r>
            <a:r>
              <a:rPr lang="en-US" sz="2400" b="1" dirty="0"/>
              <a:t>legend</a:t>
            </a:r>
            <a:r>
              <a:rPr lang="en-US" sz="2400" dirty="0"/>
              <a:t> to ease plot comprehension</a:t>
            </a:r>
          </a:p>
          <a:p>
            <a:r>
              <a:rPr lang="en-US" sz="2400" dirty="0"/>
              <a:t>As with all professional graphs, each axis should be labeled with the appropriate units</a:t>
            </a:r>
          </a:p>
          <a:p>
            <a:r>
              <a:rPr lang="en-US" sz="2400" dirty="0"/>
              <a:t>The graph should have a title and a grid for easier reading of the values</a:t>
            </a:r>
          </a:p>
          <a:p>
            <a:r>
              <a:rPr lang="en-US" sz="2400" dirty="0"/>
              <a:t>The research question is, "</a:t>
            </a:r>
            <a:r>
              <a:rPr lang="en-US" sz="2400" b="1" dirty="0">
                <a:solidFill>
                  <a:srgbClr val="FF0000"/>
                </a:solidFill>
              </a:rPr>
              <a:t>What is the one temperature that is the </a:t>
            </a:r>
            <a:r>
              <a:rPr lang="en-US" sz="2400" b="1" u="sng" dirty="0">
                <a:solidFill>
                  <a:srgbClr val="FF0000"/>
                </a:solidFill>
              </a:rPr>
              <a:t>same</a:t>
            </a:r>
            <a:r>
              <a:rPr lang="en-US" sz="2400" b="1" dirty="0">
                <a:solidFill>
                  <a:srgbClr val="FF0000"/>
                </a:solidFill>
              </a:rPr>
              <a:t> in Fahrenheit and Celsius?</a:t>
            </a:r>
            <a:r>
              <a:rPr lang="en-US" sz="2400" dirty="0"/>
              <a:t>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7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FDD5F7-3718-05D9-4AEC-8A275FD0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476" y="1547333"/>
            <a:ext cx="4019048" cy="48476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plot_temperature_scales.py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56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EC33E6-69BE-B44F-4286-21A32DCBD231}"/>
              </a:ext>
            </a:extLst>
          </p:cNvPr>
          <p:cNvGrpSpPr/>
          <p:nvPr/>
        </p:nvGrpSpPr>
        <p:grpSpPr>
          <a:xfrm>
            <a:off x="4849961" y="3348189"/>
            <a:ext cx="1076632" cy="369332"/>
            <a:chOff x="4968362" y="2079211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BEBB702-42DD-3CED-AE4A-7C3DFC3DF9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238FF2-3EE4-F366-7AE8-410EF1E643F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11BF65-5113-6871-E488-CD31F1172AE4}"/>
              </a:ext>
            </a:extLst>
          </p:cNvPr>
          <p:cNvGrpSpPr/>
          <p:nvPr/>
        </p:nvGrpSpPr>
        <p:grpSpPr>
          <a:xfrm>
            <a:off x="5438832" y="3572023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5670ACF-CEA1-EA45-D11D-EFB3A5EE0A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83DD4A-C118-4723-730E-B0D83D722AA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40FCB3-1130-08ED-772D-C9FE34D76637}"/>
              </a:ext>
            </a:extLst>
          </p:cNvPr>
          <p:cNvGrpSpPr/>
          <p:nvPr/>
        </p:nvGrpSpPr>
        <p:grpSpPr>
          <a:xfrm>
            <a:off x="4554646" y="3800973"/>
            <a:ext cx="1068643" cy="369332"/>
            <a:chOff x="3647644" y="4910075"/>
            <a:chExt cx="1068643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428FF94-8802-2060-51C5-7CC0815DC2B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8DFFD9-6F57-C0D5-DC9D-A0F76076AB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0A8254F-6BB1-FD5F-FCFB-79EAB627A12F}"/>
              </a:ext>
            </a:extLst>
          </p:cNvPr>
          <p:cNvGrpSpPr/>
          <p:nvPr/>
        </p:nvGrpSpPr>
        <p:grpSpPr>
          <a:xfrm>
            <a:off x="5599836" y="4270719"/>
            <a:ext cx="1064340" cy="369332"/>
            <a:chOff x="3647644" y="5421073"/>
            <a:chExt cx="1064340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97D162D-823F-08C0-C03C-A3D0E960E4E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720717-C74C-C77C-7F44-4F6A6987C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14B188-7DC7-8B90-8CD1-5D6C2A2F4F79}"/>
              </a:ext>
            </a:extLst>
          </p:cNvPr>
          <p:cNvGrpSpPr/>
          <p:nvPr/>
        </p:nvGrpSpPr>
        <p:grpSpPr>
          <a:xfrm>
            <a:off x="5923628" y="4484425"/>
            <a:ext cx="1068643" cy="369332"/>
            <a:chOff x="3647644" y="5359159"/>
            <a:chExt cx="1068643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535DE10-393F-DEBE-B502-CCF32913CD4C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C86BCE8-7585-1B61-62DD-240583B9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0512DC7-E24D-15A3-3740-5AACE13F4745}"/>
              </a:ext>
            </a:extLst>
          </p:cNvPr>
          <p:cNvGrpSpPr/>
          <p:nvPr/>
        </p:nvGrpSpPr>
        <p:grpSpPr>
          <a:xfrm>
            <a:off x="5083902" y="5216492"/>
            <a:ext cx="1076632" cy="369332"/>
            <a:chOff x="2157212" y="5356391"/>
            <a:chExt cx="1076632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08C836-9EC4-6E12-76F4-4CA1523AC86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04ECFCC-22B8-C3A4-2C08-2886D6822A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0691D34-0901-CB65-EA40-D9737DA22AA9}"/>
              </a:ext>
            </a:extLst>
          </p:cNvPr>
          <p:cNvGrpSpPr/>
          <p:nvPr/>
        </p:nvGrpSpPr>
        <p:grpSpPr>
          <a:xfrm>
            <a:off x="5332538" y="5626177"/>
            <a:ext cx="1076632" cy="369332"/>
            <a:chOff x="2157212" y="5356391"/>
            <a:chExt cx="1076632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8C23DE1-8B76-76AF-CD8F-80D4EB7609E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8ED31F6-3D07-9F61-4416-F176E75B6A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227B23F-F0BD-22C5-8ED6-24024CCF3A10}"/>
              </a:ext>
            </a:extLst>
          </p:cNvPr>
          <p:cNvGrpSpPr/>
          <p:nvPr/>
        </p:nvGrpSpPr>
        <p:grpSpPr>
          <a:xfrm>
            <a:off x="5622218" y="4706676"/>
            <a:ext cx="1076632" cy="369332"/>
            <a:chOff x="2157212" y="5356391"/>
            <a:chExt cx="1076632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4337085-9BB1-0EB9-6FC6-3745CBE5EE7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8A28F5A-DABE-0125-5739-0F4CC4BD93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6662926-CF54-4602-26F3-CDF9AEA51A0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198699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E52A6A-A698-C76A-97C5-58FF96F54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3520"/>
            <a:ext cx="6114286" cy="52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plot_temperature_scales.py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1AB72-7EDD-DD02-8E51-74922E5C0B49}"/>
              </a:ext>
            </a:extLst>
          </p:cNvPr>
          <p:cNvSpPr txBox="1"/>
          <p:nvPr/>
        </p:nvSpPr>
        <p:spPr>
          <a:xfrm>
            <a:off x="4884821" y="4485145"/>
            <a:ext cx="2839453" cy="1200329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What is the one temperature that is the same in Fahrenheit and Celsius?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C4ABB5-4387-F7E4-08CC-95DC9030C88E}"/>
              </a:ext>
            </a:extLst>
          </p:cNvPr>
          <p:cNvCxnSpPr/>
          <p:nvPr/>
        </p:nvCxnSpPr>
        <p:spPr>
          <a:xfrm flipH="1">
            <a:off x="2286000" y="4098758"/>
            <a:ext cx="269823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BF15A3-7422-DF78-BE78-8131173DDA5F}"/>
                  </a:ext>
                </a:extLst>
              </p:cNvPr>
              <p:cNvSpPr txBox="1"/>
              <p:nvPr/>
            </p:nvSpPr>
            <p:spPr>
              <a:xfrm>
                <a:off x="847794" y="3910982"/>
                <a:ext cx="66706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−40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BF15A3-7422-DF78-BE78-8131173DD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4" y="3910982"/>
                <a:ext cx="667063" cy="375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59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585C-EB7E-03EB-03D3-658B5FD9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6C41-8FAA-A02A-4CB1-5CE718F1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05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DA96-5080-5C00-177B-C7DA77E30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How to create </a:t>
            </a:r>
            <a:r>
              <a:rPr lang="en-US" sz="2400" b="1" dirty="0">
                <a:solidFill>
                  <a:srgbClr val="FF0000"/>
                </a:solidFill>
              </a:rPr>
              <a:t>arrays</a:t>
            </a:r>
            <a:r>
              <a:rPr lang="en-US" sz="2400" dirty="0"/>
              <a:t> using </a:t>
            </a:r>
            <a:r>
              <a:rPr lang="en-US" sz="2400" b="1" dirty="0"/>
              <a:t>np.linspace()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That </a:t>
            </a:r>
            <a:r>
              <a:rPr lang="en-US" sz="2400" b="1" dirty="0">
                <a:solidFill>
                  <a:srgbClr val="7030A0"/>
                </a:solidFill>
              </a:rPr>
              <a:t>vectorized</a:t>
            </a:r>
            <a:r>
              <a:rPr lang="en-US" sz="2400" dirty="0"/>
              <a:t> operations in NumPy implicitly operate on an entire </a:t>
            </a:r>
            <a:r>
              <a:rPr lang="en-US" sz="2400" b="1" dirty="0"/>
              <a:t>array</a:t>
            </a:r>
            <a:r>
              <a:rPr lang="en-US" sz="2400" dirty="0"/>
              <a:t> with just one algebraic expression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can use NumPy’s </a:t>
            </a:r>
            <a:r>
              <a:rPr lang="en-US" sz="2400" b="1" dirty="0"/>
              <a:t>slicing syntax</a:t>
            </a:r>
            <a:r>
              <a:rPr lang="en-US" sz="2400" dirty="0"/>
              <a:t> to extract specific subarrays from a larger array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plot 2-D equations using the Python package </a:t>
            </a:r>
            <a:r>
              <a:rPr lang="en-US" sz="2400" b="1" dirty="0">
                <a:solidFill>
                  <a:srgbClr val="00B050"/>
                </a:solidFill>
              </a:rPr>
              <a:t>matplotlib</a:t>
            </a:r>
            <a:r>
              <a:rPr lang="en-US" sz="2400" dirty="0"/>
              <a:t> and its </a:t>
            </a:r>
            <a:r>
              <a:rPr lang="en-US" sz="2400" b="1" dirty="0">
                <a:solidFill>
                  <a:srgbClr val="00B050"/>
                </a:solidFill>
              </a:rPr>
              <a:t>pyplot</a:t>
            </a:r>
            <a:r>
              <a:rPr lang="en-US" sz="2400" dirty="0"/>
              <a:t> module</a:t>
            </a:r>
            <a:endParaRPr lang="en-US" sz="2400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plot curves using </a:t>
            </a:r>
            <a:r>
              <a:rPr lang="en-US" sz="2400" b="1" dirty="0"/>
              <a:t>Cartesian coordinates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That </a:t>
            </a:r>
            <a:r>
              <a:rPr lang="en-US" sz="2400" b="1" dirty="0">
                <a:solidFill>
                  <a:srgbClr val="FF0000"/>
                </a:solidFill>
              </a:rPr>
              <a:t>LaTeX</a:t>
            </a:r>
            <a:r>
              <a:rPr lang="en-US" sz="2400" dirty="0"/>
              <a:t> can display </a:t>
            </a:r>
            <a:r>
              <a:rPr lang="en-US" sz="2400" i="1" dirty="0"/>
              <a:t>proper</a:t>
            </a:r>
            <a:r>
              <a:rPr lang="en-US" sz="2400" dirty="0"/>
              <a:t> mathematical symbols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endParaRPr lang="en-US" sz="2400" dirty="0"/>
          </a:p>
          <a:p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430D-F95D-07D2-4956-13C2B425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8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7969-4DBB-0113-0B30-5A606D66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1A4F-6A14-B80B-793D-24F5D553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05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91435-AA30-5522-5579-F1C4B8647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create </a:t>
            </a:r>
            <a:r>
              <a:rPr lang="en-US" sz="2400" b="1" dirty="0">
                <a:solidFill>
                  <a:srgbClr val="0070C0"/>
                </a:solidFill>
              </a:rPr>
              <a:t>numpy arrays</a:t>
            </a:r>
            <a:r>
              <a:rPr lang="en-US" sz="2400" dirty="0"/>
              <a:t> to hold the </a:t>
            </a:r>
            <a:r>
              <a:rPr lang="en-US" sz="2400" b="1" dirty="0"/>
              <a:t>independent</a:t>
            </a:r>
            <a:r>
              <a:rPr lang="en-US" sz="2400" dirty="0"/>
              <a:t> and </a:t>
            </a:r>
            <a:r>
              <a:rPr lang="en-US" sz="2400" b="1" dirty="0"/>
              <a:t>dependent</a:t>
            </a:r>
            <a:r>
              <a:rPr lang="en-US" sz="2400" dirty="0"/>
              <a:t> variable values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translate the mathematical equations (standard forms) of the </a:t>
            </a:r>
            <a:r>
              <a:rPr lang="en-US" sz="2400" b="1" dirty="0">
                <a:solidFill>
                  <a:srgbClr val="00B050"/>
                </a:solidFill>
              </a:rPr>
              <a:t>parabola</a:t>
            </a:r>
            <a:r>
              <a:rPr lang="en-US" sz="2400" dirty="0"/>
              <a:t>, </a:t>
            </a:r>
            <a:r>
              <a:rPr lang="en-US" sz="2400" b="1" dirty="0"/>
              <a:t>circle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FF0000"/>
                </a:solidFill>
              </a:rPr>
              <a:t>ellipse</a:t>
            </a:r>
            <a:r>
              <a:rPr lang="en-US" sz="2400" dirty="0"/>
              <a:t> conic sections into Python code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can leverage the </a:t>
            </a:r>
            <a:r>
              <a:rPr lang="en-US" sz="2400" b="1" dirty="0">
                <a:solidFill>
                  <a:srgbClr val="7030A0"/>
                </a:solidFill>
              </a:rPr>
              <a:t>symmetries</a:t>
            </a:r>
            <a:r>
              <a:rPr lang="en-US" sz="2400" dirty="0"/>
              <a:t> in conic sections to reduce the calculations required to plot each curve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Plotting the </a:t>
            </a:r>
            <a:r>
              <a:rPr lang="en-US" sz="2400" b="1" dirty="0">
                <a:solidFill>
                  <a:srgbClr val="00B050"/>
                </a:solidFill>
              </a:rPr>
              <a:t>Fahrenheit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70C0"/>
                </a:solidFill>
              </a:rPr>
              <a:t>Celsius</a:t>
            </a:r>
            <a:r>
              <a:rPr lang="en-US" sz="2400" dirty="0"/>
              <a:t> scales versus the </a:t>
            </a:r>
            <a:r>
              <a:rPr lang="en-US" sz="2400" b="1" dirty="0">
                <a:solidFill>
                  <a:srgbClr val="7030A0"/>
                </a:solidFill>
              </a:rPr>
              <a:t>Kelvin</a:t>
            </a:r>
            <a:r>
              <a:rPr lang="en-US" sz="2400" dirty="0"/>
              <a:t> scale makes it easy to visually determine the one temperature with equal </a:t>
            </a:r>
            <a:r>
              <a:rPr lang="en-US" sz="2400" b="1" dirty="0"/>
              <a:t>enthalpy</a:t>
            </a:r>
            <a:r>
              <a:rPr lang="en-US" sz="2400" dirty="0"/>
              <a:t> on both scales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0574-D5B9-671F-986B-BC971DBA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7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Create a new Python program called </a:t>
                </a:r>
                <a:r>
                  <a:rPr lang="en-US" sz="2400" b="1" dirty="0"/>
                  <a:t>plot_hyperbola.py</a:t>
                </a:r>
              </a:p>
              <a:p>
                <a:pPr>
                  <a:spcAft>
                    <a:spcPts val="2400"/>
                  </a:spcAft>
                </a:pPr>
                <a:r>
                  <a:rPr lang="en-US" sz="2400" dirty="0"/>
                  <a:t>The program should plot the standard hyperbola:</a:t>
                </a: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2400"/>
                  </a:spcBef>
                  <a:spcAft>
                    <a:spcPts val="1200"/>
                  </a:spcAft>
                </a:pPr>
                <a:r>
                  <a:rPr lang="en-US" sz="2400" dirty="0"/>
                  <a:t>Use the values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Plot over the domain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≤50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Make the hyperbola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blue</a:t>
                </a:r>
                <a:r>
                  <a:rPr lang="en-US" sz="2400" dirty="0"/>
                  <a:t> and include the </a:t>
                </a:r>
                <a:r>
                  <a:rPr lang="en-US" sz="2400" b="1" dirty="0"/>
                  <a:t>grid</a:t>
                </a:r>
                <a:endParaRPr lang="en-US" sz="2400" b="1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Use LaTeX to show the equation in the title of the plot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2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10536</TotalTime>
  <Words>2232</Words>
  <Application>Microsoft Office PowerPoint</Application>
  <PresentationFormat>On-screen Show (4:3)</PresentationFormat>
  <Paragraphs>466</Paragraphs>
  <Slides>60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PowerPoint Presentation</vt:lpstr>
      <vt:lpstr>Session 05 – Goals</vt:lpstr>
      <vt:lpstr>Session 05 – Goals (cont.)</vt:lpstr>
      <vt:lpstr>Extending Python via the numpy Package</vt:lpstr>
      <vt:lpstr>About PyPI (Python Package Index)</vt:lpstr>
      <vt:lpstr>Numpy Arrays</vt:lpstr>
      <vt:lpstr>NumPy Arrays</vt:lpstr>
      <vt:lpstr>Index Number versus Element Value</vt:lpstr>
      <vt:lpstr>A Numpy Linearly Spaced Array</vt:lpstr>
      <vt:lpstr>Numpy Vectorized Operations</vt:lpstr>
      <vt:lpstr>Edit numpy_arrays.py</vt:lpstr>
      <vt:lpstr>Run numpy_arrays.py</vt:lpstr>
      <vt:lpstr>NumPy Array Slicing</vt:lpstr>
      <vt:lpstr>Edit numpy_arrays.py</vt:lpstr>
      <vt:lpstr>Run numpy_arrays.py</vt:lpstr>
      <vt:lpstr>Edit numpy_arrays.py</vt:lpstr>
      <vt:lpstr>Run numpy_arrays.py</vt:lpstr>
      <vt:lpstr>Edit numpy_arrays.py</vt:lpstr>
      <vt:lpstr>Run numpy_arrays.py</vt:lpstr>
      <vt:lpstr>Edit numpy_arrays.py</vt:lpstr>
      <vt:lpstr>Run numpy_arrays.py</vt:lpstr>
      <vt:lpstr>Edit numpy_arrays.py</vt:lpstr>
      <vt:lpstr>Run numpy_arrays.py</vt:lpstr>
      <vt:lpstr>Line Graphs using matplotlib</vt:lpstr>
      <vt:lpstr>PowerPoint Presentation</vt:lpstr>
      <vt:lpstr>Matplotlib Container Hierarchy</vt:lpstr>
      <vt:lpstr>Cartesian Coordinates</vt:lpstr>
      <vt:lpstr>Open line_graphs.py</vt:lpstr>
      <vt:lpstr>Run line_graphs.py</vt:lpstr>
      <vt:lpstr>Plotting a Parabola</vt:lpstr>
      <vt:lpstr>Various Colors in RGB Values</vt:lpstr>
      <vt:lpstr>                          Colors “Names”</vt:lpstr>
      <vt:lpstr>Alpha Blending = Opacity</vt:lpstr>
      <vt:lpstr>Open plot_parabola.py</vt:lpstr>
      <vt:lpstr>Run plot_parabola.py</vt:lpstr>
      <vt:lpstr>Make a Professional Graph</vt:lpstr>
      <vt:lpstr>Edit plot_parabola.py</vt:lpstr>
      <vt:lpstr>Run plot_parabola.py</vt:lpstr>
      <vt:lpstr>PowerPoint Presentation</vt:lpstr>
      <vt:lpstr>PowerPoint Presentation</vt:lpstr>
      <vt:lpstr>PowerPoint Presentation</vt:lpstr>
      <vt:lpstr>PowerPoint Presentation</vt:lpstr>
      <vt:lpstr>Example LaTeX Commands in matplotlib</vt:lpstr>
      <vt:lpstr>Example LaTeX Commands in matplotlib</vt:lpstr>
      <vt:lpstr>Plotting a Quintic</vt:lpstr>
      <vt:lpstr>The Thermodynamics of Calculation</vt:lpstr>
      <vt:lpstr>Open plot_quintic.py</vt:lpstr>
      <vt:lpstr>Run plot_quintic.py</vt:lpstr>
      <vt:lpstr>Plotting a Circle</vt:lpstr>
      <vt:lpstr>Open plot_circle.py</vt:lpstr>
      <vt:lpstr>Run plot_circle.py</vt:lpstr>
      <vt:lpstr>Plotting an Ellipse</vt:lpstr>
      <vt:lpstr>Open plot_ellipse.py</vt:lpstr>
      <vt:lpstr>Run plot_ellipse.py</vt:lpstr>
      <vt:lpstr>Temperature Conversion</vt:lpstr>
      <vt:lpstr>Open plot_temperature_scales.py</vt:lpstr>
      <vt:lpstr>Run plot_temperature_scales.py</vt:lpstr>
      <vt:lpstr>Session 05 – Now You Know…</vt:lpstr>
      <vt:lpstr>Session 05 – Now You Know…</vt:lpstr>
      <vt:lpstr>Task 05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1122</cp:revision>
  <cp:lastPrinted>2015-06-01T00:45:11Z</cp:lastPrinted>
  <dcterms:created xsi:type="dcterms:W3CDTF">2014-09-21T17:58:26Z</dcterms:created>
  <dcterms:modified xsi:type="dcterms:W3CDTF">2026-01-29T22:04:14Z</dcterms:modified>
</cp:coreProperties>
</file>