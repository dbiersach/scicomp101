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9"/>
  </p:notesMasterIdLst>
  <p:handoutMasterIdLst>
    <p:handoutMasterId r:id="rId90"/>
  </p:handoutMasterIdLst>
  <p:sldIdLst>
    <p:sldId id="1220" r:id="rId2"/>
    <p:sldId id="972" r:id="rId3"/>
    <p:sldId id="1409" r:id="rId4"/>
    <p:sldId id="1263" r:id="rId5"/>
    <p:sldId id="1008" r:id="rId6"/>
    <p:sldId id="373" r:id="rId7"/>
    <p:sldId id="1414" r:id="rId8"/>
    <p:sldId id="374" r:id="rId9"/>
    <p:sldId id="1337" r:id="rId10"/>
    <p:sldId id="1304" r:id="rId11"/>
    <p:sldId id="1331" r:id="rId12"/>
    <p:sldId id="1419" r:id="rId13"/>
    <p:sldId id="1415" r:id="rId14"/>
    <p:sldId id="1420" r:id="rId15"/>
    <p:sldId id="1421" r:id="rId16"/>
    <p:sldId id="1422" r:id="rId17"/>
    <p:sldId id="1423" r:id="rId18"/>
    <p:sldId id="1424" r:id="rId19"/>
    <p:sldId id="1427" r:id="rId20"/>
    <p:sldId id="1425" r:id="rId21"/>
    <p:sldId id="1428" r:id="rId22"/>
    <p:sldId id="1426" r:id="rId23"/>
    <p:sldId id="1429" r:id="rId24"/>
    <p:sldId id="1266" r:id="rId25"/>
    <p:sldId id="991" r:id="rId26"/>
    <p:sldId id="1412" r:id="rId27"/>
    <p:sldId id="1268" r:id="rId28"/>
    <p:sldId id="1325" r:id="rId29"/>
    <p:sldId id="1277" r:id="rId30"/>
    <p:sldId id="1307" r:id="rId31"/>
    <p:sldId id="266" r:id="rId32"/>
    <p:sldId id="1430" r:id="rId33"/>
    <p:sldId id="265" r:id="rId34"/>
    <p:sldId id="1278" r:id="rId35"/>
    <p:sldId id="965" r:id="rId36"/>
    <p:sldId id="1308" r:id="rId37"/>
    <p:sldId id="1309" r:id="rId38"/>
    <p:sldId id="1310" r:id="rId39"/>
    <p:sldId id="1026" r:id="rId40"/>
    <p:sldId id="1027" r:id="rId41"/>
    <p:sldId id="1029" r:id="rId42"/>
    <p:sldId id="1028" r:id="rId43"/>
    <p:sldId id="1311" r:id="rId44"/>
    <p:sldId id="1312" r:id="rId45"/>
    <p:sldId id="1313" r:id="rId46"/>
    <p:sldId id="1031" r:id="rId47"/>
    <p:sldId id="1431" r:id="rId48"/>
    <p:sldId id="1280" r:id="rId49"/>
    <p:sldId id="258" r:id="rId50"/>
    <p:sldId id="275" r:id="rId51"/>
    <p:sldId id="276" r:id="rId52"/>
    <p:sldId id="277" r:id="rId53"/>
    <p:sldId id="1021" r:id="rId54"/>
    <p:sldId id="974" r:id="rId55"/>
    <p:sldId id="1022" r:id="rId56"/>
    <p:sldId id="281" r:id="rId57"/>
    <p:sldId id="1432" r:id="rId58"/>
    <p:sldId id="981" r:id="rId59"/>
    <p:sldId id="1326" r:id="rId60"/>
    <p:sldId id="1433" r:id="rId61"/>
    <p:sldId id="1316" r:id="rId62"/>
    <p:sldId id="1436" r:id="rId63"/>
    <p:sldId id="1437" r:id="rId64"/>
    <p:sldId id="1438" r:id="rId65"/>
    <p:sldId id="1287" r:id="rId66"/>
    <p:sldId id="1288" r:id="rId67"/>
    <p:sldId id="1272" r:id="rId68"/>
    <p:sldId id="1271" r:id="rId69"/>
    <p:sldId id="1290" r:id="rId70"/>
    <p:sldId id="1291" r:id="rId71"/>
    <p:sldId id="1292" r:id="rId72"/>
    <p:sldId id="1293" r:id="rId73"/>
    <p:sldId id="285" r:id="rId74"/>
    <p:sldId id="286" r:id="rId75"/>
    <p:sldId id="288" r:id="rId76"/>
    <p:sldId id="1283" r:id="rId77"/>
    <p:sldId id="1327" r:id="rId78"/>
    <p:sldId id="1328" r:id="rId79"/>
    <p:sldId id="1413" r:id="rId80"/>
    <p:sldId id="1329" r:id="rId81"/>
    <p:sldId id="1332" r:id="rId82"/>
    <p:sldId id="1330" r:id="rId83"/>
    <p:sldId id="1285" r:id="rId84"/>
    <p:sldId id="1434" r:id="rId85"/>
    <p:sldId id="1435" r:id="rId86"/>
    <p:sldId id="1410" r:id="rId87"/>
    <p:sldId id="1253" r:id="rId88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83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94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2D021-AC24-96AA-2F46-F1C5EAA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4ACC9-9B7C-D9DF-2A37-365A93D4E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147F-5624-D0C0-0D49-5DDBCD75E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B1CEC-401D-8F9D-7838-520C85C4AE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043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2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7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13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91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50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32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632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10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54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8540B-ACF9-D65E-FD2E-4A138EF3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49045-5294-D5EF-0C5C-E65114580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43DF-E050-A381-50C3-8F7DC58F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AADFF-5824-EFDC-D6CB-AD4EA6B1C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03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579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14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924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realpython.com/numpy-array-programm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hyperlink" Target="https://realpython.com/python-arra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numpy/numpy_array_slicing.asp" TargetMode="External"/><Relationship Id="rId2" Type="http://schemas.openxmlformats.org/officeDocument/2006/relationships/hyperlink" Target="https://problemsolvingwithpython.com/05-NumPy-and-Arrays/05.06-Array-Slic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vectorized-operations-in-numpy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atex-project.org/" TargetMode="External"/><Relationship Id="rId4" Type="http://schemas.openxmlformats.org/officeDocument/2006/relationships/image" Target="../media/image6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learn/latex/Learn_LaTeX_in_30_minut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xstudio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pathlib.html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hyperlink" Target="https://www.pythonmorsels.com/dunder-variables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7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jpg"/><Relationship Id="rId5" Type="http://schemas.openxmlformats.org/officeDocument/2006/relationships/image" Target="../media/image101.jpg"/><Relationship Id="rId4" Type="http://schemas.openxmlformats.org/officeDocument/2006/relationships/image" Target="../media/image100.jp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package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that implicitly operate on an entire NumPy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Relate the pyplot </a:t>
            </a:r>
            <a:r>
              <a:rPr lang="en-US" sz="2400" b="1" dirty="0"/>
              <a:t>figure</a:t>
            </a:r>
            <a:r>
              <a:rPr lang="en-US" sz="2400" dirty="0"/>
              <a:t> object to its </a:t>
            </a:r>
            <a:r>
              <a:rPr lang="en-US" sz="2400" b="1" dirty="0"/>
              <a:t>axes</a:t>
            </a:r>
            <a:r>
              <a:rPr lang="en-US" sz="2400" dirty="0"/>
              <a:t> object, and learn how to decorate plots with titles, labels, grids,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Visualize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</a:t>
            </a:r>
            <a:r>
              <a:rPr lang="en-US" sz="2400" b="1" dirty="0"/>
              <a:t>Polar Coordinates </a:t>
            </a:r>
            <a:r>
              <a:rPr lang="en-US" sz="2400" dirty="0"/>
              <a:t>to 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Appreciate the story behind the </a:t>
            </a:r>
            <a:r>
              <a:rPr lang="en-US" sz="2400" b="1" dirty="0"/>
              <a:t>Olympic Rings</a:t>
            </a:r>
            <a:r>
              <a:rPr lang="en-US" sz="2400" dirty="0"/>
              <a:t> brand standard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an </a:t>
            </a:r>
            <a:r>
              <a:rPr lang="en-US" sz="2400" b="1" dirty="0">
                <a:solidFill>
                  <a:srgbClr val="0070C0"/>
                </a:solidFill>
              </a:rPr>
              <a:t>ellipse</a:t>
            </a:r>
            <a:r>
              <a:rPr lang="en-US" sz="2400" dirty="0"/>
              <a:t> using polar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Create a </a:t>
            </a:r>
            <a:r>
              <a:rPr lang="en-US" sz="2400" b="1" dirty="0">
                <a:solidFill>
                  <a:srgbClr val="7030A0"/>
                </a:solidFill>
              </a:rPr>
              <a:t>for </a:t>
            </a:r>
            <a:r>
              <a:rPr lang="en-US" sz="2400" dirty="0"/>
              <a:t>loop to enumerate over a </a:t>
            </a:r>
            <a:r>
              <a:rPr lang="en-US" sz="2400" b="1" dirty="0">
                <a:solidFill>
                  <a:srgbClr val="7030A0"/>
                </a:solidFill>
              </a:rPr>
              <a:t>range</a:t>
            </a:r>
            <a:r>
              <a:rPr lang="en-US" sz="2400" dirty="0"/>
              <a:t> of numbers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the trajectory of a 2D </a:t>
            </a:r>
            <a:r>
              <a:rPr lang="en-US" sz="2400" b="1" dirty="0">
                <a:solidFill>
                  <a:srgbClr val="FF0000"/>
                </a:solidFill>
              </a:rPr>
              <a:t>random walk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parametric equations using </a:t>
            </a:r>
            <a:r>
              <a:rPr lang="en-US" sz="2400" b="1" dirty="0">
                <a:solidFill>
                  <a:srgbClr val="00B050"/>
                </a:solidFill>
              </a:rPr>
              <a:t>polar graphs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function </a:t>
            </a:r>
            <a:r>
              <a:rPr lang="en-US" sz="2400" b="1" dirty="0">
                <a:solidFill>
                  <a:srgbClr val="0070C0"/>
                </a:solidFill>
              </a:rPr>
              <a:t>size()</a:t>
            </a:r>
            <a:r>
              <a:rPr lang="en-US" sz="2400" dirty="0"/>
              <a:t>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size()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4C20C2-116E-EDE9-093F-E03DBC6CF398}"/>
              </a:ext>
            </a:extLst>
          </p:cNvPr>
          <p:cNvGrpSpPr/>
          <p:nvPr/>
        </p:nvGrpSpPr>
        <p:grpSpPr>
          <a:xfrm>
            <a:off x="139837" y="1643065"/>
            <a:ext cx="4674020" cy="4153760"/>
            <a:chOff x="290945" y="1408798"/>
            <a:chExt cx="4674020" cy="415376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63A6D2-B1C2-06EF-4442-E1F52E53783D}"/>
                </a:ext>
              </a:extLst>
            </p:cNvPr>
            <p:cNvSpPr txBox="1"/>
            <p:nvPr/>
          </p:nvSpPr>
          <p:spPr>
            <a:xfrm>
              <a:off x="290945" y="1408798"/>
              <a:ext cx="46740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2"/>
                </a:rPr>
                <a:t>https://realpython.com/numpy-array-programming</a:t>
              </a:r>
              <a:endParaRPr lang="en-US" sz="16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1D06D4A-4F02-94AA-C65D-6145B8AE9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10" y="2039383"/>
              <a:ext cx="3847891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3A4AF-0086-A96E-4586-E950E5655BEF}"/>
              </a:ext>
            </a:extLst>
          </p:cNvPr>
          <p:cNvGrpSpPr/>
          <p:nvPr/>
        </p:nvGrpSpPr>
        <p:grpSpPr>
          <a:xfrm>
            <a:off x="4812839" y="1643065"/>
            <a:ext cx="3828589" cy="4153759"/>
            <a:chOff x="4963947" y="1408798"/>
            <a:chExt cx="3828589" cy="415375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1AB7FF-4891-97CF-C513-1D7AFEFD3837}"/>
                </a:ext>
              </a:extLst>
            </p:cNvPr>
            <p:cNvSpPr txBox="1"/>
            <p:nvPr/>
          </p:nvSpPr>
          <p:spPr>
            <a:xfrm>
              <a:off x="4975761" y="1408798"/>
              <a:ext cx="380496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4"/>
                </a:rPr>
                <a:t>https://realpython.com/python-array</a:t>
              </a:r>
              <a:endParaRPr lang="en-US" sz="1600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CDC9877-E8CC-85F3-A544-8FEC315C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63947" y="2039382"/>
              <a:ext cx="3828589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4981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EF03C-AB2D-67D6-204C-3E027422B1B3}"/>
              </a:ext>
            </a:extLst>
          </p:cNvPr>
          <p:cNvSpPr txBox="1"/>
          <p:nvPr/>
        </p:nvSpPr>
        <p:spPr>
          <a:xfrm>
            <a:off x="1046749" y="5463684"/>
            <a:ext cx="2979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FBD-9E5A-911D-8B38-2353D52C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10732-DEF7-A13F-0F6D-71DF507935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6963BB-C6D0-BF3F-F600-E34F8974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6C65B-A203-C8F2-28E9-57E8A15B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27794-0E8A-6462-BA7D-925CBC66A33A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AFC43C-B356-016B-62BE-EFFAC8B248F4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57D3-9783-CF23-A178-38C67CFC0E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99733B-82D1-3665-9F88-CC937DB1B53F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F7635-5DFF-3914-33AC-F95B21568871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3DBBD-6C6B-24F3-14FC-9AA40052A842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5C380E-9AAB-7E53-498F-70967EF0D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AB97CA-57C7-F1C4-DFC2-681E76D528F8}"/>
              </a:ext>
            </a:extLst>
          </p:cNvPr>
          <p:cNvSpPr txBox="1"/>
          <p:nvPr/>
        </p:nvSpPr>
        <p:spPr>
          <a:xfrm>
            <a:off x="6128748" y="1761044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provide </a:t>
            </a:r>
            <a:r>
              <a:rPr lang="en-US" b="1" i="1" dirty="0">
                <a:solidFill>
                  <a:srgbClr val="7030A0"/>
                </a:solidFill>
              </a:rPr>
              <a:t>both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start and stop values!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The stop value is </a:t>
            </a:r>
            <a:r>
              <a:rPr lang="en-US" u="sng" dirty="0">
                <a:solidFill>
                  <a:srgbClr val="7030A0"/>
                </a:solidFill>
              </a:rPr>
              <a:t>inclusive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20596-5045-4D84-988B-4BBCA8D2A02D}"/>
              </a:ext>
            </a:extLst>
          </p:cNvPr>
          <p:cNvSpPr txBox="1"/>
          <p:nvPr/>
        </p:nvSpPr>
        <p:spPr>
          <a:xfrm>
            <a:off x="6128748" y="2754578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third</a:t>
            </a:r>
            <a:r>
              <a:rPr lang="en-US" dirty="0">
                <a:solidFill>
                  <a:srgbClr val="7030A0"/>
                </a:solidFill>
              </a:rPr>
              <a:t> number is the </a:t>
            </a:r>
            <a:r>
              <a:rPr lang="en-US" i="1" dirty="0">
                <a:solidFill>
                  <a:srgbClr val="7030A0"/>
                </a:solidFill>
              </a:rPr>
              <a:t>number of mailboxes</a:t>
            </a:r>
            <a:r>
              <a:rPr lang="en-US" dirty="0">
                <a:solidFill>
                  <a:srgbClr val="7030A0"/>
                </a:solidFill>
              </a:rPr>
              <a:t> you want in the array</a:t>
            </a:r>
            <a:endParaRPr lang="en-US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89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</a:t>
            </a:r>
            <a:r>
              <a:rPr lang="en-US" u="sng" dirty="0"/>
              <a:t>function</a:t>
            </a:r>
            <a:r>
              <a:rPr lang="en-US" dirty="0"/>
              <a:t>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/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blipFill>
                <a:blip r:embed="rId4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/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611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  <p:bldP spid="15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5F1093-35D2-F0FF-0CB1-2F04F790FB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8" y="1690689"/>
            <a:ext cx="7961905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B144CE-5102-4889-DE3F-8CA85B68E032}"/>
              </a:ext>
            </a:extLst>
          </p:cNvPr>
          <p:cNvGrpSpPr/>
          <p:nvPr/>
        </p:nvGrpSpPr>
        <p:grpSpPr>
          <a:xfrm>
            <a:off x="2939665" y="39529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2CA3C8-AED0-7164-10DA-655F13C77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2697AA-FEB3-0C95-59C5-666E14E5B48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B818EB-C9F2-9F7A-3D62-BC0CCB4ADFF2}"/>
              </a:ext>
            </a:extLst>
          </p:cNvPr>
          <p:cNvGrpSpPr/>
          <p:nvPr/>
        </p:nvGrpSpPr>
        <p:grpSpPr>
          <a:xfrm>
            <a:off x="3503594" y="4632180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79F046-13A8-F9E5-2E9B-B3D6C623CA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845A3E-D1B0-7FC2-DFC2-90C6784B231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3E16B3-CE9C-285B-C6F6-09A5F66B681B}"/>
              </a:ext>
            </a:extLst>
          </p:cNvPr>
          <p:cNvGrpSpPr/>
          <p:nvPr/>
        </p:nvGrpSpPr>
        <p:grpSpPr>
          <a:xfrm>
            <a:off x="1937031" y="486214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8E8FB12-DAF0-2970-4BC7-A1FA9D165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C86DBF9-3C98-EFBB-C727-B1DDC4741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8A9A84-6F73-9D26-0834-2072252C015F}"/>
              </a:ext>
            </a:extLst>
          </p:cNvPr>
          <p:cNvGrpSpPr/>
          <p:nvPr/>
        </p:nvGrpSpPr>
        <p:grpSpPr>
          <a:xfrm>
            <a:off x="2410886" y="509798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765EE1-25BE-9CF5-A617-EC6198AA15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02E67-6918-CA19-160A-9A987D20A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2455-0384-940F-2EEE-52B68BDA52F8}"/>
              </a:ext>
            </a:extLst>
          </p:cNvPr>
          <p:cNvGrpSpPr/>
          <p:nvPr/>
        </p:nvGrpSpPr>
        <p:grpSpPr>
          <a:xfrm>
            <a:off x="1817089" y="5318530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71A8F6-13F3-8F81-B724-F6BA0D4CB31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781312-4203-FA8E-640F-5F96AA873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5350A06-FA73-AF6D-08E4-054949ADFFC6}"/>
              </a:ext>
            </a:extLst>
          </p:cNvPr>
          <p:cNvSpPr txBox="1"/>
          <p:nvPr/>
        </p:nvSpPr>
        <p:spPr>
          <a:xfrm>
            <a:off x="4196768" y="3675948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np</a:t>
            </a:r>
            <a:r>
              <a:rPr lang="en-US" dirty="0">
                <a:solidFill>
                  <a:srgbClr val="FFFF00"/>
                </a:solidFill>
              </a:rPr>
              <a:t> is now an </a:t>
            </a:r>
            <a:r>
              <a:rPr lang="en-US" i="1" dirty="0">
                <a:solidFill>
                  <a:srgbClr val="FFFF00"/>
                </a:solidFill>
              </a:rPr>
              <a:t>alias</a:t>
            </a:r>
            <a:r>
              <a:rPr lang="en-US" dirty="0">
                <a:solidFill>
                  <a:srgbClr val="FFFF00"/>
                </a:solidFill>
              </a:rPr>
              <a:t> for the full package name </a:t>
            </a:r>
            <a:r>
              <a:rPr lang="en-US" b="1" dirty="0">
                <a:solidFill>
                  <a:srgbClr val="FFFF00"/>
                </a:solidFill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BD21-2ABF-1013-A0EC-680D8BE71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64FC-8F6C-22AC-1604-A8D50AA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77268-AFB8-40B7-7EDC-E36CA5A6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5628E-6CC3-9929-6E48-F2A66D3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677" y="2912807"/>
            <a:ext cx="2524643" cy="723623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BB789FC1-8BB3-9FFE-E33A-645B894CC78B}"/>
              </a:ext>
            </a:extLst>
          </p:cNvPr>
          <p:cNvGrpSpPr/>
          <p:nvPr/>
        </p:nvGrpSpPr>
        <p:grpSpPr>
          <a:xfrm>
            <a:off x="4166503" y="4698520"/>
            <a:ext cx="2771829" cy="380546"/>
            <a:chOff x="4166503" y="4698520"/>
            <a:chExt cx="2771829" cy="380546"/>
          </a:xfrm>
        </p:grpSpPr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509F40C-D2AD-51EE-C6F4-45D21C9B6B3D}"/>
                </a:ext>
              </a:extLst>
            </p:cNvPr>
            <p:cNvCxnSpPr>
              <a:stCxn id="8" idx="2"/>
              <a:endCxn id="35" idx="0"/>
            </p:cNvCxnSpPr>
            <p:nvPr/>
          </p:nvCxnSpPr>
          <p:spPr>
            <a:xfrm rot="5400000">
              <a:off x="3976232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8E22A225-7067-8872-5C23-2ED665E1064D}"/>
                </a:ext>
              </a:extLst>
            </p:cNvPr>
            <p:cNvCxnSpPr>
              <a:cxnSpLocks/>
              <a:stCxn id="26" idx="2"/>
              <a:endCxn id="36" idx="0"/>
            </p:cNvCxnSpPr>
            <p:nvPr/>
          </p:nvCxnSpPr>
          <p:spPr>
            <a:xfrm rot="5400000">
              <a:off x="4669189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4776C6EF-1B1E-5710-2F67-8888B3BC6C1B}"/>
                </a:ext>
              </a:extLst>
            </p:cNvPr>
            <p:cNvCxnSpPr>
              <a:cxnSpLocks/>
              <a:stCxn id="27" idx="2"/>
              <a:endCxn id="37" idx="0"/>
            </p:cNvCxnSpPr>
            <p:nvPr/>
          </p:nvCxnSpPr>
          <p:spPr>
            <a:xfrm rot="5400000">
              <a:off x="5362146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4BD82D2-5812-8FFB-78FE-E674CABAC0E9}"/>
                </a:ext>
              </a:extLst>
            </p:cNvPr>
            <p:cNvCxnSpPr>
              <a:cxnSpLocks/>
              <a:stCxn id="28" idx="2"/>
              <a:endCxn id="38" idx="0"/>
            </p:cNvCxnSpPr>
            <p:nvPr/>
          </p:nvCxnSpPr>
          <p:spPr>
            <a:xfrm rot="5400000">
              <a:off x="6055103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3F384E5C-1551-33DA-3BCF-9586F7A41A43}"/>
                </a:ext>
              </a:extLst>
            </p:cNvPr>
            <p:cNvCxnSpPr>
              <a:cxnSpLocks/>
              <a:stCxn id="29" idx="2"/>
              <a:endCxn id="39" idx="0"/>
            </p:cNvCxnSpPr>
            <p:nvPr/>
          </p:nvCxnSpPr>
          <p:spPr>
            <a:xfrm rot="5400000">
              <a:off x="6748058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23DC70-F674-92FC-EF9A-176BECE2823D}"/>
              </a:ext>
            </a:extLst>
          </p:cNvPr>
          <p:cNvGrpSpPr/>
          <p:nvPr/>
        </p:nvGrpSpPr>
        <p:grpSpPr>
          <a:xfrm>
            <a:off x="1895132" y="4236854"/>
            <a:ext cx="5353739" cy="461665"/>
            <a:chOff x="1895132" y="4236854"/>
            <a:chExt cx="5353739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3598B6-19AC-3E2C-1219-43E4606B64AA}"/>
                </a:ext>
              </a:extLst>
            </p:cNvPr>
            <p:cNvSpPr txBox="1"/>
            <p:nvPr/>
          </p:nvSpPr>
          <p:spPr>
            <a:xfrm>
              <a:off x="3855966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[0]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A404B9-3C82-D147-7B55-AAE6A144DD88}"/>
                </a:ext>
              </a:extLst>
            </p:cNvPr>
            <p:cNvSpPr txBox="1"/>
            <p:nvPr/>
          </p:nvSpPr>
          <p:spPr>
            <a:xfrm>
              <a:off x="4548923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[1]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C52059-279B-D10A-1987-1320F2349E57}"/>
                </a:ext>
              </a:extLst>
            </p:cNvPr>
            <p:cNvSpPr txBox="1"/>
            <p:nvPr/>
          </p:nvSpPr>
          <p:spPr>
            <a:xfrm>
              <a:off x="5241880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[2]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E20797-3CE5-DC37-36E5-6F13AEBB52A1}"/>
                </a:ext>
              </a:extLst>
            </p:cNvPr>
            <p:cNvSpPr txBox="1"/>
            <p:nvPr/>
          </p:nvSpPr>
          <p:spPr>
            <a:xfrm>
              <a:off x="5934837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[3]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8CE4357-F388-6217-6429-BBB5AFA2D18B}"/>
                </a:ext>
              </a:extLst>
            </p:cNvPr>
            <p:cNvSpPr txBox="1"/>
            <p:nvPr/>
          </p:nvSpPr>
          <p:spPr>
            <a:xfrm>
              <a:off x="6627792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[4]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28AC99-604E-CAAB-288B-EEF3E2F1112B}"/>
                </a:ext>
              </a:extLst>
            </p:cNvPr>
            <p:cNvSpPr txBox="1"/>
            <p:nvPr/>
          </p:nvSpPr>
          <p:spPr>
            <a:xfrm>
              <a:off x="1895132" y="4283020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Index</a:t>
              </a:r>
              <a:r>
                <a:rPr lang="en-US" dirty="0">
                  <a:solidFill>
                    <a:srgbClr val="7030A0"/>
                  </a:solidFill>
                </a:rPr>
                <a:t> Number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935029-F492-4C94-042D-FEBC4AEBEB57}"/>
              </a:ext>
            </a:extLst>
          </p:cNvPr>
          <p:cNvGrpSpPr/>
          <p:nvPr/>
        </p:nvGrpSpPr>
        <p:grpSpPr>
          <a:xfrm>
            <a:off x="1895129" y="5079065"/>
            <a:ext cx="5353739" cy="461665"/>
            <a:chOff x="1895129" y="5079065"/>
            <a:chExt cx="5353739" cy="46166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7FDF08-7D3B-D3FA-A187-EABEBCE1ECEF}"/>
                </a:ext>
              </a:extLst>
            </p:cNvPr>
            <p:cNvSpPr txBox="1"/>
            <p:nvPr/>
          </p:nvSpPr>
          <p:spPr>
            <a:xfrm>
              <a:off x="3855963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D493466-3463-28FD-91F2-84D55AE614D2}"/>
                </a:ext>
              </a:extLst>
            </p:cNvPr>
            <p:cNvSpPr txBox="1"/>
            <p:nvPr/>
          </p:nvSpPr>
          <p:spPr>
            <a:xfrm>
              <a:off x="4548920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43E5BC-5D18-3577-BFD3-D1DA135B447E}"/>
                </a:ext>
              </a:extLst>
            </p:cNvPr>
            <p:cNvSpPr txBox="1"/>
            <p:nvPr/>
          </p:nvSpPr>
          <p:spPr>
            <a:xfrm>
              <a:off x="5241877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7D58-0AD5-D309-A8C8-4AB45618C968}"/>
                </a:ext>
              </a:extLst>
            </p:cNvPr>
            <p:cNvSpPr txBox="1"/>
            <p:nvPr/>
          </p:nvSpPr>
          <p:spPr>
            <a:xfrm>
              <a:off x="5934834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F274632-54E9-9FE7-E47F-7D50E25FF55C}"/>
                </a:ext>
              </a:extLst>
            </p:cNvPr>
            <p:cNvSpPr txBox="1"/>
            <p:nvPr/>
          </p:nvSpPr>
          <p:spPr>
            <a:xfrm>
              <a:off x="6627789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5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1D0E94-2731-EA6F-7E4C-A68DBA87F012}"/>
                </a:ext>
              </a:extLst>
            </p:cNvPr>
            <p:cNvSpPr txBox="1"/>
            <p:nvPr/>
          </p:nvSpPr>
          <p:spPr>
            <a:xfrm>
              <a:off x="1895129" y="5125231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Element</a:t>
              </a:r>
              <a:r>
                <a:rPr lang="en-US" dirty="0">
                  <a:solidFill>
                    <a:srgbClr val="7030A0"/>
                  </a:solidFill>
                </a:rPr>
                <a:t> Value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958C26-3967-C635-B3F6-49CC766A9DD9}"/>
              </a:ext>
            </a:extLst>
          </p:cNvPr>
          <p:cNvGrpSpPr/>
          <p:nvPr/>
        </p:nvGrpSpPr>
        <p:grpSpPr>
          <a:xfrm>
            <a:off x="672339" y="4467686"/>
            <a:ext cx="1356971" cy="858253"/>
            <a:chOff x="672339" y="4467686"/>
            <a:chExt cx="1356971" cy="858253"/>
          </a:xfrm>
        </p:grpSpPr>
        <p:sp>
          <p:nvSpPr>
            <p:cNvPr id="62" name="Left Brace 61">
              <a:extLst>
                <a:ext uri="{FF2B5EF4-FFF2-40B4-BE49-F238E27FC236}">
                  <a16:creationId xmlns:a16="http://schemas.microsoft.com/office/drawing/2014/main" id="{C433F619-FA9D-A33A-5315-022AFF24CCEC}"/>
                </a:ext>
              </a:extLst>
            </p:cNvPr>
            <p:cNvSpPr/>
            <p:nvPr/>
          </p:nvSpPr>
          <p:spPr>
            <a:xfrm>
              <a:off x="1563136" y="4467686"/>
              <a:ext cx="466174" cy="858253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B5BA4E-5A99-1D7C-6583-422EB801EE67}"/>
                </a:ext>
              </a:extLst>
            </p:cNvPr>
            <p:cNvSpPr txBox="1"/>
            <p:nvPr/>
          </p:nvSpPr>
          <p:spPr>
            <a:xfrm>
              <a:off x="672339" y="4698519"/>
              <a:ext cx="94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Array</a:t>
              </a:r>
              <a:r>
                <a:rPr lang="en-US" dirty="0"/>
                <a:t> </a:t>
              </a:r>
              <a:r>
                <a:rPr lang="en-US" dirty="0">
                  <a:solidFill>
                    <a:srgbClr val="00B0F0"/>
                  </a:solidFill>
                </a:rPr>
                <a:t>x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A6B5246-4579-9474-A63F-F1FCDD9AEE8A}"/>
              </a:ext>
            </a:extLst>
          </p:cNvPr>
          <p:cNvSpPr txBox="1"/>
          <p:nvPr/>
        </p:nvSpPr>
        <p:spPr>
          <a:xfrm>
            <a:off x="1961148" y="5871412"/>
            <a:ext cx="522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21B8BB-3275-C8ED-ADAC-B98012E9601E}"/>
              </a:ext>
            </a:extLst>
          </p:cNvPr>
          <p:cNvGrpSpPr/>
          <p:nvPr/>
        </p:nvGrpSpPr>
        <p:grpSpPr>
          <a:xfrm>
            <a:off x="5899910" y="2934697"/>
            <a:ext cx="1076632" cy="369332"/>
            <a:chOff x="4968362" y="2079211"/>
            <a:chExt cx="1076632" cy="369332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3C3FA7F-74E2-90A8-7087-65664FA782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848585-701F-0667-2670-A34E0C730D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5FE6445-03EF-8272-ABE6-2390969BE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677" y="1696066"/>
            <a:ext cx="3256730" cy="961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064955D-C596-F708-5B1A-4AF2BD8E7663}"/>
              </a:ext>
            </a:extLst>
          </p:cNvPr>
          <p:cNvGrpSpPr/>
          <p:nvPr/>
        </p:nvGrpSpPr>
        <p:grpSpPr>
          <a:xfrm>
            <a:off x="3696793" y="324777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3FDBDB6-5963-6A40-C97C-941256451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79342C-145D-3CA0-6C74-2B2ACF993FE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820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 Slicing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21A61-C331-F97F-4808-0F0260C56B88}"/>
              </a:ext>
            </a:extLst>
          </p:cNvPr>
          <p:cNvSpPr txBox="1"/>
          <p:nvPr/>
        </p:nvSpPr>
        <p:spPr>
          <a:xfrm>
            <a:off x="423472" y="5331377"/>
            <a:ext cx="8297055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https://problemsolvingwithpython.com/05-NumPy-and-Arrays/05.06-Array-Slicing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https://www.w3schools.com/python/numpy/numpy_array_slicing.asp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884F4-37E8-A744-7B01-34C541046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477" y="1714050"/>
            <a:ext cx="6761905" cy="25047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A1369-823B-FA08-FAF9-60198922E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473" y="2609878"/>
            <a:ext cx="6333333" cy="23428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30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719B-12B3-2270-83AF-8CD77AD2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661224-3F20-64D9-C0CF-AD4D9EC930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0" y="1690691"/>
            <a:ext cx="6088481" cy="4161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AD8F0-74F0-50C9-2347-338D35DB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F99B-B11A-93BF-A84F-89231B24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1AB9E8-8DA1-82FA-076A-3D9097DCE05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32C821D-2CF7-2048-56E4-4635DFF51DDF}"/>
              </a:ext>
            </a:extLst>
          </p:cNvPr>
          <p:cNvGrpSpPr/>
          <p:nvPr/>
        </p:nvGrpSpPr>
        <p:grpSpPr>
          <a:xfrm>
            <a:off x="3719252" y="22605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F69E9C8-6B48-8076-9E0D-ECCAAA656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AE7D01-3FAB-B784-5913-01F0FC74C51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9A9293-0AE3-E853-DB08-9490D5B5E461}"/>
              </a:ext>
            </a:extLst>
          </p:cNvPr>
          <p:cNvGrpSpPr/>
          <p:nvPr/>
        </p:nvGrpSpPr>
        <p:grpSpPr>
          <a:xfrm>
            <a:off x="3630491" y="255776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269ABFC-6B1C-9E2C-E3FE-D11B6A04B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73305A-576F-1034-C6D4-BA6F60A5DC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0B57-9BCC-6908-27E4-BF067F17FC56}"/>
              </a:ext>
            </a:extLst>
          </p:cNvPr>
          <p:cNvGrpSpPr/>
          <p:nvPr/>
        </p:nvGrpSpPr>
        <p:grpSpPr>
          <a:xfrm>
            <a:off x="3166261" y="285501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DC9D5C-F0F4-4E44-63F1-E24DC21355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0BD65AC-833D-28EB-B419-52143210C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E07F0A-C8EF-2083-F4E6-AF9898F26588}"/>
              </a:ext>
            </a:extLst>
          </p:cNvPr>
          <p:cNvGrpSpPr/>
          <p:nvPr/>
        </p:nvGrpSpPr>
        <p:grpSpPr>
          <a:xfrm>
            <a:off x="3702568" y="3753049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884C5-BBE0-0F4A-6B2E-8D175A8ACDE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CBB7C7F-A1D9-6483-C95A-63599C468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300966E-C1CD-E148-88C5-1B10AEF9F287}"/>
              </a:ext>
            </a:extLst>
          </p:cNvPr>
          <p:cNvGrpSpPr/>
          <p:nvPr/>
        </p:nvGrpSpPr>
        <p:grpSpPr>
          <a:xfrm>
            <a:off x="3871485" y="4033259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DE1099-5DD3-B0E6-CEF3-B90F9FA357A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16A274-8316-F594-4684-16074993FB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6216BC6-3DFD-0BB9-5540-1D93160AABA6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(inclusive)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(exclusive)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1B54CF-649E-5CA2-6834-1CF49344BA70}"/>
              </a:ext>
            </a:extLst>
          </p:cNvPr>
          <p:cNvGrpSpPr/>
          <p:nvPr/>
        </p:nvGrpSpPr>
        <p:grpSpPr>
          <a:xfrm>
            <a:off x="3912989" y="4335506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F67239-7264-8A27-7428-2AA02EA0A5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F5B117C-8DB1-9729-FC65-B8E6D8F35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3123FC-1308-8B9E-BC00-4048BFCC0314}"/>
              </a:ext>
            </a:extLst>
          </p:cNvPr>
          <p:cNvGrpSpPr/>
          <p:nvPr/>
        </p:nvGrpSpPr>
        <p:grpSpPr>
          <a:xfrm>
            <a:off x="3849992" y="463024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343F96-92FB-F10B-C6FB-A301DADBC06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749BB1-1E84-4406-0C06-71202D497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B7A898-0794-9DBF-6CB8-FEBAB93356A2}"/>
              </a:ext>
            </a:extLst>
          </p:cNvPr>
          <p:cNvGrpSpPr/>
          <p:nvPr/>
        </p:nvGrpSpPr>
        <p:grpSpPr>
          <a:xfrm>
            <a:off x="3991302" y="4927400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A7D56-FB4B-772A-4748-4BBD15710AB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DB5755-D0CA-4CDC-23AB-8B8D0BB75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7298E95-3C54-333D-C6BB-4A58BE49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5316360" y="3997399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74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1EF-35FD-FAA2-E657-0694CC61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EB583-76FA-FAA5-7013-DCEAB25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7B1C1-3881-040A-EA9B-83B454B8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B109F-EA2D-84F4-662D-A25758504948}"/>
              </a:ext>
            </a:extLst>
          </p:cNvPr>
          <p:cNvSpPr txBox="1"/>
          <p:nvPr/>
        </p:nvSpPr>
        <p:spPr>
          <a:xfrm>
            <a:off x="6228912" y="4284879"/>
            <a:ext cx="222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657FB-658B-8F63-2E3B-94C5645C28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63" y="1527445"/>
            <a:ext cx="3244899" cy="406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8502A-581F-95F9-63F4-8792B41DD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4923329" y="1565145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/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507D5AA-D068-6FC5-0ECD-4E9F157F7EA4}"/>
              </a:ext>
            </a:extLst>
          </p:cNvPr>
          <p:cNvGrpSpPr/>
          <p:nvPr/>
        </p:nvGrpSpPr>
        <p:grpSpPr>
          <a:xfrm>
            <a:off x="4385013" y="263111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63C255B-0E4F-7C5A-D1AC-562288AEFE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7F2E07-B56D-E2DE-C10E-6F45DDA836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17249-BBA0-FD9E-C255-EEA42878FF8E}"/>
              </a:ext>
            </a:extLst>
          </p:cNvPr>
          <p:cNvGrpSpPr/>
          <p:nvPr/>
        </p:nvGrpSpPr>
        <p:grpSpPr>
          <a:xfrm>
            <a:off x="4385013" y="298561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B8FCDCD-7F76-B12C-5769-BDBF805B0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5C4BA0-6C2E-5D5C-BCAC-4A093CB9EF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/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682D2930-B415-8CE5-7575-49AB143BFAC6}"/>
              </a:ext>
            </a:extLst>
          </p:cNvPr>
          <p:cNvGrpSpPr>
            <a:grpSpLocks/>
          </p:cNvGrpSpPr>
          <p:nvPr/>
        </p:nvGrpSpPr>
        <p:grpSpPr>
          <a:xfrm>
            <a:off x="2474445" y="370871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ACEF8B-6D4C-D448-225A-1A13D314F258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98F13D8-1455-C5F8-FA06-F0E6C2A6C5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6156E29-231C-8024-E91B-E5CE462FA83D}"/>
              </a:ext>
            </a:extLst>
          </p:cNvPr>
          <p:cNvSpPr txBox="1">
            <a:spLocks/>
          </p:cNvSpPr>
          <p:nvPr/>
        </p:nvSpPr>
        <p:spPr>
          <a:xfrm>
            <a:off x="4700340" y="3708716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x[3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0B902-C96C-A9F6-9538-DF351FB59D34}"/>
              </a:ext>
            </a:extLst>
          </p:cNvPr>
          <p:cNvGrpSpPr>
            <a:grpSpLocks/>
          </p:cNvGrpSpPr>
          <p:nvPr/>
        </p:nvGrpSpPr>
        <p:grpSpPr>
          <a:xfrm>
            <a:off x="2763201" y="4072020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3FF273-93E7-B55F-C081-30A8E4A5BD9D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AB72E64-4401-0B4D-3678-C7AA4DA9E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CCC5E94-B7C5-7F8C-0C74-F3B16965E702}"/>
              </a:ext>
            </a:extLst>
          </p:cNvPr>
          <p:cNvGrpSpPr>
            <a:grpSpLocks/>
          </p:cNvGrpSpPr>
          <p:nvPr/>
        </p:nvGrpSpPr>
        <p:grpSpPr>
          <a:xfrm>
            <a:off x="2339797" y="443532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63E7CD-AA67-1128-6EE6-29ACC0EE60BB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0C3389-F9AA-1AA4-19A3-5F2CB77A6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3048DF-6EAA-630A-58C4-7D9949AC877A}"/>
              </a:ext>
            </a:extLst>
          </p:cNvPr>
          <p:cNvGrpSpPr>
            <a:grpSpLocks/>
          </p:cNvGrpSpPr>
          <p:nvPr/>
        </p:nvGrpSpPr>
        <p:grpSpPr>
          <a:xfrm>
            <a:off x="2816627" y="479862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53D7A-01FF-6503-A083-BA9AD218B50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4DC7B64-8F69-C961-88AD-E1D1F9C9E0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1C0947-F924-931A-B721-524E280D7874}"/>
              </a:ext>
            </a:extLst>
          </p:cNvPr>
          <p:cNvGrpSpPr>
            <a:grpSpLocks/>
          </p:cNvGrpSpPr>
          <p:nvPr/>
        </p:nvGrpSpPr>
        <p:grpSpPr>
          <a:xfrm>
            <a:off x="3701530" y="5161931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97BD937-B52A-4C50-F7D3-226C16538F8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24F2A97-D397-6D0A-EAA6-3E3FC3342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16758DE-248E-AFFD-8541-EC5062FA70A0}"/>
              </a:ext>
            </a:extLst>
          </p:cNvPr>
          <p:cNvSpPr txBox="1"/>
          <p:nvPr/>
        </p:nvSpPr>
        <p:spPr>
          <a:xfrm>
            <a:off x="4700340" y="407163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3]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6E532-37C7-BC44-98D9-30E12E392D66}"/>
              </a:ext>
            </a:extLst>
          </p:cNvPr>
          <p:cNvSpPr txBox="1"/>
          <p:nvPr/>
        </p:nvSpPr>
        <p:spPr>
          <a:xfrm>
            <a:off x="4700340" y="4434544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x[2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4]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455F7C-A49C-A3D3-AF53-66B8B3A99831}"/>
              </a:ext>
            </a:extLst>
          </p:cNvPr>
          <p:cNvSpPr txBox="1"/>
          <p:nvPr/>
        </p:nvSpPr>
        <p:spPr>
          <a:xfrm>
            <a:off x="4700340" y="4797458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77085-60F8-3417-B939-8997D020E767}"/>
              </a:ext>
            </a:extLst>
          </p:cNvPr>
          <p:cNvSpPr txBox="1"/>
          <p:nvPr/>
        </p:nvSpPr>
        <p:spPr>
          <a:xfrm>
            <a:off x="4700340" y="516037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-1]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7F706-0872-C0EF-F9D0-6BD5E7DBBC52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</a:t>
            </a:r>
            <a:r>
              <a:rPr lang="en-US" sz="2000" i="1" dirty="0">
                <a:solidFill>
                  <a:srgbClr val="00B050"/>
                </a:solidFill>
              </a:rPr>
              <a:t>inclusive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</a:t>
            </a:r>
            <a:r>
              <a:rPr lang="en-US" sz="2000" u="sng" dirty="0">
                <a:solidFill>
                  <a:srgbClr val="00B050"/>
                </a:solidFill>
              </a:rPr>
              <a:t>exclusive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D61877-637B-FEFF-C7B7-923A7E97200B}"/>
              </a:ext>
            </a:extLst>
          </p:cNvPr>
          <p:cNvSpPr/>
          <p:nvPr/>
        </p:nvSpPr>
        <p:spPr>
          <a:xfrm>
            <a:off x="5024851" y="3790457"/>
            <a:ext cx="159130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469424-4163-E0EF-CDEB-FA15F6E97902}"/>
              </a:ext>
            </a:extLst>
          </p:cNvPr>
          <p:cNvSpPr/>
          <p:nvPr/>
        </p:nvSpPr>
        <p:spPr>
          <a:xfrm>
            <a:off x="7551482" y="1584625"/>
            <a:ext cx="233618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4CE5442-76CA-8BE3-3E7E-974CABBFF505}"/>
              </a:ext>
            </a:extLst>
          </p:cNvPr>
          <p:cNvCxnSpPr>
            <a:cxnSpLocks/>
            <a:stCxn id="54" idx="2"/>
            <a:endCxn id="57" idx="0"/>
          </p:cNvCxnSpPr>
          <p:nvPr/>
        </p:nvCxnSpPr>
        <p:spPr>
          <a:xfrm rot="5400000" flipH="1" flipV="1">
            <a:off x="5166509" y="1522531"/>
            <a:ext cx="2439688" cy="2563875"/>
          </a:xfrm>
          <a:prstGeom prst="bentConnector5">
            <a:avLst>
              <a:gd name="adj1" fmla="val -4438"/>
              <a:gd name="adj2" fmla="val 134369"/>
              <a:gd name="adj3" fmla="val 112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43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9" grpId="0"/>
      <p:bldP spid="16" grpId="0"/>
      <p:bldP spid="20" grpId="0"/>
      <p:bldP spid="47" grpId="0"/>
      <p:bldP spid="48" grpId="0"/>
      <p:bldP spid="50" grpId="0"/>
      <p:bldP spid="51" grpId="0"/>
      <p:bldP spid="53" grpId="0"/>
      <p:bldP spid="54" grpId="0" animBg="1"/>
      <p:bldP spid="5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9A6F-BE5C-82D7-943C-0CB3CB0D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188AE4-3F5A-A8F7-5AAF-06BF793AFC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17" y="1715914"/>
            <a:ext cx="5683166" cy="26013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36F13-07CB-D52F-7E46-951D2913B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0023-C441-474A-A830-85DC1ABF6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59BF7-8610-B08C-3FE2-4CEC43EE10A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69CC3-4EE1-7DE8-2ED5-E11169935EBC}"/>
              </a:ext>
            </a:extLst>
          </p:cNvPr>
          <p:cNvGrpSpPr/>
          <p:nvPr/>
        </p:nvGrpSpPr>
        <p:grpSpPr>
          <a:xfrm>
            <a:off x="4882307" y="198669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36A4804-CF64-77CD-C905-A9015B293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F0B653-199E-6E6B-15B4-F0B8E91B7A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53E65-9C23-B195-877F-34D2E0E7B407}"/>
              </a:ext>
            </a:extLst>
          </p:cNvPr>
          <p:cNvGrpSpPr/>
          <p:nvPr/>
        </p:nvGrpSpPr>
        <p:grpSpPr>
          <a:xfrm>
            <a:off x="3310161" y="2277932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82FB6F3-8252-7B02-BA7B-A791FB6558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5AF33D-C654-F10E-CE68-4DB1C2B368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8381A8-EC5E-FD47-B0DA-55E424DF9ADB}"/>
              </a:ext>
            </a:extLst>
          </p:cNvPr>
          <p:cNvGrpSpPr/>
          <p:nvPr/>
        </p:nvGrpSpPr>
        <p:grpSpPr>
          <a:xfrm>
            <a:off x="3970399" y="25497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A10680-858E-FFBC-C037-A93BF3514C1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6903E39-9188-D08A-8383-F5D6A3B75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ADC60B-D7E3-BBE0-CA09-E14304FAA75D}"/>
              </a:ext>
            </a:extLst>
          </p:cNvPr>
          <p:cNvGrpSpPr/>
          <p:nvPr/>
        </p:nvGrpSpPr>
        <p:grpSpPr>
          <a:xfrm>
            <a:off x="3691758" y="2842745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A0D270-A692-FED9-30E4-E9C0516BBAF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F054980-4104-7A1B-1731-B29F98D11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DB7BA4-FA25-42DB-B72F-2528401C4FB5}"/>
              </a:ext>
            </a:extLst>
          </p:cNvPr>
          <p:cNvGrpSpPr/>
          <p:nvPr/>
        </p:nvGrpSpPr>
        <p:grpSpPr>
          <a:xfrm>
            <a:off x="3808981" y="311775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0767D64-E62F-59AC-37CE-57B3F10304D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DC20DCB-0B28-6B3C-0D40-A518F8D06A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5681F32-83E9-4217-ECD5-B6C9AA63705C}"/>
              </a:ext>
            </a:extLst>
          </p:cNvPr>
          <p:cNvGrpSpPr/>
          <p:nvPr/>
        </p:nvGrpSpPr>
        <p:grpSpPr>
          <a:xfrm>
            <a:off x="4323231" y="33969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A77A76-8CD0-9104-197D-9641A03E21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272240F-A7BA-DC7D-616C-3FD00BBB5D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147248-AEFD-07A3-E1AB-E0F2DF366886}"/>
              </a:ext>
            </a:extLst>
          </p:cNvPr>
          <p:cNvGrpSpPr/>
          <p:nvPr/>
        </p:nvGrpSpPr>
        <p:grpSpPr>
          <a:xfrm>
            <a:off x="3169484" y="36657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F0504D-C11E-C091-0C4D-8BA3D01ECA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63927-FA1A-726E-C1FE-F04571763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3B8D6EF-0A85-FAB5-6EC7-EF8B3A140660}"/>
              </a:ext>
            </a:extLst>
          </p:cNvPr>
          <p:cNvSpPr txBox="1"/>
          <p:nvPr/>
        </p:nvSpPr>
        <p:spPr>
          <a:xfrm>
            <a:off x="1662363" y="4683397"/>
            <a:ext cx="581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A np.linspace() with no given length</a:t>
            </a:r>
          </a:p>
          <a:p>
            <a:pPr algn="ctr"/>
            <a:r>
              <a:rPr lang="en-US" sz="2000" dirty="0">
                <a:solidFill>
                  <a:srgbClr val="00B050"/>
                </a:solidFill>
              </a:rPr>
              <a:t>assumes a default size of </a:t>
            </a:r>
            <a:r>
              <a:rPr lang="en-US" sz="2000" b="1" dirty="0">
                <a:solidFill>
                  <a:srgbClr val="00B050"/>
                </a:solidFill>
              </a:rPr>
              <a:t>50</a:t>
            </a:r>
            <a:r>
              <a:rPr lang="en-US" sz="2000" dirty="0">
                <a:solidFill>
                  <a:srgbClr val="00B050"/>
                </a:solidFill>
              </a:rPr>
              <a:t> elements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1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4596-315B-22AE-784D-99C57F88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874-4B29-FF12-426F-CF51ACF47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AC14B-B212-0791-65C4-611DAD0D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663F0-C3AC-787E-0027-4D3DD99F8E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381" y="1718256"/>
            <a:ext cx="5895238" cy="4638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DA7A6F-2CB9-53AD-35C0-52336579BE11}"/>
              </a:ext>
            </a:extLst>
          </p:cNvPr>
          <p:cNvGrpSpPr/>
          <p:nvPr/>
        </p:nvGrpSpPr>
        <p:grpSpPr>
          <a:xfrm>
            <a:off x="7615940" y="249311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066FAF4-4D5E-E508-3894-0AFAA8190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2AF9EF-9DB0-EBA4-D99C-31D3E0C2D3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7AE8F06-4068-0A78-C5BA-5ABC5014FB6E}"/>
              </a:ext>
            </a:extLst>
          </p:cNvPr>
          <p:cNvGrpSpPr/>
          <p:nvPr/>
        </p:nvGrpSpPr>
        <p:grpSpPr>
          <a:xfrm>
            <a:off x="1937034" y="3685225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1B516AE-D543-F451-0676-F48B50F1A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9CC75-69EC-19CD-8E56-666E52D4C5E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072795-E97C-9311-C707-3E1E2E9441AF}"/>
              </a:ext>
            </a:extLst>
          </p:cNvPr>
          <p:cNvGrpSpPr/>
          <p:nvPr/>
        </p:nvGrpSpPr>
        <p:grpSpPr>
          <a:xfrm>
            <a:off x="2097551" y="3889438"/>
            <a:ext cx="1068643" cy="369332"/>
            <a:chOff x="3647644" y="4910075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F9C5F36-CD8A-AF6D-A502-CAC88D72548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25AB946-0C78-DFEE-6D14-AA55FCA763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9505A95-3DDA-E7FC-69D4-F7404937F652}"/>
              </a:ext>
            </a:extLst>
          </p:cNvPr>
          <p:cNvGrpSpPr/>
          <p:nvPr/>
        </p:nvGrpSpPr>
        <p:grpSpPr>
          <a:xfrm>
            <a:off x="2099329" y="4101673"/>
            <a:ext cx="1064340" cy="369332"/>
            <a:chOff x="3647644" y="5421073"/>
            <a:chExt cx="1064340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E1829FF-3E2C-3BD1-4887-64657B025DD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4CF276E-4C4A-6F8A-3AD2-958EB25E56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80E5B90-1F67-1184-CED9-7630A10EADFF}"/>
              </a:ext>
            </a:extLst>
          </p:cNvPr>
          <p:cNvGrpSpPr/>
          <p:nvPr/>
        </p:nvGrpSpPr>
        <p:grpSpPr>
          <a:xfrm>
            <a:off x="7615940" y="4931914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17240AA-E1DE-89BC-C18C-42E7D0FA4F8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3C108ED-0499-ECD0-D716-2E4379E03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/>
              <p:nvPr/>
            </p:nvSpPr>
            <p:spPr>
              <a:xfrm>
                <a:off x="7797883" y="2859680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7883" y="2859680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/>
              <p:nvPr/>
            </p:nvSpPr>
            <p:spPr>
              <a:xfrm>
                <a:off x="7797883" y="5184592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rad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7883" y="5184592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89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E9AA-E8AB-C4D9-920E-B6851870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21B71-0497-A95E-1B75-40184643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08"/>
          <a:stretch>
            <a:fillRect/>
          </a:stretch>
        </p:blipFill>
        <p:spPr>
          <a:xfrm>
            <a:off x="940971" y="1656941"/>
            <a:ext cx="7122367" cy="1637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2CA6B-7583-0A21-5B3D-2751B747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024AF-FD67-E1F2-3090-53A772F5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94951-6BB5-8D1E-0489-279503B20E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3FFC6A-6715-B66B-31F3-AF277D3A090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2A920C3-B4EE-7E00-7700-ACEBFF8976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183AD3-E752-197B-949F-F25FD120C86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05511-F692-F059-018F-FCF019E94EE8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4F104FD-A993-41A4-E875-D93A39D448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09ACEC-E839-D1BA-8069-89D73AB869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314FD8-7E06-62F9-3E51-46B4AB96174F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B3802A8-1C1C-E0AD-A474-D8C45D9F98D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8E28D1-3D90-3D6C-ABA7-41E996A00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B9A321-14CD-061E-38CF-815616F9DBD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7717CA-87C6-AC0E-FF13-1EF64EB0B45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125538A-87AB-72DE-74C8-D63965E635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547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F23-095E-4726-9B5A-BF5CC523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3D2BCB-8E19-4CDE-2217-7DDA23A37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10" y="1726783"/>
            <a:ext cx="7095181" cy="4601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BCC4-B4EF-DCAA-71FC-6B714A57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52B2C-2451-4BE6-D4E8-16833C46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0C27F9-9E12-3A54-5F08-7111B4F5BC5A}"/>
              </a:ext>
            </a:extLst>
          </p:cNvPr>
          <p:cNvGrpSpPr/>
          <p:nvPr/>
        </p:nvGrpSpPr>
        <p:grpSpPr>
          <a:xfrm>
            <a:off x="1624106" y="179411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E9BB9-5747-E822-738E-87B2EB26DF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7337C47-12B0-ABE8-996B-13611A14D52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081D50-967A-C285-3D27-9CFE642DFF6E}"/>
              </a:ext>
            </a:extLst>
          </p:cNvPr>
          <p:cNvGrpSpPr/>
          <p:nvPr/>
        </p:nvGrpSpPr>
        <p:grpSpPr>
          <a:xfrm>
            <a:off x="1624106" y="4074104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823439E-7FAD-1A85-5DF2-CED20530F7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D83D12-3F80-F526-8B3E-2D2F3D0E07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/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/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58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E108-A8EF-5B3F-CF6B-F102D139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4945D-6E48-D620-12C5-D99352173B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512"/>
          <a:stretch>
            <a:fillRect/>
          </a:stretch>
        </p:blipFill>
        <p:spPr>
          <a:xfrm>
            <a:off x="940971" y="1656941"/>
            <a:ext cx="7122367" cy="2695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AFD2B-2061-CE11-492A-EC358CA1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1A3A1-3867-C905-541C-EA9E3984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BDD307-9568-8C17-6179-CE1B020FC75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9EDD9C-F072-CD0B-6B0B-044C98C5E5C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953593B-7AE5-51AE-5723-1B8E7DA14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0B9FCA-B1BC-8A90-2D35-718B74107B2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03AFFB-17AC-5D57-18B3-1666AA73E0BF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695F8B-DE62-B91C-DC21-78CB54465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1AB4A2-61DB-67FD-B120-426F700F5CC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EB0995-85A9-C295-97DD-7B6F6BBEF488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05F8B0-393C-E072-D0E4-DEBE38AF292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EA407C2-D87C-CB58-F3B1-D94A5C3E5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458332-84DC-7623-E2A9-9CD5F6134FE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5648F-B1C3-5D9C-DB48-8F47A189DEC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37F820-DE03-30F4-DA82-418EDA2754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2876B0-DC53-D745-5169-1E584C1B1530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443D7B-A62D-F333-C014-2BF117DD15A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5A6297F-7181-F9DC-60B6-7DE9BC08EF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392CC8A-0542-59AE-670F-7205A7521E1D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8BE1060-5BA7-8DE9-D4D7-1A547A22D92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C222358-C0F5-1A7D-D204-18A94B617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20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B60-0879-645C-D74B-ECBBDC8D8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F47AF1-B1CD-1202-5A72-4E3ECA85E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42" y="1932344"/>
            <a:ext cx="7956517" cy="24454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9475C4-0E51-6EA3-7E8D-508F8C1AF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8F8CB-0F3F-915A-8D79-2558009F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92EEC5-134C-6F29-7B0B-A040C09E0EFC}"/>
              </a:ext>
            </a:extLst>
          </p:cNvPr>
          <p:cNvGrpSpPr/>
          <p:nvPr/>
        </p:nvGrpSpPr>
        <p:grpSpPr>
          <a:xfrm>
            <a:off x="2741294" y="1149036"/>
            <a:ext cx="598417" cy="870598"/>
            <a:chOff x="4772004" y="1834255"/>
            <a:chExt cx="598417" cy="8705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9D9B0F-3FB4-22A6-8B4D-A15FE699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2004" y="2155624"/>
              <a:ext cx="312819" cy="5492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2E36D6-8288-D124-DEE5-CBA3C7C345E4}"/>
                </a:ext>
              </a:extLst>
            </p:cNvPr>
            <p:cNvSpPr txBox="1"/>
            <p:nvPr/>
          </p:nvSpPr>
          <p:spPr>
            <a:xfrm>
              <a:off x="4986963" y="183425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/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/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=0.04081633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blipFill>
                <a:blip r:embed="rId4"/>
                <a:stretch>
                  <a:fillRect l="-2469" r="-2778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/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=−9.59183673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blipFill>
                <a:blip r:embed="rId5"/>
                <a:stretch>
                  <a:fillRect l="-1198" r="-299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/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0.04081633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9.59183673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+3.14159265=2.75008911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blipFill>
                <a:blip r:embed="rId6"/>
                <a:stretch>
                  <a:fillRect r="-50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56C965E-56C2-BED7-2B36-B8376391B6B0}"/>
              </a:ext>
            </a:extLst>
          </p:cNvPr>
          <p:cNvSpPr txBox="1"/>
          <p:nvPr/>
        </p:nvSpPr>
        <p:spPr>
          <a:xfrm>
            <a:off x="7414461" y="5975526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AF82B8-B33D-2727-62CC-2E94FB0E0C60}"/>
              </a:ext>
            </a:extLst>
          </p:cNvPr>
          <p:cNvSpPr txBox="1"/>
          <p:nvPr/>
        </p:nvSpPr>
        <p:spPr>
          <a:xfrm>
            <a:off x="2839975" y="1572704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090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77467-2A3A-A6C6-9775-7D4E2C43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7722F0-A760-4E3A-C31D-2B143A3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71" y="1656941"/>
            <a:ext cx="7122367" cy="4053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F8628E-5198-5553-A445-DDA5424D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77C-3534-414C-011C-5E520FE1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A06267-F0BB-A3D3-15CF-A4A2187EEC5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DEFD4E-F9BA-F371-2E93-4FFBC61CE5B2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678165B-44EE-E0C8-43CE-4C6D5E7A8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531209-4088-095A-E857-66B901B5E6C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1AD564-D991-14D4-295E-67FEDC209AC5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CB7A849-B9F3-6C0C-359C-75635B08B2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15F2AB-7432-9FF8-C348-496CB7682A0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FA0099-D206-2603-0666-F730E2DA00E4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630A1C-4BD7-9699-1C6F-16CBD8387FE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9B4DF0-CAA4-F7C3-EFF8-D3C5C9EE6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165325-DEDD-525A-B034-E8493D4011FF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FF126D-74FF-9771-D698-DA2DB831BD3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9444FD-8D9E-E1F1-26D0-8F8273FD43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CE2378-025D-8C09-0894-9FEC0231F108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89543DF-81FB-D3B2-1E72-0D06D1475EA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C188DD6-61EE-3C3F-0BFF-BB27C637C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52927-5E12-2DFA-7D07-5B48842066A6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C66D8A-CE62-0884-B330-CDE4606A17A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D676B7-B88F-4C13-3243-2A18C5734F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EFE4B6-4CC9-9AAA-1CDE-64F8FE7439FF}"/>
              </a:ext>
            </a:extLst>
          </p:cNvPr>
          <p:cNvGrpSpPr/>
          <p:nvPr/>
        </p:nvGrpSpPr>
        <p:grpSpPr>
          <a:xfrm>
            <a:off x="7909926" y="4588188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336DDA-E2E1-B4A7-4143-3BC64D54C4D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C74E8DD-0289-28C5-D5A4-CAD3396A29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13B7B44-6DA7-40E9-387F-BFD834C4A7E3}"/>
              </a:ext>
            </a:extLst>
          </p:cNvPr>
          <p:cNvGrpSpPr/>
          <p:nvPr/>
        </p:nvGrpSpPr>
        <p:grpSpPr>
          <a:xfrm>
            <a:off x="4862365" y="484276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0AB08D-9CEA-4E36-4963-F0CCB673DC1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03CBA9A-C3F0-EA3A-9913-206D4DC36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6A90B08-544D-6C9E-E6EA-55B09D9DED71}"/>
              </a:ext>
            </a:extLst>
          </p:cNvPr>
          <p:cNvGrpSpPr/>
          <p:nvPr/>
        </p:nvGrpSpPr>
        <p:grpSpPr>
          <a:xfrm>
            <a:off x="7088090" y="5112849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7E99CE-EFA8-65EB-C7CB-180AB34F5E7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83F3734-C7B9-E484-E425-52EA04E17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64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6ACD-22AE-C6CF-54A1-17731348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964EE6-F6D2-7F95-F2E3-4608AD9ADD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-1" b="1123"/>
          <a:stretch>
            <a:fillRect/>
          </a:stretch>
        </p:blipFill>
        <p:spPr>
          <a:xfrm>
            <a:off x="628650" y="1610480"/>
            <a:ext cx="7893684" cy="31511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483B05-A312-BCB7-F348-11AC90E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44487-5F66-CA7B-D409-A0A58993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08A888-8DF0-D113-2202-9A1489DDD48A}"/>
              </a:ext>
            </a:extLst>
          </p:cNvPr>
          <p:cNvGrpSpPr/>
          <p:nvPr/>
        </p:nvGrpSpPr>
        <p:grpSpPr>
          <a:xfrm>
            <a:off x="4976906" y="195007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5A28E00-2E1B-2A78-16F2-9BCB6C60E0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6FA3371-5F02-82EA-744D-A89C1B9A7A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FD1DFF-1F75-FC9B-4EF7-D1634FDA1A93}"/>
              </a:ext>
            </a:extLst>
          </p:cNvPr>
          <p:cNvGrpSpPr/>
          <p:nvPr/>
        </p:nvGrpSpPr>
        <p:grpSpPr>
          <a:xfrm>
            <a:off x="2101513" y="3204229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A14D620-88F8-CC4D-C0DD-18147C33F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4E136F9-A4BA-D5B8-D4C2-7C7C08946E6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C010575-C441-6D0A-05DB-7156D8125D07}"/>
              </a:ext>
            </a:extLst>
          </p:cNvPr>
          <p:cNvSpPr txBox="1"/>
          <p:nvPr/>
        </p:nvSpPr>
        <p:spPr>
          <a:xfrm>
            <a:off x="774031" y="4980038"/>
            <a:ext cx="759593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Indices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223C4-02E5-12DF-5441-FD757DCE2B1B}"/>
              </a:ext>
            </a:extLst>
          </p:cNvPr>
          <p:cNvSpPr txBox="1"/>
          <p:nvPr/>
        </p:nvSpPr>
        <p:spPr>
          <a:xfrm>
            <a:off x="2053388" y="5523243"/>
            <a:ext cx="393031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Boolean array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4CE26B-7751-2BA1-1DD1-169105583D84}"/>
              </a:ext>
            </a:extLst>
          </p:cNvPr>
          <p:cNvSpPr txBox="1"/>
          <p:nvPr/>
        </p:nvSpPr>
        <p:spPr>
          <a:xfrm>
            <a:off x="1690860" y="6066448"/>
            <a:ext cx="6378319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Values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6D4810A-2689-B2E0-CDAF-BFE56BD93E1E}"/>
              </a:ext>
            </a:extLst>
          </p:cNvPr>
          <p:cNvGrpSpPr/>
          <p:nvPr/>
        </p:nvGrpSpPr>
        <p:grpSpPr>
          <a:xfrm>
            <a:off x="2197766" y="442260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B8DD3D0-566E-4163-655D-6D806B5638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8941BA-8D8C-6D7E-AD3D-A02D0B5A4D0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B94A99-95B4-8487-DEEA-609B3E19018E}"/>
              </a:ext>
            </a:extLst>
          </p:cNvPr>
          <p:cNvSpPr txBox="1"/>
          <p:nvPr/>
        </p:nvSpPr>
        <p:spPr>
          <a:xfrm>
            <a:off x="5983705" y="193403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Conditional Indexing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2C78F-4FC5-C8AA-843F-52B8EA720F7C}"/>
              </a:ext>
            </a:extLst>
          </p:cNvPr>
          <p:cNvSpPr txBox="1"/>
          <p:nvPr/>
        </p:nvSpPr>
        <p:spPr>
          <a:xfrm>
            <a:off x="3110012" y="320332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Vectorized comparison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9948FE-AD6E-DE76-3C96-89DD58E55C43}"/>
              </a:ext>
            </a:extLst>
          </p:cNvPr>
          <p:cNvSpPr txBox="1"/>
          <p:nvPr/>
        </p:nvSpPr>
        <p:spPr>
          <a:xfrm>
            <a:off x="3302517" y="4407470"/>
            <a:ext cx="476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Boolean/Fancy indexing (where mask = True)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4AC36-322A-F9EF-8A20-8D69D063B821}"/>
              </a:ext>
            </a:extLst>
          </p:cNvPr>
          <p:cNvSpPr txBox="1"/>
          <p:nvPr/>
        </p:nvSpPr>
        <p:spPr>
          <a:xfrm>
            <a:off x="621666" y="1305058"/>
            <a:ext cx="285248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pl-PL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l-PL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linspace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E9F00-80F3-BA38-34EB-90D66C8E8C4E}"/>
              </a:ext>
            </a:extLst>
          </p:cNvPr>
          <p:cNvSpPr/>
          <p:nvPr/>
        </p:nvSpPr>
        <p:spPr>
          <a:xfrm>
            <a:off x="4252914" y="1996111"/>
            <a:ext cx="285750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CEFEDF-0D30-5BDB-963C-64B2485A5D35}"/>
              </a:ext>
            </a:extLst>
          </p:cNvPr>
          <p:cNvSpPr/>
          <p:nvPr/>
        </p:nvSpPr>
        <p:spPr>
          <a:xfrm>
            <a:off x="1469608" y="2742207"/>
            <a:ext cx="583779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7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7" grpId="0"/>
      <p:bldP spid="18" grpId="0"/>
      <p:bldP spid="19" grpId="0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Line Graphs using matplotlib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the following two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=−0.3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+15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domain for both functions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You should plot both curves on the same graph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3E1F1E-20BF-42B2-B9AE-F806AB3C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52" y="1277939"/>
            <a:ext cx="5658294" cy="53662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https://matplotlib.org</a:t>
            </a:r>
            <a:r>
              <a:rPr lang="en-US" dirty="0"/>
              <a:t>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6B530-5900-415F-8909-0D3FE4F41FDB}"/>
              </a:ext>
            </a:extLst>
          </p:cNvPr>
          <p:cNvSpPr/>
          <p:nvPr/>
        </p:nvSpPr>
        <p:spPr>
          <a:xfrm>
            <a:off x="1799303" y="3156156"/>
            <a:ext cx="4564626" cy="2507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9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48AC1BF-07EC-4001-B09A-963CE289DA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6"/>
          <a:stretch/>
        </p:blipFill>
        <p:spPr>
          <a:xfrm>
            <a:off x="2499335" y="1690689"/>
            <a:ext cx="4145330" cy="43295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607274B-43E7-683E-54F1-5F13703A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Matplotlib Container Hierarchy</a:t>
            </a:r>
          </a:p>
        </p:txBody>
      </p:sp>
    </p:spTree>
    <p:extLst>
      <p:ext uri="{BB962C8B-B14F-4D97-AF65-F5344CB8AC3E}">
        <p14:creationId xmlns:p14="http://schemas.microsoft.com/office/powerpoint/2010/main" val="135715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Cartesian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919" y="1825624"/>
            <a:ext cx="4242112" cy="424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59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8A82-92D0-2528-BC94-CE462866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CB0486B-F1ED-C2C9-ED47-7CF54321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57" y="1787104"/>
            <a:ext cx="3114286" cy="36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BDBB80-73D6-1749-7BAA-CB5BEC08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46E08-6620-BC51-56E6-298824109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382A-E03D-E80C-8518-87607BAB2499}"/>
              </a:ext>
            </a:extLst>
          </p:cNvPr>
          <p:cNvSpPr txBox="1"/>
          <p:nvPr/>
        </p:nvSpPr>
        <p:spPr>
          <a:xfrm>
            <a:off x="2725603" y="5961592"/>
            <a:ext cx="36927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Vectorized Operations in NumPy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9B65439-41DB-4076-A238-F2F0DC9AEF9E}"/>
              </a:ext>
            </a:extLst>
          </p:cNvPr>
          <p:cNvGrpSpPr/>
          <p:nvPr/>
        </p:nvGrpSpPr>
        <p:grpSpPr>
          <a:xfrm>
            <a:off x="5542071" y="241009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D681406-EEF5-A637-F29E-625F12D1C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DE2546-49C0-F01D-1343-F872FEE557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D5D35-8874-1585-4C18-14FE3FD3B026}"/>
              </a:ext>
            </a:extLst>
          </p:cNvPr>
          <p:cNvGrpSpPr/>
          <p:nvPr/>
        </p:nvGrpSpPr>
        <p:grpSpPr>
          <a:xfrm>
            <a:off x="6089135" y="2875933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4DA1D35-197A-564B-D3B9-2CA8F740A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037ADA-A515-BAC6-8895-DEDD41146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7FF8BF-AE7B-DEA2-C10A-917C1FBE5019}"/>
              </a:ext>
            </a:extLst>
          </p:cNvPr>
          <p:cNvGrpSpPr/>
          <p:nvPr/>
        </p:nvGrpSpPr>
        <p:grpSpPr>
          <a:xfrm>
            <a:off x="4901347" y="311819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70A63C-E85E-47C1-834E-D8E1B7BB1E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A302A6C-2707-01DA-860C-FBEE75C1F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2CB07B-486A-FA6B-02D0-4B205B702F9A}"/>
              </a:ext>
            </a:extLst>
          </p:cNvPr>
          <p:cNvGrpSpPr/>
          <p:nvPr/>
        </p:nvGrpSpPr>
        <p:grpSpPr>
          <a:xfrm>
            <a:off x="5439663" y="3563605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2A1B1A-010A-CCC4-6960-BB00FAD5A9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A2804E-BEF4-60F7-17AE-28ADC6A8B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80E125-171F-C8E5-5E95-D74E4B888B11}"/>
              </a:ext>
            </a:extLst>
          </p:cNvPr>
          <p:cNvGrpSpPr/>
          <p:nvPr/>
        </p:nvGrpSpPr>
        <p:grpSpPr>
          <a:xfrm>
            <a:off x="4528436" y="3786595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DA06021-2724-B519-124D-F36F40F6DF9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0E4F89D-2420-6E89-AC59-3030CE86C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17F950-A2AB-80A2-2BFA-6363C84166E6}"/>
              </a:ext>
            </a:extLst>
          </p:cNvPr>
          <p:cNvGrpSpPr/>
          <p:nvPr/>
        </p:nvGrpSpPr>
        <p:grpSpPr>
          <a:xfrm>
            <a:off x="5097541" y="4025895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E0050-31DA-37E9-3834-54CBAA9E16A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7AAAAEE-09CD-EEEC-8A75-D3DB68A9AF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623FC2-37DC-0CD1-68B8-2BDC9BA8F66E}"/>
              </a:ext>
            </a:extLst>
          </p:cNvPr>
          <p:cNvGrpSpPr/>
          <p:nvPr/>
        </p:nvGrpSpPr>
        <p:grpSpPr>
          <a:xfrm>
            <a:off x="6114565" y="4489447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89A731-9AF9-81F0-1BC4-3ABD7428E34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8ABC0-A6B3-165F-6EA5-57D4965AF3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Speech Bubble: Rectangle 59">
            <a:extLst>
              <a:ext uri="{FF2B5EF4-FFF2-40B4-BE49-F238E27FC236}">
                <a16:creationId xmlns:a16="http://schemas.microsoft.com/office/drawing/2014/main" id="{BD2CD434-5EC8-C15B-EE42-9E2E184F0E92}"/>
              </a:ext>
            </a:extLst>
          </p:cNvPr>
          <p:cNvSpPr/>
          <p:nvPr/>
        </p:nvSpPr>
        <p:spPr>
          <a:xfrm>
            <a:off x="360452" y="3867344"/>
            <a:ext cx="1930882" cy="1127328"/>
          </a:xfrm>
          <a:prstGeom prst="wedgeRectCallout">
            <a:avLst>
              <a:gd name="adj1" fmla="val 90317"/>
              <a:gd name="adj2" fmla="val -60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is now an array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 between -10 and 10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B5140399-92CC-3E10-0BBB-6447BEE9955C}"/>
              </a:ext>
            </a:extLst>
          </p:cNvPr>
          <p:cNvSpPr/>
          <p:nvPr/>
        </p:nvSpPr>
        <p:spPr>
          <a:xfrm>
            <a:off x="378158" y="5169174"/>
            <a:ext cx="1930882" cy="1127328"/>
          </a:xfrm>
          <a:prstGeom prst="wedgeRectCallout">
            <a:avLst>
              <a:gd name="adj1" fmla="val 89143"/>
              <a:gd name="adj2" fmla="val -1251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y1 and y2 are now arrays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1F925937-96D7-FB66-72AC-7453E3619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682" y="3817269"/>
            <a:ext cx="2057400" cy="625528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B91B46FB-E4AA-7A74-46FD-8FF549AF52EB}"/>
              </a:ext>
            </a:extLst>
          </p:cNvPr>
          <p:cNvGrpSpPr/>
          <p:nvPr/>
        </p:nvGrpSpPr>
        <p:grpSpPr>
          <a:xfrm>
            <a:off x="4567246" y="470711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737E2FA-7EE6-7CAB-34B3-05883C1B62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D04AA92-3A94-488B-36FD-CFE70BC965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27DF6B-C654-E2FA-6406-EA04D698592E}"/>
              </a:ext>
            </a:extLst>
          </p:cNvPr>
          <p:cNvGrpSpPr/>
          <p:nvPr/>
        </p:nvGrpSpPr>
        <p:grpSpPr>
          <a:xfrm>
            <a:off x="4567246" y="4905538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10F5CC8-1405-442F-96AD-533EDD8BF16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6C612C-F781-0136-AFE7-BD9589541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C733EDA-49E4-5F94-C568-F07234E34314}"/>
              </a:ext>
            </a:extLst>
          </p:cNvPr>
          <p:cNvGrpSpPr/>
          <p:nvPr/>
        </p:nvGrpSpPr>
        <p:grpSpPr>
          <a:xfrm>
            <a:off x="4144978" y="5155679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511567-85F0-0D29-F655-E8D040EDBF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F552F97-5B91-243D-8EDD-F776FC23C1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B893A8C-56BD-7EF4-5ACF-AFB7F35A503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65208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0" grpId="0" animBg="1"/>
      <p:bldP spid="61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BA5630-1A09-18A3-9D5A-C28D84A3F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AFF6B206-FFA2-6E07-ADE2-E439E738AD18}"/>
              </a:ext>
            </a:extLst>
          </p:cNvPr>
          <p:cNvSpPr/>
          <p:nvPr/>
        </p:nvSpPr>
        <p:spPr>
          <a:xfrm>
            <a:off x="7397089" y="2376312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8515D8-61D8-1D6C-2FE9-4E1F0C825D20}"/>
              </a:ext>
            </a:extLst>
          </p:cNvPr>
          <p:cNvSpPr/>
          <p:nvPr/>
        </p:nvSpPr>
        <p:spPr>
          <a:xfrm>
            <a:off x="1772653" y="1473200"/>
            <a:ext cx="808622" cy="217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5AF4-8CE1-AD82-651B-204953A9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A919-3BFB-4978-FDFB-F3C38D63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Parabola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Make the line color </a:t>
                </a:r>
                <a:r>
                  <a:rPr lang="en-US" sz="2400" b="1" dirty="0">
                    <a:ln>
                      <a:solidFill>
                        <a:srgbClr val="6B8E23"/>
                      </a:solidFill>
                    </a:ln>
                    <a:solidFill>
                      <a:srgbClr val="6B8E23"/>
                    </a:solidFill>
                  </a:rPr>
                  <a:t>Olive Drab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like old US Army uniforms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96E9-981A-DD5E-5AA4-3A82D7D2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EE8879-98E9-A874-370A-8130EB271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75" y="3353476"/>
            <a:ext cx="4365650" cy="30028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834665-4C5D-D533-F49F-D3AA385C4821}"/>
              </a:ext>
            </a:extLst>
          </p:cNvPr>
          <p:cNvSpPr/>
          <p:nvPr/>
        </p:nvSpPr>
        <p:spPr>
          <a:xfrm>
            <a:off x="3831431" y="4339389"/>
            <a:ext cx="795338" cy="16523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6D180-6AFA-1CD6-8D14-4CEA722F0DEC}"/>
              </a:ext>
            </a:extLst>
          </p:cNvPr>
          <p:cNvSpPr txBox="1"/>
          <p:nvPr/>
        </p:nvSpPr>
        <p:spPr>
          <a:xfrm>
            <a:off x="7036800" y="4604084"/>
            <a:ext cx="156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Dave Biersach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West Point 1988</a:t>
            </a:r>
          </a:p>
        </p:txBody>
      </p:sp>
    </p:spTree>
    <p:extLst>
      <p:ext uri="{BB962C8B-B14F-4D97-AF65-F5344CB8AC3E}">
        <p14:creationId xmlns:p14="http://schemas.microsoft.com/office/powerpoint/2010/main" val="3124856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Various Colors in </a:t>
            </a:r>
            <a:r>
              <a:rPr lang="en-US" sz="3200" b="1" dirty="0">
                <a:latin typeface="+mn-lt"/>
              </a:rPr>
              <a:t>RGB</a:t>
            </a:r>
            <a:r>
              <a:rPr lang="en-US" sz="3200" dirty="0">
                <a:latin typeface="+mn-lt"/>
              </a:rPr>
              <a:t> Values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62" y="1419227"/>
            <a:ext cx="7515393" cy="49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84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15D-0CDF-748F-0C38-B8E59B39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1FAA-D5A2-526E-199C-17E2FE36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83" y="1401386"/>
            <a:ext cx="8356433" cy="5222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5F4C5D-F62C-AF6C-90D7-DC33514B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9" y="542395"/>
            <a:ext cx="7886700" cy="549274"/>
          </a:xfrm>
        </p:spPr>
        <p:txBody>
          <a:bodyPr anchor="t"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                          Colors “Names”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F1EB6-B507-7CE6-6D3D-08438B977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BC35-E001-BFFD-70CB-10A02DA2D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107" y="421751"/>
            <a:ext cx="2791326" cy="66991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A7A7C8-0B4D-F6C4-99AA-2D7F7933300E}"/>
              </a:ext>
            </a:extLst>
          </p:cNvPr>
          <p:cNvCxnSpPr/>
          <p:nvPr/>
        </p:nvCxnSpPr>
        <p:spPr>
          <a:xfrm flipH="1">
            <a:off x="8165432" y="2927684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A0003-30B1-4B09-6CBF-4D7E33141F2B}"/>
              </a:ext>
            </a:extLst>
          </p:cNvPr>
          <p:cNvCxnSpPr/>
          <p:nvPr/>
        </p:nvCxnSpPr>
        <p:spPr>
          <a:xfrm flipH="1">
            <a:off x="3368839" y="1524000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67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769" y="365126"/>
            <a:ext cx="8124581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Alpha Blending = Opacity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97" y="1820985"/>
            <a:ext cx="5875407" cy="2379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5938" y="4552929"/>
            <a:ext cx="62757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Alpha = 0 means fully transparent (see through)</a:t>
            </a:r>
          </a:p>
          <a:p>
            <a:r>
              <a:rPr lang="en-US" sz="2400" dirty="0"/>
              <a:t>Alpha = 255 means fully opaque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57637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E894B-4E78-781F-5C82-841E283985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78" y="1544948"/>
            <a:ext cx="4753643" cy="48097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/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blipFill>
                <a:blip r:embed="rId3"/>
                <a:stretch>
                  <a:fillRect l="-6989" r="-2151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/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blipFill>
                <a:blip r:embed="rId4"/>
                <a:stretch>
                  <a:fillRect l="-3015" r="-251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E6C05BF-ECAA-D888-A380-88E0D337B53E}"/>
              </a:ext>
            </a:extLst>
          </p:cNvPr>
          <p:cNvGrpSpPr/>
          <p:nvPr/>
        </p:nvGrpSpPr>
        <p:grpSpPr>
          <a:xfrm>
            <a:off x="5815915" y="25612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5F5E2F-46EA-9A0C-889E-35D67C357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C039088-D071-0E42-5816-F18025CE22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6D1AFA8-A40C-1AC2-CADB-A00C2C075095}"/>
              </a:ext>
            </a:extLst>
          </p:cNvPr>
          <p:cNvGrpSpPr/>
          <p:nvPr/>
        </p:nvGrpSpPr>
        <p:grpSpPr>
          <a:xfrm>
            <a:off x="6787056" y="3238587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4512E1F-5AE4-1B35-9975-B49CC43F6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732E74-7F28-D9B1-7E57-4BC9B995E77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8A7BC0-BBAC-A1E1-E4B2-C2E2FE1C17A1}"/>
              </a:ext>
            </a:extLst>
          </p:cNvPr>
          <p:cNvGrpSpPr/>
          <p:nvPr/>
        </p:nvGrpSpPr>
        <p:grpSpPr>
          <a:xfrm>
            <a:off x="5019263" y="3564745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D6355C-5A5A-2A56-1DD9-C7DF6325CD6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9118868-A846-5AA9-4271-74F1CC13B2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F3E0C13-5C36-B97E-2A3D-917F22F1E4DC}"/>
              </a:ext>
            </a:extLst>
          </p:cNvPr>
          <p:cNvGrpSpPr/>
          <p:nvPr/>
        </p:nvGrpSpPr>
        <p:grpSpPr>
          <a:xfrm>
            <a:off x="5475562" y="4224901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5E2C1C-EF36-82B3-81C8-DA6AC5F6FEF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C8768B3-E241-CA46-55E0-CF16A0E9D8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69FA39-2BC4-729B-B0BE-6831E2D35A08}"/>
              </a:ext>
            </a:extLst>
          </p:cNvPr>
          <p:cNvGrpSpPr/>
          <p:nvPr/>
        </p:nvGrpSpPr>
        <p:grpSpPr>
          <a:xfrm>
            <a:off x="5834153" y="459688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F8C602-60E6-4BC0-32DF-8F382E952E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6C5412-7B02-8827-5F47-7BF05E33F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7BA48-2557-A5D4-AE25-76D7ECA26B84}"/>
              </a:ext>
            </a:extLst>
          </p:cNvPr>
          <p:cNvGrpSpPr/>
          <p:nvPr/>
        </p:nvGrpSpPr>
        <p:grpSpPr>
          <a:xfrm>
            <a:off x="7010035" y="5584540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66C37C6-3E9F-B5C1-5E5F-8B6728B925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552268A-9C73-B236-0803-3DB98527E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A64A4B-55A5-9D56-89EA-D0B682B2416D}"/>
              </a:ext>
            </a:extLst>
          </p:cNvPr>
          <p:cNvGrpSpPr/>
          <p:nvPr/>
        </p:nvGrpSpPr>
        <p:grpSpPr>
          <a:xfrm>
            <a:off x="3896418" y="5933986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747000-FBA7-C9D3-8827-0E8938EF79E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230AF3A-AD5C-316A-FD6D-891AA6F9C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E2897D-41F3-BC68-C266-42D6B4F576E6}"/>
              </a:ext>
            </a:extLst>
          </p:cNvPr>
          <p:cNvGrpSpPr/>
          <p:nvPr/>
        </p:nvGrpSpPr>
        <p:grpSpPr>
          <a:xfrm>
            <a:off x="6737607" y="5258011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63DEF3-2FA0-CAAF-4B6D-0D2FCAED05B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340C61-C6A5-110E-5A77-CAA4A8086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5BEA7B-DB93-4B79-B983-DCE5BFC38A2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8068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68A935-EE59-AF51-622A-476A89151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68DE0867-BAF8-C1FB-784D-86F7B47BFC8F}"/>
              </a:ext>
            </a:extLst>
          </p:cNvPr>
          <p:cNvSpPr/>
          <p:nvPr/>
        </p:nvSpPr>
        <p:spPr>
          <a:xfrm>
            <a:off x="7465102" y="2330970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6D8C7-E50F-1088-C24C-7AF66D2D9D15}"/>
              </a:ext>
            </a:extLst>
          </p:cNvPr>
          <p:cNvSpPr/>
          <p:nvPr/>
        </p:nvSpPr>
        <p:spPr>
          <a:xfrm>
            <a:off x="1772653" y="1388978"/>
            <a:ext cx="914400" cy="3017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C8658-A769-19D7-AA14-4035275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244A-900E-FA07-BF31-E6A824C40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Make a </a:t>
            </a:r>
            <a:r>
              <a:rPr lang="en-US" sz="3200" u="sng" dirty="0">
                <a:latin typeface="+mn-lt"/>
              </a:rPr>
              <a:t>Professional</a:t>
            </a:r>
            <a:r>
              <a:rPr lang="en-US" sz="3200" dirty="0">
                <a:latin typeface="+mn-lt"/>
              </a:rPr>
              <a:t>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Make the line color “Olive Drab”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a filled-in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red</a:t>
                </a:r>
                <a:r>
                  <a:rPr lang="en-US" sz="2400" dirty="0"/>
                  <a:t> circle marker at the </a:t>
                </a:r>
                <a:r>
                  <a:rPr lang="en-US" sz="2400" u="sng" dirty="0"/>
                  <a:t>minimum</a:t>
                </a:r>
                <a:r>
                  <a:rPr lang="en-US" sz="2400" dirty="0"/>
                  <a:t>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Draw a dashed </a:t>
                </a:r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gray</a:t>
                </a:r>
                <a:r>
                  <a:rPr lang="en-US" sz="2400" dirty="0"/>
                  <a:t> horizontal tangent line passing through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Adjust the limits of the plot to </a:t>
                </a:r>
                <a:r>
                  <a:rPr lang="en-US" sz="2400" i="1" dirty="0"/>
                  <a:t>center</a:t>
                </a:r>
                <a:r>
                  <a:rPr lang="en-US" sz="2400" dirty="0"/>
                  <a:t>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graph is a story – make it easy for people to see it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blipFill>
                <a:blip r:embed="rId2"/>
                <a:stretch>
                  <a:fillRect l="-926" t="-1693" r="-231" b="-143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59D-7BB2-E2F8-F56E-2DBBC01D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5E32-2E75-6C53-46E0-BF900D76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F9359B-5905-97C1-0E2A-0DC3D022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776" y="1644254"/>
            <a:ext cx="6078449" cy="41455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3559E7-B7BE-22C0-41A6-6F3922A7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1593B-80A2-2B42-779D-764F2027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718BEA-AAC4-614E-E428-CE67E82A7498}"/>
              </a:ext>
            </a:extLst>
          </p:cNvPr>
          <p:cNvGrpSpPr/>
          <p:nvPr/>
        </p:nvGrpSpPr>
        <p:grpSpPr>
          <a:xfrm>
            <a:off x="6986427" y="311002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1CE2A43-26CF-46FC-8562-9ACCE52ED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394D79-124C-ABAC-A8AF-AE664249E8A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825526-4BED-1C4C-6EA0-C6FC36DFB081}"/>
              </a:ext>
            </a:extLst>
          </p:cNvPr>
          <p:cNvGrpSpPr/>
          <p:nvPr/>
        </p:nvGrpSpPr>
        <p:grpSpPr>
          <a:xfrm>
            <a:off x="7522835" y="339332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B22FE07-9A15-8B0A-CA37-7A6CBE86B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06E12FA-69A8-77B9-B463-23955C38401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5E4FE0-F063-D6CE-C9F5-DEB448C84786}"/>
              </a:ext>
            </a:extLst>
          </p:cNvPr>
          <p:cNvGrpSpPr/>
          <p:nvPr/>
        </p:nvGrpSpPr>
        <p:grpSpPr>
          <a:xfrm>
            <a:off x="4861353" y="368653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218352-45C3-6F92-5A5F-D343325AC1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46F077-3F99-02BF-1A54-0DC4F3388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2F114D-FEF1-218D-269C-6FD49204EA01}"/>
              </a:ext>
            </a:extLst>
          </p:cNvPr>
          <p:cNvGrpSpPr/>
          <p:nvPr/>
        </p:nvGrpSpPr>
        <p:grpSpPr>
          <a:xfrm>
            <a:off x="4022324" y="398973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ED3BC9-AFFF-CCC1-7F2B-66A064E8776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CA334FC-F451-165A-C129-0F36A93C4C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D99475-36DF-2839-C121-7990C2B86D6D}"/>
              </a:ext>
            </a:extLst>
          </p:cNvPr>
          <p:cNvGrpSpPr/>
          <p:nvPr/>
        </p:nvGrpSpPr>
        <p:grpSpPr>
          <a:xfrm>
            <a:off x="4022324" y="427725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6AB74B-5F8B-2932-76AF-073A39157D9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B1D7D9C-EA5C-8B53-79E7-27E5D8CC2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44BBBA-E969-D906-8922-9EEBFC4F1318}"/>
              </a:ext>
            </a:extLst>
          </p:cNvPr>
          <p:cNvGrpSpPr/>
          <p:nvPr/>
        </p:nvGrpSpPr>
        <p:grpSpPr>
          <a:xfrm>
            <a:off x="4022324" y="456477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B6B067-1863-9075-B7B0-E3A9B0ADC37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BF74CE5A-90EE-682F-B468-95B0A0DC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B96A7BA-C87A-72B1-354B-278FA4F1E03B}"/>
              </a:ext>
            </a:extLst>
          </p:cNvPr>
          <p:cNvGrpSpPr/>
          <p:nvPr/>
        </p:nvGrpSpPr>
        <p:grpSpPr>
          <a:xfrm>
            <a:off x="4174723" y="4852297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912CDE-C83D-C58E-C4C9-B9310D3354F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BB94184-7D08-6FAC-DF67-93CF8C7E81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BDD8B7-C169-7911-FB2B-317D6D2C434C}"/>
              </a:ext>
            </a:extLst>
          </p:cNvPr>
          <p:cNvGrpSpPr/>
          <p:nvPr/>
        </p:nvGrpSpPr>
        <p:grpSpPr>
          <a:xfrm>
            <a:off x="3924078" y="5163516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5B3A46-2EDB-1158-0572-14D6571491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FD54410-1433-61CF-7E56-41C8677E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FE4F3318-EB2C-5E3F-7342-E5F4B1CC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3" y="3655026"/>
            <a:ext cx="1109679" cy="481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8F58F-FA66-537E-E47B-99962F2BE859}"/>
              </a:ext>
            </a:extLst>
          </p:cNvPr>
          <p:cNvSpPr/>
          <p:nvPr/>
        </p:nvSpPr>
        <p:spPr>
          <a:xfrm>
            <a:off x="2095787" y="3130130"/>
            <a:ext cx="5460043" cy="2365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EA3EC-0A59-3F5E-B2B6-1A00B1AAED9F}"/>
              </a:ext>
            </a:extLst>
          </p:cNvPr>
          <p:cNvSpPr txBox="1"/>
          <p:nvPr/>
        </p:nvSpPr>
        <p:spPr>
          <a:xfrm>
            <a:off x="2735568" y="5898919"/>
            <a:ext cx="3878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must type in (add) the lines in the white rectangle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F2057C-CCC9-FD4D-B9AD-093CBBED75B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4581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F90D-9FD0-DFEF-88D7-21373AA3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CD74C2-7AF7-914C-7AA8-A6BEB117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92EEBF-4666-DB73-9B36-F26080AD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BF52-2FBD-92B8-39DF-D0F980B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0C00B0-BB91-E942-6B53-FA2873D725C8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EDA0C-29E5-BE27-1A16-97FB548BD620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5A624-4B45-FBE1-65D3-5901C1866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6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0347D6-BE96-4F8D-B65F-B69E56311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577" y="566296"/>
            <a:ext cx="1888847" cy="7434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3D21CB-14F9-492F-A128-AB82223C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158" y="2145178"/>
            <a:ext cx="7039683" cy="42282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3" y="1444101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https://www.latex-project.org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90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BB2CA1-319B-569C-8E32-E618B1E2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35" y="1384306"/>
            <a:ext cx="8143330" cy="39222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https://www.overleaf.com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7115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BB0B60-45E0-C35B-C76D-983E2354C461}"/>
              </a:ext>
            </a:extLst>
          </p:cNvPr>
          <p:cNvSpPr txBox="1"/>
          <p:nvPr/>
        </p:nvSpPr>
        <p:spPr>
          <a:xfrm>
            <a:off x="1125954" y="766524"/>
            <a:ext cx="6892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https://www.overleaf.com/learn/latex/Learn_LaTeX_in_30_minutes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A7E3D7-4057-B729-750E-A78D3B94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" y="1381782"/>
            <a:ext cx="7614552" cy="49745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8943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https://www.texstudio.org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C7EA8A-40F5-4DCA-B491-0729A8E90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69" y="1557402"/>
            <a:ext cx="7538659" cy="4452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30097CF9-50ED-4955-98E7-BC2C3ED39455}"/>
              </a:ext>
            </a:extLst>
          </p:cNvPr>
          <p:cNvSpPr/>
          <p:nvPr/>
        </p:nvSpPr>
        <p:spPr>
          <a:xfrm>
            <a:off x="5736612" y="4285173"/>
            <a:ext cx="2246462" cy="648164"/>
          </a:xfrm>
          <a:prstGeom prst="wedgeRectCallout">
            <a:avLst>
              <a:gd name="adj1" fmla="val 12743"/>
              <a:gd name="adj2" fmla="val -16326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100% free – runs on Windows, Mac, Linux</a:t>
            </a:r>
          </a:p>
        </p:txBody>
      </p:sp>
    </p:spTree>
    <p:extLst>
      <p:ext uri="{BB962C8B-B14F-4D97-AF65-F5344CB8AC3E}">
        <p14:creationId xmlns:p14="http://schemas.microsoft.com/office/powerpoint/2010/main" val="10785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402A4-493F-F3EE-A973-16C7FCF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996A-4F1D-D5A7-9314-C8CCED39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4C7CF-7F75-017D-1003-2FAEDD808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9AC51-A70E-F884-E90D-6D9893846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2" y="1656515"/>
            <a:ext cx="7779476" cy="44181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5B96C-A929-B7AE-C5E0-5642CCA5B223}"/>
              </a:ext>
            </a:extLst>
          </p:cNvPr>
          <p:cNvSpPr/>
          <p:nvPr/>
        </p:nvSpPr>
        <p:spPr>
          <a:xfrm>
            <a:off x="883443" y="2433637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2080E-842D-A413-F210-2DCDE593A4A5}"/>
              </a:ext>
            </a:extLst>
          </p:cNvPr>
          <p:cNvSpPr/>
          <p:nvPr/>
        </p:nvSpPr>
        <p:spPr>
          <a:xfrm>
            <a:off x="1426368" y="2433636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B0818-96EF-661E-488B-93FAD3668B79}"/>
              </a:ext>
            </a:extLst>
          </p:cNvPr>
          <p:cNvSpPr/>
          <p:nvPr/>
        </p:nvSpPr>
        <p:spPr>
          <a:xfrm>
            <a:off x="959518" y="293921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6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406E2-F846-B399-8D80-ACA2D65DB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DAF50-F236-582C-C107-650102467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63" y="1656515"/>
            <a:ext cx="7370875" cy="4420395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78F020-DEED-87B1-97FB-55E84445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9AFA8-7CF9-5B66-8D46-FDE7A712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6BC8C2-21D8-2047-4D9B-6A53E85151DE}"/>
              </a:ext>
            </a:extLst>
          </p:cNvPr>
          <p:cNvSpPr/>
          <p:nvPr/>
        </p:nvSpPr>
        <p:spPr>
          <a:xfrm>
            <a:off x="1511466" y="188018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DE430-46C4-56CC-D3D9-E0CFA35FC3A9}"/>
              </a:ext>
            </a:extLst>
          </p:cNvPr>
          <p:cNvSpPr/>
          <p:nvPr/>
        </p:nvSpPr>
        <p:spPr>
          <a:xfrm>
            <a:off x="1716250" y="1880184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EB5EC-7EC4-F811-9024-301B65F93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C543F-DE55-F7F7-AF2F-DFA56724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Quintic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−120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+22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+2119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+1980</m:t>
                      </m:r>
                      <m:r>
                        <m:rPr>
                          <m:nor/>
                        </m:rPr>
                        <a:rPr lang="en-US" sz="2400" dirty="0"/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≤12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Make the line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Spring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Green</a:t>
                </a:r>
                <a:r>
                  <a:rPr lang="en-US" sz="2400" dirty="0"/>
                  <a:t> color</a:t>
                </a:r>
              </a:p>
              <a:p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67623-3675-62B4-C5B8-B6309D2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52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823DC31-5BE4-0154-91F0-381D36C9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Thermodynamics</a:t>
            </a:r>
            <a:r>
              <a:rPr lang="en-US" sz="3200" dirty="0">
                <a:latin typeface="+mn-lt"/>
              </a:rPr>
              <a:t> of Calculation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two forms possess the same information </a:t>
                </a:r>
                <a:r>
                  <a:rPr lang="en-US" sz="2400" i="1" dirty="0"/>
                  <a:t>content</a:t>
                </a:r>
                <a:r>
                  <a:rPr lang="en-US" sz="2400" dirty="0"/>
                  <a:t>: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−120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+22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+2119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+1980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+9)(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−5)(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−11)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which form would be </a:t>
                </a:r>
                <a:r>
                  <a:rPr lang="en-US" sz="2400" i="1" dirty="0"/>
                  <a:t>easier</a:t>
                </a:r>
                <a:r>
                  <a:rPr lang="en-US" sz="2400" dirty="0"/>
                  <a:t> to calculate?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first form has multiple exponentiations and large coefficients – would it require more </a:t>
                </a:r>
                <a:r>
                  <a:rPr lang="en-US" sz="2000" b="1" u="sng" dirty="0">
                    <a:solidFill>
                      <a:srgbClr val="FF0000"/>
                    </a:solidFill>
                  </a:rPr>
                  <a:t>enthalpy</a:t>
                </a:r>
                <a:r>
                  <a:rPr lang="en-US" sz="2000" dirty="0"/>
                  <a:t>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2</a:t>
                </a:r>
                <a:r>
                  <a:rPr lang="en-US" sz="2000" baseline="30000" dirty="0"/>
                  <a:t>nd</a:t>
                </a:r>
                <a:r>
                  <a:rPr lang="en-US" sz="2000" dirty="0"/>
                  <a:t> form seems simpler: does it have less </a:t>
                </a:r>
                <a:r>
                  <a:rPr lang="en-US" sz="2000" b="1" u="sng" dirty="0">
                    <a:solidFill>
                      <a:srgbClr val="00B050"/>
                    </a:solidFill>
                  </a:rPr>
                  <a:t>entropy</a:t>
                </a:r>
                <a:r>
                  <a:rPr lang="en-US" sz="20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Which form </a:t>
                </a:r>
                <a:r>
                  <a:rPr lang="en-US" sz="2400" b="1" dirty="0"/>
                  <a:t>surfaces</a:t>
                </a:r>
                <a:r>
                  <a:rPr lang="en-US" sz="2400" dirty="0"/>
                  <a:t> the "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basis</a:t>
                </a:r>
                <a:r>
                  <a:rPr lang="en-US" sz="2400" dirty="0"/>
                  <a:t>" (roots) of the equation?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makes one form more </a:t>
                </a:r>
                <a:r>
                  <a:rPr lang="en-US" sz="2400" b="1" i="1" dirty="0">
                    <a:solidFill>
                      <a:srgbClr val="7030A0"/>
                    </a:solidFill>
                  </a:rPr>
                  <a:t>fundamental </a:t>
                </a:r>
                <a:r>
                  <a:rPr lang="en-US" sz="2400" dirty="0"/>
                  <a:t>than the other?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goal with code is always </a:t>
                </a:r>
                <a:r>
                  <a:rPr lang="en-US" sz="2400" b="1" dirty="0"/>
                  <a:t>“correctness </a:t>
                </a:r>
                <a:r>
                  <a:rPr lang="en-US" sz="2400" b="1" i="1" dirty="0"/>
                  <a:t>with</a:t>
                </a:r>
                <a:r>
                  <a:rPr lang="en-US" sz="2400" b="1" dirty="0"/>
                  <a:t> simplicity”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  <a:blipFill>
                <a:blip r:embed="rId3"/>
                <a:stretch>
                  <a:fillRect l="-982" t="-1961" b="-5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5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80FE-2E5D-350A-4F70-AE6F5F389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904882A-EC72-5EC0-9879-A191520769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894" y="2092371"/>
            <a:ext cx="5648212" cy="26485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E87A6-324D-7995-EB28-C51FE8DF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9F1-7E98-E6EA-76F4-8086C51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3A9F0B-4B1A-12B5-6F14-F184528EFBA3}"/>
              </a:ext>
            </a:extLst>
          </p:cNvPr>
          <p:cNvGrpSpPr/>
          <p:nvPr/>
        </p:nvGrpSpPr>
        <p:grpSpPr>
          <a:xfrm>
            <a:off x="4948345" y="208458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00E8220-B079-3D0D-1F0F-981FB3F8B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6BEA00-B1F3-FC80-79F5-3B90BAC496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237E113-67CD-7AB0-7CFD-829C4C2CC0E6}"/>
              </a:ext>
            </a:extLst>
          </p:cNvPr>
          <p:cNvGrpSpPr/>
          <p:nvPr/>
        </p:nvGrpSpPr>
        <p:grpSpPr>
          <a:xfrm>
            <a:off x="7380559" y="2345381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38FA2D-56B8-54CF-6E31-8B4168520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7E58B-9237-13F9-B4A3-91FA4804945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72A068-CC49-12AC-911A-6785EDEDDD23}"/>
              </a:ext>
            </a:extLst>
          </p:cNvPr>
          <p:cNvGrpSpPr/>
          <p:nvPr/>
        </p:nvGrpSpPr>
        <p:grpSpPr>
          <a:xfrm>
            <a:off x="5112944" y="2836851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6B071DE-DD63-D441-C29C-ADA6387821F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36BF5-FA80-8AEE-1302-2B8B55503A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B69813-51C3-E53C-13A0-C956F3F5446D}"/>
              </a:ext>
            </a:extLst>
          </p:cNvPr>
          <p:cNvGrpSpPr/>
          <p:nvPr/>
        </p:nvGrpSpPr>
        <p:grpSpPr>
          <a:xfrm>
            <a:off x="5771332" y="310659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DB27D9-5271-20A2-C69F-7C72AF2004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8C4C58B-E8B6-80F7-18E9-33FF3A20A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82EF9F-0F4B-76FD-FB87-FA0628FBEECF}"/>
              </a:ext>
            </a:extLst>
          </p:cNvPr>
          <p:cNvGrpSpPr/>
          <p:nvPr/>
        </p:nvGrpSpPr>
        <p:grpSpPr>
          <a:xfrm>
            <a:off x="7044780" y="3349970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0B6E1F-0A7F-F872-D573-13F59ECC5F6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CCC307A-C326-9A7B-774E-C7A8EC23D5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B0F3CA-E83B-BA93-20AA-8CBEBD1C864F}"/>
              </a:ext>
            </a:extLst>
          </p:cNvPr>
          <p:cNvGrpSpPr/>
          <p:nvPr/>
        </p:nvGrpSpPr>
        <p:grpSpPr>
          <a:xfrm>
            <a:off x="3360188" y="412100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F8C3F3-DE9A-9F96-47B4-8CD5B92D36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BE9A34A-B4FF-7A60-E6C2-5096684B41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F7DD164-87EB-B8CD-D6F0-2A843BCD5DBB}"/>
              </a:ext>
            </a:extLst>
          </p:cNvPr>
          <p:cNvGrpSpPr/>
          <p:nvPr/>
        </p:nvGrpSpPr>
        <p:grpSpPr>
          <a:xfrm>
            <a:off x="3578038" y="3711281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3FD786C-4B6D-1A6C-3BC2-3D6F973C593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1FC656EB-3392-DCED-7B90-39AB84A5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E209C77-2DEF-99CB-C65E-317E5DC61608}"/>
              </a:ext>
            </a:extLst>
          </p:cNvPr>
          <p:cNvSpPr txBox="1"/>
          <p:nvPr/>
        </p:nvSpPr>
        <p:spPr>
          <a:xfrm>
            <a:off x="2150288" y="5143462"/>
            <a:ext cx="462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https://docs.python.org/3/library/pathlib.html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94D39-1BE5-650C-3E4A-ABE328725CBC}"/>
              </a:ext>
            </a:extLst>
          </p:cNvPr>
          <p:cNvSpPr txBox="1"/>
          <p:nvPr/>
        </p:nvSpPr>
        <p:spPr>
          <a:xfrm>
            <a:off x="1532226" y="5744621"/>
            <a:ext cx="6079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https://www.pythonmorsels.com/dunder-variables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3DF26-EE3A-0840-519E-32A325F120BF}"/>
              </a:ext>
            </a:extLst>
          </p:cNvPr>
          <p:cNvSpPr txBox="1"/>
          <p:nvPr/>
        </p:nvSpPr>
        <p:spPr>
          <a:xfrm>
            <a:off x="337617" y="2628987"/>
            <a:ext cx="11946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“dunder” = </a:t>
            </a:r>
            <a:r>
              <a:rPr lang="en-US" sz="1600" b="1" dirty="0">
                <a:solidFill>
                  <a:srgbClr val="7030A0"/>
                </a:solidFill>
              </a:rPr>
              <a:t>double underscore</a:t>
            </a:r>
          </a:p>
          <a:p>
            <a:pPr algn="ctr"/>
            <a:endParaRPr lang="en-US" sz="1600" b="1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variables</a:t>
            </a:r>
          </a:p>
          <a:p>
            <a:pPr algn="ctr"/>
            <a:endParaRPr lang="en-US" sz="1600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1A81FC-4238-D7C3-70AD-C5F057A0F4CC}"/>
              </a:ext>
            </a:extLst>
          </p:cNvPr>
          <p:cNvSpPr/>
          <p:nvPr/>
        </p:nvSpPr>
        <p:spPr>
          <a:xfrm>
            <a:off x="2983809" y="344517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37663B-E513-DB9D-4032-97D7E43F2E11}"/>
              </a:ext>
            </a:extLst>
          </p:cNvPr>
          <p:cNvSpPr/>
          <p:nvPr/>
        </p:nvSpPr>
        <p:spPr>
          <a:xfrm>
            <a:off x="6663810" y="345014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EA1E28E-2107-41BD-2C4F-C68CAEB1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071" y="3838975"/>
            <a:ext cx="1109679" cy="481721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A118D40-4D7F-CEE2-9E06-C9A7668C76DC}"/>
              </a:ext>
            </a:extLst>
          </p:cNvPr>
          <p:cNvGrpSpPr/>
          <p:nvPr/>
        </p:nvGrpSpPr>
        <p:grpSpPr>
          <a:xfrm>
            <a:off x="3031193" y="437163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5DD46A-C131-22B9-4012-4E2050AC0E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35619-6718-394C-950A-00DC4DE80B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D952B1F-9047-BFC3-0512-D5782366A9F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6463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5" grpId="0"/>
      <p:bldP spid="6" grpId="0"/>
      <p:bldP spid="32" grpId="0" animBg="1"/>
      <p:bldP spid="33" grpId="0" animBg="1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E1062-7577-4420-218A-5B3080AA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449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1248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919" y="1821585"/>
            <a:ext cx="4249862" cy="4370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Analytic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082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285" y="3241813"/>
            <a:ext cx="3060362" cy="3029758"/>
          </a:xfrm>
          <a:prstGeom prst="rect">
            <a:avLst/>
          </a:prstGeom>
        </p:spPr>
      </p:pic>
      <p:sp>
        <p:nvSpPr>
          <p:cNvPr id="3" name="Oval 2"/>
          <p:cNvSpPr>
            <a:spLocks/>
          </p:cNvSpPr>
          <p:nvPr/>
        </p:nvSpPr>
        <p:spPr>
          <a:xfrm>
            <a:off x="7163426" y="4122326"/>
            <a:ext cx="242036" cy="2404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func>
                            <m:func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24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𝐬𝐢𝐧</m:t>
                              </m:r>
                            </m:fName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4106179" y="1779301"/>
            <a:ext cx="41666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 radius and an angle (theta)</a:t>
            </a:r>
          </a:p>
          <a:p>
            <a:pPr algn="ctr"/>
            <a:r>
              <a:rPr lang="en-US" sz="2400" dirty="0"/>
              <a:t>make a 2D polar coordinate</a:t>
            </a:r>
          </a:p>
        </p:txBody>
      </p:sp>
    </p:spTree>
    <p:extLst>
      <p:ext uri="{BB962C8B-B14F-4D97-AF65-F5344CB8AC3E}">
        <p14:creationId xmlns:p14="http://schemas.microsoft.com/office/powerpoint/2010/main" val="119094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B72A69-6B63-08FB-B8DB-43B89A56C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79" y="2136273"/>
            <a:ext cx="3989972" cy="37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940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365" y="1287069"/>
            <a:ext cx="5251844" cy="52518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736893" y="1213399"/>
            <a:ext cx="2312377" cy="2289253"/>
            <a:chOff x="2359625" y="4149292"/>
            <a:chExt cx="2312377" cy="2289253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625" y="4149292"/>
              <a:ext cx="2312377" cy="2289253"/>
            </a:xfrm>
            <a:prstGeom prst="rect">
              <a:avLst/>
            </a:prstGeom>
          </p:spPr>
        </p:pic>
        <p:sp>
          <p:nvSpPr>
            <p:cNvPr id="3" name="Oval 2"/>
            <p:cNvSpPr>
              <a:spLocks/>
            </p:cNvSpPr>
            <p:nvPr/>
          </p:nvSpPr>
          <p:spPr>
            <a:xfrm>
              <a:off x="4364445" y="4833982"/>
              <a:ext cx="182880" cy="18288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Angles are measured in</a:t>
                </a:r>
              </a:p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radians</a:t>
                </a:r>
              </a:p>
              <a:p>
                <a:pPr algn="ctr"/>
                <a:r>
                  <a:rPr lang="en-US" sz="2400" dirty="0"/>
                  <a:t>(0 ≤ </a:t>
                </a:r>
                <a:r>
                  <a:rPr lang="el-GR" sz="2400" dirty="0"/>
                  <a:t>θ</a:t>
                </a:r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l-GR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blipFill rotWithShape="0">
                <a:blip r:embed="rId5"/>
                <a:stretch>
                  <a:fillRect t="-3113" b="-8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647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Solution strategy: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 </a:t>
                </a:r>
                <a:r>
                  <a:rPr lang="en-US" sz="2000" b="1" dirty="0">
                    <a:solidFill>
                      <a:srgbClr val="00B050"/>
                    </a:solidFill>
                  </a:rPr>
                  <a:t>Numpy</a:t>
                </a:r>
                <a:r>
                  <a:rPr lang="en-US" sz="2000" dirty="0"/>
                  <a:t> array of 1,000 equally spaced independent radian angle values spanning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an array of dependent variable values -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coordinates - by invoking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vectorized</a:t>
                </a:r>
                <a:r>
                  <a:rPr lang="en-US" sz="2000" dirty="0"/>
                  <a:t> mathematical operators across the array of independent values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Have </a:t>
                </a:r>
                <a:r>
                  <a:rPr lang="en-US" sz="2000" b="1" dirty="0"/>
                  <a:t>matplotlib</a:t>
                </a:r>
                <a:r>
                  <a:rPr lang="en-US" sz="2000" dirty="0"/>
                  <a:t> "connect the dots" between successive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points (drawing straight line segments between them) to make the plot appear </a:t>
                </a:r>
                <a:r>
                  <a:rPr lang="en-US" sz="2000" i="1" dirty="0"/>
                  <a:t>smooth</a:t>
                </a:r>
                <a:r>
                  <a:rPr lang="en-US" sz="2000" dirty="0"/>
                  <a:t> to the unaided human eye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1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BA7BA9-A031-6D21-E781-F4B61BEF9C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358" y="1664414"/>
            <a:ext cx="5379281" cy="47182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2B7AA6-529C-F688-AFEB-6533556AAE4A}"/>
              </a:ext>
            </a:extLst>
          </p:cNvPr>
          <p:cNvGrpSpPr/>
          <p:nvPr/>
        </p:nvGrpSpPr>
        <p:grpSpPr>
          <a:xfrm>
            <a:off x="3744596" y="1701402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A59AC1-BBB9-312E-AF8E-652AEA74E1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C7B86E9-F88D-5344-76A3-F21C423FB92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A491DE-1A05-0781-5588-598BA3FDB43D}"/>
              </a:ext>
            </a:extLst>
          </p:cNvPr>
          <p:cNvGrpSpPr/>
          <p:nvPr/>
        </p:nvGrpSpPr>
        <p:grpSpPr>
          <a:xfrm>
            <a:off x="7129524" y="2010903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CFC793A-4838-23C5-85C8-08C9B94C5B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2680A64-3DB6-6384-0781-4E90346E039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59B3EA3-E77A-49F3-1795-5C8A8EC37563}"/>
              </a:ext>
            </a:extLst>
          </p:cNvPr>
          <p:cNvGrpSpPr/>
          <p:nvPr/>
        </p:nvGrpSpPr>
        <p:grpSpPr>
          <a:xfrm>
            <a:off x="5547081" y="2451375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7635C6-1B1F-1D4F-10C4-19503E8982B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B9A03BD-4AE7-B1D8-1EE6-EF59E2A4B6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CF19C00-971E-2A47-6EE0-6795B39DD58A}"/>
              </a:ext>
            </a:extLst>
          </p:cNvPr>
          <p:cNvGrpSpPr/>
          <p:nvPr/>
        </p:nvGrpSpPr>
        <p:grpSpPr>
          <a:xfrm>
            <a:off x="3958508" y="357633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EAE561-810A-0225-7D62-3C1182FCB241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59F0672-01ED-9422-AD1F-B7D65C7D8C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6EA8E8F-BF14-DABB-7C6E-CBE340463341}"/>
              </a:ext>
            </a:extLst>
          </p:cNvPr>
          <p:cNvGrpSpPr/>
          <p:nvPr/>
        </p:nvGrpSpPr>
        <p:grpSpPr>
          <a:xfrm>
            <a:off x="5930539" y="399212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7D0B78A-93AA-29F4-54F2-2FBD88649F7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BAA7B8E-478C-D535-8BF4-FD3EF2A620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4964EF-5249-1263-0764-BD56F0006FB5}"/>
              </a:ext>
            </a:extLst>
          </p:cNvPr>
          <p:cNvGrpSpPr/>
          <p:nvPr/>
        </p:nvGrpSpPr>
        <p:grpSpPr>
          <a:xfrm>
            <a:off x="6782937" y="4465655"/>
            <a:ext cx="1076632" cy="369332"/>
            <a:chOff x="2157212" y="5356391"/>
            <a:chExt cx="1076632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6BB230F-7564-39CE-2935-9B808A7CDE9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D46CC7E9-7A8C-1620-5A06-60F5774C7F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51AECE4-EC96-17DF-19A9-467A04C8B1B2}"/>
              </a:ext>
            </a:extLst>
          </p:cNvPr>
          <p:cNvGrpSpPr/>
          <p:nvPr/>
        </p:nvGrpSpPr>
        <p:grpSpPr>
          <a:xfrm>
            <a:off x="4617727" y="4929397"/>
            <a:ext cx="1076632" cy="369332"/>
            <a:chOff x="2157212" y="5356391"/>
            <a:chExt cx="107663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FCEB6C-059E-212C-B7D0-09CA8E0B2B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2CD152F-FC1B-7719-8A10-6C78FC372F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D87FACA-BAF0-63ED-21A1-E2366DBAD9E6}"/>
              </a:ext>
            </a:extLst>
          </p:cNvPr>
          <p:cNvGrpSpPr/>
          <p:nvPr/>
        </p:nvGrpSpPr>
        <p:grpSpPr>
          <a:xfrm>
            <a:off x="5843858" y="54350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FE442FC-0E63-23B7-FBC1-C0D6E005346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84EC510-E608-497B-3984-4B54E31739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D56FA82-11B7-1DAA-5807-072493B010C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297066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42CCA64-1192-5033-2725-081DDEBAE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DD6588-7800-443D-9AAB-D0CC39D7E7C1}"/>
              </a:ext>
            </a:extLst>
          </p:cNvPr>
          <p:cNvCxnSpPr>
            <a:cxnSpLocks/>
          </p:cNvCxnSpPr>
          <p:nvPr/>
        </p:nvCxnSpPr>
        <p:spPr>
          <a:xfrm>
            <a:off x="4651271" y="4343712"/>
            <a:ext cx="14828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CB3C8A-C88D-BF93-8197-7E3D73A7BFC1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29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744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DE2-46D9-F839-BBC9-556DBD9F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3CD29E-7010-FFA8-1C4B-D152E04112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5" y="1723190"/>
            <a:ext cx="7311871" cy="4548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980DDA-F2A4-708E-AC0A-643C773E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66DEE-471E-8439-88E5-76545A7C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EBB96-DE67-4F32-B04D-D548B7DC0379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791DBC-1FAF-EFE7-3A35-216A0493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6180CAF-24BC-2495-23BE-C0B5B77543C8}"/>
              </a:ext>
            </a:extLst>
          </p:cNvPr>
          <p:cNvGrpSpPr/>
          <p:nvPr/>
        </p:nvGrpSpPr>
        <p:grpSpPr>
          <a:xfrm>
            <a:off x="2477984" y="1707148"/>
            <a:ext cx="1076632" cy="369332"/>
            <a:chOff x="4968362" y="2079211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A0B0AE-C6CC-E343-BB5D-14BF29ECC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ACA612-2FC2-2C94-2AF7-DF6DEFDD72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1D0A1D-2EDC-B024-696F-532F5A592623}"/>
              </a:ext>
            </a:extLst>
          </p:cNvPr>
          <p:cNvGrpSpPr/>
          <p:nvPr/>
        </p:nvGrpSpPr>
        <p:grpSpPr>
          <a:xfrm>
            <a:off x="7349982" y="433908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7E82C8-EB5F-4046-934D-034A0E658E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DB062B-18BE-BCF8-87D6-F549053947D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7227758-18C9-6C0E-95AA-2769846BFD96}"/>
              </a:ext>
            </a:extLst>
          </p:cNvPr>
          <p:cNvGrpSpPr/>
          <p:nvPr/>
        </p:nvGrpSpPr>
        <p:grpSpPr>
          <a:xfrm>
            <a:off x="4111525" y="514283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075CFA-898C-F2F6-9ECB-0DBE077029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BFFE97F-7129-8AC4-1446-3A68372E6D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DA3C75-B730-18D8-0819-B64DCFAC4329}"/>
              </a:ext>
            </a:extLst>
          </p:cNvPr>
          <p:cNvGrpSpPr/>
          <p:nvPr/>
        </p:nvGrpSpPr>
        <p:grpSpPr>
          <a:xfrm>
            <a:off x="4044672" y="5400942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9E4EB9-40A6-C07A-AF5F-A0879C4F5F9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C2D47C3-A25A-6838-CFE0-3130BCF4B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F68CB-C4B1-925E-5ED9-94ABF4B4419A}"/>
              </a:ext>
            </a:extLst>
          </p:cNvPr>
          <p:cNvGrpSpPr/>
          <p:nvPr/>
        </p:nvGrpSpPr>
        <p:grpSpPr>
          <a:xfrm>
            <a:off x="2601884" y="5636871"/>
            <a:ext cx="1068643" cy="369332"/>
            <a:chOff x="3647644" y="5359159"/>
            <a:chExt cx="1068643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D5CF47A-36B1-0403-5ABF-7A4DF077A16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42592AC-CFEE-02BF-6D88-B0F30EC9C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89C9417E-B302-6B91-6DEB-CDDDA54E1BC6}"/>
              </a:ext>
            </a:extLst>
          </p:cNvPr>
          <p:cNvSpPr/>
          <p:nvPr/>
        </p:nvSpPr>
        <p:spPr>
          <a:xfrm>
            <a:off x="942896" y="2944126"/>
            <a:ext cx="1457637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83E450-B74C-4A6B-4FD3-3817F1322FF9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2400533" y="2306986"/>
            <a:ext cx="2942104" cy="957918"/>
          </a:xfrm>
          <a:prstGeom prst="bentConnector3">
            <a:avLst>
              <a:gd name="adj1" fmla="val 3009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81B0868-B7F2-9DF6-EF11-A10E1792F426}"/>
              </a:ext>
            </a:extLst>
          </p:cNvPr>
          <p:cNvSpPr/>
          <p:nvPr/>
        </p:nvSpPr>
        <p:spPr>
          <a:xfrm>
            <a:off x="1917032" y="4239000"/>
            <a:ext cx="1254126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9D3A1F-8392-AC5F-D291-787A90CBA9F1}"/>
              </a:ext>
            </a:extLst>
          </p:cNvPr>
          <p:cNvSpPr/>
          <p:nvPr/>
        </p:nvSpPr>
        <p:spPr>
          <a:xfrm>
            <a:off x="1925052" y="4968726"/>
            <a:ext cx="3091447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461B82-4BFC-4AE5-122B-17460B9E1A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37475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31" grpId="0" animBg="1"/>
      <p:bldP spid="32" grpId="0" animBg="1"/>
      <p:bldP spid="3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47CDDC-3F0B-FF9D-D339-8209FE28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plot_rings.py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8A033-FA31-45FC-9C52-C81FC05D4958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4400" dirty="0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18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C6B4-1CD8-D5DF-0CDE-C016AFD3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C3E-FAFF-713D-6D4E-6AA9CAA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DB30B-17CA-991B-38CC-CB2B267D0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7A1A0-361B-ABED-2C44-319E613A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14B691-1535-AA25-4BF8-B37FF564DB5D}"/>
              </a:ext>
            </a:extLst>
          </p:cNvPr>
          <p:cNvGrpSpPr/>
          <p:nvPr/>
        </p:nvGrpSpPr>
        <p:grpSpPr>
          <a:xfrm>
            <a:off x="4415282" y="2894925"/>
            <a:ext cx="2686066" cy="411838"/>
            <a:chOff x="4415282" y="2894925"/>
            <a:chExt cx="2686066" cy="411838"/>
          </a:xfrm>
        </p:grpSpPr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004FA2C7-1547-E021-522B-B1177D6C4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435" y="2894925"/>
              <a:ext cx="1197764" cy="3693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A4D7482-D4C6-AAC1-E3B3-C6720E4F4469}"/>
                </a:ext>
              </a:extLst>
            </p:cNvPr>
            <p:cNvCxnSpPr/>
            <p:nvPr/>
          </p:nvCxnSpPr>
          <p:spPr>
            <a:xfrm>
              <a:off x="4415282" y="3297240"/>
              <a:ext cx="2686066" cy="9523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64C1A40-8B03-0C99-02F5-E98AE32D5737}"/>
              </a:ext>
            </a:extLst>
          </p:cNvPr>
          <p:cNvGrpSpPr/>
          <p:nvPr/>
        </p:nvGrpSpPr>
        <p:grpSpPr>
          <a:xfrm>
            <a:off x="2693183" y="3232577"/>
            <a:ext cx="470382" cy="1352061"/>
            <a:chOff x="2693183" y="3232577"/>
            <a:chExt cx="470382" cy="1352061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646CC1BA-644E-7CDC-A202-DBBCAE0687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6648" y="3708553"/>
              <a:ext cx="131318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y_offset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77BA5FC-8E7E-0105-B535-79E9E330D12B}"/>
                </a:ext>
              </a:extLst>
            </p:cNvPr>
            <p:cNvCxnSpPr/>
            <p:nvPr/>
          </p:nvCxnSpPr>
          <p:spPr>
            <a:xfrm>
              <a:off x="3159659" y="3232577"/>
              <a:ext cx="3906" cy="135206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4A471-F60C-C85E-FE7B-C1CA3DBE0679}"/>
              </a:ext>
            </a:extLst>
          </p:cNvPr>
          <p:cNvSpPr txBox="1"/>
          <p:nvPr/>
        </p:nvSpPr>
        <p:spPr>
          <a:xfrm>
            <a:off x="4139267" y="3160396"/>
            <a:ext cx="504616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(0,0)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8D78929-BCA4-037C-4804-F206BA1C14BF}"/>
              </a:ext>
            </a:extLst>
          </p:cNvPr>
          <p:cNvGrpSpPr/>
          <p:nvPr/>
        </p:nvGrpSpPr>
        <p:grpSpPr>
          <a:xfrm>
            <a:off x="3965426" y="4455493"/>
            <a:ext cx="2319030" cy="450667"/>
            <a:chOff x="3965426" y="4455493"/>
            <a:chExt cx="2319030" cy="450667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B65F93F9-1D49-2B3F-755B-7F73DD8B2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5426" y="4506050"/>
              <a:ext cx="231903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 / 2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D75139-24C2-EA4A-3D30-391A41F46CF6}"/>
                </a:ext>
              </a:extLst>
            </p:cNvPr>
            <p:cNvCxnSpPr/>
            <p:nvPr/>
          </p:nvCxnSpPr>
          <p:spPr>
            <a:xfrm flipV="1">
              <a:off x="4416752" y="4455493"/>
              <a:ext cx="1416379" cy="805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34F1243-55F7-7C57-E2D8-9F431941EBED}"/>
              </a:ext>
            </a:extLst>
          </p:cNvPr>
          <p:cNvSpPr txBox="1"/>
          <p:nvPr/>
        </p:nvSpPr>
        <p:spPr>
          <a:xfrm>
            <a:off x="1874768" y="5967434"/>
            <a:ext cx="5394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What should these offsets be to render a correct logo?</a:t>
            </a:r>
          </a:p>
        </p:txBody>
      </p:sp>
    </p:spTree>
    <p:extLst>
      <p:ext uri="{BB962C8B-B14F-4D97-AF65-F5344CB8AC3E}">
        <p14:creationId xmlns:p14="http://schemas.microsoft.com/office/powerpoint/2010/main" val="194019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66F94-B71D-728F-5DE9-7FF324A5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2CFF50-9EDD-20C0-5977-14599FC229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4" y="1723527"/>
            <a:ext cx="7337118" cy="456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30CAA-C7D5-92FD-E2B7-73FFA2ED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BC866-9FD0-9829-C433-9DCE04BB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74ACB-036C-07F0-95FB-280FD852C7AF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8DFEC-5D5E-A91B-A185-1F4E13DB7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8CB82057-9F01-0012-A1DA-DD9318C2774B}"/>
              </a:ext>
            </a:extLst>
          </p:cNvPr>
          <p:cNvSpPr/>
          <p:nvPr/>
        </p:nvSpPr>
        <p:spPr>
          <a:xfrm>
            <a:off x="942896" y="2944126"/>
            <a:ext cx="2858468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CD6114B-3910-55CA-C7FB-8DA8EAC430E3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3801365" y="2306986"/>
            <a:ext cx="1541273" cy="95791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468951-0A16-065A-F09E-236B04996B04}"/>
              </a:ext>
            </a:extLst>
          </p:cNvPr>
          <p:cNvSpPr txBox="1"/>
          <p:nvPr/>
        </p:nvSpPr>
        <p:spPr>
          <a:xfrm>
            <a:off x="5781312" y="3251748"/>
            <a:ext cx="2181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hardcoded lengths!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C80B4-58AB-0C19-1361-37F148F4075B}"/>
              </a:ext>
            </a:extLst>
          </p:cNvPr>
          <p:cNvSpPr txBox="1"/>
          <p:nvPr/>
        </p:nvSpPr>
        <p:spPr>
          <a:xfrm>
            <a:off x="5156427" y="3551774"/>
            <a:ext cx="3431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Offsets should be a function of</a:t>
            </a:r>
          </a:p>
          <a:p>
            <a:pPr algn="ctr"/>
            <a:r>
              <a:rPr lang="en-US" sz="1400" dirty="0">
                <a:solidFill>
                  <a:srgbClr val="FFFF00"/>
                </a:solidFill>
              </a:rPr>
              <a:t>radius so the image can scale!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/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FFFF00"/>
                    </a:solidFill>
                  </a:rPr>
                  <a:t>The Greeks loved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ℚ</m:t>
                    </m:r>
                  </m:oMath>
                </a14:m>
                <a:endParaRPr lang="en-US" sz="14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67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" grpId="0"/>
      <p:bldP spid="7" grpId="0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3805C-07AC-6EFF-C156-BC047F91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0850C50-7BED-9719-FE8F-132896510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355F7-37EC-D164-7336-70455FC1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11CE6-2E66-1CA2-DC33-A27897F2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8768-0E21-614D-3F88-EF817EBDFEC9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42960F-B934-731D-225A-669DFCE3C477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DF0D3-9251-6899-BE45-BC9BD51A4AB7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4400" dirty="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  <a:r>
                  <a:rPr lang="en-US" sz="2400" dirty="0"/>
                  <a:t>, where the standard form of an ellipse </a:t>
                </a:r>
                <a:r>
                  <a:rPr lang="en-US" sz="2400" b="1" dirty="0"/>
                  <a:t>centered at the origin</a:t>
                </a:r>
                <a:r>
                  <a:rPr lang="en-US" sz="2400" dirty="0"/>
                  <a:t>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Using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coordinates</a:t>
                </a:r>
                <a:r>
                  <a:rPr lang="en-US" sz="2400" dirty="0"/>
                  <a:t>, we could draw it “like” a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an ellipse has </a:t>
                </a:r>
                <a:r>
                  <a:rPr lang="en-US" sz="2400" dirty="0">
                    <a:solidFill>
                      <a:srgbClr val="FF0000"/>
                    </a:solidFill>
                  </a:rPr>
                  <a:t>two separate/independent </a:t>
                </a:r>
                <a:r>
                  <a:rPr lang="en-US" sz="2400" dirty="0"/>
                  <a:t>“radii”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) and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n>
                      <a:solidFill>
                        <a:sysClr val="windowText" lastClr="000000"/>
                      </a:solidFill>
                    </a:ln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dirty="0"/>
                  <a:t>then we have 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circle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0A760-C9BC-14C9-421F-09280452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F7FF3AD9-1FDE-24FF-1F9B-C17D8AA36EE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667" y="1912475"/>
            <a:ext cx="7466667" cy="35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0DDC5-5DAE-AF05-728A-110D147D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1242-8C91-9D40-282A-03600FD4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63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A1B987-3F27-D58F-A23A-9FFB5B7851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D020A4-994D-2EBA-D03B-9DF71D22FD5B}"/>
              </a:ext>
            </a:extLst>
          </p:cNvPr>
          <p:cNvGrpSpPr/>
          <p:nvPr/>
        </p:nvGrpSpPr>
        <p:grpSpPr>
          <a:xfrm>
            <a:off x="2434327" y="1875206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9949A45-24F2-79AD-C9BB-35996FCAC6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C3D81D-D8DB-3AEA-E983-0C026E9EEAE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84A7CE6-4CB8-AFC5-930A-41BA32E2C355}"/>
              </a:ext>
            </a:extLst>
          </p:cNvPr>
          <p:cNvGrpSpPr/>
          <p:nvPr/>
        </p:nvGrpSpPr>
        <p:grpSpPr>
          <a:xfrm>
            <a:off x="4158684" y="2099977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9A16FCE-5876-0D0C-1C57-D328F232C9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2E15C-233E-24A4-412C-DCC2896B45A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B8EF0E7-88A3-5E51-49FF-5DEF35CD928E}"/>
              </a:ext>
            </a:extLst>
          </p:cNvPr>
          <p:cNvGrpSpPr/>
          <p:nvPr/>
        </p:nvGrpSpPr>
        <p:grpSpPr>
          <a:xfrm>
            <a:off x="3068002" y="2336904"/>
            <a:ext cx="1068643" cy="369332"/>
            <a:chOff x="3647644" y="4910075"/>
            <a:chExt cx="1068643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9F96207-5882-A6AF-8A0A-17904D1AF088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362BD7B-F69E-8465-134F-423540CCD0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9AA73F4-DB70-5FAD-96E7-71F6EA9A8D73}"/>
              </a:ext>
            </a:extLst>
          </p:cNvPr>
          <p:cNvGrpSpPr/>
          <p:nvPr/>
        </p:nvGrpSpPr>
        <p:grpSpPr>
          <a:xfrm>
            <a:off x="3092061" y="2571620"/>
            <a:ext cx="1064340" cy="369332"/>
            <a:chOff x="3647644" y="5421073"/>
            <a:chExt cx="1064340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73B8947-B34C-2DF8-402C-AD88E5EBF30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1626083-4C8E-BCA6-0091-E4E33E446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5" name="Picture 44">
            <a:extLst>
              <a:ext uri="{FF2B5EF4-FFF2-40B4-BE49-F238E27FC236}">
                <a16:creationId xmlns:a16="http://schemas.microsoft.com/office/drawing/2014/main" id="{567BD947-478E-B45E-F252-FE21B807F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256" y="2219789"/>
            <a:ext cx="1371917" cy="703661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919A48C2-B415-35B0-5B8C-443D9DF3A7A9}"/>
              </a:ext>
            </a:extLst>
          </p:cNvPr>
          <p:cNvGrpSpPr/>
          <p:nvPr/>
        </p:nvGrpSpPr>
        <p:grpSpPr>
          <a:xfrm>
            <a:off x="6481447" y="3240805"/>
            <a:ext cx="1068643" cy="369332"/>
            <a:chOff x="3647644" y="5359159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8D09C5F-051C-88CB-0B20-9FBB8E4FF7B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44E28414-25F3-EF0E-8528-F2BD12F047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A18B2C41-12CB-57C3-EBEC-121E4657F540}"/>
              </a:ext>
            </a:extLst>
          </p:cNvPr>
          <p:cNvSpPr/>
          <p:nvPr/>
        </p:nvSpPr>
        <p:spPr>
          <a:xfrm>
            <a:off x="2369217" y="3322219"/>
            <a:ext cx="423990" cy="23261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8A84822-3A21-CEDC-3189-CE390F3081EF}"/>
              </a:ext>
            </a:extLst>
          </p:cNvPr>
          <p:cNvGrpSpPr/>
          <p:nvPr/>
        </p:nvGrpSpPr>
        <p:grpSpPr>
          <a:xfrm>
            <a:off x="3785441" y="3554829"/>
            <a:ext cx="1076632" cy="369332"/>
            <a:chOff x="2157212" y="5356391"/>
            <a:chExt cx="1076632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5AD21C2-2894-CE57-77FC-6EC43A49E88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87394B1-0888-440A-6735-4312D6D68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177FEC7-9BDC-D7F9-6FC8-CAC250EAA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810" y="4323723"/>
            <a:ext cx="1109679" cy="481721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032BAC30-0775-F5D2-6568-03D0230BCD7B}"/>
              </a:ext>
            </a:extLst>
          </p:cNvPr>
          <p:cNvGrpSpPr/>
          <p:nvPr/>
        </p:nvGrpSpPr>
        <p:grpSpPr>
          <a:xfrm>
            <a:off x="8305333" y="3924161"/>
            <a:ext cx="691624" cy="369332"/>
            <a:chOff x="2157212" y="5356391"/>
            <a:chExt cx="691624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A38EB69-BC03-4804-0ABD-0B164AFA03D3}"/>
                </a:ext>
              </a:extLst>
            </p:cNvPr>
            <p:cNvSpPr txBox="1"/>
            <p:nvPr/>
          </p:nvSpPr>
          <p:spPr>
            <a:xfrm>
              <a:off x="2465378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8E2EAC25-92DA-98F5-87CB-3518B27E8F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1057"/>
              <a:ext cx="333341" cy="408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91090C5-38EA-DB91-93D6-DFD5CF8A3C7F}"/>
              </a:ext>
            </a:extLst>
          </p:cNvPr>
          <p:cNvGrpSpPr/>
          <p:nvPr/>
        </p:nvGrpSpPr>
        <p:grpSpPr>
          <a:xfrm>
            <a:off x="2888040" y="4262013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A3C59AA-EA1C-3F42-D6D0-601ACA13B09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7A0A1A1D-01AF-7507-78B6-E6EEC4101F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C5C83E7-E5E3-5A45-A93F-2641E9AC368B}"/>
              </a:ext>
            </a:extLst>
          </p:cNvPr>
          <p:cNvGrpSpPr/>
          <p:nvPr/>
        </p:nvGrpSpPr>
        <p:grpSpPr>
          <a:xfrm>
            <a:off x="3760263" y="4620778"/>
            <a:ext cx="1076632" cy="369332"/>
            <a:chOff x="2157212" y="5356391"/>
            <a:chExt cx="1076632" cy="369332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5899D27-E259-8DEE-DABF-A9C2D03FCE2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1520FD9-0483-7C39-6CEE-C05EF740AD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C0C6A7F-BE85-3214-21C9-6A5622AE20F0}"/>
              </a:ext>
            </a:extLst>
          </p:cNvPr>
          <p:cNvGrpSpPr/>
          <p:nvPr/>
        </p:nvGrpSpPr>
        <p:grpSpPr>
          <a:xfrm>
            <a:off x="2335101" y="4851175"/>
            <a:ext cx="1076632" cy="369332"/>
            <a:chOff x="2157212" y="5356391"/>
            <a:chExt cx="1076632" cy="36933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57CF7A3-9429-D64E-C259-D11B6FD3399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5D6F74A7-C228-6C0A-1858-8F100C1B4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6448108D-060B-E09F-A096-2265FD14C954}"/>
              </a:ext>
            </a:extLst>
          </p:cNvPr>
          <p:cNvSpPr/>
          <p:nvPr/>
        </p:nvSpPr>
        <p:spPr>
          <a:xfrm>
            <a:off x="1312010" y="2414589"/>
            <a:ext cx="177335" cy="4571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401357E-4CFB-1B6E-8A76-B3CBBE978CF0}"/>
              </a:ext>
            </a:extLst>
          </p:cNvPr>
          <p:cNvSpPr/>
          <p:nvPr/>
        </p:nvSpPr>
        <p:spPr>
          <a:xfrm>
            <a:off x="1525306" y="3542129"/>
            <a:ext cx="122520" cy="4571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2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51" grpId="0" animBg="1"/>
      <p:bldP spid="69" grpId="0" animBg="1"/>
      <p:bldP spid="7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799C-0A02-64CD-BADB-D538D7DA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8528A1E-7B7A-F4D0-E2B6-7ACC84A5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2E2AB0-0457-CA30-F6DF-5DC510F4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0146-A9A1-C1C0-0DB8-F5905551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E1A91-6673-3111-3B0F-B8341AC0CDFE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E50F3-434F-9C27-E5F6-74D191B8D42D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065519-559C-A68B-50B4-CFEBA94F6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932E95-01FD-B954-A749-31FAE31B996C}"/>
              </a:ext>
            </a:extLst>
          </p:cNvPr>
          <p:cNvSpPr txBox="1"/>
          <p:nvPr/>
        </p:nvSpPr>
        <p:spPr>
          <a:xfrm>
            <a:off x="6088009" y="4921095"/>
            <a:ext cx="2205790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50</a:t>
            </a:r>
            <a:r>
              <a:rPr lang="en-US" dirty="0">
                <a:solidFill>
                  <a:srgbClr val="00B050"/>
                </a:solidFill>
              </a:rPr>
              <a:t> points since that is the </a:t>
            </a:r>
            <a:r>
              <a:rPr lang="en-US" i="1" dirty="0">
                <a:solidFill>
                  <a:srgbClr val="00B050"/>
                </a:solidFill>
              </a:rPr>
              <a:t>default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b="1" dirty="0">
                <a:solidFill>
                  <a:srgbClr val="00B050"/>
                </a:solidFill>
              </a:rPr>
              <a:t>size</a:t>
            </a:r>
            <a:r>
              <a:rPr lang="en-US" dirty="0">
                <a:solidFill>
                  <a:srgbClr val="00B050"/>
                </a:solidFill>
              </a:rPr>
              <a:t> of a np.linspace()</a:t>
            </a:r>
          </a:p>
        </p:txBody>
      </p:sp>
    </p:spTree>
    <p:extLst>
      <p:ext uri="{BB962C8B-B14F-4D97-AF65-F5344CB8AC3E}">
        <p14:creationId xmlns:p14="http://schemas.microsoft.com/office/powerpoint/2010/main" val="21117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35332"/>
          </a:xfrm>
        </p:spPr>
        <p:txBody>
          <a:bodyPr>
            <a:normAutofit/>
          </a:bodyPr>
          <a:lstStyle/>
          <a:p>
            <a:r>
              <a:rPr lang="en-US" sz="2400" dirty="0"/>
              <a:t>Your scientist has asked you to plot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temperature equivalents for temperatures in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that span from </a:t>
            </a:r>
            <a:r>
              <a:rPr lang="en-US" sz="2400" b="1" dirty="0"/>
              <a:t>0K</a:t>
            </a:r>
            <a:r>
              <a:rPr lang="en-US" sz="2400" dirty="0"/>
              <a:t> to </a:t>
            </a:r>
            <a:r>
              <a:rPr lang="en-US" sz="2400" b="1" dirty="0"/>
              <a:t>400K</a:t>
            </a:r>
            <a:r>
              <a:rPr lang="en-US" sz="2400" dirty="0"/>
              <a:t> inclusive</a:t>
            </a:r>
            <a:endParaRPr lang="en-US" sz="2400" b="1" dirty="0"/>
          </a:p>
          <a:p>
            <a:r>
              <a:rPr lang="en-US" sz="2400" dirty="0"/>
              <a:t>Your plot should label the line graph of each temperature scale and show a </a:t>
            </a:r>
            <a:r>
              <a:rPr lang="en-US" sz="2400" b="1" dirty="0"/>
              <a:t>legend</a:t>
            </a:r>
            <a:r>
              <a:rPr lang="en-US" sz="2400" dirty="0"/>
              <a:t> to ease plot comprehension</a:t>
            </a:r>
          </a:p>
          <a:p>
            <a:r>
              <a:rPr lang="en-US" sz="2400" dirty="0"/>
              <a:t>As with all professional graphs, each axis should be labeled with the appropriate units</a:t>
            </a:r>
          </a:p>
          <a:p>
            <a:r>
              <a:rPr lang="en-US" sz="2400" dirty="0"/>
              <a:t>The graph should have a title and a grid for easier reading of the values</a:t>
            </a:r>
          </a:p>
          <a:p>
            <a:r>
              <a:rPr lang="en-US" sz="2400" dirty="0"/>
              <a:t>The research question is, "</a:t>
            </a:r>
            <a:r>
              <a:rPr lang="en-US" sz="2400" b="1" dirty="0">
                <a:solidFill>
                  <a:srgbClr val="FF0000"/>
                </a:solidFill>
              </a:rPr>
              <a:t>What is the one temperature that is the </a:t>
            </a:r>
            <a:r>
              <a:rPr lang="en-US" sz="2400" b="1" u="sng" dirty="0">
                <a:solidFill>
                  <a:srgbClr val="FF0000"/>
                </a:solidFill>
              </a:rPr>
              <a:t>same</a:t>
            </a:r>
            <a:r>
              <a:rPr lang="en-US" sz="2400" b="1" dirty="0">
                <a:solidFill>
                  <a:srgbClr val="FF0000"/>
                </a:solidFill>
              </a:rPr>
              <a:t> in Fahrenheit and Celsius?</a:t>
            </a:r>
            <a:r>
              <a:rPr lang="en-US" sz="2400" dirty="0"/>
              <a:t>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FDD5F7-3718-05D9-4AEC-8A275FD0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476" y="1547333"/>
            <a:ext cx="4019048" cy="48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33E6-69BE-B44F-4286-21A32DCBD231}"/>
              </a:ext>
            </a:extLst>
          </p:cNvPr>
          <p:cNvGrpSpPr/>
          <p:nvPr/>
        </p:nvGrpSpPr>
        <p:grpSpPr>
          <a:xfrm>
            <a:off x="4849961" y="334818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BEBB702-42DD-3CED-AE4A-7C3DFC3DF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238FF2-3EE4-F366-7AE8-410EF1E643F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11BF65-5113-6871-E488-CD31F1172AE4}"/>
              </a:ext>
            </a:extLst>
          </p:cNvPr>
          <p:cNvGrpSpPr/>
          <p:nvPr/>
        </p:nvGrpSpPr>
        <p:grpSpPr>
          <a:xfrm>
            <a:off x="5438832" y="3572023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5670ACF-CEA1-EA45-D11D-EFB3A5EE0A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83DD4A-C118-4723-730E-B0D83D722AA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40FCB3-1130-08ED-772D-C9FE34D76637}"/>
              </a:ext>
            </a:extLst>
          </p:cNvPr>
          <p:cNvGrpSpPr/>
          <p:nvPr/>
        </p:nvGrpSpPr>
        <p:grpSpPr>
          <a:xfrm>
            <a:off x="4554646" y="3800973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28FF94-8802-2060-51C5-7CC0815DC2B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18DFFD9-6F57-C0D5-DC9D-A0F76076A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0A8254F-6BB1-FD5F-FCFB-79EAB627A12F}"/>
              </a:ext>
            </a:extLst>
          </p:cNvPr>
          <p:cNvGrpSpPr/>
          <p:nvPr/>
        </p:nvGrpSpPr>
        <p:grpSpPr>
          <a:xfrm>
            <a:off x="5599836" y="4270719"/>
            <a:ext cx="1064340" cy="369332"/>
            <a:chOff x="3647644" y="5421073"/>
            <a:chExt cx="1064340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97D162D-823F-08C0-C03C-A3D0E960E4E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720717-C74C-C77C-7F44-4F6A6987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714B188-7DC7-8B90-8CD1-5D6C2A2F4F79}"/>
              </a:ext>
            </a:extLst>
          </p:cNvPr>
          <p:cNvGrpSpPr/>
          <p:nvPr/>
        </p:nvGrpSpPr>
        <p:grpSpPr>
          <a:xfrm>
            <a:off x="5923628" y="4484425"/>
            <a:ext cx="1068643" cy="369332"/>
            <a:chOff x="3647644" y="5359159"/>
            <a:chExt cx="1068643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535DE10-393F-DEBE-B502-CCF32913CD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C86BCE8-7585-1B61-62DD-240583B9F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512DC7-E24D-15A3-3740-5AACE13F4745}"/>
              </a:ext>
            </a:extLst>
          </p:cNvPr>
          <p:cNvGrpSpPr/>
          <p:nvPr/>
        </p:nvGrpSpPr>
        <p:grpSpPr>
          <a:xfrm>
            <a:off x="5083902" y="5216492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08C836-9EC4-6E12-76F4-4CA1523AC86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04ECFCC-22B8-C3A4-2C08-2886D6822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0691D34-0901-CB65-EA40-D9737DA22AA9}"/>
              </a:ext>
            </a:extLst>
          </p:cNvPr>
          <p:cNvGrpSpPr/>
          <p:nvPr/>
        </p:nvGrpSpPr>
        <p:grpSpPr>
          <a:xfrm>
            <a:off x="5332538" y="5626177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8C23DE1-8B76-76AF-CD8F-80D4EB7609E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8ED31F6-3D07-9F61-4416-F176E75B6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27B23F-F0BD-22C5-8ED6-24024CCF3A10}"/>
              </a:ext>
            </a:extLst>
          </p:cNvPr>
          <p:cNvGrpSpPr/>
          <p:nvPr/>
        </p:nvGrpSpPr>
        <p:grpSpPr>
          <a:xfrm>
            <a:off x="5622218" y="4706676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337085-9BB1-0EB9-6FC6-3745CBE5EE7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8A28F5A-DABE-0125-5739-0F4CC4BD93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6662926-CF54-4602-26F3-CDF9AEA51A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98699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E52A6A-A698-C76A-97C5-58FF96F54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41AB72-7EDD-DD02-8E51-74922E5C0B49}"/>
              </a:ext>
            </a:extLst>
          </p:cNvPr>
          <p:cNvSpPr txBox="1"/>
          <p:nvPr/>
        </p:nvSpPr>
        <p:spPr>
          <a:xfrm>
            <a:off x="4884821" y="4485145"/>
            <a:ext cx="2839453" cy="1200329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one temperature that is the same in Fahrenheit and Celsius?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C4ABB5-4387-F7E4-08CC-95DC9030C88E}"/>
              </a:ext>
            </a:extLst>
          </p:cNvPr>
          <p:cNvCxnSpPr/>
          <p:nvPr/>
        </p:nvCxnSpPr>
        <p:spPr>
          <a:xfrm flipH="1">
            <a:off x="2286000" y="4098758"/>
            <a:ext cx="269823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/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5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Random Walks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create a Python program to display the </a:t>
                </a:r>
                <a:r>
                  <a:rPr lang="en-US" sz="2400" b="1" dirty="0"/>
                  <a:t>2D</a:t>
                </a:r>
                <a:r>
                  <a:rPr lang="en-US" sz="2400" dirty="0"/>
                  <a:t> Cartesian plot of a meandering walker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walker starts at the </a:t>
                </a:r>
                <a:r>
                  <a:rPr lang="en-US" sz="2400" b="1" dirty="0"/>
                  <a:t>(0,0) origin </a:t>
                </a:r>
                <a:r>
                  <a:rPr lang="en-US" sz="2400" dirty="0"/>
                  <a:t>and begins taking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step at a time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At each step, the walker picks a random angle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uniform</a:t>
                </a:r>
                <a:r>
                  <a:rPr lang="en-US" sz="2400" dirty="0"/>
                  <a:t> distribution) within the interval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2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moves (from his current position)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unit of distance in that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radial</a:t>
                </a:r>
                <a:r>
                  <a:rPr lang="en-US" sz="2400" dirty="0"/>
                  <a:t> direction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boss wants your program to show the entire journey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10,000</a:t>
                </a:r>
                <a:r>
                  <a:rPr lang="en-US" sz="2400" dirty="0"/>
                  <a:t> random steps in your plot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research question on the table is this: On average, how far away (Pythagorean distance) from the </a:t>
                </a:r>
                <a:r>
                  <a:rPr lang="en-US" sz="2400" i="1" dirty="0"/>
                  <a:t>starting</a:t>
                </a:r>
                <a:r>
                  <a:rPr lang="en-US" sz="2400" dirty="0"/>
                  <a:t> point (the origin) will the walker </a:t>
                </a:r>
                <a:r>
                  <a:rPr lang="en-US" sz="2400" b="1" dirty="0"/>
                  <a:t>stop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623" b="-10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4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B5255-38D3-41D0-6417-9FC6F235E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857" y="1635731"/>
            <a:ext cx="5914286" cy="485714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63173D9-047D-C3E1-3E0C-B24D6DF06B3F}"/>
              </a:ext>
            </a:extLst>
          </p:cNvPr>
          <p:cNvGrpSpPr/>
          <p:nvPr/>
        </p:nvGrpSpPr>
        <p:grpSpPr>
          <a:xfrm>
            <a:off x="3681879" y="157724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DA549D-AFF1-B684-5716-1B9C9EC3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5769B3-B2AA-5362-0A64-1E96FD2B0E3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B61EF90-B983-AC6A-AE4E-2E98935C3448}"/>
              </a:ext>
            </a:extLst>
          </p:cNvPr>
          <p:cNvGrpSpPr/>
          <p:nvPr/>
        </p:nvGrpSpPr>
        <p:grpSpPr>
          <a:xfrm>
            <a:off x="2705310" y="1798563"/>
            <a:ext cx="1076632" cy="369332"/>
            <a:chOff x="4704120" y="2356972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CB33E85-CD24-DCF3-34A0-5042D2B641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5F6232-975C-488D-39A3-69F75B5CA4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AB1FA7-693C-79A9-C193-8B4F59306B5D}"/>
              </a:ext>
            </a:extLst>
          </p:cNvPr>
          <p:cNvGrpSpPr/>
          <p:nvPr/>
        </p:nvGrpSpPr>
        <p:grpSpPr>
          <a:xfrm>
            <a:off x="3247620" y="2106217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363343-8BEA-6DD4-74BB-D1ED1857D1D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139DBAB-29EE-354E-EDC9-43151C222B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113C34-F0ED-50C2-DA61-E37ED25784C4}"/>
              </a:ext>
            </a:extLst>
          </p:cNvPr>
          <p:cNvGrpSpPr/>
          <p:nvPr/>
        </p:nvGrpSpPr>
        <p:grpSpPr>
          <a:xfrm>
            <a:off x="3703347" y="2730048"/>
            <a:ext cx="1064340" cy="369332"/>
            <a:chOff x="3647644" y="5421073"/>
            <a:chExt cx="1064340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CBE334-ADE2-663D-88C3-9348F2640AA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64057E9-413B-504A-E7EC-C7F331FF1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CE3D7A-D7B6-D4FA-491A-212C1DEBA019}"/>
              </a:ext>
            </a:extLst>
          </p:cNvPr>
          <p:cNvGrpSpPr/>
          <p:nvPr/>
        </p:nvGrpSpPr>
        <p:grpSpPr>
          <a:xfrm>
            <a:off x="5172961" y="2957173"/>
            <a:ext cx="1068643" cy="369332"/>
            <a:chOff x="3647644" y="5359159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751915-4EB2-9E10-593E-2E3BB251484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C415A5-CFBF-B44F-FD69-91E39EDBB6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1DCAED-78CD-8188-F440-FFDE7F51B287}"/>
              </a:ext>
            </a:extLst>
          </p:cNvPr>
          <p:cNvGrpSpPr/>
          <p:nvPr/>
        </p:nvGrpSpPr>
        <p:grpSpPr>
          <a:xfrm>
            <a:off x="3092666" y="4091781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A5985F-37F9-39A9-CE3D-A7576BD85EF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85C5B4D-975D-C822-0DA9-B74C9DD58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110196A-5CD4-D0C4-6A0A-45C55BF19FC4}"/>
              </a:ext>
            </a:extLst>
          </p:cNvPr>
          <p:cNvGrpSpPr/>
          <p:nvPr/>
        </p:nvGrpSpPr>
        <p:grpSpPr>
          <a:xfrm>
            <a:off x="6241604" y="437080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A9A71D-0190-9F09-0967-D5F4B5B965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1B0EC5-5D32-54AC-8C60-F2C7301E4A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E4E5F8-190C-E9FD-D494-AC880049374E}"/>
              </a:ext>
            </a:extLst>
          </p:cNvPr>
          <p:cNvGrpSpPr/>
          <p:nvPr/>
        </p:nvGrpSpPr>
        <p:grpSpPr>
          <a:xfrm>
            <a:off x="7126507" y="5222269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17A3EDF-7380-E969-527B-5679905FEC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19427ED-C0A3-B9C3-2E92-0027D163B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4F78946-EEBC-2C34-D579-777BFBF3A3AD}"/>
              </a:ext>
            </a:extLst>
          </p:cNvPr>
          <p:cNvGrpSpPr/>
          <p:nvPr/>
        </p:nvGrpSpPr>
        <p:grpSpPr>
          <a:xfrm>
            <a:off x="4752986" y="3244334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D9BC11E-F24E-C09A-0FF3-E90D6260DF4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155FF45-63B9-8C4C-37C9-86DCDD0B8E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1479941-159F-2352-C11A-527D743A68AA}"/>
              </a:ext>
            </a:extLst>
          </p:cNvPr>
          <p:cNvGrpSpPr/>
          <p:nvPr/>
        </p:nvGrpSpPr>
        <p:grpSpPr>
          <a:xfrm>
            <a:off x="4539208" y="591576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197A9DB-C91F-2232-5B18-424D6169A93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4B3E218-90B7-AF09-3E34-FC3A3AC76D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/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blipFill>
                <a:blip r:embed="rId3"/>
                <a:stretch>
                  <a:fillRect l="-18868" r="-754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/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blipFill>
                <a:blip r:embed="rId4"/>
                <a:stretch>
                  <a:fillRect l="-16667" r="-1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81A2F3-83EB-23FF-9273-C129B491556D}"/>
              </a:ext>
            </a:extLst>
          </p:cNvPr>
          <p:cNvSpPr/>
          <p:nvPr/>
        </p:nvSpPr>
        <p:spPr>
          <a:xfrm>
            <a:off x="1692442" y="4855369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E458D-ADBA-84B5-CD93-7EC670D0AA2C}"/>
              </a:ext>
            </a:extLst>
          </p:cNvPr>
          <p:cNvSpPr/>
          <p:nvPr/>
        </p:nvSpPr>
        <p:spPr>
          <a:xfrm>
            <a:off x="1692442" y="5765006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514113-4413-C4F8-4C8B-EF6298F80AC5}"/>
              </a:ext>
            </a:extLst>
          </p:cNvPr>
          <p:cNvSpPr/>
          <p:nvPr/>
        </p:nvSpPr>
        <p:spPr>
          <a:xfrm>
            <a:off x="2014967" y="5996848"/>
            <a:ext cx="56313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95EAB-0912-BBBE-AE55-D4501B59FA19}"/>
              </a:ext>
            </a:extLst>
          </p:cNvPr>
          <p:cNvSpPr/>
          <p:nvPr/>
        </p:nvSpPr>
        <p:spPr>
          <a:xfrm>
            <a:off x="3118745" y="1668189"/>
            <a:ext cx="412271" cy="19205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050341-A81D-940D-1196-411B393B42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434346-32FD-D385-E7BA-36185848CD2D}"/>
              </a:ext>
            </a:extLst>
          </p:cNvPr>
          <p:cNvSpPr/>
          <p:nvPr/>
        </p:nvSpPr>
        <p:spPr>
          <a:xfrm>
            <a:off x="1692442" y="2790111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5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"/>
                            </p:stCondLst>
                            <p:childTnLst>
                              <p:par>
                                <p:cTn id="8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251C7-5005-472F-73CD-AE054E08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8" y="1489745"/>
            <a:ext cx="8283003" cy="483837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0605A-6C1D-F6BF-39B7-44FD9D2B977E}"/>
              </a:ext>
            </a:extLst>
          </p:cNvPr>
          <p:cNvCxnSpPr>
            <a:cxnSpLocks/>
          </p:cNvCxnSpPr>
          <p:nvPr/>
        </p:nvCxnSpPr>
        <p:spPr>
          <a:xfrm flipV="1">
            <a:off x="3990298" y="2787650"/>
            <a:ext cx="4172627" cy="258060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0C9B911-9783-769B-3F52-0732D1E3BDAC}"/>
              </a:ext>
            </a:extLst>
          </p:cNvPr>
          <p:cNvSpPr txBox="1"/>
          <p:nvPr/>
        </p:nvSpPr>
        <p:spPr>
          <a:xfrm>
            <a:off x="3581816" y="5368255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E7520F-B0C2-2C6C-B59D-11F306E30C2C}"/>
              </a:ext>
            </a:extLst>
          </p:cNvPr>
          <p:cNvSpPr txBox="1"/>
          <p:nvPr/>
        </p:nvSpPr>
        <p:spPr>
          <a:xfrm>
            <a:off x="7754443" y="2297770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/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Average final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blipFill>
                <a:blip r:embed="rId3"/>
                <a:stretch>
                  <a:fillRect l="-1747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4C74288-9BEA-C51F-5EAC-47F7DD5D71F1}"/>
              </a:ext>
            </a:extLst>
          </p:cNvPr>
          <p:cNvGrpSpPr/>
          <p:nvPr/>
        </p:nvGrpSpPr>
        <p:grpSpPr>
          <a:xfrm>
            <a:off x="7083164" y="3810930"/>
            <a:ext cx="1342557" cy="2135678"/>
            <a:chOff x="7083164" y="3810930"/>
            <a:chExt cx="1342557" cy="2135678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DDAE363-22DC-4994-0DB2-B12EF543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0704" y="3810930"/>
              <a:ext cx="1227477" cy="1612458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AB0E2AE-EFED-75D6-D80C-3C373987B3AB}"/>
                </a:ext>
              </a:extLst>
            </p:cNvPr>
            <p:cNvSpPr txBox="1"/>
            <p:nvPr/>
          </p:nvSpPr>
          <p:spPr>
            <a:xfrm>
              <a:off x="7083164" y="5423388"/>
              <a:ext cx="13425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Albert Einstein</a:t>
              </a:r>
            </a:p>
            <a:p>
              <a:pPr algn="ctr"/>
              <a:r>
                <a:rPr lang="en-US" sz="1400" dirty="0"/>
                <a:t>(1879 – 1955)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016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4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557B32-0609-5E4A-5AD3-42C8E5729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40" y="556922"/>
            <a:ext cx="7130321" cy="616772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BE3B9B-2D5D-9C5F-1220-F8D6C6913A56}"/>
              </a:ext>
            </a:extLst>
          </p:cNvPr>
          <p:cNvGrpSpPr/>
          <p:nvPr/>
        </p:nvGrpSpPr>
        <p:grpSpPr>
          <a:xfrm>
            <a:off x="142407" y="438462"/>
            <a:ext cx="1979911" cy="3110459"/>
            <a:chOff x="6857999" y="562131"/>
            <a:chExt cx="1979911" cy="31104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C6901C-158F-4D04-589A-870286B6A520}"/>
                </a:ext>
              </a:extLst>
            </p:cNvPr>
            <p:cNvSpPr/>
            <p:nvPr/>
          </p:nvSpPr>
          <p:spPr>
            <a:xfrm>
              <a:off x="6857999" y="562131"/>
              <a:ext cx="1979911" cy="31104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B6A03C1-4A7E-F7F7-DC77-A89D7E0F7BA0}"/>
                </a:ext>
              </a:extLst>
            </p:cNvPr>
            <p:cNvGrpSpPr/>
            <p:nvPr/>
          </p:nvGrpSpPr>
          <p:grpSpPr>
            <a:xfrm>
              <a:off x="7083457" y="651879"/>
              <a:ext cx="1528996" cy="2736090"/>
              <a:chOff x="7308915" y="556922"/>
              <a:chExt cx="1528996" cy="27360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3142350-5A77-6F86-FA99-08289EF8D3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72370" y="556922"/>
                <a:ext cx="1402087" cy="2119625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1D94C3-56AC-09DC-968E-6DFDA93B68B5}"/>
                  </a:ext>
                </a:extLst>
              </p:cNvPr>
              <p:cNvSpPr txBox="1"/>
              <p:nvPr/>
            </p:nvSpPr>
            <p:spPr>
              <a:xfrm>
                <a:off x="7308915" y="2739014"/>
                <a:ext cx="1528996" cy="553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Robert Brown</a:t>
                </a:r>
              </a:p>
              <a:p>
                <a:pPr algn="ctr"/>
                <a:r>
                  <a:rPr lang="en-US" sz="1400" dirty="0"/>
                  <a:t>(1773 – 1858)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0481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2AD664-1B23-9A0E-C63E-46A41362F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556922"/>
            <a:ext cx="7143750" cy="6000750"/>
          </a:xfrm>
          <a:prstGeom prst="rect">
            <a:avLst/>
          </a:prstGeom>
          <a:ln>
            <a:noFill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72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BCCD9-4CD2-AA10-896B-1FD326F7F057}"/>
              </a:ext>
            </a:extLst>
          </p:cNvPr>
          <p:cNvSpPr/>
          <p:nvPr/>
        </p:nvSpPr>
        <p:spPr>
          <a:xfrm>
            <a:off x="6955436" y="6183443"/>
            <a:ext cx="1195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458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262" y="1364226"/>
            <a:ext cx="3464396" cy="384932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937" y="1381391"/>
            <a:ext cx="2920868" cy="234348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6421" y="4039722"/>
            <a:ext cx="2247900" cy="21050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6583" y="1634853"/>
            <a:ext cx="4210835" cy="50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74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109" y="2123768"/>
            <a:ext cx="7771783" cy="30529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Line Callout 2 6"/>
              <p:cNvSpPr/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The two parameters </a:t>
                </a:r>
                <a:r>
                  <a:rPr lang="en-US" b="1" dirty="0">
                    <a:solidFill>
                      <a:schemeClr val="tx1"/>
                    </a:solidFill>
                  </a:rPr>
                  <a:t>a, n</a:t>
                </a:r>
                <a:r>
                  <a:rPr lang="en-US" dirty="0">
                    <a:solidFill>
                      <a:schemeClr val="tx1"/>
                    </a:solidFill>
                  </a:rPr>
                  <a:t> are used to calculate the current radius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sweeps the circle</a:t>
                </a:r>
              </a:p>
            </p:txBody>
          </p:sp>
        </mc:Choice>
        <mc:Fallback xmlns="">
          <p:sp>
            <p:nvSpPr>
              <p:cNvPr id="7" name="Line Callout 2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blipFill rotWithShape="0">
                <a:blip r:embed="rId4"/>
                <a:stretch>
                  <a:fillRect r="-1327" b="-2655"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30959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75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8" y="1700651"/>
            <a:ext cx="4762500" cy="442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15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 Using Polar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plot </a:t>
                </a:r>
                <a:r>
                  <a:rPr lang="en-US" sz="2400" u="sng" dirty="0"/>
                  <a:t>three</a:t>
                </a:r>
                <a:r>
                  <a:rPr lang="en-US" sz="2400" dirty="0"/>
                  <a:t> </a:t>
                </a:r>
                <a:r>
                  <a:rPr lang="en-US" sz="2400" b="1" dirty="0"/>
                  <a:t>parametric curves</a:t>
                </a:r>
                <a:r>
                  <a:rPr lang="en-US" sz="2400" dirty="0"/>
                  <a:t> using the built-in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 graph </a:t>
                </a:r>
                <a:r>
                  <a:rPr lang="en-US" sz="2400" dirty="0"/>
                  <a:t>capability of matplotlib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=4+4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70C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/>
                  <a:t>1,000</a:t>
                </a:r>
                <a:r>
                  <a:rPr lang="en-US" sz="2400" dirty="0"/>
                  <a:t> radian intervals between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Before the computer shows the plots, can you predict ahead of time what each curve will look like?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Developing a </a:t>
                </a:r>
                <a:r>
                  <a:rPr lang="en-US" sz="2400" b="1" dirty="0"/>
                  <a:t>visual intuition</a:t>
                </a:r>
                <a:r>
                  <a:rPr lang="en-US" sz="2400" dirty="0"/>
                  <a:t> for how functions behave is a very valuable skill that will aid you in future math classes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43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A19AD-25AB-6074-2F09-346E41E8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6F36328-BCB0-A5E6-0F7A-8B8811468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905" y="1704974"/>
            <a:ext cx="4276190" cy="44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87CAC-9645-A416-D47E-74EDDEBD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80262-D489-C112-1344-2543CC85A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20527D-D036-A392-A186-011CC8927C8B}"/>
                  </a:ext>
                </a:extLst>
              </p:cNvPr>
              <p:cNvSpPr txBox="1"/>
              <p:nvPr/>
            </p:nvSpPr>
            <p:spPr>
              <a:xfrm>
                <a:off x="4211538" y="3654188"/>
                <a:ext cx="23581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20527D-D036-A392-A186-011CC8927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538" y="3654188"/>
                <a:ext cx="23581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9D4C6F-82C2-CAB7-612E-993F340996CF}"/>
                  </a:ext>
                </a:extLst>
              </p:cNvPr>
              <p:cNvSpPr txBox="1"/>
              <p:nvPr/>
            </p:nvSpPr>
            <p:spPr>
              <a:xfrm>
                <a:off x="4071169" y="4534058"/>
                <a:ext cx="2638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D9D4C6F-82C2-CAB7-612E-993F34099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1169" y="4534058"/>
                <a:ext cx="2638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2202B-C09B-3F45-698C-15CA60A8E14E}"/>
                  </a:ext>
                </a:extLst>
              </p:cNvPr>
              <p:cNvSpPr txBox="1"/>
              <p:nvPr/>
            </p:nvSpPr>
            <p:spPr>
              <a:xfrm>
                <a:off x="4211538" y="5182448"/>
                <a:ext cx="2358189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2202B-C09B-3F45-698C-15CA60A8E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538" y="5182448"/>
                <a:ext cx="2358189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1301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06D01-3819-2F2F-9680-0FA51D6C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A804A-8588-8254-F74C-93A652DE8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57" y="1767373"/>
            <a:ext cx="7514286" cy="44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8E5FE4-ED96-AB27-7429-F9584C0FB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F10F2-CD55-2343-F5AF-2E4F57421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5C96EE0-9F24-A731-8CD3-645234503ABC}"/>
              </a:ext>
            </a:extLst>
          </p:cNvPr>
          <p:cNvGrpSpPr/>
          <p:nvPr/>
        </p:nvGrpSpPr>
        <p:grpSpPr>
          <a:xfrm>
            <a:off x="3872355" y="537267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7DA03-9E5D-078D-4493-E181EA103E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7E6BEA-E737-5B5B-9F49-866407EF69B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4A3855-6673-1CF1-F50C-ADC9AC6CF2A1}"/>
              </a:ext>
            </a:extLst>
          </p:cNvPr>
          <p:cNvGrpSpPr/>
          <p:nvPr/>
        </p:nvGrpSpPr>
        <p:grpSpPr>
          <a:xfrm>
            <a:off x="2338087" y="5606320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7A90DDE-6385-0F14-780D-EB53E27BC2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4C69D8-856A-F9F6-2D58-D2D1DB7D9CB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48C7EBB-BC1C-F18D-E72F-4847FF764E13}"/>
              </a:ext>
            </a:extLst>
          </p:cNvPr>
          <p:cNvGrpSpPr/>
          <p:nvPr/>
        </p:nvGrpSpPr>
        <p:grpSpPr>
          <a:xfrm>
            <a:off x="2460980" y="4000621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E42105-0963-640C-11ED-E39DDF7CCD1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D2966E-14E2-E297-BC1A-E98A29BE27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0791328-8C35-3839-B175-52E11FDCDDB2}"/>
              </a:ext>
            </a:extLst>
          </p:cNvPr>
          <p:cNvGrpSpPr/>
          <p:nvPr/>
        </p:nvGrpSpPr>
        <p:grpSpPr>
          <a:xfrm>
            <a:off x="4722390" y="424649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4CCE47-46F6-6416-C276-F29867B54C4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448CE64-1869-1746-736A-5ADFB1A08B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45CCF9-01AD-9E73-4D2B-E362E905B4FA}"/>
              </a:ext>
            </a:extLst>
          </p:cNvPr>
          <p:cNvGrpSpPr/>
          <p:nvPr/>
        </p:nvGrpSpPr>
        <p:grpSpPr>
          <a:xfrm>
            <a:off x="5000068" y="445678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BD7B54C-1849-B83D-C4DE-E7AA52B5E26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BAC3F67-B725-03A6-E2E5-A24F84B2C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DE905D8-3A55-2BDF-5C57-867488570E2D}"/>
              </a:ext>
            </a:extLst>
          </p:cNvPr>
          <p:cNvGrpSpPr/>
          <p:nvPr/>
        </p:nvGrpSpPr>
        <p:grpSpPr>
          <a:xfrm>
            <a:off x="5427870" y="2160751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54B0F5B-72BB-097A-ECE5-65E25700B5F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12FA64-BECB-6504-3F5F-77D70218B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23D87D-3291-0BC7-4AA4-FDD6200A365A}"/>
              </a:ext>
            </a:extLst>
          </p:cNvPr>
          <p:cNvGrpSpPr/>
          <p:nvPr/>
        </p:nvGrpSpPr>
        <p:grpSpPr>
          <a:xfrm>
            <a:off x="6873132" y="2398328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0848AAB-F4D2-F761-BB18-2B8C0037EEE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FEE6B52-BD47-757B-1568-2DDE3EEAE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82CEE60-7BB8-34FF-A46B-14525250AC0C}"/>
              </a:ext>
            </a:extLst>
          </p:cNvPr>
          <p:cNvGrpSpPr/>
          <p:nvPr/>
        </p:nvGrpSpPr>
        <p:grpSpPr>
          <a:xfrm>
            <a:off x="2607849" y="192349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63FE09C-0838-BD17-F093-D541C0DDE68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CF02475-E9D2-AFA6-33F2-9D5FE6C71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4FF3DFA-CAF7-4DC7-7BF6-F52F3FB2D5DA}"/>
              </a:ext>
            </a:extLst>
          </p:cNvPr>
          <p:cNvGrpSpPr/>
          <p:nvPr/>
        </p:nvGrpSpPr>
        <p:grpSpPr>
          <a:xfrm>
            <a:off x="4385909" y="3076410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DD964EF-F189-1D93-0FCC-51AF7281A54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76CF0C8-B019-CDD9-224C-E0E583751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8CB1EE0-C4BC-E705-092B-38610F115331}"/>
              </a:ext>
            </a:extLst>
          </p:cNvPr>
          <p:cNvGrpSpPr/>
          <p:nvPr/>
        </p:nvGrpSpPr>
        <p:grpSpPr>
          <a:xfrm>
            <a:off x="2700716" y="4678446"/>
            <a:ext cx="1076632" cy="369332"/>
            <a:chOff x="2157212" y="5356391"/>
            <a:chExt cx="1076632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3CCE371-6D44-DD86-999D-A3A2F042033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2FCDB3-5BBC-2B16-767C-EE0922CCE5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880FDCCD-8CE7-F445-6DDF-A9E46B0A2635}"/>
              </a:ext>
            </a:extLst>
          </p:cNvPr>
          <p:cNvSpPr/>
          <p:nvPr/>
        </p:nvSpPr>
        <p:spPr>
          <a:xfrm>
            <a:off x="2181726" y="4539916"/>
            <a:ext cx="775787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A48EB55-E0FE-EA0B-9DF5-53B465E95521}"/>
              </a:ext>
            </a:extLst>
          </p:cNvPr>
          <p:cNvSpPr/>
          <p:nvPr/>
        </p:nvSpPr>
        <p:spPr>
          <a:xfrm>
            <a:off x="3031262" y="4539916"/>
            <a:ext cx="1749286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5AC63E-3746-D8C8-CEA3-750BA770D97D}"/>
              </a:ext>
            </a:extLst>
          </p:cNvPr>
          <p:cNvSpPr/>
          <p:nvPr/>
        </p:nvSpPr>
        <p:spPr>
          <a:xfrm>
            <a:off x="4740387" y="2475733"/>
            <a:ext cx="2005317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FAF98C-DE24-11B0-CB55-40EAAE87DC21}"/>
              </a:ext>
            </a:extLst>
          </p:cNvPr>
          <p:cNvSpPr/>
          <p:nvPr/>
        </p:nvSpPr>
        <p:spPr>
          <a:xfrm>
            <a:off x="2178649" y="2024837"/>
            <a:ext cx="234267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0C279F-FAD8-8A7A-FE56-BF90CFAB4B4B}"/>
                  </a:ext>
                </a:extLst>
              </p:cNvPr>
              <p:cNvSpPr txBox="1"/>
              <p:nvPr/>
            </p:nvSpPr>
            <p:spPr>
              <a:xfrm>
                <a:off x="6483607" y="2018933"/>
                <a:ext cx="13984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0C279F-FAD8-8A7A-FE56-BF90CFAB4B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3607" y="2018933"/>
                <a:ext cx="13984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20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DA5A4-FC82-F13A-47AA-1B254C5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3AC01-BB30-D30B-8B3E-7D40C192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E1D0-A632-8F1E-5EC6-D87F6684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3C4DEA-3A5C-39DA-121B-A63B6855B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2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9A93F-3AD4-C0B6-DD5F-B605601EE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12C966E-FED5-7F3B-B40F-1B7468BD1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57" y="1767373"/>
            <a:ext cx="7514286" cy="44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8D8081-86D0-D079-7DAA-698B8C171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4755F-54A8-9514-58E7-99C36C23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80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B26401-9454-6346-0E93-DB33967293F4}"/>
              </a:ext>
            </a:extLst>
          </p:cNvPr>
          <p:cNvCxnSpPr/>
          <p:nvPr/>
        </p:nvCxnSpPr>
        <p:spPr>
          <a:xfrm>
            <a:off x="1251284" y="281538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4EEB2CD-BC68-7E43-7E5D-5935820A4982}"/>
              </a:ext>
            </a:extLst>
          </p:cNvPr>
          <p:cNvSpPr txBox="1"/>
          <p:nvPr/>
        </p:nvSpPr>
        <p:spPr>
          <a:xfrm>
            <a:off x="5719010" y="19491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25</a:t>
            </a:r>
          </a:p>
        </p:txBody>
      </p:sp>
    </p:spTree>
    <p:extLst>
      <p:ext uri="{BB962C8B-B14F-4D97-AF65-F5344CB8AC3E}">
        <p14:creationId xmlns:p14="http://schemas.microsoft.com/office/powerpoint/2010/main" val="145048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0EBCC-7B1C-3F6D-E1AC-E1CB29BE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6E22CF-03DD-B26D-908D-C0C2930F1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2FD2D4-44A5-527A-B73A-586031A7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CABF6-F7DD-6328-E4E6-2E67F29C4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77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52D55-3566-B94A-F392-1BC84956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5A6F41-5368-479A-6276-632EA8162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57" y="1767373"/>
            <a:ext cx="7514286" cy="44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008783-7174-6405-E51A-9B8A0CEAA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88E1C-12A3-2436-252E-42EA3FF05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82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27EAB28-9AE0-4855-7DFA-D09E3532E2EC}"/>
              </a:ext>
            </a:extLst>
          </p:cNvPr>
          <p:cNvCxnSpPr/>
          <p:nvPr/>
        </p:nvCxnSpPr>
        <p:spPr>
          <a:xfrm>
            <a:off x="1251284" y="305601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56C652A-2F7D-ADAD-857A-ED0DE32A04E9}"/>
              </a:ext>
            </a:extLst>
          </p:cNvPr>
          <p:cNvSpPr txBox="1"/>
          <p:nvPr/>
        </p:nvSpPr>
        <p:spPr>
          <a:xfrm>
            <a:off x="5719010" y="19491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26</a:t>
            </a:r>
          </a:p>
        </p:txBody>
      </p:sp>
    </p:spTree>
    <p:extLst>
      <p:ext uri="{BB962C8B-B14F-4D97-AF65-F5344CB8AC3E}">
        <p14:creationId xmlns:p14="http://schemas.microsoft.com/office/powerpoint/2010/main" val="68823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089CB89-B0D0-13B8-0EF5-1D840B62A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4733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428FDBD-2AFE-9BAB-DC2A-C5CBE4885D8C}"/>
                  </a:ext>
                </a:extLst>
              </p:cNvPr>
              <p:cNvSpPr txBox="1"/>
              <p:nvPr/>
            </p:nvSpPr>
            <p:spPr>
              <a:xfrm>
                <a:off x="5044190" y="2202518"/>
                <a:ext cx="2173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0C6CAE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0C6CAE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0C6CA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0C6CAE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428FDBD-2AFE-9BAB-DC2A-C5CBE4885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190" y="2202518"/>
                <a:ext cx="217357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749887E-57F0-9F7A-D8EF-22E54110FEE4}"/>
                  </a:ext>
                </a:extLst>
              </p:cNvPr>
              <p:cNvSpPr txBox="1"/>
              <p:nvPr/>
            </p:nvSpPr>
            <p:spPr>
              <a:xfrm>
                <a:off x="5118291" y="6106596"/>
                <a:ext cx="25108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7F0E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7F0E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7F0E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7F0E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749887E-57F0-9F7A-D8EF-22E54110F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1" y="6106596"/>
                <a:ext cx="251085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BA0705-F318-6B4D-9AD5-62ECF29007D9}"/>
                  </a:ext>
                </a:extLst>
              </p:cNvPr>
              <p:cNvSpPr txBox="1"/>
              <p:nvPr/>
            </p:nvSpPr>
            <p:spPr>
              <a:xfrm>
                <a:off x="1543051" y="5885028"/>
                <a:ext cx="2286000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3DA83D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3DA83D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3DA8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3DA83D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3DA83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3DA83D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BA0705-F318-6B4D-9AD5-62ECF2900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051" y="5885028"/>
                <a:ext cx="2286000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332A5C8-ED4E-FFEA-D812-09079392CF1B}"/>
              </a:ext>
            </a:extLst>
          </p:cNvPr>
          <p:cNvCxnSpPr>
            <a:cxnSpLocks/>
          </p:cNvCxnSpPr>
          <p:nvPr/>
        </p:nvCxnSpPr>
        <p:spPr>
          <a:xfrm flipV="1">
            <a:off x="4660106" y="2503357"/>
            <a:ext cx="593946" cy="518449"/>
          </a:xfrm>
          <a:prstGeom prst="straightConnector1">
            <a:avLst/>
          </a:prstGeom>
          <a:ln w="12700">
            <a:solidFill>
              <a:srgbClr val="0E6DA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CC7C53-A4D7-D199-D9B6-C41F8B2D941C}"/>
              </a:ext>
            </a:extLst>
          </p:cNvPr>
          <p:cNvCxnSpPr>
            <a:cxnSpLocks/>
          </p:cNvCxnSpPr>
          <p:nvPr/>
        </p:nvCxnSpPr>
        <p:spPr>
          <a:xfrm>
            <a:off x="5361482" y="5088731"/>
            <a:ext cx="0" cy="1017865"/>
          </a:xfrm>
          <a:prstGeom prst="straightConnector1">
            <a:avLst/>
          </a:prstGeom>
          <a:ln w="12700">
            <a:solidFill>
              <a:srgbClr val="FF7F0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53DB221-AEE9-B1DA-4FBE-C0739C16E2B2}"/>
              </a:ext>
            </a:extLst>
          </p:cNvPr>
          <p:cNvCxnSpPr>
            <a:cxnSpLocks/>
          </p:cNvCxnSpPr>
          <p:nvPr/>
        </p:nvCxnSpPr>
        <p:spPr>
          <a:xfrm flipH="1">
            <a:off x="3626644" y="5822156"/>
            <a:ext cx="185737" cy="183357"/>
          </a:xfrm>
          <a:prstGeom prst="straightConnector1">
            <a:avLst/>
          </a:prstGeom>
          <a:ln w="12700">
            <a:solidFill>
              <a:srgbClr val="3DA83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7300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8" grpId="0"/>
      <p:bldP spid="4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in NumPy implicitly operate on an entire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convert </a:t>
            </a:r>
            <a:r>
              <a:rPr lang="en-US" sz="2400" b="1" dirty="0"/>
              <a:t>Polar Coordinates </a:t>
            </a:r>
            <a:r>
              <a:rPr lang="en-US" sz="2400" dirty="0"/>
              <a:t>to 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AB7B0-7037-3240-B0A2-1FD513308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1AA3-7B95-B987-1A86-F99F7C236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21559-5613-79CE-7B3C-4DE14BBF5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story and hidden rational mathematics behind the </a:t>
            </a:r>
            <a:r>
              <a:rPr lang="en-US" sz="2400" b="1" dirty="0"/>
              <a:t>Olympic Rings</a:t>
            </a:r>
            <a:r>
              <a:rPr lang="en-US" sz="2400" dirty="0"/>
              <a:t> brand standard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ellipse is like a circle with two “scaled” radii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a </a:t>
            </a:r>
            <a:r>
              <a:rPr lang="en-US" sz="2400" b="1" dirty="0">
                <a:solidFill>
                  <a:srgbClr val="7030A0"/>
                </a:solidFill>
              </a:rPr>
              <a:t>for </a:t>
            </a:r>
            <a:r>
              <a:rPr lang="en-US" sz="2400" dirty="0"/>
              <a:t>loop can enumerate over a </a:t>
            </a:r>
            <a:r>
              <a:rPr lang="en-US" sz="2400" b="1" dirty="0">
                <a:solidFill>
                  <a:srgbClr val="7030A0"/>
                </a:solidFill>
              </a:rPr>
              <a:t>range</a:t>
            </a:r>
            <a:r>
              <a:rPr lang="en-US" sz="2400" dirty="0"/>
              <a:t> of numbers, such as </a:t>
            </a:r>
            <a:r>
              <a:rPr lang="en-US" sz="2400" b="1" dirty="0"/>
              <a:t>index numbers </a:t>
            </a:r>
            <a:r>
              <a:rPr lang="en-US" sz="2400" dirty="0"/>
              <a:t>in an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the trajectory of a </a:t>
            </a:r>
            <a:r>
              <a:rPr lang="en-US" sz="2400" b="1" dirty="0">
                <a:solidFill>
                  <a:srgbClr val="FF0000"/>
                </a:solidFill>
              </a:rPr>
              <a:t>random walk </a:t>
            </a:r>
            <a:r>
              <a:rPr lang="en-US" sz="2400" dirty="0"/>
              <a:t>taken on a free (unconstrained) 2D plane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Matplotlib can draw parametric equations using </a:t>
            </a:r>
            <a:r>
              <a:rPr lang="en-US" sz="2400" b="1" dirty="0">
                <a:solidFill>
                  <a:srgbClr val="00B050"/>
                </a:solidFill>
              </a:rPr>
              <a:t>polar graphs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887E2-BD78-049C-3F17-7C12C528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5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C81B-1753-2666-CC73-1A5830815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F230-8B32-28BD-E2F9-207944EE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8A20D-92E4-FC2E-F8AB-98FBB9B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integer, and how to efficiently scan for integers with adjacent 1-bits</a:t>
            </a:r>
            <a:endParaRPr lang="en-US" sz="2400" u="sng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3D4C-D400-1F51-334F-0703EE4A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Create a new Python program called </a:t>
                </a:r>
                <a:r>
                  <a:rPr lang="en-US" sz="2400" b="1" dirty="0"/>
                  <a:t>plot_hyperbola.py</a:t>
                </a:r>
              </a:p>
              <a:p>
                <a:pPr>
                  <a:spcAft>
                    <a:spcPts val="2400"/>
                  </a:spcAft>
                </a:pPr>
                <a:r>
                  <a:rPr lang="en-US" sz="2400" dirty="0"/>
                  <a:t>The program should plot the standard hyperbola:</a:t>
                </a:r>
              </a:p>
              <a:p>
                <a:pPr marL="0" indent="0">
                  <a:spcAft>
                    <a:spcPts val="24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2400"/>
                  </a:spcBef>
                  <a:spcAft>
                    <a:spcPts val="1200"/>
                  </a:spcAft>
                </a:pPr>
                <a:r>
                  <a:rPr lang="en-US" sz="2400" dirty="0"/>
                  <a:t>Use the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over the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Make the hyperbola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  <a:r>
                  <a:rPr lang="en-US" sz="2400" dirty="0"/>
                  <a:t> and include the </a:t>
                </a:r>
                <a:r>
                  <a:rPr lang="en-US" sz="2400" b="1" dirty="0"/>
                  <a:t>grid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LaTeX to show the equation in the title of the plot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10414</TotalTime>
  <Words>2925</Words>
  <Application>Microsoft Office PowerPoint</Application>
  <PresentationFormat>On-screen Show (4:3)</PresentationFormat>
  <Paragraphs>609</Paragraphs>
  <Slides>87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4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05 – Goals</vt:lpstr>
      <vt:lpstr>Session 05 – Goals (cont.)</vt:lpstr>
      <vt:lpstr>Extending Python via the numpy Package</vt:lpstr>
      <vt:lpstr>About PyPI (Python Package Index)</vt:lpstr>
      <vt:lpstr>Numpy Arrays</vt:lpstr>
      <vt:lpstr>NumPy Arrays</vt:lpstr>
      <vt:lpstr>Index Number versus Element Value</vt:lpstr>
      <vt:lpstr>A Numpy Linearly Spaced Array</vt:lpstr>
      <vt:lpstr>Numpy Vectorized Operations</vt:lpstr>
      <vt:lpstr>Edit numpy_arrays.py</vt:lpstr>
      <vt:lpstr>Run numpy_arrays.py</vt:lpstr>
      <vt:lpstr>NumPy Array Slicing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Line Graphs using matplotlib</vt:lpstr>
      <vt:lpstr>PowerPoint Presentation</vt:lpstr>
      <vt:lpstr>Matplotlib Container Hierarchy</vt:lpstr>
      <vt:lpstr>Cartesian Coordinates</vt:lpstr>
      <vt:lpstr>Open line_graphs.py</vt:lpstr>
      <vt:lpstr>Run line_graphs.py</vt:lpstr>
      <vt:lpstr>Plotting a Parabola</vt:lpstr>
      <vt:lpstr>Various Colors in RGB Values</vt:lpstr>
      <vt:lpstr>                          Colors “Names”</vt:lpstr>
      <vt:lpstr>Alpha Blending = Opacity</vt:lpstr>
      <vt:lpstr>Open plot_parabola.py</vt:lpstr>
      <vt:lpstr>Run plot_parabola.py</vt:lpstr>
      <vt:lpstr>Make a Professional Graph</vt:lpstr>
      <vt:lpstr>Edit plot_parabola.py</vt:lpstr>
      <vt:lpstr>Run plot_parabola.py</vt:lpstr>
      <vt:lpstr>PowerPoint Presentation</vt:lpstr>
      <vt:lpstr>PowerPoint Presentation</vt:lpstr>
      <vt:lpstr>PowerPoint Presentation</vt:lpstr>
      <vt:lpstr>PowerPoint Presentation</vt:lpstr>
      <vt:lpstr>Example LaTeX Commands in matplotlib</vt:lpstr>
      <vt:lpstr>Example LaTeX Commands in matplotlib</vt:lpstr>
      <vt:lpstr>Plotting a Quintic</vt:lpstr>
      <vt:lpstr>The Thermodynamics of Calculation</vt:lpstr>
      <vt:lpstr>Open plot_quintic.py</vt:lpstr>
      <vt:lpstr>Run plot_quintic.py</vt:lpstr>
      <vt:lpstr>Analytic Geometry</vt:lpstr>
      <vt:lpstr>Polar Coordinates</vt:lpstr>
      <vt:lpstr>Polar Coordinates</vt:lpstr>
      <vt:lpstr>Polar Coordinates</vt:lpstr>
      <vt:lpstr>Polar to Cartesian Coordinate Conversion</vt:lpstr>
      <vt:lpstr>Open plot_circle.py</vt:lpstr>
      <vt:lpstr>Run plot_circle.py</vt:lpstr>
      <vt:lpstr>Drawing the Olympic Rings</vt:lpstr>
      <vt:lpstr>Open plot_rings.py</vt:lpstr>
      <vt:lpstr>Run plot_rings.py</vt:lpstr>
      <vt:lpstr>Drawing the Olympic Rings</vt:lpstr>
      <vt:lpstr>Edit plot_rings.py</vt:lpstr>
      <vt:lpstr>Run plot_rings.py</vt:lpstr>
      <vt:lpstr>Plotting an Ellipse</vt:lpstr>
      <vt:lpstr>Open plot_ellipse.py</vt:lpstr>
      <vt:lpstr>Run plot_ellipse.py</vt:lpstr>
      <vt:lpstr>Temperature Conversion</vt:lpstr>
      <vt:lpstr>Open plot_temperature_scales.py</vt:lpstr>
      <vt:lpstr>Run plot_temperature_scales.py</vt:lpstr>
      <vt:lpstr>Random Walks</vt:lpstr>
      <vt:lpstr>Open random_walk.py</vt:lpstr>
      <vt:lpstr>Run random_walk.py</vt:lpstr>
      <vt:lpstr>PowerPoint Presentation</vt:lpstr>
      <vt:lpstr>PowerPoint Presentation</vt:lpstr>
      <vt:lpstr>Parametric Curves</vt:lpstr>
      <vt:lpstr>Parametric Curves</vt:lpstr>
      <vt:lpstr>Parametric Curves</vt:lpstr>
      <vt:lpstr>Parametric Curves Using Polar Graphs</vt:lpstr>
      <vt:lpstr>Open plot_rose_curves.py</vt:lpstr>
      <vt:lpstr>View plot_rose_curves.py</vt:lpstr>
      <vt:lpstr>Run plot_rose_curves.py</vt:lpstr>
      <vt:lpstr>Edit plot_rose_curves.py</vt:lpstr>
      <vt:lpstr>Run plot_rose_curves.py</vt:lpstr>
      <vt:lpstr>Edit plot_rose_curves.py</vt:lpstr>
      <vt:lpstr>Run plot_rose_curves.py</vt:lpstr>
      <vt:lpstr>Session 05 – Now You Know…</vt:lpstr>
      <vt:lpstr>Session 05 – Now You Know…</vt:lpstr>
      <vt:lpstr>Session 05 – Now You Know…</vt:lpstr>
      <vt:lpstr>Task 05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1107</cp:revision>
  <cp:lastPrinted>2015-06-01T00:45:11Z</cp:lastPrinted>
  <dcterms:created xsi:type="dcterms:W3CDTF">2014-09-21T17:58:26Z</dcterms:created>
  <dcterms:modified xsi:type="dcterms:W3CDTF">2026-01-23T05:13:46Z</dcterms:modified>
</cp:coreProperties>
</file>