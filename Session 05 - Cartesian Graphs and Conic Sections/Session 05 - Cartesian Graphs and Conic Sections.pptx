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1220" r:id="rId2"/>
    <p:sldId id="972" r:id="rId3"/>
    <p:sldId id="1263" r:id="rId4"/>
    <p:sldId id="1008" r:id="rId5"/>
    <p:sldId id="373" r:id="rId6"/>
    <p:sldId id="374" r:id="rId7"/>
    <p:sldId id="376" r:id="rId8"/>
    <p:sldId id="1276" r:id="rId9"/>
    <p:sldId id="1271" r:id="rId10"/>
    <p:sldId id="1278" r:id="rId11"/>
    <p:sldId id="1274" r:id="rId12"/>
    <p:sldId id="1272" r:id="rId13"/>
    <p:sldId id="1279" r:id="rId14"/>
    <p:sldId id="997" r:id="rId15"/>
    <p:sldId id="945" r:id="rId16"/>
    <p:sldId id="1019" r:id="rId17"/>
    <p:sldId id="416" r:id="rId18"/>
    <p:sldId id="995" r:id="rId19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977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05</a:t>
            </a:r>
          </a:p>
          <a:p>
            <a:pPr algn="ctr"/>
            <a:r>
              <a:rPr lang="en-US" dirty="0"/>
              <a:t>Cartesian Graphs and Conic Sections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mathematical operators (</a:t>
            </a:r>
            <a:r>
              <a:rPr lang="en-US" sz="2400" b="1" dirty="0"/>
              <a:t>PEMDAS</a:t>
            </a:r>
            <a:r>
              <a:rPr lang="en-US" sz="2400" dirty="0"/>
              <a:t>) in Python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Declare a </a:t>
            </a:r>
            <a:r>
              <a:rPr lang="en-US" sz="2400" b="1" dirty="0"/>
              <a:t>variable</a:t>
            </a:r>
            <a:r>
              <a:rPr lang="en-US" sz="2400" dirty="0"/>
              <a:t> using a built-in data </a:t>
            </a:r>
            <a:r>
              <a:rPr lang="en-US" sz="2400" b="1" dirty="0">
                <a:solidFill>
                  <a:srgbClr val="0070C0"/>
                </a:solidFill>
              </a:rPr>
              <a:t>type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Display the values of variables in the output "Shell" window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how to use the </a:t>
            </a:r>
            <a:r>
              <a:rPr lang="en-US" sz="2400" b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Thonny</a:t>
            </a:r>
            <a:r>
              <a:rPr lang="en-US" sz="2400" dirty="0"/>
              <a:t> integrated development environment (IDE) and install Python </a:t>
            </a:r>
            <a:r>
              <a:rPr lang="en-US" sz="2400" u="sng" dirty="0"/>
              <a:t>packages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Create a set of numbers using a </a:t>
            </a:r>
            <a:r>
              <a:rPr lang="en-US" sz="2400" b="1" dirty="0"/>
              <a:t>Numpy</a:t>
            </a:r>
            <a:r>
              <a:rPr lang="en-US" sz="2400" dirty="0"/>
              <a:t>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Use </a:t>
            </a:r>
            <a:r>
              <a:rPr lang="en-US" sz="2400" dirty="0">
                <a:solidFill>
                  <a:srgbClr val="FF0000"/>
                </a:solidFill>
              </a:rPr>
              <a:t>vectorized</a:t>
            </a:r>
            <a:r>
              <a:rPr lang="en-US" sz="2400" dirty="0"/>
              <a:t> operations to systematically apply a function to every individual element in a </a:t>
            </a:r>
            <a:r>
              <a:rPr lang="en-US" sz="2400" b="1" dirty="0"/>
              <a:t>Numpy</a:t>
            </a:r>
            <a:r>
              <a:rPr lang="en-US" sz="2400" dirty="0"/>
              <a:t>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Appreciate </a:t>
            </a:r>
            <a:r>
              <a:rPr lang="en-US" sz="2400" i="1" dirty="0"/>
              <a:t>functional equations</a:t>
            </a:r>
            <a:r>
              <a:rPr lang="en-US" sz="2400" dirty="0"/>
              <a:t> like Gauss Summation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A196F-EF44-6C48-5841-CECC50976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371" y="1890646"/>
            <a:ext cx="7225259" cy="46881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Extending Python via the </a:t>
            </a:r>
            <a:r>
              <a:rPr lang="en-US" sz="3200" b="1" dirty="0">
                <a:latin typeface="+mn-lt"/>
              </a:rPr>
              <a:t>numpy</a:t>
            </a:r>
            <a:r>
              <a:rPr lang="en-US" sz="3200" dirty="0">
                <a:latin typeface="+mn-lt"/>
              </a:rPr>
              <a:t> Package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28FBA-9A18-C43F-0200-822C69EF5FA4}"/>
              </a:ext>
            </a:extLst>
          </p:cNvPr>
          <p:cNvSpPr txBox="1"/>
          <p:nvPr/>
        </p:nvSpPr>
        <p:spPr>
          <a:xfrm>
            <a:off x="3354049" y="1402598"/>
            <a:ext cx="243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https://numpy.org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E6D21-0922-B1D6-3F20-C56734F729BB}"/>
              </a:ext>
            </a:extLst>
          </p:cNvPr>
          <p:cNvSpPr/>
          <p:nvPr/>
        </p:nvSpPr>
        <p:spPr>
          <a:xfrm>
            <a:off x="4796853" y="2338465"/>
            <a:ext cx="2893101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BA338-F2D0-863F-CC78-C5E262734130}"/>
              </a:ext>
            </a:extLst>
          </p:cNvPr>
          <p:cNvSpPr/>
          <p:nvPr/>
        </p:nvSpPr>
        <p:spPr>
          <a:xfrm>
            <a:off x="1156742" y="3843636"/>
            <a:ext cx="1803816" cy="2098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003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About </a:t>
            </a:r>
            <a:r>
              <a:rPr lang="en-US" sz="3200" b="1" dirty="0">
                <a:latin typeface="+mn-lt"/>
              </a:rPr>
              <a:t>PyPI</a:t>
            </a:r>
            <a:r>
              <a:rPr lang="en-US" sz="3200" dirty="0">
                <a:latin typeface="+mn-lt"/>
              </a:rPr>
              <a:t> (Python </a:t>
            </a:r>
            <a:r>
              <a:rPr lang="en-US" sz="3200" b="1" dirty="0">
                <a:latin typeface="+mn-lt"/>
              </a:rPr>
              <a:t>Package</a:t>
            </a:r>
            <a:r>
              <a:rPr lang="en-US" sz="3200" dirty="0">
                <a:latin typeface="+mn-lt"/>
              </a:rPr>
              <a:t> Index)</a:t>
            </a:r>
            <a:endParaRPr lang="en-US" sz="3200" b="1" dirty="0">
              <a:latin typeface="+mn-lt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9FDAD-556C-3882-1588-F876A654DAD3}"/>
              </a:ext>
            </a:extLst>
          </p:cNvPr>
          <p:cNvSpPr/>
          <p:nvPr/>
        </p:nvSpPr>
        <p:spPr>
          <a:xfrm>
            <a:off x="6243403" y="2078674"/>
            <a:ext cx="1064302" cy="2672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52BCC5-C94B-A4F5-3B24-FA62E54A91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564" y="1978929"/>
            <a:ext cx="7052872" cy="437742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8ECD16B-B57B-BCD5-AFF1-4F85DFC5AC27}"/>
              </a:ext>
            </a:extLst>
          </p:cNvPr>
          <p:cNvSpPr txBox="1"/>
          <p:nvPr/>
        </p:nvSpPr>
        <p:spPr>
          <a:xfrm>
            <a:off x="3552669" y="1366816"/>
            <a:ext cx="2038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https://pypi.org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0F23E-7502-274A-488A-F270E38429F3}"/>
              </a:ext>
            </a:extLst>
          </p:cNvPr>
          <p:cNvSpPr/>
          <p:nvPr/>
        </p:nvSpPr>
        <p:spPr>
          <a:xfrm>
            <a:off x="2360951" y="4204741"/>
            <a:ext cx="1034321" cy="2473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41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Arrays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/>
              <a:t>array</a:t>
            </a:r>
            <a:r>
              <a:rPr lang="en-US" sz="2400" dirty="0"/>
              <a:t> is a set of </a:t>
            </a:r>
            <a:r>
              <a:rPr lang="en-US" sz="2400" i="1" dirty="0"/>
              <a:t>elements</a:t>
            </a:r>
            <a:r>
              <a:rPr lang="en-US" sz="2400" dirty="0"/>
              <a:t> having all the same </a:t>
            </a:r>
            <a:r>
              <a:rPr lang="en-US" sz="2400" b="1" dirty="0">
                <a:solidFill>
                  <a:srgbClr val="7030A0"/>
                </a:solidFill>
              </a:rPr>
              <a:t>type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individual element in an array is accessed by using its </a:t>
            </a:r>
            <a:r>
              <a:rPr lang="en-US" sz="2400" b="1" dirty="0"/>
              <a:t>index number </a:t>
            </a:r>
            <a:r>
              <a:rPr lang="en-US" sz="2400" dirty="0"/>
              <a:t>within square </a:t>
            </a:r>
            <a:r>
              <a:rPr lang="en-US" sz="2400" b="1" dirty="0"/>
              <a:t>[]</a:t>
            </a:r>
            <a:r>
              <a:rPr lang="en-US" sz="2400" dirty="0"/>
              <a:t> brackets</a:t>
            </a:r>
            <a:endParaRPr lang="en-US" sz="2400" b="1" dirty="0">
              <a:solidFill>
                <a:srgbClr val="00B050"/>
              </a:solidFill>
            </a:endParaRP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element has a unique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No two elements share the exact same index number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b="1" dirty="0">
                <a:solidFill>
                  <a:srgbClr val="FF0000"/>
                </a:solidFill>
              </a:rPr>
              <a:t>The first element has an index = 0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function </a:t>
            </a:r>
            <a:r>
              <a:rPr lang="en-US" sz="2400" b="1" dirty="0">
                <a:solidFill>
                  <a:srgbClr val="0070C0"/>
                </a:solidFill>
              </a:rPr>
              <a:t>size()</a:t>
            </a:r>
            <a:r>
              <a:rPr lang="en-US" sz="2400" dirty="0"/>
              <a:t> returns the </a:t>
            </a:r>
            <a:r>
              <a:rPr lang="en-US" sz="2400" i="1" dirty="0"/>
              <a:t>length</a:t>
            </a:r>
            <a:r>
              <a:rPr lang="en-US" sz="2400" dirty="0"/>
              <a:t> of an array, which is the number of elements in the array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Why is the </a:t>
            </a:r>
            <a:r>
              <a:rPr lang="en-US" sz="2400" i="1" dirty="0"/>
              <a:t>last</a:t>
            </a:r>
            <a:r>
              <a:rPr lang="en-US" sz="2400" dirty="0"/>
              <a:t> element in an array at </a:t>
            </a:r>
            <a:r>
              <a:rPr lang="en-US" sz="2400" b="1" dirty="0"/>
              <a:t>[</a:t>
            </a:r>
            <a:r>
              <a:rPr lang="en-US" sz="2400" dirty="0">
                <a:solidFill>
                  <a:srgbClr val="0070C0"/>
                </a:solidFill>
              </a:rPr>
              <a:t>size()</a:t>
            </a:r>
            <a:r>
              <a:rPr lang="en-US" sz="2400" dirty="0"/>
              <a:t> – 1</a:t>
            </a:r>
            <a:r>
              <a:rPr lang="en-US" sz="2400" b="1" dirty="0"/>
              <a:t>]</a:t>
            </a:r>
            <a:r>
              <a:rPr lang="en-US" sz="2400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300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latin typeface="+mn-lt"/>
              </a:rPr>
              <a:t>Index</a:t>
            </a:r>
            <a:r>
              <a:rPr lang="en-US" sz="3200" dirty="0">
                <a:latin typeface="+mn-lt"/>
              </a:rPr>
              <a:t> Number versus Element </a:t>
            </a:r>
            <a:r>
              <a:rPr lang="en-US" sz="3200" b="1" dirty="0">
                <a:latin typeface="+mn-lt"/>
              </a:rPr>
              <a:t>Value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64" y="1738986"/>
            <a:ext cx="3693871" cy="24808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1E98A0-61EA-EFD8-3FB3-B7A89CE3D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5426" y="2605190"/>
            <a:ext cx="3162569" cy="3229325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00EF04C-1274-1D04-1848-41B05DFC20B1}"/>
              </a:ext>
            </a:extLst>
          </p:cNvPr>
          <p:cNvSpPr/>
          <p:nvPr/>
        </p:nvSpPr>
        <p:spPr>
          <a:xfrm>
            <a:off x="3320321" y="4569163"/>
            <a:ext cx="1827532" cy="582107"/>
          </a:xfrm>
          <a:prstGeom prst="wedgeRoundRectCallout">
            <a:avLst>
              <a:gd name="adj1" fmla="val 117952"/>
              <a:gd name="adj2" fmla="val -184715"/>
              <a:gd name="adj3" fmla="val 16667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array_name</a:t>
            </a:r>
            <a:r>
              <a:rPr lang="en-US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3878728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3019" y="1825625"/>
            <a:ext cx="3701073" cy="244939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farmer needs a fence 100m long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He wants 2m between each fence post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many posts does he need?</a:t>
            </a:r>
            <a:endParaRPr lang="en-US" sz="2000" dirty="0"/>
          </a:p>
          <a:p>
            <a:pPr lvl="1">
              <a:spcBef>
                <a:spcPts val="0"/>
              </a:spcBef>
              <a:spcAft>
                <a:spcPts val="1200"/>
              </a:spcAft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Bane of All Programmers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596" y="1802199"/>
            <a:ext cx="3466759" cy="260006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88" y="4507280"/>
            <a:ext cx="8600000" cy="18952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82119" y="1542773"/>
            <a:ext cx="4979763" cy="3337571"/>
          </a:xfrm>
          <a:prstGeom prst="rect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This problem is why we all agree to always use ZERO as the </a:t>
            </a:r>
            <a:r>
              <a:rPr lang="en-US" sz="2800" b="1" i="1" dirty="0">
                <a:solidFill>
                  <a:schemeClr val="tx1"/>
                </a:solidFill>
              </a:rPr>
              <a:t>first</a:t>
            </a:r>
            <a:r>
              <a:rPr lang="en-US" sz="2800" b="1" dirty="0">
                <a:solidFill>
                  <a:schemeClr val="tx1"/>
                </a:solidFill>
              </a:rPr>
              <a:t> </a:t>
            </a:r>
            <a:r>
              <a:rPr lang="en-US" sz="2800" b="1" u="sng" dirty="0">
                <a:solidFill>
                  <a:schemeClr val="tx1"/>
                </a:solidFill>
              </a:rPr>
              <a:t>index</a:t>
            </a:r>
            <a:r>
              <a:rPr lang="en-US" sz="2800" b="1" dirty="0">
                <a:solidFill>
                  <a:schemeClr val="tx1"/>
                </a:solidFill>
              </a:rPr>
              <a:t> value in an array.</a:t>
            </a:r>
          </a:p>
          <a:p>
            <a:pPr algn="ctr"/>
            <a:endParaRPr lang="en-US" sz="2800" b="1" dirty="0">
              <a:solidFill>
                <a:schemeClr val="tx1"/>
              </a:solidFill>
            </a:endParaRPr>
          </a:p>
          <a:p>
            <a:pPr algn="ctr"/>
            <a:r>
              <a:rPr lang="en-US" sz="2800" b="1" dirty="0">
                <a:solidFill>
                  <a:schemeClr val="tx1"/>
                </a:solidFill>
              </a:rPr>
              <a:t>Remember…</a:t>
            </a:r>
          </a:p>
          <a:p>
            <a:pPr algn="ctr"/>
            <a:r>
              <a:rPr lang="en-US" sz="2800" b="1" dirty="0">
                <a:solidFill>
                  <a:srgbClr val="00B050"/>
                </a:solidFill>
              </a:rPr>
              <a:t>ZERO is a THING!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2895600" y="5951220"/>
            <a:ext cx="5120640" cy="1728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73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7F5432E-62B6-AB07-633D-01DBDA43A8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569" t="30404" r="7158" b="3619"/>
          <a:stretch/>
        </p:blipFill>
        <p:spPr>
          <a:xfrm>
            <a:off x="2637020" y="1603456"/>
            <a:ext cx="3680085" cy="170512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A Numpy </a:t>
            </a:r>
            <a:r>
              <a:rPr lang="en-US" sz="3200" b="1" dirty="0">
                <a:solidFill>
                  <a:srgbClr val="0070C0"/>
                </a:solidFill>
                <a:latin typeface="+mn-lt"/>
              </a:rPr>
              <a:t>Linearly Spaced </a:t>
            </a:r>
            <a:r>
              <a:rPr lang="en-US" sz="3200" dirty="0">
                <a:latin typeface="+mn-lt"/>
              </a:rPr>
              <a:t>Array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F70808-80BC-5012-F4AB-16C44D646C40}"/>
              </a:ext>
            </a:extLst>
          </p:cNvPr>
          <p:cNvSpPr txBox="1"/>
          <p:nvPr/>
        </p:nvSpPr>
        <p:spPr>
          <a:xfrm>
            <a:off x="351020" y="1761044"/>
            <a:ext cx="2286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Creates a "street" of </a:t>
            </a:r>
            <a:r>
              <a:rPr lang="en-US" i="1" dirty="0">
                <a:solidFill>
                  <a:srgbClr val="7030A0"/>
                </a:solidFill>
              </a:rPr>
              <a:t>mailboxes</a:t>
            </a:r>
            <a:r>
              <a:rPr lang="en-US" dirty="0">
                <a:solidFill>
                  <a:srgbClr val="7030A0"/>
                </a:solidFill>
              </a:rPr>
              <a:t> where the </a:t>
            </a:r>
            <a:r>
              <a:rPr lang="en-US" b="1" dirty="0">
                <a:solidFill>
                  <a:srgbClr val="7030A0"/>
                </a:solidFill>
              </a:rPr>
              <a:t>values</a:t>
            </a:r>
            <a:r>
              <a:rPr lang="en-US" dirty="0">
                <a:solidFill>
                  <a:srgbClr val="7030A0"/>
                </a:solidFill>
              </a:rPr>
              <a:t> inside are </a:t>
            </a:r>
            <a:r>
              <a:rPr lang="en-US" u="sng" dirty="0">
                <a:solidFill>
                  <a:srgbClr val="7030A0"/>
                </a:solidFill>
              </a:rPr>
              <a:t>equally</a:t>
            </a:r>
            <a:r>
              <a:rPr lang="en-US" dirty="0">
                <a:solidFill>
                  <a:srgbClr val="7030A0"/>
                </a:solidFill>
              </a:rPr>
              <a:t> spaced between [start, stop]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D2F8190-8CD4-8C44-5496-70F39B63E23D}"/>
              </a:ext>
            </a:extLst>
          </p:cNvPr>
          <p:cNvSpPr/>
          <p:nvPr/>
        </p:nvSpPr>
        <p:spPr>
          <a:xfrm>
            <a:off x="3230381" y="1761044"/>
            <a:ext cx="2375939" cy="30124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FD7A19-E956-00EA-A52F-4D8FC95CACA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1959" b="9875"/>
          <a:stretch/>
        </p:blipFill>
        <p:spPr>
          <a:xfrm>
            <a:off x="1393305" y="3930171"/>
            <a:ext cx="6192500" cy="11819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BF807C9-B096-BAA5-BDC5-5FC2AF21FE9A}"/>
              </a:ext>
            </a:extLst>
          </p:cNvPr>
          <p:cNvSpPr txBox="1"/>
          <p:nvPr/>
        </p:nvSpPr>
        <p:spPr>
          <a:xfrm>
            <a:off x="2214171" y="5569544"/>
            <a:ext cx="452578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np.linspace() </a:t>
            </a:r>
            <a:r>
              <a:rPr lang="en-US" dirty="0">
                <a:solidFill>
                  <a:srgbClr val="7030A0"/>
                </a:solidFill>
              </a:rPr>
              <a:t>figures out the </a:t>
            </a:r>
            <a:r>
              <a:rPr lang="en-US" i="1" dirty="0">
                <a:solidFill>
                  <a:srgbClr val="7030A0"/>
                </a:solidFill>
              </a:rPr>
              <a:t>step</a:t>
            </a:r>
            <a:r>
              <a:rPr lang="en-US" dirty="0">
                <a:solidFill>
                  <a:srgbClr val="7030A0"/>
                </a:solidFill>
              </a:rPr>
              <a:t> size based on the range of the linear space and the </a:t>
            </a:r>
            <a:r>
              <a:rPr lang="en-US" u="sng" dirty="0">
                <a:solidFill>
                  <a:srgbClr val="7030A0"/>
                </a:solidFill>
              </a:rPr>
              <a:t>number</a:t>
            </a:r>
            <a:r>
              <a:rPr lang="en-US" dirty="0">
                <a:solidFill>
                  <a:srgbClr val="7030A0"/>
                </a:solidFill>
              </a:rPr>
              <a:t> of elements you request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8EAC46-0668-0585-1260-685A77381D44}"/>
              </a:ext>
            </a:extLst>
          </p:cNvPr>
          <p:cNvSpPr txBox="1"/>
          <p:nvPr/>
        </p:nvSpPr>
        <p:spPr>
          <a:xfrm>
            <a:off x="1918740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[0]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884D79-F361-224B-DF27-23F5F14606CA}"/>
              </a:ext>
            </a:extLst>
          </p:cNvPr>
          <p:cNvSpPr txBox="1"/>
          <p:nvPr/>
        </p:nvSpPr>
        <p:spPr>
          <a:xfrm>
            <a:off x="6333347" y="3859967"/>
            <a:ext cx="7270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0B050"/>
                </a:solidFill>
              </a:rPr>
              <a:t>Index [6]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855434-057D-75BA-E11E-9627F3A537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4381" y="3541930"/>
            <a:ext cx="3095238" cy="4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40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8" grpId="0" animBg="1"/>
      <p:bldP spid="6" grpId="0"/>
      <p:bldP spid="7" grpId="0"/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88D14A-72B9-8F45-E15A-DF9C19E2E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658" y="1543407"/>
            <a:ext cx="7578682" cy="47506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numpy_arrays.py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A8CD6E4-E4B4-3E40-D85D-8A413D8CE830}"/>
              </a:ext>
            </a:extLst>
          </p:cNvPr>
          <p:cNvCxnSpPr>
            <a:cxnSpLocks/>
          </p:cNvCxnSpPr>
          <p:nvPr/>
        </p:nvCxnSpPr>
        <p:spPr>
          <a:xfrm>
            <a:off x="5865837" y="5051061"/>
            <a:ext cx="1014648" cy="100496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46582CF-E938-079D-84D8-C969C6C5CB72}"/>
              </a:ext>
            </a:extLst>
          </p:cNvPr>
          <p:cNvSpPr/>
          <p:nvPr/>
        </p:nvSpPr>
        <p:spPr>
          <a:xfrm>
            <a:off x="1883767" y="1761344"/>
            <a:ext cx="3512692" cy="2623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816FE6-B8FA-3BBF-D409-6CC896A437F6}"/>
              </a:ext>
            </a:extLst>
          </p:cNvPr>
          <p:cNvSpPr/>
          <p:nvPr/>
        </p:nvSpPr>
        <p:spPr>
          <a:xfrm>
            <a:off x="4139785" y="3249120"/>
            <a:ext cx="979356" cy="192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A13274D-9829-D9D7-9072-9EF166BA9090}"/>
              </a:ext>
            </a:extLst>
          </p:cNvPr>
          <p:cNvCxnSpPr>
            <a:cxnSpLocks/>
            <a:stCxn id="13" idx="2"/>
            <a:endCxn id="14" idx="1"/>
          </p:cNvCxnSpPr>
          <p:nvPr/>
        </p:nvCxnSpPr>
        <p:spPr>
          <a:xfrm rot="16200000" flipH="1">
            <a:off x="3229132" y="2434653"/>
            <a:ext cx="1321635" cy="49967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B85A44C6-C213-E46A-ACBC-A2D1F5E0EC71}"/>
              </a:ext>
            </a:extLst>
          </p:cNvPr>
          <p:cNvSpPr/>
          <p:nvPr/>
        </p:nvSpPr>
        <p:spPr>
          <a:xfrm>
            <a:off x="1001844" y="2652009"/>
            <a:ext cx="499673" cy="192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43CA5B1-7154-EE38-2261-890BF8D00F79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V="1">
            <a:off x="1501517" y="1892508"/>
            <a:ext cx="382250" cy="855688"/>
          </a:xfrm>
          <a:prstGeom prst="bentConnector3">
            <a:avLst>
              <a:gd name="adj1" fmla="val 50000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3868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921BB7D2-CCC0-7426-7E51-1AAE25362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78" y="1403963"/>
            <a:ext cx="8044645" cy="53341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2336800" y="2468485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2739009" y="2792465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1632491" y="2949332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BE01E14-C15C-63EC-C8EF-A642AD798F29}"/>
              </a:ext>
            </a:extLst>
          </p:cNvPr>
          <p:cNvSpPr txBox="1"/>
          <p:nvPr/>
        </p:nvSpPr>
        <p:spPr>
          <a:xfrm>
            <a:off x="3448672" y="2167620"/>
            <a:ext cx="30370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np</a:t>
            </a:r>
            <a:r>
              <a:rPr lang="en-US" dirty="0">
                <a:solidFill>
                  <a:srgbClr val="7030A0"/>
                </a:solidFill>
              </a:rPr>
              <a:t> is now an </a:t>
            </a:r>
            <a:r>
              <a:rPr lang="en-US" i="1" dirty="0">
                <a:solidFill>
                  <a:srgbClr val="7030A0"/>
                </a:solidFill>
              </a:rPr>
              <a:t>alias</a:t>
            </a:r>
            <a:r>
              <a:rPr lang="en-US" dirty="0">
                <a:solidFill>
                  <a:srgbClr val="7030A0"/>
                </a:solidFill>
              </a:rPr>
              <a:t> for the full package name </a:t>
            </a:r>
            <a:r>
              <a:rPr lang="en-US" b="1" dirty="0">
                <a:solidFill>
                  <a:srgbClr val="7030A0"/>
                </a:solidFill>
              </a:rPr>
              <a:t>numpy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2C2EEB-6AAF-F922-5F9D-41F8E8380C0E}"/>
              </a:ext>
            </a:extLst>
          </p:cNvPr>
          <p:cNvSpPr txBox="1"/>
          <p:nvPr/>
        </p:nvSpPr>
        <p:spPr>
          <a:xfrm>
            <a:off x="3850881" y="2761228"/>
            <a:ext cx="41695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will create an </a:t>
            </a:r>
            <a:r>
              <a:rPr lang="en-US" b="1" dirty="0">
                <a:solidFill>
                  <a:srgbClr val="7030A0"/>
                </a:solidFill>
              </a:rPr>
              <a:t>array</a:t>
            </a:r>
            <a:r>
              <a:rPr lang="en-US" dirty="0">
                <a:solidFill>
                  <a:srgbClr val="7030A0"/>
                </a:solidFill>
              </a:rPr>
              <a:t> of five numbers ranging from 1 to 5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6514F4-9D5D-6C81-980D-3E89E3E3D88F}"/>
              </a:ext>
            </a:extLst>
          </p:cNvPr>
          <p:cNvGrpSpPr/>
          <p:nvPr/>
        </p:nvGrpSpPr>
        <p:grpSpPr>
          <a:xfrm>
            <a:off x="1983381" y="4884876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31F59-3D56-8B04-B1FF-1364BC281B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4CB518E-E693-D058-A537-73245DA98E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B29522-6C54-0DEA-4340-D7DF5461E54C}"/>
              </a:ext>
            </a:extLst>
          </p:cNvPr>
          <p:cNvGrpSpPr/>
          <p:nvPr/>
        </p:nvGrpSpPr>
        <p:grpSpPr>
          <a:xfrm>
            <a:off x="1517345" y="3112702"/>
            <a:ext cx="1068643" cy="369332"/>
            <a:chOff x="3647644" y="5359159"/>
            <a:chExt cx="1068643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D786332-A1FC-637E-64F7-96D32A84B3B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23EACA8-428A-5D7D-5CD8-16318D3FE6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184FF0F-2B53-AB3B-ACFD-777A63EEC471}"/>
              </a:ext>
            </a:extLst>
          </p:cNvPr>
          <p:cNvSpPr txBox="1"/>
          <p:nvPr/>
        </p:nvSpPr>
        <p:spPr>
          <a:xfrm>
            <a:off x="4304032" y="3354835"/>
            <a:ext cx="31826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Printing a numpy array will list every value in </a:t>
            </a:r>
            <a:r>
              <a:rPr lang="en-US" b="1" dirty="0">
                <a:solidFill>
                  <a:srgbClr val="7030A0"/>
                </a:solidFill>
              </a:rPr>
              <a:t>index</a:t>
            </a:r>
            <a:r>
              <a:rPr lang="en-US" dirty="0">
                <a:solidFill>
                  <a:srgbClr val="7030A0"/>
                </a:solidFill>
              </a:rPr>
              <a:t> order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(the contents of every mailbox)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CD643A1-3A1D-E0A0-8518-BF21FF279ECC}"/>
              </a:ext>
            </a:extLst>
          </p:cNvPr>
          <p:cNvSpPr txBox="1"/>
          <p:nvPr/>
        </p:nvSpPr>
        <p:spPr>
          <a:xfrm>
            <a:off x="1466547" y="3493335"/>
            <a:ext cx="22388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Displays a blank line (forces a line break)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A1299E2-7D5A-B0F4-70F0-EABB9C74F7F8}"/>
              </a:ext>
            </a:extLst>
          </p:cNvPr>
          <p:cNvGrpSpPr/>
          <p:nvPr/>
        </p:nvGrpSpPr>
        <p:grpSpPr>
          <a:xfrm>
            <a:off x="787300" y="5058240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53556D-4987-E292-0289-0C5F07C05453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0356CB9-D31C-B402-CE6F-2E228A0505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7472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6" grpId="0"/>
      <p:bldP spid="2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Numpy </a:t>
            </a:r>
            <a:r>
              <a:rPr lang="en-US" sz="3200" b="1" dirty="0">
                <a:latin typeface="+mn-lt"/>
              </a:rPr>
              <a:t>Vectorized</a:t>
            </a:r>
            <a:r>
              <a:rPr lang="en-US" sz="3200" dirty="0">
                <a:latin typeface="+mn-lt"/>
              </a:rPr>
              <a:t> Operations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C756A6-0F5C-A849-A5B8-6A4442644E9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254"/>
          <a:stretch/>
        </p:blipFill>
        <p:spPr>
          <a:xfrm>
            <a:off x="1566472" y="2013970"/>
            <a:ext cx="6011056" cy="30881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C086B24-8BBA-444C-EE12-F47263027E6D}"/>
              </a:ext>
            </a:extLst>
          </p:cNvPr>
          <p:cNvGrpSpPr/>
          <p:nvPr/>
        </p:nvGrpSpPr>
        <p:grpSpPr>
          <a:xfrm>
            <a:off x="617642" y="2593298"/>
            <a:ext cx="442210" cy="2233706"/>
            <a:chOff x="617642" y="2593298"/>
            <a:chExt cx="442210" cy="223370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70F5EC-F851-8C89-2CAA-B1D4711C3E6C}"/>
                </a:ext>
              </a:extLst>
            </p:cNvPr>
            <p:cNvSpPr txBox="1"/>
            <p:nvPr/>
          </p:nvSpPr>
          <p:spPr>
            <a:xfrm>
              <a:off x="617642" y="259329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FD9512B-0411-4FAF-6C42-4BD4DF58410F}"/>
                </a:ext>
              </a:extLst>
            </p:cNvPr>
            <p:cNvSpPr txBox="1"/>
            <p:nvPr/>
          </p:nvSpPr>
          <p:spPr>
            <a:xfrm>
              <a:off x="617642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756C5D-6C6B-A1A4-365C-759C3CC77A6B}"/>
                </a:ext>
              </a:extLst>
            </p:cNvPr>
            <p:cNvSpPr txBox="1"/>
            <p:nvPr/>
          </p:nvSpPr>
          <p:spPr>
            <a:xfrm>
              <a:off x="617642" y="35260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BE3644-368B-D9BA-520D-8C287DAD2317}"/>
                </a:ext>
              </a:extLst>
            </p:cNvPr>
            <p:cNvSpPr txBox="1"/>
            <p:nvPr/>
          </p:nvSpPr>
          <p:spPr>
            <a:xfrm>
              <a:off x="617642" y="4457672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15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5AED15-2F3D-8B4A-99DC-B72B10381028}"/>
              </a:ext>
            </a:extLst>
          </p:cNvPr>
          <p:cNvGrpSpPr/>
          <p:nvPr/>
        </p:nvGrpSpPr>
        <p:grpSpPr>
          <a:xfrm>
            <a:off x="6877674" y="2600793"/>
            <a:ext cx="1217952" cy="2226211"/>
            <a:chOff x="6877674" y="2600793"/>
            <a:chExt cx="1217952" cy="22262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DAEA7F-F6A1-0339-BEEE-E2E9F26F2D35}"/>
                </a:ext>
              </a:extLst>
            </p:cNvPr>
            <p:cNvSpPr txBox="1"/>
            <p:nvPr/>
          </p:nvSpPr>
          <p:spPr>
            <a:xfrm>
              <a:off x="7168109" y="2600793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6F8A3AF-7A73-F57B-FEE5-1DF0FC9A87DC}"/>
                </a:ext>
              </a:extLst>
            </p:cNvPr>
            <p:cNvSpPr txBox="1"/>
            <p:nvPr/>
          </p:nvSpPr>
          <p:spPr>
            <a:xfrm>
              <a:off x="7168109" y="3526038"/>
              <a:ext cx="637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b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BD0B33-D64A-4174-686C-1BA4164A6A1F}"/>
                </a:ext>
              </a:extLst>
            </p:cNvPr>
            <p:cNvSpPr txBox="1"/>
            <p:nvPr/>
          </p:nvSpPr>
          <p:spPr>
            <a:xfrm>
              <a:off x="6877674" y="4457672"/>
              <a:ext cx="12179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a[n]*b[n]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2DF9408-A5F1-187B-E025-FD615A9BE6D4}"/>
                </a:ext>
              </a:extLst>
            </p:cNvPr>
            <p:cNvSpPr txBox="1"/>
            <p:nvPr/>
          </p:nvSpPr>
          <p:spPr>
            <a:xfrm>
              <a:off x="7249150" y="3135738"/>
              <a:ext cx="4422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*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010C2E5-CA54-AA87-5FEF-A2FF2CE04587}"/>
              </a:ext>
            </a:extLst>
          </p:cNvPr>
          <p:cNvSpPr txBox="1"/>
          <p:nvPr/>
        </p:nvSpPr>
        <p:spPr>
          <a:xfrm>
            <a:off x="4629502" y="5317406"/>
            <a:ext cx="36622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array</a:t>
            </a:r>
            <a:r>
              <a:rPr lang="en-US" dirty="0"/>
              <a:t> operation applies a function to elements in </a:t>
            </a:r>
            <a:r>
              <a:rPr lang="en-US" i="1" dirty="0"/>
              <a:t>both</a:t>
            </a:r>
            <a:r>
              <a:rPr lang="en-US" dirty="0"/>
              <a:t> arrays that have the same </a:t>
            </a:r>
            <a:r>
              <a:rPr lang="en-US" u="sng" dirty="0"/>
              <a:t>index</a:t>
            </a:r>
            <a:r>
              <a:rPr lang="en-US" dirty="0"/>
              <a:t> value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299D66-D397-E7E3-B931-309DD56FF53B}"/>
              </a:ext>
            </a:extLst>
          </p:cNvPr>
          <p:cNvSpPr txBox="1"/>
          <p:nvPr/>
        </p:nvSpPr>
        <p:spPr>
          <a:xfrm>
            <a:off x="645633" y="5317406"/>
            <a:ext cx="3665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 vectorized </a:t>
            </a:r>
            <a:r>
              <a:rPr lang="en-US" b="1" dirty="0"/>
              <a:t>scalar</a:t>
            </a:r>
            <a:r>
              <a:rPr lang="en-US" dirty="0"/>
              <a:t> operation applies a function to every element in a </a:t>
            </a:r>
            <a:r>
              <a:rPr lang="en-US" i="1" dirty="0"/>
              <a:t>single</a:t>
            </a:r>
            <a:r>
              <a:rPr lang="en-US" dirty="0"/>
              <a:t> array (to each individual cell)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4C2201-075A-C8FD-C592-35846E03B025}"/>
              </a:ext>
            </a:extLst>
          </p:cNvPr>
          <p:cNvSpPr/>
          <p:nvPr/>
        </p:nvSpPr>
        <p:spPr>
          <a:xfrm>
            <a:off x="3215390" y="1918741"/>
            <a:ext cx="3662284" cy="31833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323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3ECF23CD-BB2F-5278-256F-CEE6FC3B8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677" y="1388946"/>
            <a:ext cx="8042243" cy="533252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184E6FB-D83E-0C64-8783-DB31264F8780}"/>
              </a:ext>
            </a:extLst>
          </p:cNvPr>
          <p:cNvGrpSpPr/>
          <p:nvPr/>
        </p:nvGrpSpPr>
        <p:grpSpPr>
          <a:xfrm>
            <a:off x="1780914" y="3399193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C23088B-8AEA-378C-8278-0B4FF337B0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D9D88A9-6FBC-0372-BF0A-999847D36A21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695292E-092C-477E-3575-84EAB46693BB}"/>
              </a:ext>
            </a:extLst>
          </p:cNvPr>
          <p:cNvGrpSpPr/>
          <p:nvPr/>
        </p:nvGrpSpPr>
        <p:grpSpPr>
          <a:xfrm>
            <a:off x="2322141" y="5118969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8304B3F-339B-511F-FAF8-E6BF99447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F40621B-9BD5-5623-B3AB-F97BA942994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F92718E-F899-9058-2A89-C4385DA21D86}"/>
              </a:ext>
            </a:extLst>
          </p:cNvPr>
          <p:cNvGrpSpPr/>
          <p:nvPr/>
        </p:nvGrpSpPr>
        <p:grpSpPr>
          <a:xfrm>
            <a:off x="1878656" y="3562808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622D54-BB90-68B2-F53E-99FC4D5B5F2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E638256-D51F-DF99-8A1B-2C6E8A659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256514F4-9D5D-6C81-980D-3E89E3E3D88F}"/>
              </a:ext>
            </a:extLst>
          </p:cNvPr>
          <p:cNvGrpSpPr/>
          <p:nvPr/>
        </p:nvGrpSpPr>
        <p:grpSpPr>
          <a:xfrm>
            <a:off x="2529826" y="5274078"/>
            <a:ext cx="1064340" cy="369332"/>
            <a:chOff x="3647644" y="5421073"/>
            <a:chExt cx="1064340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C31F59-3D56-8B04-B1FF-1364BC281B9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D4CB518E-E693-D058-A537-73245DA98E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184FF0F-2B53-AB3B-ACFD-777A63EEC471}"/>
              </a:ext>
            </a:extLst>
          </p:cNvPr>
          <p:cNvSpPr txBox="1"/>
          <p:nvPr/>
        </p:nvSpPr>
        <p:spPr>
          <a:xfrm>
            <a:off x="3014085" y="2962641"/>
            <a:ext cx="3182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multiplies </a:t>
            </a:r>
            <a:r>
              <a:rPr lang="en-US" u="sng" dirty="0">
                <a:solidFill>
                  <a:srgbClr val="7030A0"/>
                </a:solidFill>
              </a:rPr>
              <a:t>each</a:t>
            </a:r>
            <a:r>
              <a:rPr lang="en-US" dirty="0">
                <a:solidFill>
                  <a:srgbClr val="7030A0"/>
                </a:solidFill>
              </a:rPr>
              <a:t> element (individually) in the array by </a:t>
            </a:r>
            <a:r>
              <a:rPr lang="en-US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3FDB78-B376-1669-6F5F-05D8671C6071}"/>
              </a:ext>
            </a:extLst>
          </p:cNvPr>
          <p:cNvSpPr txBox="1"/>
          <p:nvPr/>
        </p:nvSpPr>
        <p:spPr>
          <a:xfrm>
            <a:off x="3444929" y="3583859"/>
            <a:ext cx="31826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This squares </a:t>
            </a:r>
            <a:r>
              <a:rPr lang="en-US" u="sng" dirty="0">
                <a:solidFill>
                  <a:srgbClr val="7030A0"/>
                </a:solidFill>
              </a:rPr>
              <a:t>each</a:t>
            </a:r>
            <a:r>
              <a:rPr lang="en-US" dirty="0">
                <a:solidFill>
                  <a:srgbClr val="7030A0"/>
                </a:solidFill>
              </a:rPr>
              <a:t> element (individually) in the array</a:t>
            </a:r>
            <a:endParaRPr 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543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1D96ED8-5676-5AE3-D526-65F01E711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90" y="1388944"/>
            <a:ext cx="7050020" cy="533252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then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numpy_arrays.py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0BCB237-ED2A-AD22-586B-5F81F031A486}"/>
              </a:ext>
            </a:extLst>
          </p:cNvPr>
          <p:cNvGrpSpPr/>
          <p:nvPr/>
        </p:nvGrpSpPr>
        <p:grpSpPr>
          <a:xfrm>
            <a:off x="2629612" y="2289302"/>
            <a:ext cx="1076632" cy="369332"/>
            <a:chOff x="4968362" y="2079211"/>
            <a:chExt cx="1076632" cy="369332"/>
          </a:xfrm>
        </p:grpSpPr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D7B0BED9-9396-DB4C-AA9C-0F91CF1A79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3955987-6B32-E8F1-E773-C4F8963347D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C42F78C-E1E6-246A-CC0E-6994DDFF084B}"/>
              </a:ext>
            </a:extLst>
          </p:cNvPr>
          <p:cNvGrpSpPr/>
          <p:nvPr/>
        </p:nvGrpSpPr>
        <p:grpSpPr>
          <a:xfrm>
            <a:off x="1952650" y="2434093"/>
            <a:ext cx="1076632" cy="369332"/>
            <a:chOff x="4704120" y="2356972"/>
            <a:chExt cx="1076632" cy="369332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591F59CC-40F8-7BE3-31EB-199CC7EF0B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5909CDC-6E85-2845-3D95-D71F2D1F6F6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F7DAF09-23F0-E22B-9EAA-BEB6495A1EB1}"/>
              </a:ext>
            </a:extLst>
          </p:cNvPr>
          <p:cNvGrpSpPr/>
          <p:nvPr/>
        </p:nvGrpSpPr>
        <p:grpSpPr>
          <a:xfrm>
            <a:off x="5541905" y="4021415"/>
            <a:ext cx="1068643" cy="369332"/>
            <a:chOff x="3647644" y="4910075"/>
            <a:chExt cx="1068643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81FE53D-2DEF-1638-1F6A-2B3B4D9E6177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2665E87-2EA5-B5BA-CFFC-94C5EE2FBB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F6757E43-6E48-E8A6-5D1C-52973E54F281}"/>
              </a:ext>
            </a:extLst>
          </p:cNvPr>
          <p:cNvGrpSpPr/>
          <p:nvPr/>
        </p:nvGrpSpPr>
        <p:grpSpPr>
          <a:xfrm>
            <a:off x="2276727" y="2580929"/>
            <a:ext cx="1064340" cy="369332"/>
            <a:chOff x="3647644" y="5421073"/>
            <a:chExt cx="1064340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8D691F0-D421-2BB8-BDA7-3347CA10A8C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62A145-3FFD-3A18-C3DA-DC83760F7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E22B23B3-6F1E-B045-3B35-F1F7DAE023D5}"/>
              </a:ext>
            </a:extLst>
          </p:cNvPr>
          <p:cNvGrpSpPr/>
          <p:nvPr/>
        </p:nvGrpSpPr>
        <p:grpSpPr>
          <a:xfrm>
            <a:off x="1485399" y="4806305"/>
            <a:ext cx="1068643" cy="369332"/>
            <a:chOff x="3647644" y="5359159"/>
            <a:chExt cx="1068643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2FD9735-8DF3-B608-9D37-533EF019D569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7F67736A-AB33-F615-11C3-499EA3FE16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A79056D-9394-CB4A-5F54-B45054F62FD5}"/>
              </a:ext>
            </a:extLst>
          </p:cNvPr>
          <p:cNvGrpSpPr/>
          <p:nvPr/>
        </p:nvGrpSpPr>
        <p:grpSpPr>
          <a:xfrm>
            <a:off x="2352151" y="2776645"/>
            <a:ext cx="1076632" cy="369332"/>
            <a:chOff x="2157212" y="5356391"/>
            <a:chExt cx="1076632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2DC0142-73E4-AC26-9E7E-F488658DFC2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FD7A8D84-5E61-DF05-BC8D-ED88269721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BC3405F-CF61-C579-E3F4-2059E0B538EB}"/>
              </a:ext>
            </a:extLst>
          </p:cNvPr>
          <p:cNvGrpSpPr/>
          <p:nvPr/>
        </p:nvGrpSpPr>
        <p:grpSpPr>
          <a:xfrm>
            <a:off x="1760921" y="4986881"/>
            <a:ext cx="1076632" cy="369332"/>
            <a:chOff x="2157212" y="5356391"/>
            <a:chExt cx="1076632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B8B873D-BBBB-AB93-215C-BB1FB75F9DD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18BF994-B604-5B36-C39A-F6D0ABE213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DFD5837-28FC-A422-EAF9-EF7FFB38BA37}"/>
              </a:ext>
            </a:extLst>
          </p:cNvPr>
          <p:cNvGrpSpPr/>
          <p:nvPr/>
        </p:nvGrpSpPr>
        <p:grpSpPr>
          <a:xfrm>
            <a:off x="2520946" y="2972361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A2029C16-55D9-D963-4689-2BC6DAAAE1A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05EAA4B-CCDB-B6DA-308B-611EBADE0F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E245931-439C-8365-34EF-7BAAFBC02F67}"/>
              </a:ext>
            </a:extLst>
          </p:cNvPr>
          <p:cNvGrpSpPr/>
          <p:nvPr/>
        </p:nvGrpSpPr>
        <p:grpSpPr>
          <a:xfrm>
            <a:off x="5493258" y="5548267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C89469E-E9E4-FC8D-824A-C2CE4AABE3C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F7B079B-CD6B-1901-2A3B-22FED615F8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A707C613-EF26-5F7B-16A4-1E22631B8D6C}"/>
              </a:ext>
            </a:extLst>
          </p:cNvPr>
          <p:cNvSpPr txBox="1"/>
          <p:nvPr/>
        </p:nvSpPr>
        <p:spPr>
          <a:xfrm>
            <a:off x="3198944" y="2968593"/>
            <a:ext cx="4711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A </a:t>
            </a:r>
            <a:r>
              <a:rPr lang="en-US" b="1" dirty="0">
                <a:solidFill>
                  <a:srgbClr val="7030A0"/>
                </a:solidFill>
              </a:rPr>
              <a:t>vectorized</a:t>
            </a:r>
            <a:r>
              <a:rPr lang="en-US" dirty="0">
                <a:solidFill>
                  <a:srgbClr val="7030A0"/>
                </a:solidFill>
              </a:rPr>
              <a:t> operation on a single array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43A5D4D-42F0-0D09-2D1F-5B4BA5D0566B}"/>
              </a:ext>
            </a:extLst>
          </p:cNvPr>
          <p:cNvSpPr txBox="1"/>
          <p:nvPr/>
        </p:nvSpPr>
        <p:spPr>
          <a:xfrm>
            <a:off x="3546532" y="2086772"/>
            <a:ext cx="4016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By default, a linspace has </a:t>
            </a:r>
            <a:r>
              <a:rPr lang="en-US" b="1" dirty="0">
                <a:solidFill>
                  <a:srgbClr val="7030A0"/>
                </a:solidFill>
              </a:rPr>
              <a:t>50</a:t>
            </a:r>
            <a:r>
              <a:rPr lang="en-US" dirty="0">
                <a:solidFill>
                  <a:srgbClr val="7030A0"/>
                </a:solidFill>
              </a:rPr>
              <a:t> elements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942417D-F44A-D1C2-90EA-6F283FCD1937}"/>
              </a:ext>
            </a:extLst>
          </p:cNvPr>
          <p:cNvSpPr txBox="1"/>
          <p:nvPr/>
        </p:nvSpPr>
        <p:spPr>
          <a:xfrm>
            <a:off x="3878884" y="2529841"/>
            <a:ext cx="3351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[-1] is the </a:t>
            </a:r>
            <a:r>
              <a:rPr lang="en-US" b="1" dirty="0">
                <a:solidFill>
                  <a:srgbClr val="7030A0"/>
                </a:solidFill>
              </a:rPr>
              <a:t>last</a:t>
            </a:r>
            <a:r>
              <a:rPr lang="en-US" dirty="0">
                <a:solidFill>
                  <a:srgbClr val="7030A0"/>
                </a:solidFill>
              </a:rPr>
              <a:t> element in an array</a:t>
            </a:r>
          </a:p>
        </p:txBody>
      </p:sp>
    </p:spTree>
    <p:extLst>
      <p:ext uri="{BB962C8B-B14F-4D97-AF65-F5344CB8AC3E}">
        <p14:creationId xmlns:p14="http://schemas.microsoft.com/office/powerpoint/2010/main" val="4257983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  <p:bldP spid="71" grpId="0"/>
      <p:bldP spid="7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94275" y="985781"/>
            <a:ext cx="4098937" cy="180684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904" y="999497"/>
            <a:ext cx="30625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Carl Friedrich Gauss</a:t>
            </a:r>
          </a:p>
          <a:p>
            <a:pPr algn="ctr"/>
            <a:r>
              <a:rPr lang="en-US" sz="2000" dirty="0"/>
              <a:t>(1777 – 1855)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1962" y="2048148"/>
            <a:ext cx="2438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Sum the integers from 1 to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 Shortcut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416908" y="3183946"/>
          <a:ext cx="609600" cy="29527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594919" y="3161635"/>
          <a:ext cx="1219200" cy="176022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584" y="5142406"/>
            <a:ext cx="2146342" cy="82066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4209535" y="6054811"/>
            <a:ext cx="2998573" cy="453477"/>
            <a:chOff x="4209535" y="6054811"/>
            <a:chExt cx="2998573" cy="453477"/>
          </a:xfrm>
        </p:grpSpPr>
        <p:sp>
          <p:nvSpPr>
            <p:cNvPr id="15" name="TextBox 14"/>
            <p:cNvSpPr txBox="1"/>
            <p:nvPr/>
          </p:nvSpPr>
          <p:spPr>
            <a:xfrm>
              <a:off x="4209535" y="613895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 55</a:t>
              </a:r>
            </a:p>
          </p:txBody>
        </p:sp>
        <p:cxnSp>
          <p:nvCxnSpPr>
            <p:cNvPr id="17" name="Straight Connector 16"/>
            <p:cNvCxnSpPr/>
            <p:nvPr/>
          </p:nvCxnSpPr>
          <p:spPr>
            <a:xfrm>
              <a:off x="4300151" y="6054811"/>
              <a:ext cx="29079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/>
          <p:cNvGrpSpPr/>
          <p:nvPr/>
        </p:nvGrpSpPr>
        <p:grpSpPr>
          <a:xfrm>
            <a:off x="3245707" y="3193240"/>
            <a:ext cx="4690273" cy="1815020"/>
            <a:chOff x="3245707" y="3193240"/>
            <a:chExt cx="4690273" cy="1815020"/>
          </a:xfrm>
        </p:grpSpPr>
        <p:sp>
          <p:nvSpPr>
            <p:cNvPr id="11" name="TextBox 10"/>
            <p:cNvSpPr txBox="1"/>
            <p:nvPr/>
          </p:nvSpPr>
          <p:spPr>
            <a:xfrm>
              <a:off x="4212477" y="3193240"/>
              <a:ext cx="37235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 = 10 </a:t>
              </a:r>
            </a:p>
            <a:p>
              <a:r>
                <a:rPr lang="en-US" dirty="0"/>
                <a:t>4 matched rows that each sum to 10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76584" y="4313506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10 / 2 = 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76584" y="4638928"/>
              <a:ext cx="2924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 row that is = n = 10</a:t>
              </a:r>
            </a:p>
          </p:txBody>
        </p:sp>
        <p:cxnSp>
          <p:nvCxnSpPr>
            <p:cNvPr id="20" name="Straight Connector 19"/>
            <p:cNvCxnSpPr/>
            <p:nvPr/>
          </p:nvCxnSpPr>
          <p:spPr>
            <a:xfrm flipV="1">
              <a:off x="4110681" y="3196281"/>
              <a:ext cx="0" cy="98854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3245708" y="4493741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>
              <a:off x="3245707" y="4802660"/>
              <a:ext cx="864973" cy="4118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Straight Arrow Connector 15"/>
          <p:cNvCxnSpPr/>
          <p:nvPr/>
        </p:nvCxnSpPr>
        <p:spPr>
          <a:xfrm>
            <a:off x="4394275" y="3788229"/>
            <a:ext cx="409954" cy="1589314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5595257" y="4638928"/>
            <a:ext cx="312057" cy="861986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H="1">
            <a:off x="5907314" y="4921855"/>
            <a:ext cx="166915" cy="528259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/>
              <p:nvPr/>
            </p:nvSpPr>
            <p:spPr>
              <a:xfrm>
                <a:off x="6321026" y="5191855"/>
                <a:ext cx="1559979" cy="61811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+1)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29910B6-129F-4802-A1EF-C02BC39F0B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026" y="5191855"/>
                <a:ext cx="1559979" cy="6181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1760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5193" y="1067112"/>
            <a:ext cx="1990278" cy="7313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6119" y="1248129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first </a:t>
            </a:r>
            <a:r>
              <a:rPr lang="en-US" sz="2000" b="1" dirty="0"/>
              <a:t>n</a:t>
            </a:r>
          </a:p>
          <a:p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119" y="2161136"/>
            <a:ext cx="31550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Sum of </a:t>
            </a:r>
            <a:r>
              <a:rPr lang="en-US" sz="2000" u="sng" dirty="0"/>
              <a:t>squares</a:t>
            </a:r>
            <a:r>
              <a:rPr lang="en-US" sz="2000" dirty="0"/>
              <a:t> of first </a:t>
            </a:r>
            <a:r>
              <a:rPr lang="en-US" sz="2000" b="1" dirty="0"/>
              <a:t>n </a:t>
            </a:r>
            <a:r>
              <a:rPr lang="en-US" sz="2000" i="1" dirty="0"/>
              <a:t>natural</a:t>
            </a:r>
            <a:r>
              <a:rPr lang="en-US" sz="2000" dirty="0"/>
              <a:t> numbers: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1609" y="3677530"/>
            <a:ext cx="5246491" cy="761029"/>
          </a:xfrm>
          <a:prstGeom prst="rect">
            <a:avLst/>
          </a:prstGeom>
        </p:spPr>
      </p:pic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21492" y="3069259"/>
          <a:ext cx="1828800" cy="3248025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n^2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Sum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478008" y="321818"/>
            <a:ext cx="42424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Another Shortcut</a:t>
            </a:r>
          </a:p>
        </p:txBody>
      </p:sp>
      <p:sp>
        <p:nvSpPr>
          <p:cNvPr id="2" name="Rectangle 1"/>
          <p:cNvSpPr/>
          <p:nvPr/>
        </p:nvSpPr>
        <p:spPr>
          <a:xfrm>
            <a:off x="7086600" y="3677530"/>
            <a:ext cx="1541206" cy="7610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424664" y="2605262"/>
            <a:ext cx="3543949" cy="10154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5D462-EEF0-4521-8D42-3C1F7E373AD1}"/>
              </a:ext>
            </a:extLst>
          </p:cNvPr>
          <p:cNvSpPr txBox="1"/>
          <p:nvPr/>
        </p:nvSpPr>
        <p:spPr>
          <a:xfrm>
            <a:off x="4295193" y="4735735"/>
            <a:ext cx="382731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These are </a:t>
            </a:r>
            <a:r>
              <a:rPr lang="en-US" sz="2000" b="1" u="sng" dirty="0">
                <a:solidFill>
                  <a:srgbClr val="7030A0"/>
                </a:solidFill>
              </a:rPr>
              <a:t>functional equations</a:t>
            </a:r>
            <a:r>
              <a:rPr lang="en-US" sz="2000" b="1" dirty="0">
                <a:solidFill>
                  <a:srgbClr val="7030A0"/>
                </a:solidFill>
              </a:rPr>
              <a:t> - </a:t>
            </a:r>
          </a:p>
          <a:p>
            <a:pPr algn="ctr"/>
            <a:r>
              <a:rPr lang="en-US" sz="2000" b="1" dirty="0">
                <a:solidFill>
                  <a:srgbClr val="7030A0"/>
                </a:solidFill>
              </a:rPr>
              <a:t>we can now calculate the sums</a:t>
            </a:r>
          </a:p>
          <a:p>
            <a:pPr algn="ctr"/>
            <a:r>
              <a:rPr lang="en-US" sz="2000" b="1" i="1" dirty="0">
                <a:solidFill>
                  <a:srgbClr val="7030A0"/>
                </a:solidFill>
              </a:rPr>
              <a:t>immediately</a:t>
            </a:r>
            <a:r>
              <a:rPr lang="en-US" sz="2000" b="1" dirty="0">
                <a:solidFill>
                  <a:srgbClr val="7030A0"/>
                </a:solidFill>
              </a:rPr>
              <a:t> without having to loop over every element!</a:t>
            </a:r>
          </a:p>
        </p:txBody>
      </p:sp>
    </p:spTree>
    <p:extLst>
      <p:ext uri="{BB962C8B-B14F-4D97-AF65-F5344CB8AC3E}">
        <p14:creationId xmlns:p14="http://schemas.microsoft.com/office/powerpoint/2010/main" val="3555870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500"/>
                            </p:stCondLst>
                            <p:childTnLst>
                              <p:par>
                                <p:cTn id="3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 animBg="1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5AC1B974-3C7C-5D20-B04F-74D5CE1FDC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990" y="1465652"/>
            <a:ext cx="7068856" cy="50403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gauss_summation.py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EBBCE6-AA15-C402-6F26-07DD7ADAB4E2}"/>
              </a:ext>
            </a:extLst>
          </p:cNvPr>
          <p:cNvGrpSpPr/>
          <p:nvPr/>
        </p:nvGrpSpPr>
        <p:grpSpPr>
          <a:xfrm>
            <a:off x="1702083" y="2823484"/>
            <a:ext cx="1076632" cy="369332"/>
            <a:chOff x="4968362" y="2079211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F29C69AA-0197-BBB0-A4D0-0DDB489AB1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C32F22-D326-E4C2-6D56-1D27E612F08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ABCD795-010D-BFD3-7C74-80EBB2E639A2}"/>
              </a:ext>
            </a:extLst>
          </p:cNvPr>
          <p:cNvGrpSpPr/>
          <p:nvPr/>
        </p:nvGrpSpPr>
        <p:grpSpPr>
          <a:xfrm>
            <a:off x="2969799" y="2986801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806855D-4D14-376E-33F9-89C4955DF8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19183B-68A2-5AA5-F2E7-DA7E6F0FBFB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6A36694-B2A5-B87C-5FD9-20C4AAB1F6FE}"/>
              </a:ext>
            </a:extLst>
          </p:cNvPr>
          <p:cNvGrpSpPr/>
          <p:nvPr/>
        </p:nvGrpSpPr>
        <p:grpSpPr>
          <a:xfrm>
            <a:off x="1817577" y="3135255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8B35758-67F7-4020-B3C5-65D6E9B6EBC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83DD53AB-2CAF-10A7-7D50-7A7BD6A166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33CB4F5-92BF-0485-838C-EE1A5ADDD8DC}"/>
              </a:ext>
            </a:extLst>
          </p:cNvPr>
          <p:cNvGrpSpPr/>
          <p:nvPr/>
        </p:nvGrpSpPr>
        <p:grpSpPr>
          <a:xfrm>
            <a:off x="3917513" y="5281291"/>
            <a:ext cx="1064340" cy="369332"/>
            <a:chOff x="3647644" y="5421073"/>
            <a:chExt cx="1064340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CE2B2B5-3449-145D-CAB0-89D893775719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7BADC94-A386-1934-B565-397F8FFCF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4EFB76-E00A-3BDC-9B12-54179B8A275F}"/>
              </a:ext>
            </a:extLst>
          </p:cNvPr>
          <p:cNvGrpSpPr/>
          <p:nvPr/>
        </p:nvGrpSpPr>
        <p:grpSpPr>
          <a:xfrm>
            <a:off x="2456913" y="3447027"/>
            <a:ext cx="1068643" cy="369332"/>
            <a:chOff x="3647644" y="5359159"/>
            <a:chExt cx="1068643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51BB1C-9760-E6E2-CFF7-A52DC960129E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93631400-627B-CDD2-7060-AD19147BEE1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D83B3B1-FB8C-25A3-DF73-F3025953C1D8}"/>
              </a:ext>
            </a:extLst>
          </p:cNvPr>
          <p:cNvGrpSpPr/>
          <p:nvPr/>
        </p:nvGrpSpPr>
        <p:grpSpPr>
          <a:xfrm>
            <a:off x="1944213" y="3588642"/>
            <a:ext cx="1076632" cy="369332"/>
            <a:chOff x="2157212" y="5356391"/>
            <a:chExt cx="1076632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D4AAC0A-74E3-3A29-0BA6-B6BA08C9D99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A1C5F50-A11E-0833-0E37-0A0FBF9D7F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91532C-552F-A322-5B0F-4F8119BBA1CE}"/>
              </a:ext>
            </a:extLst>
          </p:cNvPr>
          <p:cNvGrpSpPr/>
          <p:nvPr/>
        </p:nvGrpSpPr>
        <p:grpSpPr>
          <a:xfrm>
            <a:off x="4093622" y="5399843"/>
            <a:ext cx="1076632" cy="369332"/>
            <a:chOff x="2157212" y="5356391"/>
            <a:chExt cx="1076632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0777A6B-167D-DC68-721C-DC1263D73E4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7297A5F-9ACE-8C2F-03D1-290189BB44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49BCC82-E2CB-5CF5-2456-1A7A8EFF49A1}"/>
              </a:ext>
            </a:extLst>
          </p:cNvPr>
          <p:cNvGrpSpPr/>
          <p:nvPr/>
        </p:nvGrpSpPr>
        <p:grpSpPr>
          <a:xfrm>
            <a:off x="2728907" y="3906177"/>
            <a:ext cx="1076632" cy="369332"/>
            <a:chOff x="2157212" y="5356391"/>
            <a:chExt cx="1076632" cy="36933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B716C52-7EEC-C3C0-5F7F-E9CD3F413B2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8CFB0B8-AAA2-3E7B-ECB6-34B1B63CD2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3A775F8-31EC-152B-AB3E-E95DB1B35188}"/>
              </a:ext>
            </a:extLst>
          </p:cNvPr>
          <p:cNvGrpSpPr/>
          <p:nvPr/>
        </p:nvGrpSpPr>
        <p:grpSpPr>
          <a:xfrm>
            <a:off x="1889941" y="4063898"/>
            <a:ext cx="1076632" cy="369332"/>
            <a:chOff x="2157212" y="5356391"/>
            <a:chExt cx="1076632" cy="369332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A660318-D56D-B8FE-1BFB-0E90B75D4056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46119063-3D53-6955-96F9-2DDD4CBB61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4101E2E-0046-05B6-F3D4-00B19E98473B}"/>
              </a:ext>
            </a:extLst>
          </p:cNvPr>
          <p:cNvGrpSpPr/>
          <p:nvPr/>
        </p:nvGrpSpPr>
        <p:grpSpPr>
          <a:xfrm>
            <a:off x="3857689" y="5530559"/>
            <a:ext cx="1076632" cy="369332"/>
            <a:chOff x="2157212" y="5356391"/>
            <a:chExt cx="1076632" cy="369332"/>
          </a:xfrm>
        </p:grpSpPr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7A6B4D1A-4377-576E-A3D6-E78DBEB5477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100208A-42A8-20E0-DDFA-0130242264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07ACAF-944D-39A4-8BC7-3D7DA6FC8B15}"/>
              </a:ext>
            </a:extLst>
          </p:cNvPr>
          <p:cNvCxnSpPr>
            <a:cxnSpLocks/>
          </p:cNvCxnSpPr>
          <p:nvPr/>
        </p:nvCxnSpPr>
        <p:spPr>
          <a:xfrm flipH="1">
            <a:off x="3337121" y="4560655"/>
            <a:ext cx="69317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0EEE037-6C35-086D-8356-C6286697B7CC}"/>
              </a:ext>
            </a:extLst>
          </p:cNvPr>
          <p:cNvCxnSpPr>
            <a:cxnSpLocks/>
          </p:cNvCxnSpPr>
          <p:nvPr/>
        </p:nvCxnSpPr>
        <p:spPr>
          <a:xfrm flipH="1">
            <a:off x="1338689" y="5862416"/>
            <a:ext cx="693174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73B91A6-371D-BEC8-38F3-3A2E95197268}"/>
                  </a:ext>
                </a:extLst>
              </p:cNvPr>
              <p:cNvSpPr txBox="1"/>
              <p:nvPr/>
            </p:nvSpPr>
            <p:spPr>
              <a:xfrm>
                <a:off x="4442660" y="2507062"/>
                <a:ext cx="295821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is an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array</a:t>
                </a:r>
                <a:r>
                  <a:rPr lang="en-US" sz="1600" dirty="0">
                    <a:solidFill>
                      <a:srgbClr val="7030A0"/>
                    </a:solidFill>
                  </a:rPr>
                  <a:t> containing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1..10</m:t>
                    </m:r>
                  </m:oMath>
                </a14:m>
                <a:endParaRPr lang="en-US" sz="1600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F73B91A6-371D-BEC8-38F3-3A2E95197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2660" y="2507062"/>
                <a:ext cx="2958215" cy="338554"/>
              </a:xfrm>
              <a:prstGeom prst="rect">
                <a:avLst/>
              </a:prstGeom>
              <a:blipFill>
                <a:blip r:embed="rId3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3362D4AF-60A0-8D0B-76C3-B7DB78C3A78D}"/>
              </a:ext>
            </a:extLst>
          </p:cNvPr>
          <p:cNvGrpSpPr/>
          <p:nvPr/>
        </p:nvGrpSpPr>
        <p:grpSpPr>
          <a:xfrm>
            <a:off x="4496185" y="3031849"/>
            <a:ext cx="2904690" cy="754694"/>
            <a:chOff x="4496185" y="3017531"/>
            <a:chExt cx="2904690" cy="7546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E489D78-C6AC-6A88-2992-4FC794252E43}"/>
                    </a:ext>
                  </a:extLst>
                </p:cNvPr>
                <p:cNvSpPr txBox="1"/>
                <p:nvPr/>
              </p:nvSpPr>
              <p:spPr>
                <a:xfrm>
                  <a:off x="4496185" y="3017531"/>
                  <a:ext cx="1199431" cy="7546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1=</m:t>
                        </m:r>
                        <m:nary>
                          <m:naryPr>
                            <m:chr m:val="∑"/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E489D78-C6AC-6A88-2992-4FC794252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185" y="3017531"/>
                  <a:ext cx="1199431" cy="7546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A0552846-6B23-1083-0AF6-E8D4BBDBC5A9}"/>
                    </a:ext>
                  </a:extLst>
                </p:cNvPr>
                <p:cNvSpPr txBox="1"/>
                <p:nvPr/>
              </p:nvSpPr>
              <p:spPr>
                <a:xfrm>
                  <a:off x="5820428" y="3102491"/>
                  <a:ext cx="158044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dirty="0">
                      <a:solidFill>
                        <a:srgbClr val="7030A0"/>
                      </a:solidFill>
                    </a:rPr>
                    <a:t>Cumulative</a:t>
                  </a:r>
                  <a:r>
                    <a:rPr lang="en-US" sz="1600" dirty="0">
                      <a:solidFill>
                        <a:srgbClr val="7030A0"/>
                      </a:solidFill>
                    </a:rPr>
                    <a:t> sum of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→1..10</m:t>
                      </m:r>
                    </m:oMath>
                  </a14:m>
                  <a:endParaRPr lang="en-US" sz="16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A0552846-6B23-1083-0AF6-E8D4BBDB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0428" y="3102491"/>
                  <a:ext cx="1580447" cy="584775"/>
                </a:xfrm>
                <a:prstGeom prst="rect">
                  <a:avLst/>
                </a:prstGeom>
                <a:blipFill>
                  <a:blip r:embed="rId5"/>
                  <a:stretch>
                    <a:fillRect l="-772" t="-3125" r="-347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D862588-6FFA-A487-3480-5F6D4BF1C3CD}"/>
              </a:ext>
            </a:extLst>
          </p:cNvPr>
          <p:cNvGrpSpPr/>
          <p:nvPr/>
        </p:nvGrpSpPr>
        <p:grpSpPr>
          <a:xfrm>
            <a:off x="4496185" y="3972776"/>
            <a:ext cx="3293975" cy="584775"/>
            <a:chOff x="4496185" y="3905321"/>
            <a:chExt cx="3293975" cy="5847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CD402A0-82FF-7B4D-D263-9FD378C8E8C0}"/>
                    </a:ext>
                  </a:extLst>
                </p:cNvPr>
                <p:cNvSpPr txBox="1"/>
                <p:nvPr/>
              </p:nvSpPr>
              <p:spPr>
                <a:xfrm>
                  <a:off x="4496185" y="3929846"/>
                  <a:ext cx="1693156" cy="5357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num>
                          <m:den>
                            <m:r>
                              <a:rPr lang="en-US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CD402A0-82FF-7B4D-D263-9FD378C8E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185" y="3929846"/>
                  <a:ext cx="1693156" cy="53572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EF5010D-3349-0E06-CEF3-566B97BF6522}"/>
                    </a:ext>
                  </a:extLst>
                </p:cNvPr>
                <p:cNvSpPr txBox="1"/>
                <p:nvPr/>
              </p:nvSpPr>
              <p:spPr>
                <a:xfrm>
                  <a:off x="6209713" y="3905321"/>
                  <a:ext cx="1580447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dirty="0">
                      <a:solidFill>
                        <a:srgbClr val="7030A0"/>
                      </a:solidFill>
                    </a:rPr>
                    <a:t>Gauss sum of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→1..10</m:t>
                      </m:r>
                    </m:oMath>
                  </a14:m>
                  <a:endParaRPr lang="en-US" sz="16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EF5010D-3349-0E06-CEF3-566B97BF6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9713" y="3905321"/>
                  <a:ext cx="1580447" cy="584775"/>
                </a:xfrm>
                <a:prstGeom prst="rect">
                  <a:avLst/>
                </a:prstGeom>
                <a:blipFill>
                  <a:blip r:embed="rId7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09347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5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05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respects </a:t>
            </a:r>
            <a:r>
              <a:rPr lang="en-US" sz="2400" b="1" dirty="0"/>
              <a:t>PEMDAS</a:t>
            </a:r>
            <a:r>
              <a:rPr lang="en-US" sz="2400" dirty="0"/>
              <a:t> operator precedence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variables in Python (</a:t>
            </a:r>
            <a:r>
              <a:rPr lang="en-US" sz="2400" b="1" dirty="0">
                <a:solidFill>
                  <a:srgbClr val="0070C0"/>
                </a:solidFill>
              </a:rPr>
              <a:t>snake_case</a:t>
            </a:r>
            <a:r>
              <a:rPr lang="en-US" sz="2400" dirty="0"/>
              <a:t>)</a:t>
            </a:r>
            <a:endParaRPr lang="en-US" sz="2400" b="1" dirty="0">
              <a:solidFill>
                <a:srgbClr val="7030A0"/>
              </a:solidFill>
            </a:endParaRP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use </a:t>
            </a:r>
            <a:r>
              <a:rPr lang="en-US" sz="2400" b="1" dirty="0"/>
              <a:t>print</a:t>
            </a:r>
            <a:r>
              <a:rPr lang="en-US" sz="2400" dirty="0"/>
              <a:t>()</a:t>
            </a:r>
            <a:r>
              <a:rPr lang="en-US" sz="2400" b="1" dirty="0"/>
              <a:t> </a:t>
            </a:r>
            <a:r>
              <a:rPr lang="en-US" sz="2400" dirty="0"/>
              <a:t>to show variable values on screen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install Python </a:t>
            </a:r>
            <a:r>
              <a:rPr lang="en-US" sz="2400" b="1" dirty="0">
                <a:solidFill>
                  <a:srgbClr val="7030A0"/>
                </a:solidFill>
              </a:rPr>
              <a:t>packages</a:t>
            </a:r>
            <a:r>
              <a:rPr lang="en-US" sz="2400" dirty="0"/>
              <a:t> into the Thonny IDE, such as </a:t>
            </a:r>
            <a:r>
              <a:rPr lang="en-US" sz="2400" b="1" dirty="0"/>
              <a:t>numpy</a:t>
            </a:r>
            <a:r>
              <a:rPr lang="en-US" sz="2400" dirty="0"/>
              <a:t>, which provides extensive mathematical functions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That </a:t>
            </a:r>
            <a:r>
              <a:rPr lang="en-US" sz="2400" b="1" dirty="0"/>
              <a:t>np.linspace() </a:t>
            </a:r>
            <a:r>
              <a:rPr lang="en-US" sz="2400" dirty="0"/>
              <a:t>creates an </a:t>
            </a:r>
            <a:r>
              <a:rPr lang="en-US" sz="2400" b="1" dirty="0">
                <a:solidFill>
                  <a:srgbClr val="00B050"/>
                </a:solidFill>
              </a:rPr>
              <a:t>array</a:t>
            </a:r>
            <a:r>
              <a:rPr lang="en-US" sz="2400" dirty="0"/>
              <a:t> having a given </a:t>
            </a:r>
            <a:r>
              <a:rPr lang="en-US" sz="2400" i="1" dirty="0"/>
              <a:t>number of elements</a:t>
            </a:r>
            <a:r>
              <a:rPr lang="en-US" sz="2400" dirty="0"/>
              <a:t> with equal spacing within the </a:t>
            </a:r>
            <a:r>
              <a:rPr lang="en-US" sz="2400" b="1" dirty="0"/>
              <a:t>closed-closed</a:t>
            </a:r>
            <a:r>
              <a:rPr lang="en-US" sz="2400" dirty="0"/>
              <a:t> interval </a:t>
            </a:r>
            <a:r>
              <a:rPr lang="en-US" sz="2400" b="1" dirty="0">
                <a:solidFill>
                  <a:srgbClr val="FF0000"/>
                </a:solidFill>
              </a:rPr>
              <a:t>[start, stop]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7030A0"/>
                </a:solidFill>
              </a:rPr>
              <a:t>vectorized operation </a:t>
            </a:r>
            <a:r>
              <a:rPr lang="en-US" sz="2400" dirty="0"/>
              <a:t>will act on each individual element in one or more arrays and will return a new result </a:t>
            </a:r>
            <a:r>
              <a:rPr lang="en-US" sz="2400" b="1" dirty="0"/>
              <a:t>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279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7C4-7DE6-4E7A-C6B2-5ABB65AAF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FF2F9-4030-DA6C-06CA-A0EE555C3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530726"/>
          </a:xfrm>
        </p:spPr>
        <p:txBody>
          <a:bodyPr>
            <a:normAutofit/>
          </a:bodyPr>
          <a:lstStyle/>
          <a:p>
            <a:r>
              <a:rPr lang="en-US" sz="2400" dirty="0"/>
              <a:t>Update the code in </a:t>
            </a:r>
            <a:r>
              <a:rPr lang="en-US" sz="2400" b="1" dirty="0"/>
              <a:t>age_in_seconds.py </a:t>
            </a:r>
            <a:r>
              <a:rPr lang="en-US" sz="2400" dirty="0"/>
              <a:t>to calculate and display your age in both years </a:t>
            </a:r>
            <a:r>
              <a:rPr lang="en-US" sz="2400" i="1" dirty="0"/>
              <a:t>and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B050"/>
                </a:solidFill>
              </a:rPr>
              <a:t>seconds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FDF3A-2C6D-91EB-88A5-0196BBE6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005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6075</TotalTime>
  <Words>873</Words>
  <Application>Microsoft Office PowerPoint</Application>
  <PresentationFormat>On-screen Show (4:3)</PresentationFormat>
  <Paragraphs>200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05 – Goals</vt:lpstr>
      <vt:lpstr>Extending Python via the numpy Package</vt:lpstr>
      <vt:lpstr>About PyPI (Python Package Index)</vt:lpstr>
      <vt:lpstr>Numpy Arrays</vt:lpstr>
      <vt:lpstr>Index Number versus Element Value</vt:lpstr>
      <vt:lpstr>The Bane of All Programmers</vt:lpstr>
      <vt:lpstr>A Numpy Linearly Spaced Array</vt:lpstr>
      <vt:lpstr>Open numpy_arrays.py</vt:lpstr>
      <vt:lpstr>Edit then Run numpy_arrays.py</vt:lpstr>
      <vt:lpstr>Numpy Vectorized Operations</vt:lpstr>
      <vt:lpstr>Edit then Run numpy_arrays.py</vt:lpstr>
      <vt:lpstr>Edit then Run numpy_arrays.py</vt:lpstr>
      <vt:lpstr>PowerPoint Presentation</vt:lpstr>
      <vt:lpstr>PowerPoint Presentation</vt:lpstr>
      <vt:lpstr>Edit gauss_summation.py</vt:lpstr>
      <vt:lpstr>Session 05 – Now You Know…</vt:lpstr>
      <vt:lpstr>TASK 05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971</cp:revision>
  <cp:lastPrinted>2015-06-01T00:45:11Z</cp:lastPrinted>
  <dcterms:created xsi:type="dcterms:W3CDTF">2014-09-21T17:58:26Z</dcterms:created>
  <dcterms:modified xsi:type="dcterms:W3CDTF">2025-11-14T05:26:51Z</dcterms:modified>
</cp:coreProperties>
</file>