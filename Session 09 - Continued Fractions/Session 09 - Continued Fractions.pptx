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handoutMasterIdLst>
    <p:handoutMasterId r:id="rId56"/>
  </p:handoutMasterIdLst>
  <p:sldIdLst>
    <p:sldId id="1220" r:id="rId2"/>
    <p:sldId id="972" r:id="rId3"/>
    <p:sldId id="399" r:id="rId4"/>
    <p:sldId id="400" r:id="rId5"/>
    <p:sldId id="953" r:id="rId6"/>
    <p:sldId id="455" r:id="rId7"/>
    <p:sldId id="402" r:id="rId8"/>
    <p:sldId id="403" r:id="rId9"/>
    <p:sldId id="404" r:id="rId10"/>
    <p:sldId id="405" r:id="rId11"/>
    <p:sldId id="1020" r:id="rId12"/>
    <p:sldId id="1032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983" r:id="rId22"/>
    <p:sldId id="1019" r:id="rId23"/>
    <p:sldId id="990" r:id="rId24"/>
    <p:sldId id="421" r:id="rId25"/>
    <p:sldId id="422" r:id="rId26"/>
    <p:sldId id="423" r:id="rId27"/>
    <p:sldId id="424" r:id="rId28"/>
    <p:sldId id="1145" r:id="rId29"/>
    <p:sldId id="1146" r:id="rId30"/>
    <p:sldId id="1147" r:id="rId31"/>
    <p:sldId id="427" r:id="rId32"/>
    <p:sldId id="996" r:id="rId33"/>
    <p:sldId id="1302" r:id="rId34"/>
    <p:sldId id="1024" r:id="rId35"/>
    <p:sldId id="1025" r:id="rId36"/>
    <p:sldId id="431" r:id="rId37"/>
    <p:sldId id="464" r:id="rId38"/>
    <p:sldId id="1026" r:id="rId39"/>
    <p:sldId id="1303" r:id="rId40"/>
    <p:sldId id="1304" r:id="rId41"/>
    <p:sldId id="1305" r:id="rId42"/>
    <p:sldId id="1306" r:id="rId43"/>
    <p:sldId id="1307" r:id="rId44"/>
    <p:sldId id="1308" r:id="rId45"/>
    <p:sldId id="1309" r:id="rId46"/>
    <p:sldId id="1310" r:id="rId47"/>
    <p:sldId id="314" r:id="rId48"/>
    <p:sldId id="315" r:id="rId49"/>
    <p:sldId id="316" r:id="rId50"/>
    <p:sldId id="317" r:id="rId51"/>
    <p:sldId id="1311" r:id="rId52"/>
    <p:sldId id="432" r:id="rId53"/>
    <p:sldId id="452" r:id="rId5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FF7D0A"/>
    <a:srgbClr val="95D4D6"/>
    <a:srgbClr val="B4C1CA"/>
    <a:srgbClr val="E74C3C"/>
    <a:srgbClr val="3297DB"/>
    <a:srgbClr val="9354AC"/>
    <a:srgbClr val="99CBEC"/>
    <a:srgbClr val="2FCC72"/>
    <a:srgbClr val="96E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12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98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99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4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8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76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24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00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12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5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28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87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34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20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81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88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BA02-68DB-5097-0910-0F381BC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5DC1B-8DDC-C87E-C7F2-336BADBCB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B9D1C-AB41-DBD2-080A-8BFCE220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557E8-F95B-5780-CB65-9F1AECB47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3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AF092-CD5C-926E-8573-219F5672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B5C4D-CEDD-BCD2-77F2-B25FD4C1E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4D9CE-80AD-C6F3-2E84-5EACCD7C2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21883-09EB-7BD7-D673-9C0DBC10E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89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2964-85A8-71DC-2431-4A3B8483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3CFA9-F1AB-B838-34A6-88048366F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B8358-A42D-823C-0843-D1FC37B85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A1206-F77E-348D-F15C-35F69FFF5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59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5456-F21F-17F9-4C5E-46EDD63E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DFCA1-4BCE-C806-41C2-4426C5997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0B49A-102C-5875-62D6-18BF89445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2B833-5A8C-5346-0DDB-709E510A7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216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17CF-2BB0-1BAD-C073-FE2AD9D1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0DFAE-DF34-1219-F7FA-1D97DF838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6659B-3825-787C-2306-FACC8B661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09168-98FF-3506-1C33-AB88452832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489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45A4-5253-F15D-1335-4A9BF20C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28FA7-825C-7AF6-5014-49BA692C0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0DFD6-946E-2417-6A54-2CEE566C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C48A7-32A1-C00D-0507-DD5D84B31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829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8D8B-808B-AEED-EF0D-3A20A9BA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342A7-FDA5-07ED-612C-D1EBB48BD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1C529-F16C-A11D-2A6D-7839FF7AE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AAE6C-088E-172A-1AD2-6A97F989D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76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5791-2536-BAE1-37D6-0BF85D33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9FFA5-66B9-FCEC-1D96-7C5C85172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9FC34-AFD5-7C98-73C9-F56024EE6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D9414-1C3F-A9F5-95F9-96BFF4F71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94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1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2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5.png"/><Relationship Id="rId7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7.jpeg"/><Relationship Id="rId5" Type="http://schemas.openxmlformats.org/officeDocument/2006/relationships/image" Target="NULL"/><Relationship Id="rId10" Type="http://schemas.openxmlformats.org/officeDocument/2006/relationships/image" Target="../media/image16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.png"/><Relationship Id="rId5" Type="http://schemas.openxmlformats.org/officeDocument/2006/relationships/image" Target="../media/image31.png"/><Relationship Id="rId4" Type="http://schemas.openxmlformats.org/officeDocument/2006/relationships/image" Target="../media/image87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36.jpe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NULL"/><Relationship Id="rId5" Type="http://schemas.openxmlformats.org/officeDocument/2006/relationships/image" Target="../media/image39.png"/><Relationship Id="rId10" Type="http://schemas.openxmlformats.org/officeDocument/2006/relationships/image" Target="NULL"/><Relationship Id="rId4" Type="http://schemas.openxmlformats.org/officeDocument/2006/relationships/image" Target="../media/image38.png"/><Relationship Id="rId9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umba.pydata.org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emf"/><Relationship Id="rId7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1250.png"/><Relationship Id="rId5" Type="http://schemas.openxmlformats.org/officeDocument/2006/relationships/image" Target="NUL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NUL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0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70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8.png"/><Relationship Id="rId5" Type="http://schemas.openxmlformats.org/officeDocument/2006/relationships/image" Target="../media/image59.png"/><Relationship Id="rId15" Type="http://schemas.openxmlformats.org/officeDocument/2006/relationships/image" Target="../media/image72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09</a:t>
            </a:r>
          </a:p>
          <a:p>
            <a:pPr algn="ctr"/>
            <a:r>
              <a:rPr lang="en-US" dirty="0"/>
              <a:t>Continued Fractions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09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9918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Gain an appreciation for </a:t>
                </a:r>
                <a:r>
                  <a:rPr lang="en-US" sz="2400" b="1" dirty="0"/>
                  <a:t>Continued Fractions</a:t>
                </a:r>
                <a:r>
                  <a:rPr lang="en-US" sz="2400" dirty="0"/>
                  <a:t> in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nature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Understand the three types of CFs:  1) finite vs. 2) infinite with repeating </a:t>
                </a:r>
                <a:r>
                  <a:rPr lang="en-US" sz="2400" i="1" dirty="0"/>
                  <a:t>sequence</a:t>
                </a:r>
                <a:r>
                  <a:rPr lang="en-US" sz="2400" dirty="0"/>
                  <a:t> vs. 3) infinite with repeating </a:t>
                </a:r>
                <a:r>
                  <a:rPr lang="en-US" sz="2400" i="1" u="sng" dirty="0"/>
                  <a:t>pattern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Write code to </a:t>
                </a:r>
                <a:r>
                  <a:rPr lang="en-US" sz="2400" b="1" dirty="0"/>
                  <a:t>generate</a:t>
                </a:r>
                <a:r>
                  <a:rPr lang="en-US" sz="2400" dirty="0"/>
                  <a:t> a generalized CF for a real number </a:t>
                </a:r>
                <a:r>
                  <a:rPr lang="en-US" sz="2400" dirty="0">
                    <a:solidFill>
                      <a:srgbClr val="7030A0"/>
                    </a:solidFill>
                  </a:rPr>
                  <a:t>(to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encode</a:t>
                </a:r>
                <a:r>
                  <a:rPr lang="en-US" sz="2400" dirty="0">
                    <a:solidFill>
                      <a:srgbClr val="7030A0"/>
                    </a:solidFill>
                  </a:rPr>
                  <a:t> a real number as a CF)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Write code to </a:t>
                </a:r>
                <a:r>
                  <a:rPr lang="en-US" sz="2400" b="1" dirty="0"/>
                  <a:t>expand</a:t>
                </a:r>
                <a:r>
                  <a:rPr lang="en-US" sz="2400" dirty="0"/>
                  <a:t> that CF to produce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convergents</a:t>
                </a:r>
                <a:r>
                  <a:rPr lang="en-US" sz="2400" dirty="0"/>
                  <a:t> of the original real number </a:t>
                </a:r>
                <a:r>
                  <a:rPr lang="en-US" sz="2400" dirty="0">
                    <a:solidFill>
                      <a:srgbClr val="7030A0"/>
                    </a:solidFill>
                  </a:rPr>
                  <a:t>(to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decode</a:t>
                </a:r>
                <a:r>
                  <a:rPr lang="en-US" sz="2400" dirty="0">
                    <a:solidFill>
                      <a:srgbClr val="7030A0"/>
                    </a:solidFill>
                  </a:rPr>
                  <a:t> a CF back into a real number)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Appreciate the hidden underlying simplicity of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generalized continued fraction </a:t>
                </a: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l-GR" sz="24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Consider CFs as they relate to solutions for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Pell’s Equation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and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protecting all secret information </a:t>
                </a:r>
                <a:r>
                  <a:rPr lang="en-US" sz="2400" dirty="0"/>
                  <a:t>on the Internet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9918" cy="4351338"/>
              </a:xfrm>
              <a:blipFill>
                <a:blip r:embed="rId2"/>
                <a:stretch>
                  <a:fillRect l="-994" t="-1961" r="-1070" b="-13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Expanding Your Definition of a “Number”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18" y="1468581"/>
            <a:ext cx="7102164" cy="488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4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64DDF4-B4B7-46F9-A512-964DBA5AD253}"/>
                  </a:ext>
                </a:extLst>
              </p:cNvPr>
              <p:cNvSpPr txBox="1"/>
              <p:nvPr/>
            </p:nvSpPr>
            <p:spPr>
              <a:xfrm>
                <a:off x="2540547" y="1354234"/>
                <a:ext cx="4062907" cy="1641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⋱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64DDF4-B4B7-46F9-A512-964DBA5AD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547" y="1354234"/>
                <a:ext cx="4062907" cy="1641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E4B9E1-3B13-43B9-A506-56A12A4F9C9F}"/>
                  </a:ext>
                </a:extLst>
              </p:cNvPr>
              <p:cNvSpPr txBox="1"/>
              <p:nvPr/>
            </p:nvSpPr>
            <p:spPr>
              <a:xfrm>
                <a:off x="1747684" y="3313636"/>
                <a:ext cx="5648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</a:rPr>
                  <a:t>In a </a:t>
                </a:r>
                <a:r>
                  <a:rPr lang="en-US" sz="2400" u="sng" dirty="0">
                    <a:solidFill>
                      <a:srgbClr val="0070C0"/>
                    </a:solidFill>
                  </a:rPr>
                  <a:t>standard</a:t>
                </a:r>
                <a:r>
                  <a:rPr lang="en-US" sz="2400" dirty="0">
                    <a:solidFill>
                      <a:srgbClr val="0070C0"/>
                    </a:solidFill>
                  </a:rPr>
                  <a:t> continued fraction,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E4B9E1-3B13-43B9-A506-56A12A4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684" y="3313636"/>
                <a:ext cx="5648632" cy="461665"/>
              </a:xfrm>
              <a:prstGeom prst="rect">
                <a:avLst/>
              </a:prstGeom>
              <a:blipFill>
                <a:blip r:embed="rId3"/>
                <a:stretch>
                  <a:fillRect l="-64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82CF-86BB-43F0-9969-A9C4F75210FC}"/>
                  </a:ext>
                </a:extLst>
              </p:cNvPr>
              <p:cNvSpPr txBox="1"/>
              <p:nvPr/>
            </p:nvSpPr>
            <p:spPr>
              <a:xfrm>
                <a:off x="2284611" y="4285841"/>
                <a:ext cx="3895875" cy="1539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𝟐𝟒𝟓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12+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82CF-86BB-43F0-9969-A9C4F752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611" y="4285841"/>
                <a:ext cx="3895875" cy="1539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135D0F9-555C-469A-BE7B-4575FB0EC3CC}"/>
              </a:ext>
            </a:extLst>
          </p:cNvPr>
          <p:cNvSpPr/>
          <p:nvPr/>
        </p:nvSpPr>
        <p:spPr>
          <a:xfrm>
            <a:off x="5053147" y="5324168"/>
            <a:ext cx="427703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B04615-3289-4836-B075-B88FAEDFA765}"/>
              </a:ext>
            </a:extLst>
          </p:cNvPr>
          <p:cNvSpPr/>
          <p:nvPr/>
        </p:nvSpPr>
        <p:spPr>
          <a:xfrm>
            <a:off x="3775588" y="4525297"/>
            <a:ext cx="28022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8A2BC-A9D9-447C-A401-092EB1E4DC67}"/>
              </a:ext>
            </a:extLst>
          </p:cNvPr>
          <p:cNvSpPr/>
          <p:nvPr/>
        </p:nvSpPr>
        <p:spPr>
          <a:xfrm>
            <a:off x="4395020" y="4935423"/>
            <a:ext cx="28022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742A3-CF79-46D9-A75B-59A3D22C827B}"/>
              </a:ext>
            </a:extLst>
          </p:cNvPr>
          <p:cNvSpPr/>
          <p:nvPr/>
        </p:nvSpPr>
        <p:spPr>
          <a:xfrm>
            <a:off x="5844511" y="5515897"/>
            <a:ext cx="28022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204C95-E148-46C9-A766-BDB2804C30EC}"/>
              </a:ext>
            </a:extLst>
          </p:cNvPr>
          <p:cNvSpPr/>
          <p:nvPr/>
        </p:nvSpPr>
        <p:spPr>
          <a:xfrm>
            <a:off x="5508523" y="4285841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3048F-80E5-43BB-94AC-8CFAE16A2F5F}"/>
              </a:ext>
            </a:extLst>
          </p:cNvPr>
          <p:cNvSpPr/>
          <p:nvPr/>
        </p:nvSpPr>
        <p:spPr>
          <a:xfrm>
            <a:off x="5803492" y="4748305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69D3B7-7B17-426D-A890-383D23FD7336}"/>
              </a:ext>
            </a:extLst>
          </p:cNvPr>
          <p:cNvSpPr/>
          <p:nvPr/>
        </p:nvSpPr>
        <p:spPr>
          <a:xfrm>
            <a:off x="6216447" y="5121971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0522D-78A1-45B5-BE42-AAA40E995AEC}"/>
              </a:ext>
            </a:extLst>
          </p:cNvPr>
          <p:cNvSpPr/>
          <p:nvPr/>
        </p:nvSpPr>
        <p:spPr>
          <a:xfrm>
            <a:off x="6526163" y="5515897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9711AA-5C42-4BAA-936C-90C6B8733B82}"/>
              </a:ext>
            </a:extLst>
          </p:cNvPr>
          <p:cNvSpPr/>
          <p:nvPr/>
        </p:nvSpPr>
        <p:spPr>
          <a:xfrm>
            <a:off x="7051421" y="3354298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ADCC31B-B3FF-4A71-91E4-C7FE16B5E564}"/>
              </a:ext>
            </a:extLst>
          </p:cNvPr>
          <p:cNvCxnSpPr>
            <a:stCxn id="19" idx="3"/>
          </p:cNvCxnSpPr>
          <p:nvPr/>
        </p:nvCxnSpPr>
        <p:spPr>
          <a:xfrm flipH="1">
            <a:off x="5844511" y="3546027"/>
            <a:ext cx="1413387" cy="933102"/>
          </a:xfrm>
          <a:prstGeom prst="bentConnector3">
            <a:avLst>
              <a:gd name="adj1" fmla="val -16174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EC0C015-07CA-4D6E-893C-6CD8842168C0}"/>
              </a:ext>
            </a:extLst>
          </p:cNvPr>
          <p:cNvCxnSpPr>
            <a:cxnSpLocks/>
            <a:stCxn id="19" idx="3"/>
            <a:endCxn id="16" idx="3"/>
          </p:cNvCxnSpPr>
          <p:nvPr/>
        </p:nvCxnSpPr>
        <p:spPr>
          <a:xfrm flipH="1">
            <a:off x="6009969" y="3546027"/>
            <a:ext cx="1247929" cy="1394007"/>
          </a:xfrm>
          <a:prstGeom prst="bentConnector3">
            <a:avLst>
              <a:gd name="adj1" fmla="val -1831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A121601-EB26-4E2D-8FC8-C72429D66E06}"/>
              </a:ext>
            </a:extLst>
          </p:cNvPr>
          <p:cNvCxnSpPr>
            <a:cxnSpLocks/>
            <a:stCxn id="19" idx="3"/>
            <a:endCxn id="17" idx="3"/>
          </p:cNvCxnSpPr>
          <p:nvPr/>
        </p:nvCxnSpPr>
        <p:spPr>
          <a:xfrm flipH="1">
            <a:off x="6422924" y="3546027"/>
            <a:ext cx="834974" cy="1767673"/>
          </a:xfrm>
          <a:prstGeom prst="bentConnector3">
            <a:avLst>
              <a:gd name="adj1" fmla="val -2737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48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8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2B078-275C-4AC1-AF75-D771BDD7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03" y="1893230"/>
            <a:ext cx="6171247" cy="1536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5447" y="1252151"/>
            <a:ext cx="6633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is the standard CF encoding for </a:t>
            </a:r>
            <a:r>
              <a:rPr lang="en-US" sz="2000" b="1" dirty="0">
                <a:solidFill>
                  <a:srgbClr val="FF0000"/>
                </a:solidFill>
              </a:rPr>
              <a:t>3.245</a:t>
            </a:r>
            <a:r>
              <a:rPr lang="en-US" sz="2000" dirty="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9925" y="4403124"/>
            <a:ext cx="5585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CF is an </a:t>
            </a:r>
            <a:r>
              <a:rPr lang="en-US" sz="2400" i="1" dirty="0"/>
              <a:t>encoding</a:t>
            </a:r>
            <a:r>
              <a:rPr lang="en-US" sz="2400" dirty="0"/>
              <a:t> scheme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3.245 = [3; 4, 12, 4]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All </a:t>
            </a:r>
            <a:r>
              <a:rPr lang="en-US" sz="2000" b="1" dirty="0">
                <a:solidFill>
                  <a:srgbClr val="0070C0"/>
                </a:solidFill>
              </a:rPr>
              <a:t>rational</a:t>
            </a:r>
            <a:r>
              <a:rPr lang="en-US" sz="2000" dirty="0"/>
              <a:t> numbers have a CF of </a:t>
            </a:r>
            <a:r>
              <a:rPr lang="en-US" sz="2000" b="1" u="sng" dirty="0"/>
              <a:t>finite</a:t>
            </a:r>
            <a:r>
              <a:rPr lang="en-US" sz="2000" dirty="0"/>
              <a:t> length!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A3E388-63A2-4198-8BAF-92304233EB33}"/>
              </a:ext>
            </a:extLst>
          </p:cNvPr>
          <p:cNvSpPr/>
          <p:nvPr/>
        </p:nvSpPr>
        <p:spPr>
          <a:xfrm>
            <a:off x="6438900" y="2220861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64AA2D-7956-4945-B43B-06ED26551748}"/>
              </a:ext>
            </a:extLst>
          </p:cNvPr>
          <p:cNvSpPr/>
          <p:nvPr/>
        </p:nvSpPr>
        <p:spPr>
          <a:xfrm>
            <a:off x="1927959" y="2523203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459AAAB-8BED-45B2-9E23-0BB01D53D1CE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H="1">
            <a:off x="1927959" y="2372032"/>
            <a:ext cx="5722324" cy="302342"/>
          </a:xfrm>
          <a:prstGeom prst="bentConnector5">
            <a:avLst>
              <a:gd name="adj1" fmla="val -3995"/>
              <a:gd name="adj2" fmla="val 571951"/>
              <a:gd name="adj3" fmla="val 11301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F2496B-D107-46CF-9778-B1F3DA88CD75}"/>
              </a:ext>
            </a:extLst>
          </p:cNvPr>
          <p:cNvSpPr/>
          <p:nvPr/>
        </p:nvSpPr>
        <p:spPr>
          <a:xfrm>
            <a:off x="6436445" y="2520746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9BA092-F84B-431D-86E6-02F82D392D97}"/>
              </a:ext>
            </a:extLst>
          </p:cNvPr>
          <p:cNvSpPr/>
          <p:nvPr/>
        </p:nvSpPr>
        <p:spPr>
          <a:xfrm>
            <a:off x="1925504" y="2823088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05CBCD1-EE13-4B50-89BC-7DDF15CE7D65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H="1">
            <a:off x="1925504" y="2671917"/>
            <a:ext cx="5722324" cy="302342"/>
          </a:xfrm>
          <a:prstGeom prst="bentConnector5">
            <a:avLst>
              <a:gd name="adj1" fmla="val -3995"/>
              <a:gd name="adj2" fmla="val 571951"/>
              <a:gd name="adj3" fmla="val 11301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8183972-4256-4D02-9EBB-09E1AD786C61}"/>
              </a:ext>
            </a:extLst>
          </p:cNvPr>
          <p:cNvSpPr/>
          <p:nvPr/>
        </p:nvSpPr>
        <p:spPr>
          <a:xfrm>
            <a:off x="6819152" y="3683162"/>
            <a:ext cx="1657351" cy="811161"/>
          </a:xfrm>
          <a:prstGeom prst="wedgeRoundRectCallout">
            <a:avLst>
              <a:gd name="adj1" fmla="val -99587"/>
              <a:gd name="adj2" fmla="val -838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We stop when this difference is zero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B9B44D-3CFF-476C-B4EA-F689F1DE87C8}"/>
              </a:ext>
            </a:extLst>
          </p:cNvPr>
          <p:cNvSpPr/>
          <p:nvPr/>
        </p:nvSpPr>
        <p:spPr>
          <a:xfrm>
            <a:off x="3937819" y="2220861"/>
            <a:ext cx="383458" cy="1208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2B0D04-8B7E-4FCE-A304-340DDEC70950}"/>
              </a:ext>
            </a:extLst>
          </p:cNvPr>
          <p:cNvSpPr/>
          <p:nvPr/>
        </p:nvSpPr>
        <p:spPr>
          <a:xfrm>
            <a:off x="5266078" y="5132439"/>
            <a:ext cx="589935" cy="35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6DC3FBA-40B0-4908-8DD3-65B546B4C6EC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 rot="16200000" flipH="1">
            <a:off x="4052570" y="3505977"/>
            <a:ext cx="1880420" cy="1726465"/>
          </a:xfrm>
          <a:prstGeom prst="bentConnector4">
            <a:avLst>
              <a:gd name="adj1" fmla="val 45294"/>
              <a:gd name="adj2" fmla="val 12861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68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5447" y="1252151"/>
            <a:ext cx="6633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is the standard CF encoding for </a:t>
            </a:r>
            <a:r>
              <a:rPr lang="en-US" sz="2000" b="1" dirty="0">
                <a:solidFill>
                  <a:srgbClr val="FF0000"/>
                </a:solidFill>
              </a:rPr>
              <a:t>0.825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(= </a:t>
            </a:r>
            <a:r>
              <a:rPr lang="en-US" sz="2000" b="1" dirty="0"/>
              <a:t>33/40</a:t>
            </a:r>
            <a:r>
              <a:rPr lang="en-US" sz="2000" dirty="0"/>
              <a:t>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9925" y="4403124"/>
            <a:ext cx="5585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CF is an </a:t>
            </a:r>
            <a:r>
              <a:rPr lang="en-US" sz="2400" i="1" dirty="0"/>
              <a:t>encoding</a:t>
            </a:r>
            <a:r>
              <a:rPr lang="en-US" sz="2400" dirty="0"/>
              <a:t> scheme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0.825 = [0; 1, 4, 1, 2, 2]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All </a:t>
            </a:r>
            <a:r>
              <a:rPr lang="en-US" sz="2000" b="1" dirty="0">
                <a:solidFill>
                  <a:srgbClr val="0070C0"/>
                </a:solidFill>
              </a:rPr>
              <a:t>rational</a:t>
            </a:r>
            <a:r>
              <a:rPr lang="en-US" sz="2000" dirty="0"/>
              <a:t> numbers have a CF of </a:t>
            </a:r>
            <a:r>
              <a:rPr lang="en-US" sz="2000" b="1" u="sng" dirty="0"/>
              <a:t>finite</a:t>
            </a:r>
            <a:r>
              <a:rPr lang="en-US" sz="2000" dirty="0"/>
              <a:t> length!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C1C26-A145-4AEA-95F2-73806FB0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79" y="1908895"/>
            <a:ext cx="6224842" cy="21575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C24BC6-13F0-4ADB-BDFD-F3113DCC8AB9}"/>
              </a:ext>
            </a:extLst>
          </p:cNvPr>
          <p:cNvSpPr/>
          <p:nvPr/>
        </p:nvSpPr>
        <p:spPr>
          <a:xfrm>
            <a:off x="3937819" y="2220860"/>
            <a:ext cx="383458" cy="1845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31E0FF-BCEB-4C81-BBA7-265B96C84923}"/>
              </a:ext>
            </a:extLst>
          </p:cNvPr>
          <p:cNvSpPr/>
          <p:nvPr/>
        </p:nvSpPr>
        <p:spPr>
          <a:xfrm>
            <a:off x="5266078" y="5132439"/>
            <a:ext cx="589935" cy="35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31740A4-FD26-4C57-873B-D7B2D2DA7B4D}"/>
              </a:ext>
            </a:extLst>
          </p:cNvPr>
          <p:cNvCxnSpPr>
            <a:cxnSpLocks/>
            <a:stCxn id="7" idx="2"/>
            <a:endCxn id="10" idx="3"/>
          </p:cNvCxnSpPr>
          <p:nvPr/>
        </p:nvCxnSpPr>
        <p:spPr>
          <a:xfrm rot="16200000" flipH="1">
            <a:off x="4371310" y="3824716"/>
            <a:ext cx="1242941" cy="1726465"/>
          </a:xfrm>
          <a:prstGeom prst="bentConnector4">
            <a:avLst>
              <a:gd name="adj1" fmla="val 16776"/>
              <a:gd name="adj2" fmla="val 13630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1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171A6-E50C-419D-B200-9018F865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44" y="2231874"/>
            <a:ext cx="7368113" cy="25317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9373" y="1252151"/>
            <a:ext cx="5585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do we expand (decode) a standard CF?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[0; 1, 4, 1, 2, 2] = ??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779373" y="5095102"/>
            <a:ext cx="55852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row gives a better and better</a:t>
            </a:r>
          </a:p>
          <a:p>
            <a:pPr algn="ctr"/>
            <a:r>
              <a:rPr lang="en-US" sz="2000" dirty="0"/>
              <a:t>approximation </a:t>
            </a:r>
            <a:r>
              <a:rPr lang="en-US" sz="2000" b="1" dirty="0"/>
              <a:t>(h / k)</a:t>
            </a:r>
            <a:r>
              <a:rPr lang="en-US" sz="2000" dirty="0"/>
              <a:t> to the original number </a:t>
            </a:r>
            <a:r>
              <a:rPr lang="en-US" sz="2000" b="1" dirty="0"/>
              <a:t>x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[0; 1, 4, 1, 2, 2] = 0.825 </a:t>
            </a:r>
            <a:r>
              <a:rPr lang="en-US" sz="2000" dirty="0"/>
              <a:t>(= </a:t>
            </a:r>
            <a:r>
              <a:rPr lang="en-US" sz="2000" b="1" dirty="0"/>
              <a:t>33/40</a:t>
            </a:r>
            <a:r>
              <a:rPr lang="en-US" sz="2000" dirty="0"/>
              <a:t>)</a:t>
            </a:r>
          </a:p>
          <a:p>
            <a:pPr algn="ctr"/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cxnSp>
        <p:nvCxnSpPr>
          <p:cNvPr id="7" name="Connector: Elbow 6"/>
          <p:cNvCxnSpPr>
            <a:cxnSpLocks/>
            <a:stCxn id="11" idx="2"/>
            <a:endCxn id="15" idx="0"/>
          </p:cNvCxnSpPr>
          <p:nvPr/>
        </p:nvCxnSpPr>
        <p:spPr>
          <a:xfrm rot="5400000">
            <a:off x="2838166" y="1584856"/>
            <a:ext cx="1166005" cy="1813130"/>
          </a:xfrm>
          <a:prstGeom prst="bentConnector3">
            <a:avLst>
              <a:gd name="adj1" fmla="val 1711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0C685B-DAB9-4C70-BB39-74BA7D506264}"/>
              </a:ext>
            </a:extLst>
          </p:cNvPr>
          <p:cNvSpPr/>
          <p:nvPr/>
        </p:nvSpPr>
        <p:spPr>
          <a:xfrm>
            <a:off x="2374493" y="3074424"/>
            <a:ext cx="280219" cy="16891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D16B1D-35B3-4E48-99FB-FCBE30E6F582}"/>
                  </a:ext>
                </a:extLst>
              </p:cNvPr>
              <p:cNvSpPr txBox="1"/>
              <p:nvPr/>
            </p:nvSpPr>
            <p:spPr>
              <a:xfrm>
                <a:off x="6850273" y="1431507"/>
                <a:ext cx="141275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D16B1D-35B3-4E48-99FB-FCBE30E6F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273" y="1431507"/>
                <a:ext cx="1412759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73F85D2-8BBB-4F66-83EB-A4B99312246A}"/>
              </a:ext>
            </a:extLst>
          </p:cNvPr>
          <p:cNvSpPr/>
          <p:nvPr/>
        </p:nvSpPr>
        <p:spPr>
          <a:xfrm>
            <a:off x="7975837" y="4505495"/>
            <a:ext cx="280219" cy="257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ACE67BF-2AFA-4415-AF4F-72F2B49D5FD6}"/>
              </a:ext>
            </a:extLst>
          </p:cNvPr>
          <p:cNvCxnSpPr>
            <a:cxnSpLocks/>
            <a:stCxn id="18" idx="3"/>
            <a:endCxn id="19" idx="3"/>
          </p:cNvCxnSpPr>
          <p:nvPr/>
        </p:nvCxnSpPr>
        <p:spPr>
          <a:xfrm flipH="1">
            <a:off x="8256056" y="1742682"/>
            <a:ext cx="6976" cy="2891793"/>
          </a:xfrm>
          <a:prstGeom prst="bentConnector3">
            <a:avLst>
              <a:gd name="adj1" fmla="val -327695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A320B-6470-47EC-B32C-16F97210245F}"/>
              </a:ext>
            </a:extLst>
          </p:cNvPr>
          <p:cNvSpPr/>
          <p:nvPr/>
        </p:nvSpPr>
        <p:spPr>
          <a:xfrm>
            <a:off x="3486156" y="1548582"/>
            <a:ext cx="1683154" cy="359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2D0086-2BEA-4FC3-AFE0-4CF6DD2639F0}"/>
                  </a:ext>
                </a:extLst>
              </p:cNvPr>
              <p:cNvSpPr txBox="1"/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2D0086-2BEA-4FC3-AFE0-4CF6DD263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blipFill>
                <a:blip r:embed="rId5"/>
                <a:stretch>
                  <a:fillRect l="-517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4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935277"/>
            <a:ext cx="7216346" cy="57861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1.414213562373095048801688724209698078569671875376948073176679737990732478462107038850387534327641572735013846230912297024924836055850737212644121497099935831413222665927505592755799950501152782060571470109559971605970274534596862014728517418640889198609552329230484308714321450839762603627995251407989687253396546331808829640620615258352395054745750287759961729835575220337531857011354374603408498847160386899970699004815030544027790316454247823068492936918621580578463111596668713013015618568987237235288509264861249497715421833420428568606014682472077143585487415565706967765372022648544701585880162075847492265722600208558446652145839889394437092659180031138824646815708263010059485870400318648034219489727829064104507263688131373985525611732204024509122770022694112757362728049573810896750401836986836845072579936472906076299694138047565482372899718032680247442062926912485905218100445984215059112024944134172853147810580360337107730918286931471017111168391658172688941975871658215212822951848847208969463386289156288276595263514054226765323969461751129160240871551013515045538128756005263146801712740265396947024030051749531886292563138518816347800156936917688185237868405228783762938921430065586956868596459515550164472450983689603688732311438941557665104088391429233811320605243362948531704991577175622854974143899918802176243096520656421182731672625753959471725593463723863226148274262220867115583959992652117625269891754098815934864008345708518147223181420407042650905653233339843645786579679651926729239987536661721598257886026336361782749599421940377775368142621773879919455139723127406689832998989538672882285637869774966251996658352577619893932284534473569479496295216889148549253890475582883452609652409654288939453864662574492755638196441031697983306185201937938494005715633372054806854057586799967012137223947582142630658513221740883238294728761739364746783743196000159218880734785761725221186749042497736692920731109636972160893370866115673458533483329525467585164471075784860246360083444911481858765555428645512331421992631133251797060843655970435285641008791850076036100915946567067688360557174007675690509613671940132493560524018599910506210816359772643138060546701029356997104242510578174953105725593498445112692278034491350663756874776028316282960553242242695753452902883876844642917328277088831808702533985233812274999081237189254072647536785030482159180188616710897286922920119759988070381854333253646021108229927929307287178079988809917674177410898306080032631181642798823117154363869661702999934161614878686018045505553986913115186010386375325004558186044804075024119518430567453368361367459737442398855328517930896037389891517319587413442881784212502191695187559344438739618931454999990610758704909026088351763622474975785885836803745793115733980209998662218694992259591327642361941059210032802614987456659968887406795616739185957288864247346358588686449682238600698335264279905628316561391394255764906206518602164726303336297507569787060660685649816009271870929215313236828135698893709741650447459096053747279652447709409924123871061447054398674364733847745481910087288622214958952959118789214917983398108378827815306556231581036064867587303601450227320882935134138722768417667843690529428698490838455744579409598626074249954916802853077398938296036213353987532050919989360751390644449576845699347127636450716327915470159773354863893942325727754003826027478567417258095141630715959784981800944356037939098559016827215403458158152100493666295344882710729239660232163823826661262683050257278116945103537937156882336593229782319298606467978986409208560955814261436363100461559433255047449397593399912541953230093217530447653396470662761166175351875464620967634558738616488019884849747926404506544489691004079421181692579685756378488149898641685499491635761448404702103398921534237703723335311564594438970365316672194904935188290580630740134686264167247011065346349391640714628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3200" dirty="0">
                    <a:latin typeface="+mn-lt"/>
                  </a:rPr>
                  <a:t> to 3,600 digits </a:t>
                </a: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  <a:blipFill>
                <a:blip r:embed="rId2"/>
                <a:stretch>
                  <a:fillRect t="-12621" b="-24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182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CE4458-48D5-442B-8887-39C05C7A2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31" y="1625907"/>
            <a:ext cx="6496338" cy="2251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71134" y="995517"/>
                <a:ext cx="5585255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the standard CF encoding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134" y="995517"/>
                <a:ext cx="5585255" cy="430118"/>
              </a:xfrm>
              <a:prstGeom prst="rect">
                <a:avLst/>
              </a:prstGeom>
              <a:blipFill>
                <a:blip r:embed="rId3"/>
                <a:stretch>
                  <a:fillRect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551293" y="4007707"/>
                <a:ext cx="6041415" cy="2590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[1; {2}]</a:t>
                </a:r>
              </a:p>
              <a:p>
                <a:pPr algn="ctr"/>
                <a:r>
                  <a:rPr lang="en-US" sz="2000" dirty="0"/>
                  <a:t>Numbers within {} are repeated</a:t>
                </a:r>
              </a:p>
              <a:p>
                <a:pPr algn="ctr"/>
                <a:endParaRPr lang="en-US" sz="2000" dirty="0"/>
              </a:p>
              <a:p>
                <a:pPr algn="ctr"/>
                <a:r>
                  <a:rPr lang="en-US" sz="2400" b="1" dirty="0"/>
                  <a:t>All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square roots of integers </a:t>
                </a:r>
                <a:r>
                  <a:rPr lang="en-US" sz="2400" b="1" dirty="0"/>
                  <a:t>yield an infinite CF</a:t>
                </a:r>
              </a:p>
              <a:p>
                <a:pPr algn="ctr"/>
                <a:r>
                  <a:rPr lang="en-US" sz="2400" b="1" dirty="0"/>
                  <a:t>with a repeated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sequence</a:t>
                </a:r>
                <a:r>
                  <a:rPr lang="en-US" sz="2400" b="1" dirty="0"/>
                  <a:t> of </a:t>
                </a:r>
                <a:r>
                  <a:rPr lang="en-US" sz="2400" b="1" u="sng" dirty="0"/>
                  <a:t>finite</a:t>
                </a:r>
                <a:r>
                  <a:rPr lang="en-US" sz="2400" b="1" dirty="0"/>
                  <a:t> length!</a:t>
                </a:r>
              </a:p>
              <a:p>
                <a:pPr algn="ctr"/>
                <a:endParaRPr lang="en-US" sz="2400" b="1" dirty="0"/>
              </a:p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</a:rPr>
                  <a:t>There is a simple order behind the chaos!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293" y="4007707"/>
                <a:ext cx="6041415" cy="2590517"/>
              </a:xfrm>
              <a:prstGeom prst="rect">
                <a:avLst/>
              </a:prstGeom>
              <a:blipFill>
                <a:blip r:embed="rId4"/>
                <a:stretch>
                  <a:fillRect l="-1008" t="-471" r="-1008" b="-4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</p:spTree>
    <p:extLst>
      <p:ext uri="{BB962C8B-B14F-4D97-AF65-F5344CB8AC3E}">
        <p14:creationId xmlns:p14="http://schemas.microsoft.com/office/powerpoint/2010/main" val="37479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C3D2BA-D3BA-4C11-923A-75F31524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3" y="1509005"/>
            <a:ext cx="8028575" cy="4266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79372" y="995517"/>
                <a:ext cx="5585255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fraction best approximates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2" y="995517"/>
                <a:ext cx="5585255" cy="430118"/>
              </a:xfrm>
              <a:prstGeom prst="rect">
                <a:avLst/>
              </a:prstGeom>
              <a:blipFill>
                <a:blip r:embed="rId3"/>
                <a:stretch>
                  <a:fillRect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66768" y="5858498"/>
                <a:ext cx="3492843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/>
                  <a:t> ≈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8,119 / 5,741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768" y="5858498"/>
                <a:ext cx="3492843" cy="497637"/>
              </a:xfrm>
              <a:prstGeom prst="rect">
                <a:avLst/>
              </a:prstGeom>
              <a:blipFill>
                <a:blip r:embed="rId4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3428CD-6012-4747-90DD-51747D1AB283}"/>
                  </a:ext>
                </a:extLst>
              </p:cNvPr>
              <p:cNvSpPr txBox="1"/>
              <p:nvPr/>
            </p:nvSpPr>
            <p:spPr>
              <a:xfrm>
                <a:off x="7259293" y="571888"/>
                <a:ext cx="141275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3428CD-6012-4747-90DD-51747D1AB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293" y="571888"/>
                <a:ext cx="1412759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2D004A-34C6-4BBC-8227-94C0BB9A7B90}"/>
                  </a:ext>
                </a:extLst>
              </p:cNvPr>
              <p:cNvSpPr txBox="1"/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2D004A-34C6-4BBC-8227-94C0BB9A7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blipFill>
                <a:blip r:embed="rId7"/>
                <a:stretch>
                  <a:fillRect l="-517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25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01113" y="995517"/>
                <a:ext cx="5741773" cy="429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the standard CF encoding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113</m:t>
                        </m:r>
                      </m:e>
                    </m:rad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13" y="995517"/>
                <a:ext cx="5741773" cy="429092"/>
              </a:xfrm>
              <a:prstGeom prst="rect">
                <a:avLst/>
              </a:prstGeom>
              <a:blipFill>
                <a:blip r:embed="rId2"/>
                <a:stretch>
                  <a:fillRect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9373" y="5894172"/>
                <a:ext cx="5585255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𝟏𝟏𝟑</m:t>
                        </m:r>
                      </m:e>
                    </m:ra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[10; {1,1,1,2,2,1,1,1,20}]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3" y="5894172"/>
                <a:ext cx="5585255" cy="497637"/>
              </a:xfrm>
              <a:prstGeom prst="rect">
                <a:avLst/>
              </a:prstGeom>
              <a:blipFill rotWithShape="0">
                <a:blip r:embed="rId4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829C3-99BB-47BB-A077-62992F2D4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973" y="1507668"/>
            <a:ext cx="4438052" cy="43548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2591D7-FD11-40B4-829A-CF907B43333A}"/>
              </a:ext>
            </a:extLst>
          </p:cNvPr>
          <p:cNvSpPr/>
          <p:nvPr/>
        </p:nvSpPr>
        <p:spPr>
          <a:xfrm>
            <a:off x="3554361" y="1954161"/>
            <a:ext cx="833284" cy="1946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E5F8F-8E8A-4710-A208-196F40D674C8}"/>
              </a:ext>
            </a:extLst>
          </p:cNvPr>
          <p:cNvSpPr/>
          <p:nvPr/>
        </p:nvSpPr>
        <p:spPr>
          <a:xfrm>
            <a:off x="3554361" y="3905866"/>
            <a:ext cx="833284" cy="1946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E1A254F5-7615-4323-95D3-2D6BA4399C95}"/>
              </a:ext>
            </a:extLst>
          </p:cNvPr>
          <p:cNvSpPr/>
          <p:nvPr/>
        </p:nvSpPr>
        <p:spPr>
          <a:xfrm>
            <a:off x="7088443" y="5560141"/>
            <a:ext cx="1155905" cy="302342"/>
          </a:xfrm>
          <a:prstGeom prst="borderCallout2">
            <a:avLst>
              <a:gd name="adj1" fmla="val 118750"/>
              <a:gd name="adj2" fmla="val 32345"/>
              <a:gd name="adj3" fmla="val 204116"/>
              <a:gd name="adj4" fmla="val 7634"/>
              <a:gd name="adj5" fmla="val 207421"/>
              <a:gd name="adj6" fmla="val -39508"/>
            </a:avLst>
          </a:prstGeom>
          <a:solidFill>
            <a:schemeClr val="bg1"/>
          </a:solidFill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Period = 9</a:t>
            </a:r>
          </a:p>
        </p:txBody>
      </p:sp>
    </p:spTree>
    <p:extLst>
      <p:ext uri="{BB962C8B-B14F-4D97-AF65-F5344CB8AC3E}">
        <p14:creationId xmlns:p14="http://schemas.microsoft.com/office/powerpoint/2010/main" val="381352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B5EAFB-96FD-5F83-6B87-4AEFA75FE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61" y="1288065"/>
            <a:ext cx="7142077" cy="36137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E1A254F5-7615-4323-95D3-2D6BA4399C95}"/>
              </a:ext>
            </a:extLst>
          </p:cNvPr>
          <p:cNvSpPr/>
          <p:nvPr/>
        </p:nvSpPr>
        <p:spPr>
          <a:xfrm>
            <a:off x="3340902" y="5043162"/>
            <a:ext cx="1155905" cy="302342"/>
          </a:xfrm>
          <a:prstGeom prst="borderCallout2">
            <a:avLst>
              <a:gd name="adj1" fmla="val -10158"/>
              <a:gd name="adj2" fmla="val 27806"/>
              <a:gd name="adj3" fmla="val -120634"/>
              <a:gd name="adj4" fmla="val -5335"/>
              <a:gd name="adj5" fmla="val -119808"/>
              <a:gd name="adj6" fmla="val -37563"/>
            </a:avLst>
          </a:prstGeom>
          <a:solidFill>
            <a:schemeClr val="bg1"/>
          </a:solidFill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Period = 9</a:t>
            </a:r>
          </a:p>
        </p:txBody>
      </p:sp>
    </p:spTree>
    <p:extLst>
      <p:ext uri="{BB962C8B-B14F-4D97-AF65-F5344CB8AC3E}">
        <p14:creationId xmlns:p14="http://schemas.microsoft.com/office/powerpoint/2010/main" val="301539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25502-4C6E-4E0A-9266-D8BE8C887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15" y="1610854"/>
            <a:ext cx="6161770" cy="39683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79372" y="983546"/>
                <a:ext cx="5585255" cy="43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fraction best approximates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113</m:t>
                        </m:r>
                      </m:e>
                    </m:rad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2" y="983546"/>
                <a:ext cx="5585255" cy="430118"/>
              </a:xfrm>
              <a:prstGeom prst="rect">
                <a:avLst/>
              </a:prstGeom>
              <a:blipFill>
                <a:blip r:embed="rId3"/>
                <a:stretch>
                  <a:fillRect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66768" y="5659395"/>
                <a:ext cx="3492843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113</m:t>
                        </m:r>
                      </m:e>
                    </m:rad>
                  </m:oMath>
                </a14:m>
                <a:r>
                  <a:rPr lang="en-US" sz="2400" dirty="0"/>
                  <a:t> ≈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131,952 / 12,413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768" y="5659395"/>
                <a:ext cx="3492843" cy="497637"/>
              </a:xfrm>
              <a:prstGeom prst="rect">
                <a:avLst/>
              </a:prstGeom>
              <a:blipFill>
                <a:blip r:embed="rId4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A1E7DB-03B5-42BD-A5E2-E5214AE3750E}"/>
                  </a:ext>
                </a:extLst>
              </p:cNvPr>
              <p:cNvSpPr txBox="1"/>
              <p:nvPr/>
            </p:nvSpPr>
            <p:spPr>
              <a:xfrm>
                <a:off x="7259293" y="571888"/>
                <a:ext cx="141275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A1E7DB-03B5-42BD-A5E2-E5214AE37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293" y="571888"/>
                <a:ext cx="1412759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0784A2-CD48-4358-8D4A-A695E6C0FD99}"/>
                  </a:ext>
                </a:extLst>
              </p:cNvPr>
              <p:cNvSpPr txBox="1"/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0784A2-CD48-4358-8D4A-A695E6C0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blipFill>
                <a:blip r:embed="rId6"/>
                <a:stretch>
                  <a:fillRect l="-517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26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829258"/>
            <a:ext cx="7216346" cy="57861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2.718281828459045235360287471352662497757247093699959574966967627724076630353547594571382178525166427427466391932003059921817413596629043572900334295260595630738132328627943490763233829880753195251019011573834187930702154089149934884167509244761460668082264800168477411853742345442437107539077744992069551702761838606261331384583000752044933826560297606737113200709328709127443747047230696977209310141692836819025515108657463772111252389784425056953696770785449969967946864454905987931636889230098793127736178215424999229576351482208269895193668033182528869398496465105820939239829488793320362509443117301238197068416140397019837679320683282376464804295311802328782509819455815301756717361332069811250996181881593041690351598888519345807273866738589422879228499892086805825749279610484198444363463244968487560233624827041978623209002160990235304369941849146314093431738143640546253152096183690888707016768396424378140592714563549061303107208510383750510115747704171898610687396965521267154688957035035402123407849819334321068170121005627880235193033224745015853904730419957777093503660416997329725088687696640355570716226844716256079882651787134195124665201030592123667719432527867539855894489697096409754591856956380236370162112047742722836489613422516445078182442352948636372141740238893441247963574370263755294448337998016125492278509257782562092622648326277933386566481627725164019105900491644998289315056604725802778631864155195653244258698294695930801915298721172556347546396447910145904090586298496791287406870504895858671747985466775757320568128845920541334053922000113786300945560688166740016984205580403363795376452030402432256613527836951177883863874439662532249850654995886234281899707733276171783928034946501434558897071942586398772754710962953741521115136835062752602326484728703920764310059584116612054529703023647254929666938115137322753645098889031360205724817658511806303644281231496550704751025446501172721155519486685080036853228183152196003735625279449515828418829478761085263981395599006737648292244375287184624578036192981971399147564488262603903381441823262515097482798777996437308997038886778227138360577297882412561190717663946507063304527954661855096666185664709711344474016070462621568071748187784437143698821855967095910259686200235371858874856965220005031173439207321139080329363447972735595527734907178379342163701205005451326383544000186323991490705479778056697853358048966906295119432473099587655236812859041383241160722602998330535370876138939639177957454016137223618789365260538155841587186925538606164779834025435128439612946035291332594279490433729908573158029095863138268329147711639633709240031689458636060645845925126994655724839186564209752685082307544254599376917041977780085362730941710163434907696423722294352366125572508814779223151974778060569672538017180776360346245927877846585065605078084421152969752189087401966090665180351650179250461950136658543663271254963990854914420001457476081930221206602433009641270489439039717719518069908699860663658323227870937650226014929101151717763594460202324930028040186772391028809786660565118326004368850881715723866984224220102495055188169480322100251542649463981287367765892768816359831247788652014117411091360116499507662907794364600585194199856016264790761532103872755712699251827568798930276176114616254935649590379804583818232336861201624373656984670378585330527583333793990752166069238053369887956513728559388349989470741618155012539706464817194670834819721448889879067650379590366967249499254527903372963616265897603949857674139735944102374432970935547798262961459144293645142861715858733974679189757121195618738578364475844842355558105002561149239151889309946342841393608038309166281881150371528496705974162562823609216807515017772538740256425347087908913729172282861151591568372524163077225440633787593105982676094420326192428531701878177296023541306067213604600038966109364709514141718577701418060644363681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i="1" dirty="0">
                <a:solidFill>
                  <a:srgbClr val="FF0000"/>
                </a:solidFill>
                <a:latin typeface="+mn-lt"/>
              </a:rPr>
              <a:t>e</a:t>
            </a:r>
            <a:r>
              <a:rPr lang="en-US" sz="3200" dirty="0">
                <a:latin typeface="+mn-lt"/>
              </a:rPr>
              <a:t> to 3,600 digits </a:t>
            </a:r>
          </a:p>
        </p:txBody>
      </p:sp>
    </p:spTree>
    <p:extLst>
      <p:ext uri="{BB962C8B-B14F-4D97-AF65-F5344CB8AC3E}">
        <p14:creationId xmlns:p14="http://schemas.microsoft.com/office/powerpoint/2010/main" val="1797000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154E09-A233-4575-921F-24426E3A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002" y="1007683"/>
            <a:ext cx="4555997" cy="4470548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  <a:stCxn id="2" idx="2"/>
          </p:cNvCxnSpPr>
          <p:nvPr/>
        </p:nvCxnSpPr>
        <p:spPr>
          <a:xfrm>
            <a:off x="3004362" y="4830611"/>
            <a:ext cx="1310699" cy="881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 for </a:t>
            </a:r>
            <a:r>
              <a:rPr lang="en-US" sz="3200" b="1" i="1" dirty="0">
                <a:solidFill>
                  <a:srgbClr val="FF0000"/>
                </a:solidFill>
                <a:latin typeface="+mn-lt"/>
              </a:rPr>
              <a:t>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C00581-3003-4E8D-87EE-41A4BFBF9E78}"/>
              </a:ext>
            </a:extLst>
          </p:cNvPr>
          <p:cNvSpPr/>
          <p:nvPr/>
        </p:nvSpPr>
        <p:spPr>
          <a:xfrm>
            <a:off x="3521021" y="1454765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84AA9-8109-4EBB-8996-A3089EBA0C73}"/>
              </a:ext>
            </a:extLst>
          </p:cNvPr>
          <p:cNvSpPr/>
          <p:nvPr/>
        </p:nvSpPr>
        <p:spPr>
          <a:xfrm>
            <a:off x="3521021" y="2128274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C08915-3B03-428C-A854-C24E974C9B05}"/>
              </a:ext>
            </a:extLst>
          </p:cNvPr>
          <p:cNvSpPr/>
          <p:nvPr/>
        </p:nvSpPr>
        <p:spPr>
          <a:xfrm>
            <a:off x="3521021" y="2788458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8AA56-590C-48AD-B10F-69011942F319}"/>
              </a:ext>
            </a:extLst>
          </p:cNvPr>
          <p:cNvSpPr/>
          <p:nvPr/>
        </p:nvSpPr>
        <p:spPr>
          <a:xfrm>
            <a:off x="3521020" y="3461967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66062" y="3907281"/>
            <a:ext cx="3276600" cy="9233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All </a:t>
            </a:r>
            <a:r>
              <a:rPr lang="en-US" b="1" dirty="0">
                <a:solidFill>
                  <a:srgbClr val="0070C0"/>
                </a:solidFill>
              </a:rPr>
              <a:t>transcendental numbers </a:t>
            </a:r>
            <a:r>
              <a:rPr lang="en-US" b="1" dirty="0"/>
              <a:t>yield an infinite CF with a repeated </a:t>
            </a:r>
            <a:r>
              <a:rPr lang="en-US" b="1" i="1" dirty="0">
                <a:solidFill>
                  <a:srgbClr val="FF0000"/>
                </a:solidFill>
              </a:rPr>
              <a:t>pattern</a:t>
            </a:r>
            <a:r>
              <a:rPr lang="en-US" b="1" i="1" dirty="0"/>
              <a:t> </a:t>
            </a:r>
            <a:r>
              <a:rPr lang="en-US" b="1" dirty="0"/>
              <a:t>of finite length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9373" y="5669663"/>
                <a:ext cx="5585255" cy="83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[2; {1,2n,1}] for n &gt; 0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[7;2,{1,1,3n,12n+6,3n+2}] for n &gt; 0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3" y="5669663"/>
                <a:ext cx="5585255" cy="839332"/>
              </a:xfrm>
              <a:prstGeom prst="rect">
                <a:avLst/>
              </a:prstGeom>
              <a:blipFill>
                <a:blip r:embed="rId3"/>
                <a:stretch>
                  <a:fillRect t="-5797" b="-159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CDDC07-6605-E728-ADD9-DB13746656D8}"/>
                  </a:ext>
                </a:extLst>
              </p:cNvPr>
              <p:cNvSpPr txBox="1"/>
              <p:nvPr/>
            </p:nvSpPr>
            <p:spPr>
              <a:xfrm>
                <a:off x="2158002" y="1691676"/>
                <a:ext cx="4827995" cy="122302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rad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[1;1,{1,1,4n+1}] for n &gt; 0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g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rad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[1;2,{1,1,6n+2}] for n &gt; 0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g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rad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[1;r-1,{1,1,r(2n+1)-1}] for n &gt; 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CDDC07-6605-E728-ADD9-DB1374665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002" y="1691676"/>
                <a:ext cx="4827995" cy="12230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62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2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Golden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9" y="2228943"/>
            <a:ext cx="2749010" cy="1588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02110" y="4325946"/>
                <a:ext cx="2047292" cy="10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10" y="4325946"/>
                <a:ext cx="2047292" cy="10706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09327" y="5222242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27" y="5222242"/>
                <a:ext cx="4206023" cy="77835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02110" y="5299315"/>
                <a:ext cx="2045625" cy="701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10" y="5299315"/>
                <a:ext cx="2045625" cy="7012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45882" y="2775003"/>
                <a:ext cx="150239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82" y="2775003"/>
                <a:ext cx="1502398" cy="75642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45882" y="3801278"/>
                <a:ext cx="15806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82" y="3801278"/>
                <a:ext cx="1580689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247" t="-1667" r="-1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96061" y="4604798"/>
                <a:ext cx="21166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061" y="4604798"/>
                <a:ext cx="2116669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3170" r="-317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58" y="365126"/>
            <a:ext cx="2350164" cy="15217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100" y="365126"/>
            <a:ext cx="1902163" cy="15217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1EEB56-1E06-2BA0-7E6E-73DB0CD32F40}"/>
              </a:ext>
            </a:extLst>
          </p:cNvPr>
          <p:cNvSpPr txBox="1"/>
          <p:nvPr/>
        </p:nvSpPr>
        <p:spPr>
          <a:xfrm>
            <a:off x="2777085" y="3996784"/>
            <a:ext cx="119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lowercase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phi</a:t>
            </a:r>
          </a:p>
        </p:txBody>
      </p:sp>
    </p:spTree>
    <p:extLst>
      <p:ext uri="{BB962C8B-B14F-4D97-AF65-F5344CB8AC3E}">
        <p14:creationId xmlns:p14="http://schemas.microsoft.com/office/powerpoint/2010/main" val="11748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5" grpId="0"/>
      <p:bldP spid="16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523" y="1611618"/>
            <a:ext cx="6586954" cy="37909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17" y="1958980"/>
            <a:ext cx="7708966" cy="34435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328" y="2956268"/>
            <a:ext cx="5066346" cy="32279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242" y="1501140"/>
            <a:ext cx="3700975" cy="45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6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50" y="1499610"/>
            <a:ext cx="4155299" cy="34533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3920" y="1499610"/>
            <a:ext cx="4013330" cy="334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77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32" y="1490787"/>
            <a:ext cx="6863335" cy="48731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863DA8-CA23-EE0F-73C9-E3E7CB30C9E7}"/>
              </a:ext>
            </a:extLst>
          </p:cNvPr>
          <p:cNvSpPr/>
          <p:nvPr/>
        </p:nvSpPr>
        <p:spPr>
          <a:xfrm>
            <a:off x="1186453" y="2297336"/>
            <a:ext cx="4148807" cy="2115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2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948720"/>
            <a:ext cx="7216346" cy="5324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1.618033988749894848204586834365638117720309179805762862135448622705260462818902449707207204189391137484754088075386891752126633862223536931793180060766726354433389086595939582905638322661319928290267880675208766892501711696207032221043216269548626296313614438149758701220340805887954454749246185695364864449241044320771344947049565846788509874339442212544877066478091588460749988712400765217057517978834166256249407589069704000281210427621771117778053153171410117046665991466979873176135600670874807101317952368942752194843530567830022878569978297783478458782289110976250030269615617002504643382437764861028383126833037242926752631165339247316711121158818638513316203840052221657912866752946549068113171599343235973494985090409476213222981017261070596116456299098162905552085247903524060201727997471753427775927786256194320827505131218156285512224809394712341451702237358057727861600868838295230459264787801788992199027077690389532196819861514378031499741106926088674296226757560523172777520353613936210767389376455606060592165894667595519004005559089502295309423124823552122124154440064703405657347976639723949499465845788730396230903750339938562102423690251386804145779956981224457471780341731264532204163972321340444494873023154176768937521030687378803441700939544096279558986787232095124268935573097045095956844017555198819218020640529055189349475926007348522821010881946445442223188913192946896220023014437702699230078030852611807545192887705021096842493627135925187607778846658361502389134933331223105339232136243192637289106705033992822652635562090297986424727597725655086154875435748264718141451270006023890162077732244994353088999095016803281121943204819643876758633147985719113978153978074761507722117508269458639320456520989698555678141069683728840587461033781054443909436835835813811311689938555769754841491445341509129540700501947754861630754226417293946803673198058618339183285991303960720144559504497792120761247856459161608370594987860069701894098864007644361709334172709191433650137157660114803814306262380514321173481510055901345610118007905063814215270930858809287570345050780814545881990633612982798141174533927312080928972792221329806429468782427487401745055406778757083237310975915117762978443284747908176518097787268416117632503861211291436834376702350371116330725869883258710336322238109809012110198991768414917512331340152733843837234500934786049792945991582201258104598230925528721241370436149102054718554961180876426576511060545881475604431784798584539731286301625448761148520217064404111660766950597757832570395110878230827106478939021115691039276838453863333215658296597731034360323225457436372041244064088826737584339536795931232213437320995749889469956564736007295999839128810319742631251797141432012311279551894778172691415891177991956481255800184550656329528598591000908621802977563789259991649946428193022293552346674759326951654214021091363018194722707890122087287361707348649998156255472811373479871656952748900814438405327483781378246691744422963491470815700735254570708977267546934382261954686153312095335792380146092735102101191902183606750973089575289577468142295433943854931553396303807291691758461014609950550648036793041472365720398600735507609023173125016132048435836481770484818109916024425232716721901893345963786087875287017393593030133590112371023917126590470263494028307668767436386513271062803231740693173344823435645318505813531085497333507599667787124490583636754132890862406324563953572125242611702780286560432349428373017255744058372782679960317393640132876277012436798311446436947670531272492410471670013824783128656506493434180390041017805339505877245866557552293915823970841772983372823115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3200" dirty="0">
                    <a:latin typeface="+mn-lt"/>
                  </a:rPr>
                  <a:t> to 3,600 digits </a:t>
                </a: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  <a:blipFill>
                <a:blip r:embed="rId2"/>
                <a:stretch>
                  <a:fillRect t="-19417" b="-17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195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std_cf.py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49F041-CF27-F83E-9E90-A87316EE8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82" y="1683465"/>
            <a:ext cx="3656775" cy="28300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BA349EB-C258-FED1-051B-D79D5C069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143" y="1681907"/>
            <a:ext cx="3656775" cy="446111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812AE6F-3F2D-1775-4DE1-35A2C5115C98}"/>
              </a:ext>
            </a:extLst>
          </p:cNvPr>
          <p:cNvGrpSpPr/>
          <p:nvPr/>
        </p:nvGrpSpPr>
        <p:grpSpPr>
          <a:xfrm>
            <a:off x="1847063" y="2966714"/>
            <a:ext cx="1076632" cy="369332"/>
            <a:chOff x="4968362" y="2079211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459C671-6CA6-468C-7B42-FD1CB131C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9EC087-171F-314E-F4B9-53C9B262BE4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95CC52-6C78-3B65-3B60-3895B954E86A}"/>
              </a:ext>
            </a:extLst>
          </p:cNvPr>
          <p:cNvGrpSpPr/>
          <p:nvPr/>
        </p:nvGrpSpPr>
        <p:grpSpPr>
          <a:xfrm>
            <a:off x="2360238" y="3167894"/>
            <a:ext cx="1076632" cy="369332"/>
            <a:chOff x="4704120" y="2356972"/>
            <a:chExt cx="1076632" cy="36933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8C1C5FF-F466-2FDB-4528-A9481C43BD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91075E0-83AD-0D92-06A0-E31CFB3F7CB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D8FEB5-BC14-812E-9A08-06C3C8D1F38D}"/>
              </a:ext>
            </a:extLst>
          </p:cNvPr>
          <p:cNvGrpSpPr/>
          <p:nvPr/>
        </p:nvGrpSpPr>
        <p:grpSpPr>
          <a:xfrm>
            <a:off x="2076518" y="1734906"/>
            <a:ext cx="1068643" cy="369332"/>
            <a:chOff x="3647644" y="4910075"/>
            <a:chExt cx="1068643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52B18E-1907-C9A2-1C6D-6C4027C05A3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24C01A7-3910-FF3B-AB54-A60E6414C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397F63-264A-5A1D-FED7-7256E025DBC2}"/>
              </a:ext>
            </a:extLst>
          </p:cNvPr>
          <p:cNvGrpSpPr/>
          <p:nvPr/>
        </p:nvGrpSpPr>
        <p:grpSpPr>
          <a:xfrm>
            <a:off x="2611789" y="1949330"/>
            <a:ext cx="1064340" cy="369332"/>
            <a:chOff x="3647644" y="5421073"/>
            <a:chExt cx="1064340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6737DA-BA27-FC4C-76F8-4F5CA2957E7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6CDFA46-FAB7-ADDB-0FFA-742DEB37A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A08D9C8-38EF-D95E-0EFB-0868AFAEB2A5}"/>
              </a:ext>
            </a:extLst>
          </p:cNvPr>
          <p:cNvGrpSpPr/>
          <p:nvPr/>
        </p:nvGrpSpPr>
        <p:grpSpPr>
          <a:xfrm>
            <a:off x="6347654" y="4220523"/>
            <a:ext cx="1068643" cy="369332"/>
            <a:chOff x="3647644" y="5359159"/>
            <a:chExt cx="1068643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C094C6F-FBEF-0CC3-297F-6B950ACFA30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A1511D-1510-40A4-C567-5F690EF0E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2004C68-D836-49A6-D28C-7407279102DF}"/>
              </a:ext>
            </a:extLst>
          </p:cNvPr>
          <p:cNvGrpSpPr/>
          <p:nvPr/>
        </p:nvGrpSpPr>
        <p:grpSpPr>
          <a:xfrm>
            <a:off x="7410776" y="4608833"/>
            <a:ext cx="1076632" cy="369332"/>
            <a:chOff x="2157212" y="5356391"/>
            <a:chExt cx="1076632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4B7C10-F627-E73C-3FA4-3B1B428850C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0FB1D01-6C73-C3A2-581C-F199B6AB10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E7178F-4CD5-79D0-D86B-4BEC89D1FA75}"/>
              </a:ext>
            </a:extLst>
          </p:cNvPr>
          <p:cNvGrpSpPr/>
          <p:nvPr/>
        </p:nvGrpSpPr>
        <p:grpSpPr>
          <a:xfrm>
            <a:off x="6435887" y="5429407"/>
            <a:ext cx="1076632" cy="369332"/>
            <a:chOff x="2157212" y="5356391"/>
            <a:chExt cx="1076632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379F719-860E-F91B-8C07-C9BF83C25CF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4BA7FB7-9912-A5A5-4037-AB29EBE8FC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AB50A9-DED2-CA21-F88A-E971CBAB9601}"/>
              </a:ext>
            </a:extLst>
          </p:cNvPr>
          <p:cNvGrpSpPr/>
          <p:nvPr/>
        </p:nvGrpSpPr>
        <p:grpSpPr>
          <a:xfrm>
            <a:off x="7250205" y="5848990"/>
            <a:ext cx="1076632" cy="369332"/>
            <a:chOff x="2157212" y="5356391"/>
            <a:chExt cx="1076632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0E2CEC1-A841-9362-E897-CD945EB71E6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7454122-4A39-6C8F-D544-5424C8CD2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BC0DF84-4E34-5CEF-C7F5-C4C0AAA523C0}"/>
              </a:ext>
            </a:extLst>
          </p:cNvPr>
          <p:cNvGrpSpPr/>
          <p:nvPr/>
        </p:nvGrpSpPr>
        <p:grpSpPr>
          <a:xfrm>
            <a:off x="5782370" y="4416092"/>
            <a:ext cx="1076632" cy="369332"/>
            <a:chOff x="2157212" y="5356391"/>
            <a:chExt cx="1076632" cy="36933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559726-2160-CF6C-89B4-64FC1130EF3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5C29775-A908-FEBD-30CD-4509891AF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1306E46-D017-28D1-2C2E-578CCF09F91F}"/>
              </a:ext>
            </a:extLst>
          </p:cNvPr>
          <p:cNvGrpSpPr/>
          <p:nvPr/>
        </p:nvGrpSpPr>
        <p:grpSpPr>
          <a:xfrm>
            <a:off x="6798684" y="3391877"/>
            <a:ext cx="1076632" cy="369332"/>
            <a:chOff x="2157212" y="5356391"/>
            <a:chExt cx="1076632" cy="36933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8F0A3B-9058-F6C2-9968-6CE9C6F1872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999D3BC-068E-E8DC-C6C1-B0A7944E48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56C403FA-5989-9BD2-93C5-0DE76BE23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27" y="4927110"/>
            <a:ext cx="4240789" cy="10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70055B96-E217-127B-1F75-E64F91572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135" y="1633255"/>
            <a:ext cx="3651540" cy="26029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std_cf.py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49F041-CF27-F83E-9E90-A87316EE8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14" y="1406095"/>
            <a:ext cx="3656775" cy="283009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812AE6F-3F2D-1775-4DE1-35A2C5115C98}"/>
              </a:ext>
            </a:extLst>
          </p:cNvPr>
          <p:cNvGrpSpPr/>
          <p:nvPr/>
        </p:nvGrpSpPr>
        <p:grpSpPr>
          <a:xfrm>
            <a:off x="1894995" y="2689344"/>
            <a:ext cx="1076632" cy="369332"/>
            <a:chOff x="4968362" y="2079211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459C671-6CA6-468C-7B42-FD1CB131C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9EC087-171F-314E-F4B9-53C9B262BE4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95CC52-6C78-3B65-3B60-3895B954E86A}"/>
              </a:ext>
            </a:extLst>
          </p:cNvPr>
          <p:cNvGrpSpPr/>
          <p:nvPr/>
        </p:nvGrpSpPr>
        <p:grpSpPr>
          <a:xfrm>
            <a:off x="2408170" y="2890524"/>
            <a:ext cx="1076632" cy="369332"/>
            <a:chOff x="4704120" y="2356972"/>
            <a:chExt cx="1076632" cy="36933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8C1C5FF-F466-2FDB-4528-A9481C43BD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91075E0-83AD-0D92-06A0-E31CFB3F7CB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D8FEB5-BC14-812E-9A08-06C3C8D1F38D}"/>
              </a:ext>
            </a:extLst>
          </p:cNvPr>
          <p:cNvGrpSpPr/>
          <p:nvPr/>
        </p:nvGrpSpPr>
        <p:grpSpPr>
          <a:xfrm>
            <a:off x="2124450" y="1457536"/>
            <a:ext cx="1068643" cy="369332"/>
            <a:chOff x="3647644" y="4910075"/>
            <a:chExt cx="1068643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52B18E-1907-C9A2-1C6D-6C4027C05A3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24C01A7-3910-FF3B-AB54-A60E6414C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397F63-264A-5A1D-FED7-7256E025DBC2}"/>
              </a:ext>
            </a:extLst>
          </p:cNvPr>
          <p:cNvGrpSpPr/>
          <p:nvPr/>
        </p:nvGrpSpPr>
        <p:grpSpPr>
          <a:xfrm>
            <a:off x="2659721" y="1671960"/>
            <a:ext cx="1064340" cy="369332"/>
            <a:chOff x="3647644" y="5421073"/>
            <a:chExt cx="1064340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6737DA-BA27-FC4C-76F8-4F5CA2957E7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6CDFA46-FAB7-ADDB-0FFA-742DEB37A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A08D9C8-38EF-D95E-0EFB-0868AFAEB2A5}"/>
              </a:ext>
            </a:extLst>
          </p:cNvPr>
          <p:cNvGrpSpPr/>
          <p:nvPr/>
        </p:nvGrpSpPr>
        <p:grpSpPr>
          <a:xfrm>
            <a:off x="2697997" y="1876740"/>
            <a:ext cx="1068643" cy="369332"/>
            <a:chOff x="3647644" y="5359159"/>
            <a:chExt cx="1068643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C094C6F-FBEF-0CC3-297F-6B950ACFA30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A1511D-1510-40A4-C567-5F690EF0E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2004C68-D836-49A6-D28C-7407279102DF}"/>
              </a:ext>
            </a:extLst>
          </p:cNvPr>
          <p:cNvGrpSpPr/>
          <p:nvPr/>
        </p:nvGrpSpPr>
        <p:grpSpPr>
          <a:xfrm>
            <a:off x="7288261" y="2002587"/>
            <a:ext cx="1076632" cy="369332"/>
            <a:chOff x="2157212" y="5356391"/>
            <a:chExt cx="1076632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4B7C10-F627-E73C-3FA4-3B1B428850C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0FB1D01-6C73-C3A2-581C-F199B6AB10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E7178F-4CD5-79D0-D86B-4BEC89D1FA75}"/>
              </a:ext>
            </a:extLst>
          </p:cNvPr>
          <p:cNvGrpSpPr/>
          <p:nvPr/>
        </p:nvGrpSpPr>
        <p:grpSpPr>
          <a:xfrm>
            <a:off x="7826577" y="3113312"/>
            <a:ext cx="1076632" cy="369332"/>
            <a:chOff x="2157212" y="5356391"/>
            <a:chExt cx="1076632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379F719-860E-F91B-8C07-C9BF83C25CF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4BA7FB7-9912-A5A5-4037-AB29EBE8FC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AB50A9-DED2-CA21-F88A-E971CBAB9601}"/>
              </a:ext>
            </a:extLst>
          </p:cNvPr>
          <p:cNvGrpSpPr/>
          <p:nvPr/>
        </p:nvGrpSpPr>
        <p:grpSpPr>
          <a:xfrm>
            <a:off x="6553741" y="3821884"/>
            <a:ext cx="1076632" cy="369332"/>
            <a:chOff x="2157212" y="5356391"/>
            <a:chExt cx="1076632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0E2CEC1-A841-9362-E897-CD945EB71E6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7454122-4A39-6C8F-D544-5424C8CD2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BC0DF84-4E34-5CEF-C7F5-C4C0AAA523C0}"/>
              </a:ext>
            </a:extLst>
          </p:cNvPr>
          <p:cNvGrpSpPr/>
          <p:nvPr/>
        </p:nvGrpSpPr>
        <p:grpSpPr>
          <a:xfrm>
            <a:off x="6468096" y="1560795"/>
            <a:ext cx="1076632" cy="369332"/>
            <a:chOff x="2157212" y="5356391"/>
            <a:chExt cx="1076632" cy="36933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559726-2160-CF6C-89B4-64FC1130EF3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5C29775-A908-FEBD-30CD-4509891AF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5C303FF5-D5C4-02E5-0425-45100790C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690" y="4321953"/>
            <a:ext cx="5070620" cy="236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9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2C0CA-FDA2-4874-9D55-635F497B75A6}"/>
              </a:ext>
            </a:extLst>
          </p:cNvPr>
          <p:cNvSpPr txBox="1"/>
          <p:nvPr/>
        </p:nvSpPr>
        <p:spPr>
          <a:xfrm>
            <a:off x="2002529" y="1321477"/>
            <a:ext cx="5138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Truncated infinite CFs, when decoded, will only return an approximation of the original real number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4DDD00-4B01-61FF-6DAD-4B5C120F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std_cf.py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E900D4-CB41-AFE4-DB52-C2C8E5B0A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02" y="2037527"/>
            <a:ext cx="7576591" cy="6881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A085BD5-0130-2B34-1800-76CBE9306D8C}"/>
                  </a:ext>
                </a:extLst>
              </p:cNvPr>
              <p:cNvSpPr/>
              <p:nvPr/>
            </p:nvSpPr>
            <p:spPr>
              <a:xfrm>
                <a:off x="4639240" y="3117442"/>
                <a:ext cx="3473066" cy="740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A085BD5-0130-2B34-1800-76CBE9306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0" y="3117442"/>
                <a:ext cx="3473066" cy="740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78D6BD84-4BC5-AA01-2AE9-7DA3C17A69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285" r="10558" b="13676"/>
          <a:stretch/>
        </p:blipFill>
        <p:spPr>
          <a:xfrm>
            <a:off x="884456" y="3162683"/>
            <a:ext cx="2836004" cy="3060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2605F9-3318-332E-5387-FB5D1820EB3F}"/>
                  </a:ext>
                </a:extLst>
              </p:cNvPr>
              <p:cNvSpPr txBox="1"/>
              <p:nvPr/>
            </p:nvSpPr>
            <p:spPr>
              <a:xfrm>
                <a:off x="4903260" y="4191594"/>
                <a:ext cx="2945027" cy="70788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</a:rPr>
                  <a:t> = [1; {1}]</a:t>
                </a:r>
                <a:endParaRPr lang="en-US" sz="40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2605F9-3318-332E-5387-FB5D1820E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260" y="4191594"/>
                <a:ext cx="2945027" cy="707886"/>
              </a:xfrm>
              <a:prstGeom prst="rect">
                <a:avLst/>
              </a:prstGeom>
              <a:blipFill>
                <a:blip r:embed="rId6"/>
                <a:stretch>
                  <a:fillRect t="-12295" b="-3196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C93DBB5D-795B-F19E-D6EC-B52909A314DA}"/>
              </a:ext>
            </a:extLst>
          </p:cNvPr>
          <p:cNvSpPr/>
          <p:nvPr/>
        </p:nvSpPr>
        <p:spPr>
          <a:xfrm>
            <a:off x="4012728" y="5398707"/>
            <a:ext cx="4164406" cy="824265"/>
          </a:xfrm>
          <a:prstGeom prst="wedgeRectCallout">
            <a:avLst>
              <a:gd name="adj1" fmla="val -1084"/>
              <a:gd name="adj2" fmla="val -121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is Mother Nature’s true </a:t>
            </a:r>
            <a:r>
              <a:rPr lang="en-US" sz="2000" b="1" i="1" dirty="0">
                <a:solidFill>
                  <a:schemeClr val="tx1"/>
                </a:solidFill>
              </a:rPr>
              <a:t>Unit</a:t>
            </a:r>
          </a:p>
          <a:p>
            <a:pPr algn="ctr"/>
            <a:r>
              <a:rPr lang="en-US" sz="2000" dirty="0"/>
              <a:t>It is the simplest infinite CF possible!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5F255-558A-E7D2-E608-61945149C44A}"/>
              </a:ext>
            </a:extLst>
          </p:cNvPr>
          <p:cNvSpPr/>
          <p:nvPr/>
        </p:nvSpPr>
        <p:spPr>
          <a:xfrm>
            <a:off x="1893094" y="2211051"/>
            <a:ext cx="243004" cy="17580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3F127-31E6-AF07-B57A-B9654D7FF80A}"/>
              </a:ext>
            </a:extLst>
          </p:cNvPr>
          <p:cNvSpPr/>
          <p:nvPr/>
        </p:nvSpPr>
        <p:spPr>
          <a:xfrm>
            <a:off x="8081963" y="2213311"/>
            <a:ext cx="260071" cy="17580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4980BB-DC4B-BE8B-7C67-7161CA2ABC32}"/>
              </a:ext>
            </a:extLst>
          </p:cNvPr>
          <p:cNvCxnSpPr/>
          <p:nvPr/>
        </p:nvCxnSpPr>
        <p:spPr>
          <a:xfrm>
            <a:off x="2398426" y="2725712"/>
            <a:ext cx="41972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04C7B6-8080-A537-4F37-5BE2D31FCB76}"/>
                  </a:ext>
                </a:extLst>
              </p:cNvPr>
              <p:cNvSpPr txBox="1"/>
              <p:nvPr/>
            </p:nvSpPr>
            <p:spPr>
              <a:xfrm>
                <a:off x="230489" y="2314066"/>
                <a:ext cx="456151" cy="240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113</m:t>
                          </m:r>
                        </m:e>
                      </m:rad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04C7B6-8080-A537-4F37-5BE2D31FC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9" y="2314066"/>
                <a:ext cx="456151" cy="240835"/>
              </a:xfrm>
              <a:prstGeom prst="rect">
                <a:avLst/>
              </a:prstGeom>
              <a:blipFill>
                <a:blip r:embed="rId7"/>
                <a:stretch>
                  <a:fillRect r="-800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44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7" grpId="0" animBg="1"/>
      <p:bldP spid="18" grpId="0" animBg="1"/>
      <p:bldP spid="2" grpId="0" animBg="1"/>
      <p:bldP spid="13" grpId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935277"/>
            <a:ext cx="7216346" cy="57861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3.14159265358979323846264338327950288419716939937510582097494459230781640628620899862803482534211706798214808651328230664709384460955058223172535940812848111745028410270193852110555964462294895493038196442881097566593344612847564823378678316527120190914564856692346034861045432664821339360726024914127372458700660631558817488152092096282925409171536436789259036001133053054882046652138414695194151160943305727036575959195309218611738193261179310511854807446237996274956735188575272489122793818301194912983367336244065664308602139494639522473719070217986094370277053921717629317675238467481846766940513200056812714526356082778577134275778960917363717872146844090122495343014654958537105079227968925892354201995611212902196086403441815981362977477130996051870721134999999837297804995105973173281609631859502445945534690830264252230825334468503526193118817101000313783875288658753320838142061717766914730359825349042875546873115956286388235378759375195778185778053217122680661300192787661119590921642019893809525720106548586327886593615338182796823030195203530185296899577362259941389124972177528347913151557485724245415069595082953311686172785588907509838175463746493931925506040092770167113900984882401285836160356370766010471018194295559619894676783744944825537977472684710404753464620804668425906949129331367702898915210475216205696602405803815019351125338243003558764024749647326391419927260426992279678235478163600934172164121992458631503028618297455570674983850549458858692699569092721079750930295532116534498720275596023648066549911988183479775356636980742654252786255181841757467289097777279380008164706001614524919217321721477235014144197356854816136115735255213347574184946843852332390739414333454776241686251898356948556209921922218427255025425688767179049460165346680498862723279178608578438382796797668145410095388378636095068006422512520511739298489608412848862694560424196528502221066118630674427862203919494504712371378696095636437191728746776465757396241389086583264599581339047802759009946576407895126946839835259570982582262052248940772671947826848260147699090264013639443745530506820349625245174939965143142980919065925093722169646151570985838741059788595977297549893016175392846813826868386894277415599185592524595395943104997252468084598727364469584865383673622262609912460805124388439045124413654976278079771569143599770012961608944169486855584840635342207222582848864815845602850601684273945226746767889525213852254995466672782398645659611635488623057745649803559363456817432411251507606947945109659609402522887971089314566913686722874894056010150330861792868092087476091782493858900971490967598526136554978189312978482168299894872265880485756401427047755513237964145152374623436454285844479526586782105114135473573952311342716610213596953623144295248493718711014576540359027993440374200731057853906219838744780847848968332144571386875194350643021845319104848100537061468067491927819119793995206141966342875444064374512371819217999839101591956181467514269123974894090718649423196156794520809514655022523160388193014209376213785595663893778708303906979207734672218256259966150142150306803844773454920260541466592520149744285073251866600213243408819071048633173464965145390579626856100550810665879699816357473638405257145910289706414011097120628043903975951567715770042033786993600723055876317635942187312514712053292819182618612586732157919841484882916447060957527069572209175671167229109816909152801735067127485832228718352093539657251210835791513698820914442100675103346711031412671113699086585163983150197016515116851714376576183515565088490998985998238734552833163550764791853589322618548963213293308985706420467525907091548141654985946163718027098199430992448895757128289059232332609729971208443357326548938239119325974636673058360414281388303203824903758985243744170291327656180937734440307074692112019130203303801976211011004492932151608424448596376698389522868478312355265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3200" dirty="0">
                    <a:latin typeface="+mn-lt"/>
                  </a:rPr>
                  <a:t> to 3,600 digits </a:t>
                </a: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  <a:blipFill>
                <a:blip r:embed="rId2"/>
                <a:stretch>
                  <a:fillRect t="-19417" b="-17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573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69757" y="181234"/>
            <a:ext cx="500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01114" y="766116"/>
                <a:ext cx="57417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the standard CF encoding for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14" y="766116"/>
                <a:ext cx="5741773" cy="400110"/>
              </a:xfrm>
              <a:prstGeom prst="rect">
                <a:avLst/>
              </a:prstGeom>
              <a:blipFill>
                <a:blip r:embed="rId2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9373" y="5894172"/>
                <a:ext cx="558525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= [3;7,15,1,292,1,1,1,2,1,3,1,14,3,3,23,1,1,7….] (no repeated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pattern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of finite length </a:t>
                </a:r>
                <a:r>
                  <a:rPr lang="en-US" sz="20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!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3" y="5894172"/>
                <a:ext cx="5585255" cy="707886"/>
              </a:xfrm>
              <a:prstGeom prst="rect">
                <a:avLst/>
              </a:prstGeom>
              <a:blipFill rotWithShape="0">
                <a:blip r:embed="rId3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1FE78-A6B8-40E9-971E-8E96FA05C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240" y="1322337"/>
            <a:ext cx="4537520" cy="445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4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CCCF48-CFF1-4380-B2FF-A56282D1B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75" y="856116"/>
            <a:ext cx="6949851" cy="369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69757" y="181234"/>
            <a:ext cx="500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Continued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908" y="4741751"/>
            <a:ext cx="7114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If measuring the circumference of Earth:</a:t>
            </a:r>
          </a:p>
          <a:p>
            <a:r>
              <a:rPr lang="en-US" dirty="0"/>
              <a:t>22 / 7 = accurate to between NYC and Washington, DC</a:t>
            </a:r>
          </a:p>
          <a:p>
            <a:r>
              <a:rPr lang="en-US" dirty="0"/>
              <a:t>355 / 113 = accurate to 100m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4108" y="5739810"/>
            <a:ext cx="532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If measuring the distance between Earth &amp; Sun:</a:t>
            </a:r>
          </a:p>
          <a:p>
            <a:r>
              <a:rPr lang="en-US" dirty="0"/>
              <a:t>355 / 113 = accurate to 400m</a:t>
            </a:r>
          </a:p>
          <a:p>
            <a:r>
              <a:rPr lang="en-US" dirty="0"/>
              <a:t>104348 / 33215 = accurate to 10cm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64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944620" y="4880005"/>
            <a:ext cx="5254760" cy="1247522"/>
            <a:chOff x="3385333" y="4960410"/>
            <a:chExt cx="5358860" cy="124752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5333" y="4960410"/>
              <a:ext cx="2373334" cy="12475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6339847" y="5313700"/>
                  <a:ext cx="240434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In a </a:t>
                  </a:r>
                  <a:r>
                    <a:rPr lang="en-US" b="1" i="1" dirty="0"/>
                    <a:t>standard</a:t>
                  </a:r>
                  <a:r>
                    <a:rPr lang="en-US" dirty="0"/>
                    <a:t> CF all the numerators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847" y="5313700"/>
                  <a:ext cx="24043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2067" t="-4673" r="-3359" b="-130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Down Arrow 3"/>
            <p:cNvSpPr/>
            <p:nvPr/>
          </p:nvSpPr>
          <p:spPr>
            <a:xfrm rot="5400000">
              <a:off x="5856636" y="5373917"/>
              <a:ext cx="326574" cy="52251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Generalized 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F54EA-7D06-4DAA-AE6E-1B2BFCC4DA29}"/>
                  </a:ext>
                </a:extLst>
              </p:cNvPr>
              <p:cNvSpPr txBox="1"/>
              <p:nvPr/>
            </p:nvSpPr>
            <p:spPr>
              <a:xfrm>
                <a:off x="2540547" y="1354234"/>
                <a:ext cx="4045082" cy="1674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⋱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F54EA-7D06-4DAA-AE6E-1B2BFCC4D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547" y="1354234"/>
                <a:ext cx="4045082" cy="16746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030DB-4DE8-4AE4-8399-F823F94492DB}"/>
                  </a:ext>
                </a:extLst>
              </p:cNvPr>
              <p:cNvSpPr txBox="1"/>
              <p:nvPr/>
            </p:nvSpPr>
            <p:spPr>
              <a:xfrm>
                <a:off x="1747684" y="3538965"/>
                <a:ext cx="56486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</a:rPr>
                  <a:t>In a </a:t>
                </a:r>
                <a:r>
                  <a:rPr lang="en-US" sz="2400" u="sng" dirty="0">
                    <a:solidFill>
                      <a:srgbClr val="0070C0"/>
                    </a:solidFill>
                  </a:rPr>
                  <a:t>generalized</a:t>
                </a:r>
                <a:r>
                  <a:rPr lang="en-US" sz="2400" dirty="0">
                    <a:solidFill>
                      <a:srgbClr val="0070C0"/>
                    </a:solidFill>
                  </a:rPr>
                  <a:t> continued fraction,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can be </a:t>
                </a:r>
                <a:r>
                  <a:rPr lang="en-US" sz="2400" i="1" dirty="0">
                    <a:solidFill>
                      <a:srgbClr val="0070C0"/>
                    </a:solidFill>
                  </a:rPr>
                  <a:t>any</a:t>
                </a:r>
                <a:r>
                  <a:rPr lang="en-US" sz="2400" dirty="0">
                    <a:solidFill>
                      <a:srgbClr val="0070C0"/>
                    </a:solidFill>
                  </a:rPr>
                  <a:t> expression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030DB-4DE8-4AE4-8399-F823F944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684" y="3538965"/>
                <a:ext cx="5648632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48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15012" y="1305466"/>
                <a:ext cx="63139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a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generalized</a:t>
                </a:r>
                <a:r>
                  <a:rPr lang="en-US" sz="2000" dirty="0"/>
                  <a:t> CF encoding for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012" y="1305466"/>
                <a:ext cx="6313973" cy="400110"/>
              </a:xfrm>
              <a:prstGeom prst="rect">
                <a:avLst/>
              </a:prstGeom>
              <a:blipFill>
                <a:blip r:embed="rId2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Generalized 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90AD3-AED2-4579-9DC5-612C77CFFDD0}"/>
                  </a:ext>
                </a:extLst>
              </p:cNvPr>
              <p:cNvSpPr txBox="1"/>
              <p:nvPr/>
            </p:nvSpPr>
            <p:spPr>
              <a:xfrm>
                <a:off x="2551314" y="2279112"/>
                <a:ext cx="4041363" cy="2083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6+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6+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den>
                                  </m:f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90AD3-AED2-4579-9DC5-612C77CF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314" y="2279112"/>
                <a:ext cx="4041363" cy="2083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AA3DAC-45AE-4BCA-B48B-08A3657BADAA}"/>
                  </a:ext>
                </a:extLst>
              </p:cNvPr>
              <p:cNvSpPr txBox="1"/>
              <p:nvPr/>
            </p:nvSpPr>
            <p:spPr>
              <a:xfrm>
                <a:off x="1779369" y="5107878"/>
                <a:ext cx="558525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[3; 1, {(2n+1)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|6}]</a:t>
                </a:r>
              </a:p>
              <a:p>
                <a:pPr algn="ctr"/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/>
                  <a:t>All the mysterious and unpredictable digits of PI come from this simple generalized CF !!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AA3DAC-45AE-4BCA-B48B-08A3657BA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69" y="5107878"/>
                <a:ext cx="5585255" cy="1384995"/>
              </a:xfrm>
              <a:prstGeom prst="rect">
                <a:avLst/>
              </a:prstGeom>
              <a:blipFill>
                <a:blip r:embed="rId4"/>
                <a:stretch>
                  <a:fillRect t="-3524" b="-7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CEF2F71-1174-4ED2-8C33-7498E144D1EB}"/>
              </a:ext>
            </a:extLst>
          </p:cNvPr>
          <p:cNvGrpSpPr/>
          <p:nvPr/>
        </p:nvGrpSpPr>
        <p:grpSpPr>
          <a:xfrm>
            <a:off x="555979" y="3163155"/>
            <a:ext cx="1993491" cy="1937171"/>
            <a:chOff x="555979" y="2912434"/>
            <a:chExt cx="1993491" cy="193717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0B14179-25FB-4418-84C4-D9B03BB50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979" y="3235874"/>
              <a:ext cx="1993491" cy="16137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7E2A4F-A087-4FF6-9985-83EE8A2FEC90}"/>
                </a:ext>
              </a:extLst>
            </p:cNvPr>
            <p:cNvSpPr txBox="1"/>
            <p:nvPr/>
          </p:nvSpPr>
          <p:spPr>
            <a:xfrm>
              <a:off x="555979" y="2912434"/>
              <a:ext cx="1993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Euler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CDA1E8-0DC1-4C65-BF9D-0FC215EB4062}"/>
              </a:ext>
            </a:extLst>
          </p:cNvPr>
          <p:cNvGrpSpPr/>
          <p:nvPr/>
        </p:nvGrpSpPr>
        <p:grpSpPr>
          <a:xfrm>
            <a:off x="3705325" y="4619191"/>
            <a:ext cx="2120292" cy="594542"/>
            <a:chOff x="3705325" y="4619191"/>
            <a:chExt cx="2120292" cy="59454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8148CC-CAE0-4176-86FC-1AA701513E1D}"/>
                </a:ext>
              </a:extLst>
            </p:cNvPr>
            <p:cNvGrpSpPr/>
            <p:nvPr/>
          </p:nvGrpSpPr>
          <p:grpSpPr>
            <a:xfrm>
              <a:off x="3705325" y="4619191"/>
              <a:ext cx="355986" cy="586990"/>
              <a:chOff x="3852808" y="4619191"/>
              <a:chExt cx="355986" cy="5869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4A714EE3-5B13-42C3-8AE0-F5088D76D69D}"/>
                      </a:ext>
                    </a:extLst>
                  </p:cNvPr>
                  <p:cNvSpPr txBox="1"/>
                  <p:nvPr/>
                </p:nvSpPr>
                <p:spPr>
                  <a:xfrm>
                    <a:off x="3852808" y="4619191"/>
                    <a:ext cx="35598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4A714EE3-5B13-42C3-8AE0-F5088D76D6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2808" y="4619191"/>
                    <a:ext cx="35598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709EF33-FE42-47ED-A62D-2E634C47B868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H="1">
                <a:off x="4030790" y="4896190"/>
                <a:ext cx="11" cy="309991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B9A366-8E93-43EF-9863-47CED4824C44}"/>
                </a:ext>
              </a:extLst>
            </p:cNvPr>
            <p:cNvGrpSpPr/>
            <p:nvPr/>
          </p:nvGrpSpPr>
          <p:grpSpPr>
            <a:xfrm>
              <a:off x="4756578" y="4619191"/>
              <a:ext cx="360416" cy="586990"/>
              <a:chOff x="4638592" y="4619191"/>
              <a:chExt cx="360416" cy="5869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F68B865-3DDA-47C3-A1C8-CCB11B25C53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592" y="4619191"/>
                    <a:ext cx="36041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F68B865-3DDA-47C3-A1C8-CCB11B25C5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592" y="4619191"/>
                    <a:ext cx="36041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89509D7-00FB-4265-AA25-BBBFFF878474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>
                <a:off x="4818800" y="4896190"/>
                <a:ext cx="6488" cy="309991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7023DBA-2553-4571-A21A-1DC165F3A605}"/>
                </a:ext>
              </a:extLst>
            </p:cNvPr>
            <p:cNvGrpSpPr/>
            <p:nvPr/>
          </p:nvGrpSpPr>
          <p:grpSpPr>
            <a:xfrm>
              <a:off x="5452225" y="4619191"/>
              <a:ext cx="373392" cy="586990"/>
              <a:chOff x="5319492" y="4619191"/>
              <a:chExt cx="373392" cy="5869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62942A8C-0416-45CE-A457-836CB01F5C0E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492" y="4619191"/>
                    <a:ext cx="37339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62942A8C-0416-45CE-A457-836CB01F5C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9492" y="4619191"/>
                    <a:ext cx="373392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57485F6-9796-49B9-B585-7A601B1DB2C5}"/>
                  </a:ext>
                </a:extLst>
              </p:cNvPr>
              <p:cNvCxnSpPr>
                <a:cxnSpLocks/>
                <a:stCxn id="13" idx="2"/>
              </p:cNvCxnSpPr>
              <p:nvPr/>
            </p:nvCxnSpPr>
            <p:spPr>
              <a:xfrm flipH="1">
                <a:off x="5499703" y="4896190"/>
                <a:ext cx="6485" cy="309991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D3CB12F-8851-4D44-8D12-44AE941A871C}"/>
                </a:ext>
              </a:extLst>
            </p:cNvPr>
            <p:cNvGrpSpPr/>
            <p:nvPr/>
          </p:nvGrpSpPr>
          <p:grpSpPr>
            <a:xfrm>
              <a:off x="4066063" y="4619191"/>
              <a:ext cx="277960" cy="594542"/>
              <a:chOff x="4184048" y="4619191"/>
              <a:chExt cx="277960" cy="5945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780DEAA-C7C1-4968-B32B-7129932D124B}"/>
                      </a:ext>
                    </a:extLst>
                  </p:cNvPr>
                  <p:cNvSpPr txBox="1"/>
                  <p:nvPr/>
                </p:nvSpPr>
                <p:spPr>
                  <a:xfrm>
                    <a:off x="4184048" y="4619191"/>
                    <a:ext cx="2779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780DEAA-C7C1-4968-B32B-7129932D12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4048" y="4619191"/>
                    <a:ext cx="27796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4FE0281-38B2-421A-8D63-871F8EA48C65}"/>
                  </a:ext>
                </a:extLst>
              </p:cNvPr>
              <p:cNvCxnSpPr>
                <a:stCxn id="19" idx="2"/>
              </p:cNvCxnSpPr>
              <p:nvPr/>
            </p:nvCxnSpPr>
            <p:spPr>
              <a:xfrm>
                <a:off x="4323028" y="4896190"/>
                <a:ext cx="0" cy="317543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A91B169-8806-930A-2AAE-86979AEFC50D}"/>
              </a:ext>
            </a:extLst>
          </p:cNvPr>
          <p:cNvGrpSpPr/>
          <p:nvPr/>
        </p:nvGrpSpPr>
        <p:grpSpPr>
          <a:xfrm>
            <a:off x="3206824" y="1981841"/>
            <a:ext cx="355986" cy="586990"/>
            <a:chOff x="3244609" y="1981841"/>
            <a:chExt cx="355986" cy="5869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49A57EB-9604-AF35-1B56-ECB176F3B4C5}"/>
                    </a:ext>
                  </a:extLst>
                </p:cNvPr>
                <p:cNvSpPr txBox="1"/>
                <p:nvPr/>
              </p:nvSpPr>
              <p:spPr>
                <a:xfrm>
                  <a:off x="3244609" y="1981841"/>
                  <a:ext cx="3559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49A57EB-9604-AF35-1B56-ECB176F3B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609" y="1981841"/>
                  <a:ext cx="355986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9F54A1-B600-F7AA-04F2-579C0B0B2AD2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3422591" y="2258840"/>
              <a:ext cx="11" cy="309991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5E3BF6A-C0A6-01CD-C1B1-73E3483AF99D}"/>
              </a:ext>
            </a:extLst>
          </p:cNvPr>
          <p:cNvGrpSpPr/>
          <p:nvPr/>
        </p:nvGrpSpPr>
        <p:grpSpPr>
          <a:xfrm>
            <a:off x="4993128" y="1735366"/>
            <a:ext cx="277960" cy="594542"/>
            <a:chOff x="4993128" y="1735366"/>
            <a:chExt cx="277960" cy="5945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8D0D0BC-670E-AB78-1E6D-2FAAC8E5144F}"/>
                    </a:ext>
                  </a:extLst>
                </p:cNvPr>
                <p:cNvSpPr txBox="1"/>
                <p:nvPr/>
              </p:nvSpPr>
              <p:spPr>
                <a:xfrm>
                  <a:off x="4993128" y="1735366"/>
                  <a:ext cx="2779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8D0D0BC-670E-AB78-1E6D-2FAAC8E51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3128" y="1735366"/>
                  <a:ext cx="277960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5C0C423-3843-7D48-1A29-B95109B607A6}"/>
                </a:ext>
              </a:extLst>
            </p:cNvPr>
            <p:cNvCxnSpPr>
              <a:stCxn id="22" idx="2"/>
            </p:cNvCxnSpPr>
            <p:nvPr/>
          </p:nvCxnSpPr>
          <p:spPr>
            <a:xfrm>
              <a:off x="5132108" y="2012365"/>
              <a:ext cx="0" cy="317543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5F329F-082B-3178-5135-9C862B808640}"/>
              </a:ext>
            </a:extLst>
          </p:cNvPr>
          <p:cNvGrpSpPr/>
          <p:nvPr/>
        </p:nvGrpSpPr>
        <p:grpSpPr>
          <a:xfrm>
            <a:off x="3244598" y="3280967"/>
            <a:ext cx="556585" cy="390019"/>
            <a:chOff x="3244598" y="3280967"/>
            <a:chExt cx="556585" cy="3900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BB0FBBB-D8A8-92FB-8505-6DC4809821D1}"/>
                    </a:ext>
                  </a:extLst>
                </p:cNvPr>
                <p:cNvSpPr txBox="1"/>
                <p:nvPr/>
              </p:nvSpPr>
              <p:spPr>
                <a:xfrm>
                  <a:off x="3244598" y="3393987"/>
                  <a:ext cx="3025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BB0FBBB-D8A8-92FB-8505-6DC480982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598" y="3393987"/>
                  <a:ext cx="30258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533374-BE85-85D9-F8F2-BF0F1C673854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V="1">
              <a:off x="3547180" y="3280967"/>
              <a:ext cx="254003" cy="25152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67EE86B-E360-8160-30B1-0810D3BA5879}"/>
              </a:ext>
            </a:extLst>
          </p:cNvPr>
          <p:cNvGrpSpPr/>
          <p:nvPr/>
        </p:nvGrpSpPr>
        <p:grpSpPr>
          <a:xfrm>
            <a:off x="5758453" y="2854127"/>
            <a:ext cx="570871" cy="276999"/>
            <a:chOff x="5758453" y="2854127"/>
            <a:chExt cx="570871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CB8E4C1-DE9D-066C-1855-373CFABDC168}"/>
                    </a:ext>
                  </a:extLst>
                </p:cNvPr>
                <p:cNvSpPr txBox="1"/>
                <p:nvPr/>
              </p:nvSpPr>
              <p:spPr>
                <a:xfrm>
                  <a:off x="6037256" y="2854127"/>
                  <a:ext cx="292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CB8E4C1-DE9D-066C-1855-373CFABDC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7256" y="2854127"/>
                  <a:ext cx="292068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728C50-2FAC-834C-0E5C-E809DBFB610D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5758453" y="2992627"/>
              <a:ext cx="278803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7224C51-BD9F-5352-8E4E-B4C244589199}"/>
                  </a:ext>
                </a:extLst>
              </p:cNvPr>
              <p:cNvSpPr txBox="1"/>
              <p:nvPr/>
            </p:nvSpPr>
            <p:spPr>
              <a:xfrm>
                <a:off x="6116039" y="4793815"/>
                <a:ext cx="17640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7224C51-BD9F-5352-8E4E-B4C244589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039" y="4793815"/>
                <a:ext cx="176402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29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4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844CE5A7-D195-AA54-FB1C-EE8B14EFB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565" y="1439003"/>
            <a:ext cx="4506171" cy="14498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F13A50F-EC61-8607-281A-0CC704404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392" y="4250853"/>
            <a:ext cx="2624173" cy="20270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343A69-A7FE-A065-1B6E-69089C20D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647" y="4250853"/>
            <a:ext cx="2965237" cy="24447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21E019-0630-4DF2-A294-6BD1A1343DA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889" r="22486" b="43964"/>
          <a:stretch/>
        </p:blipFill>
        <p:spPr>
          <a:xfrm>
            <a:off x="574891" y="1411659"/>
            <a:ext cx="3050499" cy="1103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0AFE74-9208-8BB0-D657-DBF8F54F881B}"/>
                  </a:ext>
                </a:extLst>
              </p:cNvPr>
              <p:cNvSpPr txBox="1"/>
              <p:nvPr/>
            </p:nvSpPr>
            <p:spPr>
              <a:xfrm>
                <a:off x="726238" y="2576011"/>
                <a:ext cx="2747804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0AFE74-9208-8BB0-D657-DBF8F54F8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38" y="2576011"/>
                <a:ext cx="2747804" cy="602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E81CF4-9A1C-770A-3029-E9D5FAFF342E}"/>
                  </a:ext>
                </a:extLst>
              </p:cNvPr>
              <p:cNvSpPr txBox="1"/>
              <p:nvPr/>
            </p:nvSpPr>
            <p:spPr>
              <a:xfrm>
                <a:off x="766342" y="3433262"/>
                <a:ext cx="3393429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E81CF4-9A1C-770A-3029-E9D5FAFF3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42" y="3433262"/>
                <a:ext cx="3393429" cy="5557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D771C1-CBAD-53DF-8CB9-5D807DCF911C}"/>
                  </a:ext>
                </a:extLst>
              </p:cNvPr>
              <p:cNvSpPr txBox="1"/>
              <p:nvPr/>
            </p:nvSpPr>
            <p:spPr>
              <a:xfrm>
                <a:off x="4572000" y="3030578"/>
                <a:ext cx="1459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D771C1-CBAD-53DF-8CB9-5D807DCF9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030578"/>
                <a:ext cx="1459309" cy="276999"/>
              </a:xfrm>
              <a:prstGeom prst="rect">
                <a:avLst/>
              </a:prstGeom>
              <a:blipFill>
                <a:blip r:embed="rId10"/>
                <a:stretch>
                  <a:fillRect l="-2092" r="-334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6138A5-44EB-1F0F-7831-20F0AE42DBDF}"/>
                  </a:ext>
                </a:extLst>
              </p:cNvPr>
              <p:cNvSpPr txBox="1"/>
              <p:nvPr/>
            </p:nvSpPr>
            <p:spPr>
              <a:xfrm>
                <a:off x="4572000" y="3531161"/>
                <a:ext cx="36113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=4,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6138A5-44EB-1F0F-7831-20F0AE42D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531161"/>
                <a:ext cx="3611373" cy="276999"/>
              </a:xfrm>
              <a:prstGeom prst="rect">
                <a:avLst/>
              </a:prstGeom>
              <a:blipFill>
                <a:blip r:embed="rId11"/>
                <a:stretch>
                  <a:fillRect l="-1014" r="-1014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347072-D5A3-6E0D-7DD9-03B9CA797A15}"/>
              </a:ext>
            </a:extLst>
          </p:cNvPr>
          <p:cNvCxnSpPr>
            <a:cxnSpLocks/>
          </p:cNvCxnSpPr>
          <p:nvPr/>
        </p:nvCxnSpPr>
        <p:spPr>
          <a:xfrm flipV="1">
            <a:off x="5179102" y="2142129"/>
            <a:ext cx="613621" cy="88844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A442DE6-E98F-2A91-7900-A1553D3E0A72}"/>
              </a:ext>
            </a:extLst>
          </p:cNvPr>
          <p:cNvCxnSpPr>
            <a:cxnSpLocks/>
          </p:cNvCxnSpPr>
          <p:nvPr/>
        </p:nvCxnSpPr>
        <p:spPr>
          <a:xfrm flipV="1">
            <a:off x="5917767" y="2142129"/>
            <a:ext cx="112487" cy="93678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1856A9-12D7-C58B-F8EF-B5B521320E8A}"/>
              </a:ext>
            </a:extLst>
          </p:cNvPr>
          <p:cNvCxnSpPr>
            <a:cxnSpLocks/>
          </p:cNvCxnSpPr>
          <p:nvPr/>
        </p:nvCxnSpPr>
        <p:spPr>
          <a:xfrm flipV="1">
            <a:off x="5191569" y="2142128"/>
            <a:ext cx="1057010" cy="140829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E89D1E0-B5E1-658B-2556-7908D305A8A2}"/>
              </a:ext>
            </a:extLst>
          </p:cNvPr>
          <p:cNvCxnSpPr>
            <a:cxnSpLocks/>
          </p:cNvCxnSpPr>
          <p:nvPr/>
        </p:nvCxnSpPr>
        <p:spPr>
          <a:xfrm flipV="1">
            <a:off x="5938569" y="2142129"/>
            <a:ext cx="554677" cy="140184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0DE19D-2E04-484C-027C-506E2B17F3E1}"/>
              </a:ext>
            </a:extLst>
          </p:cNvPr>
          <p:cNvCxnSpPr>
            <a:cxnSpLocks/>
          </p:cNvCxnSpPr>
          <p:nvPr/>
        </p:nvCxnSpPr>
        <p:spPr>
          <a:xfrm flipV="1">
            <a:off x="6638411" y="2142128"/>
            <a:ext cx="55821" cy="140829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0C794D-BAE7-05EA-F87B-4CFEBC7EB860}"/>
              </a:ext>
            </a:extLst>
          </p:cNvPr>
          <p:cNvCxnSpPr>
            <a:cxnSpLocks/>
          </p:cNvCxnSpPr>
          <p:nvPr/>
        </p:nvCxnSpPr>
        <p:spPr>
          <a:xfrm flipH="1" flipV="1">
            <a:off x="6949102" y="2142128"/>
            <a:ext cx="388583" cy="143890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4E618C0-63D7-1871-A032-5FF9AD4F0293}"/>
              </a:ext>
            </a:extLst>
          </p:cNvPr>
          <p:cNvCxnSpPr>
            <a:cxnSpLocks/>
          </p:cNvCxnSpPr>
          <p:nvPr/>
        </p:nvCxnSpPr>
        <p:spPr>
          <a:xfrm flipH="1" flipV="1">
            <a:off x="7169943" y="2142127"/>
            <a:ext cx="908231" cy="140829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B8EFA7A-F26B-8504-1694-264D75A6F533}"/>
              </a:ext>
            </a:extLst>
          </p:cNvPr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Generalized Continued Fractions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651AB-DE5C-D2D2-2D10-206A0E9A5B98}"/>
              </a:ext>
            </a:extLst>
          </p:cNvPr>
          <p:cNvSpPr/>
          <p:nvPr/>
        </p:nvSpPr>
        <p:spPr>
          <a:xfrm>
            <a:off x="1295400" y="2576010"/>
            <a:ext cx="427602" cy="3099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8E583-77F5-3A52-754C-85A032B4A45C}"/>
              </a:ext>
            </a:extLst>
          </p:cNvPr>
          <p:cNvSpPr/>
          <p:nvPr/>
        </p:nvSpPr>
        <p:spPr>
          <a:xfrm>
            <a:off x="2806050" y="3433262"/>
            <a:ext cx="146700" cy="3099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4CF17-947E-EAB1-661B-7C7FE6A5895E}"/>
              </a:ext>
            </a:extLst>
          </p:cNvPr>
          <p:cNvSpPr/>
          <p:nvPr/>
        </p:nvSpPr>
        <p:spPr>
          <a:xfrm>
            <a:off x="4581126" y="3528431"/>
            <a:ext cx="701233" cy="3099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D494CF1-3CB7-4C42-D490-2B62A0436765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16200000" flipH="1">
            <a:off x="1920653" y="2474514"/>
            <a:ext cx="547295" cy="1370199"/>
          </a:xfrm>
          <a:prstGeom prst="bentConnector3">
            <a:avLst>
              <a:gd name="adj1" fmla="val 6657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3AEBF7F-D570-E02D-9A81-4E619CE34256}"/>
              </a:ext>
            </a:extLst>
          </p:cNvPr>
          <p:cNvCxnSpPr>
            <a:cxnSpLocks/>
            <a:stCxn id="3" idx="2"/>
            <a:endCxn id="4" idx="2"/>
          </p:cNvCxnSpPr>
          <p:nvPr/>
        </p:nvCxnSpPr>
        <p:spPr>
          <a:xfrm rot="16200000" flipH="1">
            <a:off x="3857987" y="2764631"/>
            <a:ext cx="95169" cy="2052343"/>
          </a:xfrm>
          <a:prstGeom prst="bentConnector3">
            <a:avLst>
              <a:gd name="adj1" fmla="val 34020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5E3880-9A4B-DB9A-6F66-253FF76A2DD0}"/>
              </a:ext>
            </a:extLst>
          </p:cNvPr>
          <p:cNvSpPr txBox="1"/>
          <p:nvPr/>
        </p:nvSpPr>
        <p:spPr>
          <a:xfrm>
            <a:off x="98241" y="4693716"/>
            <a:ext cx="1410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This was the h/k algorithm for a </a:t>
            </a:r>
            <a:r>
              <a:rPr lang="en-US" sz="1400" b="1" u="sng" dirty="0">
                <a:solidFill>
                  <a:srgbClr val="0070C0"/>
                </a:solidFill>
              </a:rPr>
              <a:t>standard</a:t>
            </a:r>
            <a:r>
              <a:rPr lang="en-US" sz="1400" b="1" dirty="0">
                <a:solidFill>
                  <a:srgbClr val="0070C0"/>
                </a:solidFill>
              </a:rPr>
              <a:t> CF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14820D-1DB7-4380-1023-B81C23825D90}"/>
              </a:ext>
            </a:extLst>
          </p:cNvPr>
          <p:cNvSpPr txBox="1"/>
          <p:nvPr/>
        </p:nvSpPr>
        <p:spPr>
          <a:xfrm>
            <a:off x="7409971" y="4693716"/>
            <a:ext cx="15468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This is the h/k algorithm for a </a:t>
            </a:r>
            <a:r>
              <a:rPr lang="en-US" sz="1400" b="1" u="sng" dirty="0">
                <a:solidFill>
                  <a:srgbClr val="0070C0"/>
                </a:solidFill>
              </a:rPr>
              <a:t>generalized</a:t>
            </a:r>
            <a:r>
              <a:rPr lang="en-US" sz="1400" b="1" dirty="0">
                <a:solidFill>
                  <a:srgbClr val="0070C0"/>
                </a:solidFill>
              </a:rPr>
              <a:t> CF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2C0FAD-8CF1-4A8A-BED6-B55D4FF16197}"/>
              </a:ext>
            </a:extLst>
          </p:cNvPr>
          <p:cNvSpPr/>
          <p:nvPr/>
        </p:nvSpPr>
        <p:spPr>
          <a:xfrm>
            <a:off x="4996309" y="6161805"/>
            <a:ext cx="2238149" cy="30777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B7852C-CF20-8E4E-0EBB-5E0B2069F83B}"/>
              </a:ext>
            </a:extLst>
          </p:cNvPr>
          <p:cNvSpPr/>
          <p:nvPr/>
        </p:nvSpPr>
        <p:spPr>
          <a:xfrm>
            <a:off x="4694476" y="4419895"/>
            <a:ext cx="2475467" cy="16697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5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12" grpId="0"/>
      <p:bldP spid="17" grpId="0"/>
      <p:bldP spid="2" grpId="0" animBg="1"/>
      <p:bldP spid="3" grpId="0" animBg="1"/>
      <p:bldP spid="4" grpId="0" animBg="1"/>
      <p:bldP spid="19" grpId="0"/>
      <p:bldP spid="21" grpId="0"/>
      <p:bldP spid="22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B8A38D-D0E0-FFE2-FD61-0626B7D6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164" y="1512466"/>
            <a:ext cx="5876190" cy="4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gen_cf.py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B8964B-D83F-CC1F-9016-345C8DEB1EDF}"/>
              </a:ext>
            </a:extLst>
          </p:cNvPr>
          <p:cNvGrpSpPr/>
          <p:nvPr/>
        </p:nvGrpSpPr>
        <p:grpSpPr>
          <a:xfrm>
            <a:off x="7196768" y="1596380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1C594B1-997F-4B93-C6D4-A09A4C599C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796EAF-3726-84BB-6186-2D8A36C3F0F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86F1364-D9D7-5B51-CD0F-6616E8AE3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580" y="2049626"/>
            <a:ext cx="2363132" cy="9156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AC6B1B7-0FEF-C09C-E8D4-5F1B25E50FC7}"/>
              </a:ext>
            </a:extLst>
          </p:cNvPr>
          <p:cNvGrpSpPr/>
          <p:nvPr/>
        </p:nvGrpSpPr>
        <p:grpSpPr>
          <a:xfrm>
            <a:off x="3930282" y="5145754"/>
            <a:ext cx="1076632" cy="369332"/>
            <a:chOff x="4704120" y="2356972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D60AC7F-02C1-B454-9E75-1F5A9B627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08FF3A-2BB7-D73E-B2C2-36DE1B75569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147C879D-98C1-142B-30A7-7D289887C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702" y="3692703"/>
            <a:ext cx="3144887" cy="86169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4C7C61D-5057-A462-1064-81BB8DCEACAE}"/>
              </a:ext>
            </a:extLst>
          </p:cNvPr>
          <p:cNvGrpSpPr/>
          <p:nvPr/>
        </p:nvGrpSpPr>
        <p:grpSpPr>
          <a:xfrm>
            <a:off x="7486650" y="3128244"/>
            <a:ext cx="1068643" cy="369332"/>
            <a:chOff x="3647644" y="4910075"/>
            <a:chExt cx="1068643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F7A497A-5468-88DC-453C-1706F7566C3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D6224B4-8CB0-DEC8-A42D-82C6216C03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A51F243-BEDB-E03F-D190-23461B49B4EA}"/>
              </a:ext>
            </a:extLst>
          </p:cNvPr>
          <p:cNvGrpSpPr/>
          <p:nvPr/>
        </p:nvGrpSpPr>
        <p:grpSpPr>
          <a:xfrm>
            <a:off x="3930282" y="5962556"/>
            <a:ext cx="1064340" cy="369332"/>
            <a:chOff x="3647644" y="5421073"/>
            <a:chExt cx="1064340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212918-CD0F-EC58-BA53-A75F968C470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6105024-39AB-6130-1821-5F8E3DEE65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E68DE18-CFC4-743B-166A-E7366913D1F0}"/>
              </a:ext>
            </a:extLst>
          </p:cNvPr>
          <p:cNvSpPr txBox="1"/>
          <p:nvPr/>
        </p:nvSpPr>
        <p:spPr>
          <a:xfrm>
            <a:off x="5272288" y="5861262"/>
            <a:ext cx="2057400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 is not often you get to beat Euler 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55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Pell’s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5"/>
                <a:ext cx="8007349" cy="398524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has asked you to write a Python program to       find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&amp;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dirty="0"/>
                  <a:t> for a given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(assume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) such that: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≤70,</m:t>
                    </m:r>
                  </m:oMath>
                </a14:m>
                <a:r>
                  <a:rPr lang="en-US" sz="2400" dirty="0"/>
                  <a:t> check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&lt;70,000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/>
                  <a:t>Why is there is no need to check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d>
                      <m:dPr>
                        <m:begChr m:val="⌊"/>
                        <m:endChr m:val="⌋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sz="2400" dirty="0"/>
                  <a:t> ?</a:t>
                </a: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/>
                  <a:t>Is there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any relationship between </a:t>
                </a:r>
                <a:r>
                  <a:rPr lang="en-US" sz="2400" dirty="0"/>
                  <a:t>each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 value and the </a:t>
                </a:r>
                <a:r>
                  <a:rPr lang="en-US" sz="2400" u="sng" dirty="0"/>
                  <a:t>first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&amp;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dirty="0"/>
                  <a:t> values that can solve the equation?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5"/>
                <a:ext cx="8007349" cy="3985240"/>
              </a:xfrm>
              <a:blipFill>
                <a:blip r:embed="rId3"/>
                <a:stretch>
                  <a:fillRect l="-1066" t="-2141" r="-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1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C74D40-7A8E-4ED8-BC54-7F56C17C4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51" y="2045245"/>
            <a:ext cx="7165298" cy="4227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Numba</a:t>
            </a:r>
            <a:r>
              <a:rPr lang="en-US" sz="3200" dirty="0">
                <a:latin typeface="+mn-lt"/>
              </a:rPr>
              <a:t> – High Performance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606CC-E4D7-4FBF-AC24-1FA049C0AE8B}"/>
              </a:ext>
            </a:extLst>
          </p:cNvPr>
          <p:cNvSpPr txBox="1"/>
          <p:nvPr/>
        </p:nvSpPr>
        <p:spPr>
          <a:xfrm>
            <a:off x="3016968" y="1378974"/>
            <a:ext cx="311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https://numba.pydata.org</a:t>
            </a: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BB764C-E052-4A94-82EE-01172B21BE71}"/>
              </a:ext>
            </a:extLst>
          </p:cNvPr>
          <p:cNvSpPr/>
          <p:nvPr/>
        </p:nvSpPr>
        <p:spPr>
          <a:xfrm>
            <a:off x="1321552" y="5014210"/>
            <a:ext cx="2455969" cy="232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2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BCA8C5-DF3A-A918-6405-3C3AD268E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6" y="271525"/>
            <a:ext cx="4116067" cy="645199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4DF699-2F61-48AF-AD12-0EEA00B8A2ED}"/>
              </a:ext>
            </a:extLst>
          </p:cNvPr>
          <p:cNvGrpSpPr/>
          <p:nvPr/>
        </p:nvGrpSpPr>
        <p:grpSpPr>
          <a:xfrm>
            <a:off x="2398719" y="961254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07CB823-A1C7-4ECF-9874-0083B307B6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123A70-378F-477C-BA14-9FFDE16A7DC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2F902F-FBC9-4460-9DD7-0BCC38FE7A4F}"/>
              </a:ext>
            </a:extLst>
          </p:cNvPr>
          <p:cNvGrpSpPr/>
          <p:nvPr/>
        </p:nvGrpSpPr>
        <p:grpSpPr>
          <a:xfrm>
            <a:off x="1439381" y="4631621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023A8E8-46C9-49BC-86F5-57C70D7A3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E640EB-DBB4-494A-911E-420DDA5215F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D8023F-B4F9-4F1E-9F6C-457A5B0327D8}"/>
              </a:ext>
            </a:extLst>
          </p:cNvPr>
          <p:cNvGrpSpPr/>
          <p:nvPr/>
        </p:nvGrpSpPr>
        <p:grpSpPr>
          <a:xfrm>
            <a:off x="2594364" y="5414167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34CC4A-FDEC-4CBB-B8AC-DFA84DB9A5A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99C06CE-7E9D-4378-BED7-3FC7C515E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5C267F-14A2-4098-9469-8DA2F0487C3E}"/>
              </a:ext>
            </a:extLst>
          </p:cNvPr>
          <p:cNvGrpSpPr/>
          <p:nvPr/>
        </p:nvGrpSpPr>
        <p:grpSpPr>
          <a:xfrm>
            <a:off x="4526146" y="5606390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E7CCEA-A833-432C-9FF8-A3E91AD1064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19A0E5-6714-474D-A144-E51B07D056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BB276E-8EB8-40D2-8A3B-99B1F4B36012}"/>
              </a:ext>
            </a:extLst>
          </p:cNvPr>
          <p:cNvGrpSpPr/>
          <p:nvPr/>
        </p:nvGrpSpPr>
        <p:grpSpPr>
          <a:xfrm>
            <a:off x="2047567" y="2161528"/>
            <a:ext cx="1000912" cy="642154"/>
            <a:chOff x="3634136" y="5155426"/>
            <a:chExt cx="1000912" cy="6421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8F7F33-8BA1-406D-AA5A-AEDFE19CBF28}"/>
                </a:ext>
              </a:extLst>
            </p:cNvPr>
            <p:cNvSpPr txBox="1"/>
            <p:nvPr/>
          </p:nvSpPr>
          <p:spPr>
            <a:xfrm>
              <a:off x="4251590" y="5155426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FF5380F-51E0-4812-9A96-358C487ABF98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>
              <a:off x="3634136" y="5340092"/>
              <a:ext cx="617454" cy="457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6CFFAC-0915-46AA-9F10-B4F7B1DCA10D}"/>
                  </a:ext>
                </a:extLst>
              </p:cNvPr>
              <p:cNvSpPr txBox="1"/>
              <p:nvPr/>
            </p:nvSpPr>
            <p:spPr>
              <a:xfrm>
                <a:off x="5616520" y="3744510"/>
                <a:ext cx="2405921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6CFFAC-0915-46AA-9F10-B4F7B1DCA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520" y="3744510"/>
                <a:ext cx="2405921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AE8C56-6259-483A-9B63-5E037791E003}"/>
                  </a:ext>
                </a:extLst>
              </p:cNvPr>
              <p:cNvSpPr txBox="1"/>
              <p:nvPr/>
            </p:nvSpPr>
            <p:spPr>
              <a:xfrm>
                <a:off x="5616520" y="1776799"/>
                <a:ext cx="24059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&lt;70,000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AE8C56-6259-483A-9B63-5E037791E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520" y="1776799"/>
                <a:ext cx="240592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22F04B-1562-401E-925C-ED7336F92286}"/>
                  </a:ext>
                </a:extLst>
              </p:cNvPr>
              <p:cNvSpPr txBox="1"/>
              <p:nvPr/>
            </p:nvSpPr>
            <p:spPr>
              <a:xfrm>
                <a:off x="5738250" y="2303382"/>
                <a:ext cx="2162459" cy="1296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22F04B-1562-401E-925C-ED7336F92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250" y="2303382"/>
                <a:ext cx="2162459" cy="12964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itle 1">
            <a:extLst>
              <a:ext uri="{FF2B5EF4-FFF2-40B4-BE49-F238E27FC236}">
                <a16:creationId xmlns:a16="http://schemas.microsoft.com/office/drawing/2014/main" id="{5D471A57-EB3A-33B9-A7A6-07415CB0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763" y="400428"/>
            <a:ext cx="3755973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pells_equation.py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B97EF1A-B39F-2C2B-26F0-E652661E433A}"/>
              </a:ext>
            </a:extLst>
          </p:cNvPr>
          <p:cNvGrpSpPr/>
          <p:nvPr/>
        </p:nvGrpSpPr>
        <p:grpSpPr>
          <a:xfrm>
            <a:off x="3225288" y="3487550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DEF573-3442-A900-7A23-B12AC55A5B8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06A0574-1353-CA41-1C8C-3A0C0EAAC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187D3D-1B90-9903-FCD1-74C0461B5263}"/>
              </a:ext>
            </a:extLst>
          </p:cNvPr>
          <p:cNvGrpSpPr/>
          <p:nvPr/>
        </p:nvGrpSpPr>
        <p:grpSpPr>
          <a:xfrm>
            <a:off x="2330617" y="4047302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D35361-4EBB-06AD-AA4C-4ABB28847E3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E009A58-E79F-3A5A-3470-FD1CEDFDE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9D3F5DB-21CA-FE75-1743-21C7620FB156}"/>
              </a:ext>
            </a:extLst>
          </p:cNvPr>
          <p:cNvGrpSpPr/>
          <p:nvPr/>
        </p:nvGrpSpPr>
        <p:grpSpPr>
          <a:xfrm>
            <a:off x="4050363" y="6375796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468CA9-72A1-E8DE-15A6-58827FD2D83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2B28579-FED5-4F71-4066-B4574FECE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A220A79-6F77-3BDF-6F77-0F1DB0CF4C86}"/>
              </a:ext>
            </a:extLst>
          </p:cNvPr>
          <p:cNvGrpSpPr/>
          <p:nvPr/>
        </p:nvGrpSpPr>
        <p:grpSpPr>
          <a:xfrm>
            <a:off x="950401" y="1550139"/>
            <a:ext cx="1068643" cy="369332"/>
            <a:chOff x="3647644" y="5359159"/>
            <a:chExt cx="1068643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A0791AB-F96E-8A30-089D-0B1C3FE56B9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24582F8-FABE-C0E6-139A-DC14EF2ABB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100CD03-2ABF-6492-23B2-031365CA3149}"/>
              </a:ext>
            </a:extLst>
          </p:cNvPr>
          <p:cNvGrpSpPr/>
          <p:nvPr/>
        </p:nvGrpSpPr>
        <p:grpSpPr>
          <a:xfrm>
            <a:off x="3139912" y="3277740"/>
            <a:ext cx="1076632" cy="369332"/>
            <a:chOff x="2157212" y="5356391"/>
            <a:chExt cx="1076632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8807C91-ED60-AA57-0BE4-422AAC4E12F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E8E9590-3F9F-A1CB-3F74-2A23B3063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F13EE0-5FA0-7952-B978-54EC29E747DE}"/>
                  </a:ext>
                </a:extLst>
              </p:cNvPr>
              <p:cNvSpPr txBox="1"/>
              <p:nvPr/>
            </p:nvSpPr>
            <p:spPr>
              <a:xfrm>
                <a:off x="5606789" y="5057569"/>
                <a:ext cx="24059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F13EE0-5FA0-7952-B978-54EC29E7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789" y="5057569"/>
                <a:ext cx="240592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CD2C242-8FB6-58F8-C1E7-C26848B4FE25}"/>
              </a:ext>
            </a:extLst>
          </p:cNvPr>
          <p:cNvSpPr/>
          <p:nvPr/>
        </p:nvSpPr>
        <p:spPr>
          <a:xfrm>
            <a:off x="1125997" y="5690440"/>
            <a:ext cx="1907368" cy="19749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41" grpId="0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568" y="365126"/>
            <a:ext cx="4562782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pells_equation.py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252880-15F3-4694-B92F-9D3FF4C88575}"/>
              </a:ext>
            </a:extLst>
          </p:cNvPr>
          <p:cNvGrpSpPr/>
          <p:nvPr/>
        </p:nvGrpSpPr>
        <p:grpSpPr>
          <a:xfrm>
            <a:off x="819195" y="1655610"/>
            <a:ext cx="7174680" cy="5009322"/>
            <a:chOff x="819195" y="1655610"/>
            <a:chExt cx="7174680" cy="500932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29824E-618B-4694-90B0-234667D02E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607"/>
            <a:stretch/>
          </p:blipFill>
          <p:spPr>
            <a:xfrm>
              <a:off x="819195" y="1655610"/>
              <a:ext cx="1958014" cy="497791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FEC5BD-E14A-4FF8-8350-00C8AEAF2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167" y="1655610"/>
              <a:ext cx="1947350" cy="497791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4CDA9DA-106F-4BC4-AF51-DB08D715C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6475" y="1655610"/>
              <a:ext cx="2057400" cy="5009322"/>
            </a:xfrm>
            <a:prstGeom prst="rect">
              <a:avLst/>
            </a:prstGeom>
          </p:spPr>
        </p:pic>
      </p:grp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22BB87C5-11DD-4349-AD66-29C84CA02573}"/>
              </a:ext>
            </a:extLst>
          </p:cNvPr>
          <p:cNvSpPr/>
          <p:nvPr/>
        </p:nvSpPr>
        <p:spPr>
          <a:xfrm>
            <a:off x="960409" y="473065"/>
            <a:ext cx="2662085" cy="995516"/>
          </a:xfrm>
          <a:prstGeom prst="borderCallout2">
            <a:avLst>
              <a:gd name="adj1" fmla="val 89120"/>
              <a:gd name="adj2" fmla="val 82803"/>
              <a:gd name="adj3" fmla="val 170602"/>
              <a:gd name="adj4" fmla="val 77516"/>
              <a:gd name="adj5" fmla="val 212661"/>
              <a:gd name="adj6" fmla="val 60457"/>
            </a:avLst>
          </a:prstGeom>
          <a:solidFill>
            <a:schemeClr val="bg1"/>
          </a:solidFill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Hyphens indicate no solution was found in the allowed search space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C08802-CB99-4FFF-A8F6-66A4E07262D1}"/>
              </a:ext>
            </a:extLst>
          </p:cNvPr>
          <p:cNvSpPr/>
          <p:nvPr/>
        </p:nvSpPr>
        <p:spPr>
          <a:xfrm>
            <a:off x="960409" y="2521974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A473DA-D6D1-4D12-8507-1A0C9B230540}"/>
              </a:ext>
            </a:extLst>
          </p:cNvPr>
          <p:cNvSpPr/>
          <p:nvPr/>
        </p:nvSpPr>
        <p:spPr>
          <a:xfrm>
            <a:off x="6114337" y="5152003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CF98D-F093-43EA-BF60-07355D042A58}"/>
              </a:ext>
            </a:extLst>
          </p:cNvPr>
          <p:cNvSpPr/>
          <p:nvPr/>
        </p:nvSpPr>
        <p:spPr>
          <a:xfrm>
            <a:off x="6114336" y="4505585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2369FF-BBD6-4AC9-842A-525E0AA4BD41}"/>
              </a:ext>
            </a:extLst>
          </p:cNvPr>
          <p:cNvSpPr/>
          <p:nvPr/>
        </p:nvSpPr>
        <p:spPr>
          <a:xfrm>
            <a:off x="6114335" y="1900696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CB1B6F-8597-4E2C-A094-C5A099D0907B}"/>
              </a:ext>
            </a:extLst>
          </p:cNvPr>
          <p:cNvSpPr/>
          <p:nvPr/>
        </p:nvSpPr>
        <p:spPr>
          <a:xfrm>
            <a:off x="3506004" y="4175019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97EA58-60CA-43C3-9689-5BBB6B4BD9A0}"/>
              </a:ext>
            </a:extLst>
          </p:cNvPr>
          <p:cNvSpPr/>
          <p:nvPr/>
        </p:nvSpPr>
        <p:spPr>
          <a:xfrm>
            <a:off x="960409" y="3561505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246DD9-0D46-4901-8CF4-43F5D5B21E2A}"/>
              </a:ext>
            </a:extLst>
          </p:cNvPr>
          <p:cNvSpPr/>
          <p:nvPr/>
        </p:nvSpPr>
        <p:spPr>
          <a:xfrm>
            <a:off x="947364" y="5009022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7126A-DA02-45A8-A6E9-9D0BE3BC79C8}"/>
              </a:ext>
            </a:extLst>
          </p:cNvPr>
          <p:cNvSpPr/>
          <p:nvPr/>
        </p:nvSpPr>
        <p:spPr>
          <a:xfrm>
            <a:off x="3502390" y="1893496"/>
            <a:ext cx="1701675" cy="1769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6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Pell's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4"/>
                <a:ext cx="8007349" cy="4353949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Which values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have no solution?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=1, 4, 9, 16, 25, 36, 49,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64, …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Some of the values for </a:t>
                </a:r>
                <a:r>
                  <a:rPr lang="en-US" sz="2400" b="1" dirty="0"/>
                  <a:t>x</a:t>
                </a:r>
                <a:r>
                  <a:rPr lang="en-US" sz="2400" dirty="0"/>
                  <a:t> &amp; </a:t>
                </a:r>
                <a:r>
                  <a:rPr lang="en-US" sz="2400" b="1" dirty="0"/>
                  <a:t>y</a:t>
                </a:r>
                <a:r>
                  <a:rPr lang="en-US" sz="2400" dirty="0"/>
                  <a:t> are much bigger than for other close values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</a:t>
                </a:r>
                <a:r>
                  <a:rPr lang="en-US" sz="2400" i="1" dirty="0"/>
                  <a:t>magnitude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does </a:t>
                </a:r>
                <a:r>
                  <a:rPr lang="en-US" sz="2400" u="sng" dirty="0"/>
                  <a:t>not</a:t>
                </a:r>
                <a:r>
                  <a:rPr lang="en-US" sz="2400" dirty="0"/>
                  <a:t> seem to be a good predictor about the magnitude of the </a:t>
                </a:r>
                <a:r>
                  <a:rPr lang="en-US" sz="2400" b="1" dirty="0"/>
                  <a:t>x</a:t>
                </a:r>
                <a:r>
                  <a:rPr lang="en-US" sz="2400" dirty="0"/>
                  <a:t> &amp; </a:t>
                </a:r>
                <a:r>
                  <a:rPr lang="en-US" sz="2400" b="1" dirty="0"/>
                  <a:t>y</a:t>
                </a:r>
                <a:r>
                  <a:rPr lang="en-US" sz="2400" dirty="0"/>
                  <a:t> values that solve the equation for that specific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4"/>
                <a:ext cx="8007349" cy="4353949"/>
              </a:xfrm>
              <a:blipFill>
                <a:blip r:embed="rId3"/>
                <a:stretch>
                  <a:fillRect l="-1066" t="-1958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32E798-393A-4445-8498-2A95A8A9A652}"/>
              </a:ext>
            </a:extLst>
          </p:cNvPr>
          <p:cNvGrpSpPr/>
          <p:nvPr/>
        </p:nvGrpSpPr>
        <p:grpSpPr>
          <a:xfrm>
            <a:off x="3538666" y="3315263"/>
            <a:ext cx="2066667" cy="1628571"/>
            <a:chOff x="4209718" y="3307888"/>
            <a:chExt cx="2066667" cy="16285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0F0DFFA-9837-4FD9-BF42-9050017F5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9718" y="3307888"/>
              <a:ext cx="2066667" cy="162857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C1BF12-CB1E-45D5-A29A-98227B98FCC9}"/>
                </a:ext>
              </a:extLst>
            </p:cNvPr>
            <p:cNvSpPr/>
            <p:nvPr/>
          </p:nvSpPr>
          <p:spPr>
            <a:xfrm>
              <a:off x="4328652" y="4372897"/>
              <a:ext cx="1784554" cy="2212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12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Pell’s Equation: Period of a Standard CF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396426-B943-48F6-8AE1-D082D29B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47" y="1559066"/>
            <a:ext cx="3105455" cy="4136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53A0E4-44D5-4886-A5BD-CDFBAE5759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252"/>
          <a:stretch/>
        </p:blipFill>
        <p:spPr>
          <a:xfrm>
            <a:off x="4980280" y="2701444"/>
            <a:ext cx="1680950" cy="228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13ED76-7645-4B1E-AFDA-5B72A1A0759A}"/>
                  </a:ext>
                </a:extLst>
              </p:cNvPr>
              <p:cNvSpPr txBox="1"/>
              <p:nvPr/>
            </p:nvSpPr>
            <p:spPr>
              <a:xfrm>
                <a:off x="4222898" y="2662122"/>
                <a:ext cx="619785" cy="275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68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13ED76-7645-4B1E-AFDA-5B72A1A07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898" y="2662122"/>
                <a:ext cx="619785" cy="275268"/>
              </a:xfrm>
              <a:prstGeom prst="rect">
                <a:avLst/>
              </a:prstGeom>
              <a:blipFill>
                <a:blip r:embed="rId5"/>
                <a:stretch>
                  <a:fillRect r="-2970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464C09-DFB9-4ECE-B173-D1118B25DB25}"/>
              </a:ext>
            </a:extLst>
          </p:cNvPr>
          <p:cNvCxnSpPr/>
          <p:nvPr/>
        </p:nvCxnSpPr>
        <p:spPr>
          <a:xfrm>
            <a:off x="5375786" y="2647334"/>
            <a:ext cx="4719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EFF6E78-F132-4A89-8004-F167D695B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277" y="4062416"/>
            <a:ext cx="3361905" cy="238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956B6D-D50C-474A-BBFA-022AB7338895}"/>
                  </a:ext>
                </a:extLst>
              </p:cNvPr>
              <p:cNvSpPr txBox="1"/>
              <p:nvPr/>
            </p:nvSpPr>
            <p:spPr>
              <a:xfrm>
                <a:off x="4222897" y="4043830"/>
                <a:ext cx="619785" cy="275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956B6D-D50C-474A-BBFA-022AB7338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897" y="4043830"/>
                <a:ext cx="619785" cy="275268"/>
              </a:xfrm>
              <a:prstGeom prst="rect">
                <a:avLst/>
              </a:prstGeom>
              <a:blipFill>
                <a:blip r:embed="rId7"/>
                <a:stretch>
                  <a:fillRect r="-297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95390C-E6EA-4B26-83C4-1CE309DB0CC2}"/>
              </a:ext>
            </a:extLst>
          </p:cNvPr>
          <p:cNvCxnSpPr>
            <a:cxnSpLocks/>
          </p:cNvCxnSpPr>
          <p:nvPr/>
        </p:nvCxnSpPr>
        <p:spPr>
          <a:xfrm>
            <a:off x="5373327" y="3994353"/>
            <a:ext cx="128790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llout: Bent Line 19">
            <a:extLst>
              <a:ext uri="{FF2B5EF4-FFF2-40B4-BE49-F238E27FC236}">
                <a16:creationId xmlns:a16="http://schemas.microsoft.com/office/drawing/2014/main" id="{E23D2DC4-6201-40BC-8986-5C25B086D911}"/>
              </a:ext>
            </a:extLst>
          </p:cNvPr>
          <p:cNvSpPr/>
          <p:nvPr/>
        </p:nvSpPr>
        <p:spPr>
          <a:xfrm>
            <a:off x="6822972" y="2148544"/>
            <a:ext cx="1341181" cy="302342"/>
          </a:xfrm>
          <a:prstGeom prst="borderCallout2">
            <a:avLst>
              <a:gd name="adj1" fmla="val 118750"/>
              <a:gd name="adj2" fmla="val 32345"/>
              <a:gd name="adj3" fmla="val 172408"/>
              <a:gd name="adj4" fmla="val 24859"/>
              <a:gd name="adj5" fmla="val 219616"/>
              <a:gd name="adj6" fmla="val -7610"/>
            </a:avLst>
          </a:prstGeom>
          <a:solidFill>
            <a:schemeClr val="bg1"/>
          </a:solidFill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Standard CF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DE558C7-DE2F-48E3-A13F-F77C650AE1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5569" y="5962779"/>
            <a:ext cx="5552381" cy="219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D44104-BBA7-4E13-8943-8D0A54DF0764}"/>
                  </a:ext>
                </a:extLst>
              </p:cNvPr>
              <p:cNvSpPr txBox="1"/>
              <p:nvPr/>
            </p:nvSpPr>
            <p:spPr>
              <a:xfrm>
                <a:off x="2096672" y="5931768"/>
                <a:ext cx="619785" cy="275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61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D44104-BBA7-4E13-8943-8D0A54DF0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672" y="5931768"/>
                <a:ext cx="619785" cy="275268"/>
              </a:xfrm>
              <a:prstGeom prst="rect">
                <a:avLst/>
              </a:prstGeom>
              <a:blipFill>
                <a:blip r:embed="rId9"/>
                <a:stretch>
                  <a:fillRect r="-196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AC197F-465C-4B9B-B2D7-29083C4786FF}"/>
              </a:ext>
            </a:extLst>
          </p:cNvPr>
          <p:cNvCxnSpPr>
            <a:cxnSpLocks/>
          </p:cNvCxnSpPr>
          <p:nvPr/>
        </p:nvCxnSpPr>
        <p:spPr>
          <a:xfrm>
            <a:off x="3237513" y="5917020"/>
            <a:ext cx="30379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8ECB65C-B0EF-4600-98D4-033073D5CDE1}"/>
              </a:ext>
            </a:extLst>
          </p:cNvPr>
          <p:cNvSpPr txBox="1"/>
          <p:nvPr/>
        </p:nvSpPr>
        <p:spPr>
          <a:xfrm>
            <a:off x="5033806" y="2282366"/>
            <a:ext cx="115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Period =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6BD8DE-4C25-4911-AC9F-B4F2BE013FAA}"/>
              </a:ext>
            </a:extLst>
          </p:cNvPr>
          <p:cNvSpPr txBox="1"/>
          <p:nvPr/>
        </p:nvSpPr>
        <p:spPr>
          <a:xfrm>
            <a:off x="5439325" y="3631638"/>
            <a:ext cx="115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Period = 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B3AFB9-6C4A-4008-84C7-905C87734AA0}"/>
              </a:ext>
            </a:extLst>
          </p:cNvPr>
          <p:cNvSpPr txBox="1"/>
          <p:nvPr/>
        </p:nvSpPr>
        <p:spPr>
          <a:xfrm>
            <a:off x="4072273" y="5549948"/>
            <a:ext cx="136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Period = 11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0E2CAA-9399-47E5-AB2D-F4D0D050C808}"/>
              </a:ext>
            </a:extLst>
          </p:cNvPr>
          <p:cNvCxnSpPr>
            <a:cxnSpLocks/>
          </p:cNvCxnSpPr>
          <p:nvPr/>
        </p:nvCxnSpPr>
        <p:spPr>
          <a:xfrm>
            <a:off x="1696065" y="5353665"/>
            <a:ext cx="508819" cy="6091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6DB7BA5-AED5-45F8-A1F2-3AE5F0141D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0276" y="5023361"/>
            <a:ext cx="3361905" cy="2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6485C0-490C-4E28-8943-6A4BD35FE878}"/>
                  </a:ext>
                </a:extLst>
              </p:cNvPr>
              <p:cNvSpPr txBox="1"/>
              <p:nvPr/>
            </p:nvSpPr>
            <p:spPr>
              <a:xfrm>
                <a:off x="4242679" y="4996778"/>
                <a:ext cx="619785" cy="280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53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6485C0-490C-4E28-8943-6A4BD35FE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679" y="4996778"/>
                <a:ext cx="619785" cy="280270"/>
              </a:xfrm>
              <a:prstGeom prst="rect">
                <a:avLst/>
              </a:prstGeom>
              <a:blipFill>
                <a:blip r:embed="rId11"/>
                <a:stretch>
                  <a:fillRect r="-196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C51AE8-E4CE-46D2-86CD-916261C49216}"/>
              </a:ext>
            </a:extLst>
          </p:cNvPr>
          <p:cNvCxnSpPr>
            <a:cxnSpLocks/>
          </p:cNvCxnSpPr>
          <p:nvPr/>
        </p:nvCxnSpPr>
        <p:spPr>
          <a:xfrm>
            <a:off x="5373327" y="4965381"/>
            <a:ext cx="128790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4525F5E-A2B8-4C45-A955-57A53DD2351D}"/>
              </a:ext>
            </a:extLst>
          </p:cNvPr>
          <p:cNvSpPr txBox="1"/>
          <p:nvPr/>
        </p:nvSpPr>
        <p:spPr>
          <a:xfrm>
            <a:off x="5439325" y="4565191"/>
            <a:ext cx="115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Period = 5</a:t>
            </a:r>
          </a:p>
        </p:txBody>
      </p:sp>
    </p:spTree>
    <p:extLst>
      <p:ext uri="{BB962C8B-B14F-4D97-AF65-F5344CB8AC3E}">
        <p14:creationId xmlns:p14="http://schemas.microsoft.com/office/powerpoint/2010/main" val="47904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0" grpId="0" animBg="1"/>
      <p:bldP spid="22" grpId="0"/>
      <p:bldP spid="25" grpId="0"/>
      <p:bldP spid="26" grpId="0"/>
      <p:bldP spid="27" grpId="0"/>
      <p:bldP spid="24" grpId="0"/>
      <p:bldP spid="3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Pell’s Equation: Period of a Standard CF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396426-B943-48F6-8AE1-D082D29B4E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815"/>
          <a:stretch/>
        </p:blipFill>
        <p:spPr>
          <a:xfrm>
            <a:off x="903913" y="2246340"/>
            <a:ext cx="3105455" cy="23239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6485C0-490C-4E28-8943-6A4BD35FE878}"/>
                  </a:ext>
                </a:extLst>
              </p:cNvPr>
              <p:cNvSpPr txBox="1"/>
              <p:nvPr/>
            </p:nvSpPr>
            <p:spPr>
              <a:xfrm>
                <a:off x="4297761" y="4091607"/>
                <a:ext cx="408893" cy="275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61</m:t>
                          </m:r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6485C0-490C-4E28-8943-6A4BD35FE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61" y="4091607"/>
                <a:ext cx="408893" cy="275268"/>
              </a:xfrm>
              <a:prstGeom prst="rect">
                <a:avLst/>
              </a:prstGeom>
              <a:blipFill>
                <a:blip r:embed="rId4"/>
                <a:stretch>
                  <a:fillRect r="-1044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4525F5E-A2B8-4C45-A955-57A53DD2351D}"/>
              </a:ext>
            </a:extLst>
          </p:cNvPr>
          <p:cNvSpPr txBox="1"/>
          <p:nvPr/>
        </p:nvSpPr>
        <p:spPr>
          <a:xfrm>
            <a:off x="4917544" y="4034069"/>
            <a:ext cx="1291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Period =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F4D484-D24E-416D-82D6-BC4CC9BB8D50}"/>
                  </a:ext>
                </a:extLst>
              </p:cNvPr>
              <p:cNvSpPr/>
              <p:nvPr/>
            </p:nvSpPr>
            <p:spPr>
              <a:xfrm>
                <a:off x="1436360" y="1686467"/>
                <a:ext cx="2040559" cy="615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F4D484-D24E-416D-82D6-BC4CC9BB8D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360" y="1686467"/>
                <a:ext cx="2040559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peech Bubble: Rectangle with Corners Rounded 30">
                <a:extLst>
                  <a:ext uri="{FF2B5EF4-FFF2-40B4-BE49-F238E27FC236}">
                    <a16:creationId xmlns:a16="http://schemas.microsoft.com/office/drawing/2014/main" id="{0B3AE170-D380-4CFA-A044-91DF3E5301E7}"/>
                  </a:ext>
                </a:extLst>
              </p:cNvPr>
              <p:cNvSpPr/>
              <p:nvPr/>
            </p:nvSpPr>
            <p:spPr>
              <a:xfrm>
                <a:off x="6527643" y="2958402"/>
                <a:ext cx="2151661" cy="954063"/>
              </a:xfrm>
              <a:prstGeom prst="wedgeRoundRectCallout">
                <a:avLst>
                  <a:gd name="adj1" fmla="val -75267"/>
                  <a:gd name="adj2" fmla="val 5832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</a:rPr>
                  <a:t>If the period of the standard CF for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n>
                              <a:solidFill>
                                <a:schemeClr val="bg1"/>
                              </a:solidFill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</a:rPr>
                  <a:t> is large…</a:t>
                </a:r>
              </a:p>
            </p:txBody>
          </p:sp>
        </mc:Choice>
        <mc:Fallback xmlns="">
          <p:sp>
            <p:nvSpPr>
              <p:cNvPr id="31" name="Speech Bubble: Rectangle with Corners Rounded 30">
                <a:extLst>
                  <a:ext uri="{FF2B5EF4-FFF2-40B4-BE49-F238E27FC236}">
                    <a16:creationId xmlns:a16="http://schemas.microsoft.com/office/drawing/2014/main" id="{0B3AE170-D380-4CFA-A044-91DF3E530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643" y="2958402"/>
                <a:ext cx="2151661" cy="954063"/>
              </a:xfrm>
              <a:prstGeom prst="wedgeRoundRectCallout">
                <a:avLst>
                  <a:gd name="adj1" fmla="val -75267"/>
                  <a:gd name="adj2" fmla="val 58326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2E7449E9-CD30-4B41-849F-38398BFA203E}"/>
              </a:ext>
            </a:extLst>
          </p:cNvPr>
          <p:cNvSpPr/>
          <p:nvPr/>
        </p:nvSpPr>
        <p:spPr>
          <a:xfrm>
            <a:off x="1475766" y="5368414"/>
            <a:ext cx="3333819" cy="813227"/>
          </a:xfrm>
          <a:prstGeom prst="wedgeRoundRectCallout">
            <a:avLst>
              <a:gd name="adj1" fmla="val -5036"/>
              <a:gd name="adj2" fmla="val -1822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…then the x &amp; y will be large for the solution to Pell’s equation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9EEF7-1AD3-455B-B2D6-A1DFBC1FE7D3}"/>
              </a:ext>
            </a:extLst>
          </p:cNvPr>
          <p:cNvSpPr/>
          <p:nvPr/>
        </p:nvSpPr>
        <p:spPr>
          <a:xfrm>
            <a:off x="1947492" y="4091607"/>
            <a:ext cx="866692" cy="244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DB0F3C-DF6B-40DB-A56C-3917159E8263}"/>
              </a:ext>
            </a:extLst>
          </p:cNvPr>
          <p:cNvSpPr/>
          <p:nvPr/>
        </p:nvSpPr>
        <p:spPr>
          <a:xfrm>
            <a:off x="3142676" y="4091606"/>
            <a:ext cx="866692" cy="244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C111D4D-D9E5-483D-8921-2024AD59C49A}"/>
                  </a:ext>
                </a:extLst>
              </p:cNvPr>
              <p:cNvSpPr txBox="1"/>
              <p:nvPr/>
            </p:nvSpPr>
            <p:spPr>
              <a:xfrm>
                <a:off x="4297761" y="2735284"/>
                <a:ext cx="408894" cy="275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C111D4D-D9E5-483D-8921-2024AD59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61" y="2735284"/>
                <a:ext cx="408894" cy="275268"/>
              </a:xfrm>
              <a:prstGeom prst="rect">
                <a:avLst/>
              </a:prstGeom>
              <a:blipFill>
                <a:blip r:embed="rId7"/>
                <a:stretch>
                  <a:fillRect r="-10448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B93CE8F-8CA7-42DF-8157-757FA8B9E6B8}"/>
              </a:ext>
            </a:extLst>
          </p:cNvPr>
          <p:cNvSpPr txBox="1"/>
          <p:nvPr/>
        </p:nvSpPr>
        <p:spPr>
          <a:xfrm>
            <a:off x="4917544" y="2677746"/>
            <a:ext cx="1291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Period = 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96EA83-1CC0-4B94-92DB-FE0B28B920E7}"/>
              </a:ext>
            </a:extLst>
          </p:cNvPr>
          <p:cNvSpPr/>
          <p:nvPr/>
        </p:nvSpPr>
        <p:spPr>
          <a:xfrm>
            <a:off x="2477728" y="2735285"/>
            <a:ext cx="336455" cy="24476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67C0E2-2638-49AE-83B3-12051A3D858A}"/>
              </a:ext>
            </a:extLst>
          </p:cNvPr>
          <p:cNvSpPr/>
          <p:nvPr/>
        </p:nvSpPr>
        <p:spPr>
          <a:xfrm>
            <a:off x="3672912" y="2735284"/>
            <a:ext cx="336456" cy="24476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9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31" grpId="0" animBg="1"/>
      <p:bldP spid="32" grpId="0" animBg="1"/>
      <p:bldP spid="6" grpId="0" animBg="1"/>
      <p:bldP spid="33" grpId="0" animBg="1"/>
      <p:bldP spid="34" grpId="0"/>
      <p:bldP spid="35" grpId="0"/>
      <p:bldP spid="36" grpId="0" animBg="1"/>
      <p:bldP spid="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Pell’s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AE7011-3FCC-1092-DD6E-8DA0B278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48" y="1588508"/>
            <a:ext cx="7761905" cy="40857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0945DF-AEFB-7046-325D-C8DC41A48441}"/>
              </a:ext>
            </a:extLst>
          </p:cNvPr>
          <p:cNvSpPr/>
          <p:nvPr/>
        </p:nvSpPr>
        <p:spPr>
          <a:xfrm>
            <a:off x="3065489" y="5074168"/>
            <a:ext cx="1161737" cy="254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84A490-62D6-9D56-8820-226A269119BF}"/>
              </a:ext>
            </a:extLst>
          </p:cNvPr>
          <p:cNvSpPr/>
          <p:nvPr/>
        </p:nvSpPr>
        <p:spPr>
          <a:xfrm>
            <a:off x="837426" y="3858747"/>
            <a:ext cx="1988901" cy="358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7A7C0-2D68-0CEF-03A9-35F752EDE0CD}"/>
              </a:ext>
            </a:extLst>
          </p:cNvPr>
          <p:cNvSpPr/>
          <p:nvPr/>
        </p:nvSpPr>
        <p:spPr>
          <a:xfrm>
            <a:off x="2071038" y="4216820"/>
            <a:ext cx="3770542" cy="358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8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DA9F9-CA9B-1DBE-7641-B8F55921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B109-47BB-4C86-1764-185B4A4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Pell’s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3F33B-CFCA-402A-0D45-F0447ACC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19" y="1825625"/>
            <a:ext cx="8007349" cy="39852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ironic! </a:t>
            </a:r>
            <a:r>
              <a:rPr lang="en-US" sz="2400" b="1" dirty="0">
                <a:solidFill>
                  <a:srgbClr val="7030A0"/>
                </a:solidFill>
              </a:rPr>
              <a:t>John Pell</a:t>
            </a:r>
            <a:r>
              <a:rPr lang="en-US" sz="2400" dirty="0"/>
              <a:t> (1611-1685) was an English mathematician who made </a:t>
            </a:r>
            <a:r>
              <a:rPr lang="en-US" sz="2400" b="1" dirty="0"/>
              <a:t>zero contribution </a:t>
            </a:r>
            <a:r>
              <a:rPr lang="en-US" sz="2400" dirty="0"/>
              <a:t>to the equation which bears his name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the 1730’s, </a:t>
            </a:r>
            <a:r>
              <a:rPr lang="en-US" sz="2400" b="1" dirty="0">
                <a:solidFill>
                  <a:srgbClr val="00B050"/>
                </a:solidFill>
              </a:rPr>
              <a:t>Euler</a:t>
            </a:r>
            <a:r>
              <a:rPr lang="en-US" sz="2400" dirty="0"/>
              <a:t> was studying the equation and </a:t>
            </a:r>
            <a:r>
              <a:rPr lang="en-US" sz="2400" b="1" dirty="0"/>
              <a:t>mistakenly</a:t>
            </a:r>
            <a:r>
              <a:rPr lang="en-US" sz="2400" dirty="0"/>
              <a:t> attributed it to Pell, when it belonged to </a:t>
            </a:r>
            <a:r>
              <a:rPr lang="en-US" sz="2400" b="1" dirty="0">
                <a:solidFill>
                  <a:srgbClr val="0070C0"/>
                </a:solidFill>
              </a:rPr>
              <a:t>William Brouncker</a:t>
            </a:r>
            <a:r>
              <a:rPr lang="en-US" sz="2400" dirty="0"/>
              <a:t>, who in 1657 developed a method for solving that equation – responding to a challenge by </a:t>
            </a:r>
            <a:r>
              <a:rPr lang="en-US" sz="2400" b="1" dirty="0">
                <a:solidFill>
                  <a:srgbClr val="FF0000"/>
                </a:solidFill>
              </a:rPr>
              <a:t>Pierre de Fermat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Euler, Brouncker, and Fermat were all unaware that an Indian mathematician had solved it completely </a:t>
            </a:r>
            <a:r>
              <a:rPr lang="en-US" sz="2400" b="1" i="1" dirty="0">
                <a:solidFill>
                  <a:srgbClr val="7030A0"/>
                </a:solidFill>
              </a:rPr>
              <a:t>500 years earlier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Using his “chakravala” (circle) method, </a:t>
            </a:r>
            <a:r>
              <a:rPr lang="en-US" sz="2400" b="1" dirty="0"/>
              <a:t>Bhāskara II </a:t>
            </a:r>
            <a:r>
              <a:rPr lang="en-US" sz="2400" dirty="0"/>
              <a:t>found an efficient algorithm in </a:t>
            </a:r>
            <a:r>
              <a:rPr lang="en-US" sz="2400" b="1" dirty="0">
                <a:solidFill>
                  <a:srgbClr val="7030A0"/>
                </a:solidFill>
              </a:rPr>
              <a:t>1150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2B53-854D-EEFA-F773-07E5D15A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0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C080-1ED1-9D38-977E-46CF1015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F1A7-4F40-1BDD-6355-9D65B85A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Chakravala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26A8-FA8B-D89D-EB6E-CCC2D092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DDE6C9-1E1B-CEC4-A588-4E4802437ED1}"/>
                  </a:ext>
                </a:extLst>
              </p:cNvPr>
              <p:cNvSpPr txBox="1"/>
              <p:nvPr/>
            </p:nvSpPr>
            <p:spPr>
              <a:xfrm>
                <a:off x="4889365" y="5604872"/>
                <a:ext cx="30142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DDE6C9-1E1B-CEC4-A588-4E4802437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365" y="5604872"/>
                <a:ext cx="3014223" cy="276999"/>
              </a:xfrm>
              <a:prstGeom prst="rect">
                <a:avLst/>
              </a:prstGeom>
              <a:blipFill>
                <a:blip r:embed="rId3"/>
                <a:stretch>
                  <a:fillRect l="-4646" t="-28261" r="-60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0629F2-2712-EE50-D048-1606DED564E8}"/>
                  </a:ext>
                </a:extLst>
              </p:cNvPr>
              <p:cNvSpPr txBox="1"/>
              <p:nvPr/>
            </p:nvSpPr>
            <p:spPr>
              <a:xfrm>
                <a:off x="4976301" y="3217937"/>
                <a:ext cx="2004010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0629F2-2712-EE50-D048-1606DED56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301" y="3217937"/>
                <a:ext cx="2004010" cy="572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A04BCB-D992-108B-D7FB-5F3E9F3A83E6}"/>
                  </a:ext>
                </a:extLst>
              </p:cNvPr>
              <p:cNvSpPr txBox="1"/>
              <p:nvPr/>
            </p:nvSpPr>
            <p:spPr>
              <a:xfrm>
                <a:off x="4976301" y="3927737"/>
                <a:ext cx="1560812" cy="5631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A04BCB-D992-108B-D7FB-5F3E9F3A8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301" y="3927737"/>
                <a:ext cx="1560812" cy="5631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F2ECBF-5DAD-6309-E6B1-3FC55DF3A8D7}"/>
                  </a:ext>
                </a:extLst>
              </p:cNvPr>
              <p:cNvSpPr txBox="1"/>
              <p:nvPr/>
            </p:nvSpPr>
            <p:spPr>
              <a:xfrm>
                <a:off x="4976301" y="4628046"/>
                <a:ext cx="1315937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F2ECBF-5DAD-6309-E6B1-3FC55DF3A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301" y="4628046"/>
                <a:ext cx="1315937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D71920-3D3B-0CE4-8828-B41125DDF357}"/>
                  </a:ext>
                </a:extLst>
              </p:cNvPr>
              <p:cNvSpPr txBox="1"/>
              <p:nvPr/>
            </p:nvSpPr>
            <p:spPr>
              <a:xfrm>
                <a:off x="6788358" y="4767442"/>
                <a:ext cx="10282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D71920-3D3B-0CE4-8828-B41125DDF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358" y="4767442"/>
                <a:ext cx="1028294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CEE638-A73C-B723-579E-061C683EAD24}"/>
                  </a:ext>
                </a:extLst>
              </p:cNvPr>
              <p:cNvSpPr txBox="1"/>
              <p:nvPr/>
            </p:nvSpPr>
            <p:spPr>
              <a:xfrm>
                <a:off x="2327822" y="1530297"/>
                <a:ext cx="16917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CEE638-A73C-B723-579E-061C683E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822" y="1530297"/>
                <a:ext cx="1691745" cy="276999"/>
              </a:xfrm>
              <a:prstGeom prst="rect">
                <a:avLst/>
              </a:prstGeom>
              <a:blipFill>
                <a:blip r:embed="rId8"/>
                <a:stretch>
                  <a:fillRect l="-1444" t="-2222" r="-288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6F4AD9-3BC7-0C2B-7115-3961A2EFBF86}"/>
                  </a:ext>
                </a:extLst>
              </p:cNvPr>
              <p:cNvSpPr txBox="1"/>
              <p:nvPr/>
            </p:nvSpPr>
            <p:spPr>
              <a:xfrm>
                <a:off x="2330739" y="1977421"/>
                <a:ext cx="1685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6F4AD9-3BC7-0C2B-7115-3961A2EFB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39" y="1977421"/>
                <a:ext cx="1685911" cy="276999"/>
              </a:xfrm>
              <a:prstGeom prst="rect">
                <a:avLst/>
              </a:prstGeom>
              <a:blipFill>
                <a:blip r:embed="rId9"/>
                <a:stretch>
                  <a:fillRect l="-1444" r="-252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888B388-3787-4CFA-9E34-68B0CCF1B286}"/>
              </a:ext>
            </a:extLst>
          </p:cNvPr>
          <p:cNvSpPr txBox="1"/>
          <p:nvPr/>
        </p:nvSpPr>
        <p:spPr>
          <a:xfrm>
            <a:off x="4444616" y="1502610"/>
            <a:ext cx="227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Pell’s Equation = </a:t>
            </a:r>
            <a:r>
              <a:rPr lang="en-US" sz="1600" b="1" dirty="0">
                <a:solidFill>
                  <a:srgbClr val="FF0000"/>
                </a:solidFill>
              </a:rPr>
              <a:t>HARD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AFBCBA-9750-D7F4-1784-59670DD15C49}"/>
              </a:ext>
            </a:extLst>
          </p:cNvPr>
          <p:cNvSpPr txBox="1"/>
          <p:nvPr/>
        </p:nvSpPr>
        <p:spPr>
          <a:xfrm>
            <a:off x="4347719" y="1941182"/>
            <a:ext cx="2468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Relaxed</a:t>
            </a:r>
            <a:r>
              <a:rPr lang="en-US" sz="1600" dirty="0"/>
              <a:t> Condition = </a:t>
            </a:r>
            <a:r>
              <a:rPr lang="en-US" sz="1600" b="1" dirty="0">
                <a:solidFill>
                  <a:srgbClr val="00B050"/>
                </a:solidFill>
              </a:rPr>
              <a:t>EASIER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144D12-6FE8-B747-ABB0-6A3894BDBD07}"/>
                  </a:ext>
                </a:extLst>
              </p:cNvPr>
              <p:cNvSpPr txBox="1"/>
              <p:nvPr/>
            </p:nvSpPr>
            <p:spPr>
              <a:xfrm>
                <a:off x="894931" y="2980161"/>
                <a:ext cx="2887714" cy="3300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144D12-6FE8-B747-ABB0-6A3894BDB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31" y="2980161"/>
                <a:ext cx="2887714" cy="330027"/>
              </a:xfrm>
              <a:prstGeom prst="rect">
                <a:avLst/>
              </a:prstGeom>
              <a:blipFill>
                <a:blip r:embed="rId10"/>
                <a:stretch>
                  <a:fillRect l="-633" r="-1266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6005E8-746E-ACB8-1A83-AC771C0B65F2}"/>
                  </a:ext>
                </a:extLst>
              </p:cNvPr>
              <p:cNvSpPr txBox="1"/>
              <p:nvPr/>
            </p:nvSpPr>
            <p:spPr>
              <a:xfrm>
                <a:off x="1133843" y="4281283"/>
                <a:ext cx="2358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 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6005E8-746E-ACB8-1A83-AC771C0B6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843" y="4281283"/>
                <a:ext cx="2358594" cy="276999"/>
              </a:xfrm>
              <a:prstGeom prst="rect">
                <a:avLst/>
              </a:prstGeom>
              <a:blipFill>
                <a:blip r:embed="rId11"/>
                <a:stretch>
                  <a:fillRect l="-1034" t="-2174" r="-3101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DFF44-2C45-07AB-3F73-B9D0A47D1516}"/>
                  </a:ext>
                </a:extLst>
              </p:cNvPr>
              <p:cNvSpPr txBox="1"/>
              <p:nvPr/>
            </p:nvSpPr>
            <p:spPr>
              <a:xfrm>
                <a:off x="1360764" y="5104037"/>
                <a:ext cx="1904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𝑚𝑖𝑛𝑖𝑚𝑧𝑒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DFF44-2C45-07AB-3F73-B9D0A47D1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764" y="5104037"/>
                <a:ext cx="1904752" cy="276999"/>
              </a:xfrm>
              <a:prstGeom prst="rect">
                <a:avLst/>
              </a:prstGeom>
              <a:blipFill>
                <a:blip r:embed="rId12"/>
                <a:stretch>
                  <a:fillRect l="-255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B2E8AEB-DE81-1A2C-3BAD-5DBE563C3514}"/>
              </a:ext>
            </a:extLst>
          </p:cNvPr>
          <p:cNvSpPr txBox="1"/>
          <p:nvPr/>
        </p:nvSpPr>
        <p:spPr>
          <a:xfrm>
            <a:off x="1655172" y="2591988"/>
            <a:ext cx="1315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 with: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CFAED9-9025-9943-ED11-5A9BDAC208DD}"/>
                  </a:ext>
                </a:extLst>
              </p:cNvPr>
              <p:cNvSpPr txBox="1"/>
              <p:nvPr/>
            </p:nvSpPr>
            <p:spPr>
              <a:xfrm>
                <a:off x="1133843" y="3823739"/>
                <a:ext cx="2358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Find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such that: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DCFAED9-9025-9943-ED11-5A9BDAC20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843" y="3823739"/>
                <a:ext cx="2358594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B7B0ED-DAF3-7788-3DE6-16E9513B5687}"/>
                  </a:ext>
                </a:extLst>
              </p:cNvPr>
              <p:cNvSpPr txBox="1"/>
              <p:nvPr/>
            </p:nvSpPr>
            <p:spPr>
              <a:xfrm>
                <a:off x="978672" y="4646494"/>
                <a:ext cx="2668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Of those,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that: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B7B0ED-DAF3-7788-3DE6-16E9513B5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72" y="4646494"/>
                <a:ext cx="2668936" cy="369332"/>
              </a:xfrm>
              <a:prstGeom prst="rect">
                <a:avLst/>
              </a:prstGeom>
              <a:blipFill>
                <a:blip r:embed="rId14"/>
                <a:stretch>
                  <a:fillRect l="-22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2250171-EEBB-17B6-25C5-CECDDF03ED12}"/>
              </a:ext>
            </a:extLst>
          </p:cNvPr>
          <p:cNvSpPr txBox="1"/>
          <p:nvPr/>
        </p:nvSpPr>
        <p:spPr>
          <a:xfrm>
            <a:off x="4908306" y="2607355"/>
            <a:ext cx="297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the next values: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0B1C76-7332-7C27-2B9D-382F9B83EE0B}"/>
                  </a:ext>
                </a:extLst>
              </p:cNvPr>
              <p:cNvSpPr txBox="1"/>
              <p:nvPr/>
            </p:nvSpPr>
            <p:spPr>
              <a:xfrm>
                <a:off x="4614353" y="5934445"/>
                <a:ext cx="3564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so repeat until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0B1C76-7332-7C27-2B9D-382F9B83E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353" y="5934445"/>
                <a:ext cx="3564246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220CAFF-CC88-F963-AB7E-BAA0CB844251}"/>
              </a:ext>
            </a:extLst>
          </p:cNvPr>
          <p:cNvSpPr/>
          <p:nvPr/>
        </p:nvSpPr>
        <p:spPr>
          <a:xfrm>
            <a:off x="3808740" y="1956296"/>
            <a:ext cx="207910" cy="33855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55A4D0-5D9B-5FC1-573B-4D1934B6EEDD}"/>
              </a:ext>
            </a:extLst>
          </p:cNvPr>
          <p:cNvSpPr txBox="1"/>
          <p:nvPr/>
        </p:nvSpPr>
        <p:spPr>
          <a:xfrm>
            <a:off x="1164071" y="3285422"/>
            <a:ext cx="924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ceiling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12EC90-667F-B054-7BDB-918F9865E839}"/>
              </a:ext>
            </a:extLst>
          </p:cNvPr>
          <p:cNvSpPr/>
          <p:nvPr/>
        </p:nvSpPr>
        <p:spPr>
          <a:xfrm>
            <a:off x="6234874" y="6102110"/>
            <a:ext cx="446151" cy="189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92BC54-5F0E-BA38-977D-F2A53B204A9F}"/>
              </a:ext>
            </a:extLst>
          </p:cNvPr>
          <p:cNvSpPr/>
          <p:nvPr/>
        </p:nvSpPr>
        <p:spPr>
          <a:xfrm>
            <a:off x="1270089" y="3913856"/>
            <a:ext cx="446151" cy="189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3E865A5-D638-DA5A-FFF5-3211EE99C3A9}"/>
              </a:ext>
            </a:extLst>
          </p:cNvPr>
          <p:cNvCxnSpPr>
            <a:cxnSpLocks/>
            <a:stCxn id="40" idx="2"/>
            <a:endCxn id="41" idx="1"/>
          </p:cNvCxnSpPr>
          <p:nvPr/>
        </p:nvCxnSpPr>
        <p:spPr>
          <a:xfrm rot="5400000" flipH="1">
            <a:off x="2722619" y="2555876"/>
            <a:ext cx="2282802" cy="5187861"/>
          </a:xfrm>
          <a:prstGeom prst="bentConnector4">
            <a:avLst>
              <a:gd name="adj1" fmla="val -10014"/>
              <a:gd name="adj2" fmla="val 11008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08D0878-3FEA-20B6-EDFD-DA5B4BFC9385}"/>
              </a:ext>
            </a:extLst>
          </p:cNvPr>
          <p:cNvSpPr/>
          <p:nvPr/>
        </p:nvSpPr>
        <p:spPr>
          <a:xfrm>
            <a:off x="3090823" y="3913856"/>
            <a:ext cx="324952" cy="189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247AC4-5283-44F3-DBDB-BEF2AB1AE071}"/>
              </a:ext>
            </a:extLst>
          </p:cNvPr>
          <p:cNvSpPr/>
          <p:nvPr/>
        </p:nvSpPr>
        <p:spPr>
          <a:xfrm>
            <a:off x="5155151" y="2713362"/>
            <a:ext cx="324952" cy="189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249FD64-ADBC-CABC-72A7-CA4007DDDCD4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 flipV="1">
            <a:off x="3415775" y="2807911"/>
            <a:ext cx="1739376" cy="1200494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7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/>
      <p:bldP spid="16" grpId="0"/>
      <p:bldP spid="17" grpId="0"/>
      <p:bldP spid="19" grpId="0"/>
      <p:bldP spid="8" grpId="0"/>
      <p:bldP spid="24" grpId="0"/>
      <p:bldP spid="25" grpId="0"/>
      <p:bldP spid="10" grpId="0"/>
      <p:bldP spid="11" grpId="0"/>
      <p:bldP spid="14" grpId="0"/>
      <p:bldP spid="23" grpId="0"/>
      <p:bldP spid="27" grpId="0"/>
      <p:bldP spid="28" grpId="0"/>
      <p:bldP spid="30" grpId="0"/>
      <p:bldP spid="32" grpId="0"/>
      <p:bldP spid="38" grpId="0" animBg="1"/>
      <p:bldP spid="3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24A4-44F9-5182-B951-6D314369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BFC0-FE9F-25D3-50DB-4830C4C7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chakravala_method.py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35B3C-EA65-6A84-6F7C-88A7E4E8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A3A2F-EA50-CE11-4103-6FF06550A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43" y="1786143"/>
            <a:ext cx="5285714" cy="32857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B25ED4-FE7F-5283-180E-371737D7E084}"/>
                  </a:ext>
                </a:extLst>
              </p:cNvPr>
              <p:cNvSpPr txBox="1"/>
              <p:nvPr/>
            </p:nvSpPr>
            <p:spPr>
              <a:xfrm>
                <a:off x="3369040" y="5314508"/>
                <a:ext cx="24059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B25ED4-FE7F-5283-180E-371737D7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040" y="5314508"/>
                <a:ext cx="240592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91775FD-40A6-C2E5-C162-1123E69115A2}"/>
              </a:ext>
            </a:extLst>
          </p:cNvPr>
          <p:cNvGrpSpPr/>
          <p:nvPr/>
        </p:nvGrpSpPr>
        <p:grpSpPr>
          <a:xfrm>
            <a:off x="4492965" y="2680318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0A9254A-2080-E618-3AD2-573A9AEFE3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E2B49E-D9FC-931E-5C73-72F2493DFBD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01C1FF-6375-8023-E12A-7DC72D92795A}"/>
              </a:ext>
            </a:extLst>
          </p:cNvPr>
          <p:cNvGrpSpPr/>
          <p:nvPr/>
        </p:nvGrpSpPr>
        <p:grpSpPr>
          <a:xfrm>
            <a:off x="5513162" y="2907855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1F7C1E3-4FFF-6919-E8B9-77E6CA84FB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FDF5CF-B518-9945-3ABE-CF5F16798AF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92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50FB1-8014-16BC-7E40-130DB927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0EE27DA-3492-B708-ABFC-37E2413489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5" y="1933762"/>
            <a:ext cx="7923809" cy="2990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BCB79B-25F3-A9DF-5AF4-09D3A5E3E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chakravala_method.py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FE2C3-0B4B-4316-6DC8-63696601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2175BA-21CD-4683-EFA4-D256C9CFAD9E}"/>
              </a:ext>
            </a:extLst>
          </p:cNvPr>
          <p:cNvGrpSpPr/>
          <p:nvPr/>
        </p:nvGrpSpPr>
        <p:grpSpPr>
          <a:xfrm>
            <a:off x="3329183" y="194887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51FB6B8-3ED6-1A27-5984-9E2550FB4D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CEA7EE-1DAC-822D-5B9D-FF67572CD65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2A14B8-EDBC-1B0D-5040-F71DB1609E03}"/>
              </a:ext>
            </a:extLst>
          </p:cNvPr>
          <p:cNvGrpSpPr/>
          <p:nvPr/>
        </p:nvGrpSpPr>
        <p:grpSpPr>
          <a:xfrm>
            <a:off x="2354325" y="2400173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B41EDC7-E7BB-3C1E-6B5C-B714D51E64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9B094B-F2A1-3016-971B-BF76E165CD0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30135E-DFA3-4387-A3F4-2E08B9D640FB}"/>
              </a:ext>
            </a:extLst>
          </p:cNvPr>
          <p:cNvGrpSpPr/>
          <p:nvPr/>
        </p:nvGrpSpPr>
        <p:grpSpPr>
          <a:xfrm>
            <a:off x="2476583" y="2643238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603473-C3BC-40B1-B26C-492B681D180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C87E5B-A940-A7CC-FC1C-BBA5AB784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ED3B0A-03CB-71A3-E990-8FEE604796F8}"/>
              </a:ext>
            </a:extLst>
          </p:cNvPr>
          <p:cNvGrpSpPr/>
          <p:nvPr/>
        </p:nvGrpSpPr>
        <p:grpSpPr>
          <a:xfrm>
            <a:off x="2624115" y="3108673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8E072F-2B3B-5320-FC25-2ABA250628C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1CA886A-4546-426B-D87F-E416A4BB2C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4F3617-AB7C-6DE6-0083-9AD633636281}"/>
              </a:ext>
            </a:extLst>
          </p:cNvPr>
          <p:cNvGrpSpPr/>
          <p:nvPr/>
        </p:nvGrpSpPr>
        <p:grpSpPr>
          <a:xfrm>
            <a:off x="2039120" y="3784777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C8804E-4D4C-1268-2BFD-6AB64C7A553A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A22D1EC-B1C6-DCA5-ED85-DAC073BB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73751B-DB22-991C-464F-27804B5BA883}"/>
              </a:ext>
            </a:extLst>
          </p:cNvPr>
          <p:cNvGrpSpPr/>
          <p:nvPr/>
        </p:nvGrpSpPr>
        <p:grpSpPr>
          <a:xfrm>
            <a:off x="3178760" y="4467525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63E1530-D807-81AF-6B40-D619555EE06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4472F21-C26D-6CC0-81A0-81B9DC3F5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F2E3C336-D99C-103B-D54C-06B0177DC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61" y="3784777"/>
            <a:ext cx="2915636" cy="9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4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552C-7B0B-2EB9-0D2D-CC056F31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82DD2B-B186-9479-75FF-A21B66D0B5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5" y="1940593"/>
            <a:ext cx="7923809" cy="2704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E725EF-7F34-C1DE-B9D8-8E20A082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chakravala_method.py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DFA4F-C781-4C3B-DBCA-8A9B3EB0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D4C36A-6815-1890-D180-498851C7ED26}"/>
              </a:ext>
            </a:extLst>
          </p:cNvPr>
          <p:cNvGrpSpPr/>
          <p:nvPr/>
        </p:nvGrpSpPr>
        <p:grpSpPr>
          <a:xfrm>
            <a:off x="5596290" y="1949378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DFF57FD-6653-E7B5-D4C8-39ADB4400B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B38697-13CB-F383-9F21-64E44DF59A5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8BDF81-8B4E-E416-7244-230B50716EBB}"/>
              </a:ext>
            </a:extLst>
          </p:cNvPr>
          <p:cNvGrpSpPr/>
          <p:nvPr/>
        </p:nvGrpSpPr>
        <p:grpSpPr>
          <a:xfrm>
            <a:off x="2387534" y="2167106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0310266-551E-DB61-87FF-A1EEE7D866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A88D3-9BFA-CC87-372F-C99A89BD98D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1C630A-6CBC-A577-4B28-C26DF30FD238}"/>
              </a:ext>
            </a:extLst>
          </p:cNvPr>
          <p:cNvGrpSpPr/>
          <p:nvPr/>
        </p:nvGrpSpPr>
        <p:grpSpPr>
          <a:xfrm>
            <a:off x="7484294" y="2853716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24B9C4-9C02-78D9-1DDE-C78CD970D9D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63CFABA-8266-F863-B1B9-A4DFB05155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9073C2-E542-D011-E419-19ECA0065FEB}"/>
              </a:ext>
            </a:extLst>
          </p:cNvPr>
          <p:cNvGrpSpPr/>
          <p:nvPr/>
        </p:nvGrpSpPr>
        <p:grpSpPr>
          <a:xfrm>
            <a:off x="7970256" y="3090354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980B41-E947-3078-106C-61B4981635C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9C1FB6D-EA9D-8958-4D50-753D9E829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4DD654-55F5-BB1C-EF14-E554773793C9}"/>
              </a:ext>
            </a:extLst>
          </p:cNvPr>
          <p:cNvGrpSpPr/>
          <p:nvPr/>
        </p:nvGrpSpPr>
        <p:grpSpPr>
          <a:xfrm>
            <a:off x="2885505" y="3998579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15D00F-AFED-BB9D-2B89-2CEDE708434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971F8E6-F235-172D-DEC5-29E39B43F5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CB93A3-AAF4-6136-81E5-81C365E18830}"/>
              </a:ext>
            </a:extLst>
          </p:cNvPr>
          <p:cNvGrpSpPr/>
          <p:nvPr/>
        </p:nvGrpSpPr>
        <p:grpSpPr>
          <a:xfrm>
            <a:off x="3034877" y="4215518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4BD13C7-38B6-C592-6322-25043FCD404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CE34A54-1A70-8EFC-3E19-49B10E0367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447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7FAF-EBFC-B436-D59F-8D40E7C9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FC65B1-3824-BB41-07E5-42556924DD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5" y="1926392"/>
            <a:ext cx="7923809" cy="37523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5FE3C2-5CC6-7686-3B1B-019A2D11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chakravala_method.py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A64B8-0C6D-22FB-B550-03BF69A8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7BBCC5-8777-390D-1BC8-4463C149C94F}"/>
              </a:ext>
            </a:extLst>
          </p:cNvPr>
          <p:cNvGrpSpPr/>
          <p:nvPr/>
        </p:nvGrpSpPr>
        <p:grpSpPr>
          <a:xfrm>
            <a:off x="4056354" y="2115632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41437F9-2EA8-F33F-08D5-A579886B57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0F7891-F730-7AB8-46A2-B70C4EFB080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C41A8A-75D4-5E82-44A1-1B54A82A5083}"/>
              </a:ext>
            </a:extLst>
          </p:cNvPr>
          <p:cNvGrpSpPr/>
          <p:nvPr/>
        </p:nvGrpSpPr>
        <p:grpSpPr>
          <a:xfrm>
            <a:off x="4322132" y="2588706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041A8F4-CB38-4054-BEA3-26037B29E9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B00CBA-2272-FFCC-A2B4-FCE84CA0E46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258283-C956-4F8C-8ABD-4895151E7011}"/>
              </a:ext>
            </a:extLst>
          </p:cNvPr>
          <p:cNvGrpSpPr/>
          <p:nvPr/>
        </p:nvGrpSpPr>
        <p:grpSpPr>
          <a:xfrm>
            <a:off x="4571999" y="3036941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170AFC8-2EBD-D306-7B0F-D1877E76DD0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E3EB80F-BBA2-E7C0-3D71-9308896A55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804C28-1DD5-AF54-4DE2-0BB508E96396}"/>
              </a:ext>
            </a:extLst>
          </p:cNvPr>
          <p:cNvGrpSpPr/>
          <p:nvPr/>
        </p:nvGrpSpPr>
        <p:grpSpPr>
          <a:xfrm>
            <a:off x="6655333" y="3267005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B50648-E998-A252-F33E-6F00881A3AC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454E77F-E00C-E9DC-C06F-05AF8D7AF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DE19C9-7E17-24DA-CC63-3F6390BC2439}"/>
              </a:ext>
            </a:extLst>
          </p:cNvPr>
          <p:cNvGrpSpPr/>
          <p:nvPr/>
        </p:nvGrpSpPr>
        <p:grpSpPr>
          <a:xfrm>
            <a:off x="6121011" y="3952674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4705A8-21E5-4933-C8FC-8466CBBD1C4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5310EE4-44C6-8D27-BFE5-EBAB17E72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7D8123-3E21-965F-8E5E-D13321F1CEAB}"/>
              </a:ext>
            </a:extLst>
          </p:cNvPr>
          <p:cNvGrpSpPr/>
          <p:nvPr/>
        </p:nvGrpSpPr>
        <p:grpSpPr>
          <a:xfrm>
            <a:off x="4564010" y="4623597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B6EF57-8B60-A2F9-DF57-8D63D6FF2EB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79D2E47-D55D-C023-43BB-C7CFA47D2A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6E1C284-150D-1912-A578-563573221D41}"/>
              </a:ext>
            </a:extLst>
          </p:cNvPr>
          <p:cNvGrpSpPr/>
          <p:nvPr/>
        </p:nvGrpSpPr>
        <p:grpSpPr>
          <a:xfrm>
            <a:off x="2762408" y="5309441"/>
            <a:ext cx="1076632" cy="369332"/>
            <a:chOff x="2157212" y="5356391"/>
            <a:chExt cx="1076632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C9F206-9AD7-F7FE-474F-0B5ACC95F14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D21734A-4A24-C338-A6E4-8CE11BBDA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7B18DE2-7EBC-A1F8-5EEB-27C844A5F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686" y="1460210"/>
            <a:ext cx="2909415" cy="1784192"/>
          </a:xfrm>
          <a:prstGeom prst="rect">
            <a:avLst/>
          </a:prstGeom>
          <a:ln w="19050">
            <a:solidFill>
              <a:srgbClr val="7030A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957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1255-0AA4-F373-8CF4-A896C360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2AD66B-2B62-8027-BC5A-9623E8E2C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5" y="1924963"/>
            <a:ext cx="7923809" cy="19333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4700B4-4CA9-ED5C-6659-DD7B7B88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chakravala_method.py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D085E-E58D-9B5F-394A-FAC1DAA2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C13081-3FBE-2475-5CB6-6F36C0E41A2B}"/>
              </a:ext>
            </a:extLst>
          </p:cNvPr>
          <p:cNvGrpSpPr/>
          <p:nvPr/>
        </p:nvGrpSpPr>
        <p:grpSpPr>
          <a:xfrm>
            <a:off x="5458493" y="1982815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B5EAE79-0FA7-F6A7-5D2E-08BA69D06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B0C079-FDFB-D1A8-EEE5-CB13DFDAAE1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1BE314-8B0C-1763-E294-1A4FCF6D0D67}"/>
              </a:ext>
            </a:extLst>
          </p:cNvPr>
          <p:cNvGrpSpPr/>
          <p:nvPr/>
        </p:nvGrpSpPr>
        <p:grpSpPr>
          <a:xfrm>
            <a:off x="5390966" y="2225333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EB24D83-836C-CDF8-492D-A695E97AD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395AD5-6018-951A-5647-9016A6D0409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824A0D-FA95-AE7B-51A7-9D25D4E3DD15}"/>
              </a:ext>
            </a:extLst>
          </p:cNvPr>
          <p:cNvGrpSpPr/>
          <p:nvPr/>
        </p:nvGrpSpPr>
        <p:grpSpPr>
          <a:xfrm>
            <a:off x="5448913" y="2799296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15B04C-05D6-B859-1161-5AAF9D5488A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910BC49-EF2B-0C66-CB70-BB89F570C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5DB45E-E900-B0D1-2578-935275766329}"/>
              </a:ext>
            </a:extLst>
          </p:cNvPr>
          <p:cNvGrpSpPr/>
          <p:nvPr/>
        </p:nvGrpSpPr>
        <p:grpSpPr>
          <a:xfrm>
            <a:off x="2230238" y="3349598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A8EF9C-33A5-3FDA-789F-E496B70B41A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B0FBD36-A881-3107-FCB5-FBA341E30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3F7F95D-C741-C43B-7C78-16C0BCFA30FC}"/>
              </a:ext>
            </a:extLst>
          </p:cNvPr>
          <p:cNvSpPr txBox="1"/>
          <p:nvPr/>
        </p:nvSpPr>
        <p:spPr>
          <a:xfrm>
            <a:off x="6517556" y="2235315"/>
            <a:ext cx="1520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Tuple unpacking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B701B-E425-7981-B4BC-8E9E415AE0D4}"/>
              </a:ext>
            </a:extLst>
          </p:cNvPr>
          <p:cNvSpPr txBox="1"/>
          <p:nvPr/>
        </p:nvSpPr>
        <p:spPr>
          <a:xfrm>
            <a:off x="3262080" y="3380375"/>
            <a:ext cx="1520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Tuple packing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1C860DE-A591-5FE1-B33E-832ABF4B0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211" y="3195625"/>
            <a:ext cx="3762690" cy="3147448"/>
          </a:xfrm>
          <a:prstGeom prst="rect">
            <a:avLst/>
          </a:prstGeom>
          <a:ln w="1905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659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45EB-D2EA-EC4F-4FFC-E3563AA3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F171-2A9A-3408-A59A-C591C94A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chakravala_method.py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7BEC0-EDEE-E9DC-0205-DCB94BAD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0201FB-C462-F714-5285-EE63717DB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503" y="1468581"/>
            <a:ext cx="3254993" cy="38366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A35E15-FB01-9CE0-B91E-534F4C4A4A3B}"/>
              </a:ext>
            </a:extLst>
          </p:cNvPr>
          <p:cNvSpPr txBox="1"/>
          <p:nvPr/>
        </p:nvSpPr>
        <p:spPr>
          <a:xfrm>
            <a:off x="3085154" y="5573570"/>
            <a:ext cx="2973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Efficient Mathematical Algorithms are rare gems!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ED3027-9021-53BB-7935-72272BDF5DCA}"/>
              </a:ext>
            </a:extLst>
          </p:cNvPr>
          <p:cNvSpPr/>
          <p:nvPr/>
        </p:nvSpPr>
        <p:spPr>
          <a:xfrm>
            <a:off x="3007696" y="3387726"/>
            <a:ext cx="3053379" cy="266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EDA73-521F-41BF-5BBE-6FEEEF472948}"/>
              </a:ext>
            </a:extLst>
          </p:cNvPr>
          <p:cNvSpPr txBox="1"/>
          <p:nvPr/>
        </p:nvSpPr>
        <p:spPr>
          <a:xfrm>
            <a:off x="268905" y="2524593"/>
            <a:ext cx="2424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Even without any </a:t>
            </a:r>
            <a:r>
              <a:rPr lang="en-US" b="1" dirty="0">
                <a:solidFill>
                  <a:srgbClr val="0070C0"/>
                </a:solidFill>
              </a:rPr>
              <a:t>Numba</a:t>
            </a:r>
            <a:r>
              <a:rPr lang="en-US" dirty="0"/>
              <a:t> compilation, this code runs 100x </a:t>
            </a:r>
            <a:r>
              <a:rPr lang="en-US" i="1" dirty="0"/>
              <a:t>faster</a:t>
            </a:r>
            <a:r>
              <a:rPr lang="en-US" dirty="0"/>
              <a:t> than our prior naive search!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0729AF-0F58-FD23-D7C2-A82F52168A3F}"/>
                  </a:ext>
                </a:extLst>
              </p:cNvPr>
              <p:cNvSpPr txBox="1"/>
              <p:nvPr/>
            </p:nvSpPr>
            <p:spPr>
              <a:xfrm>
                <a:off x="6378299" y="2801592"/>
                <a:ext cx="24245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And this method can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values for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61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0729AF-0F58-FD23-D7C2-A82F52168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299" y="2801592"/>
                <a:ext cx="2424546" cy="923330"/>
              </a:xfrm>
              <a:prstGeom prst="rect">
                <a:avLst/>
              </a:prstGeom>
              <a:blipFill>
                <a:blip r:embed="rId4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0416675-2C60-EDED-318B-3E863150FC0F}"/>
              </a:ext>
            </a:extLst>
          </p:cNvPr>
          <p:cNvSpPr txBox="1"/>
          <p:nvPr/>
        </p:nvSpPr>
        <p:spPr>
          <a:xfrm>
            <a:off x="6623273" y="3998619"/>
            <a:ext cx="1934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That </a:t>
            </a:r>
            <a:r>
              <a:rPr lang="en-US" sz="1600" b="1" dirty="0">
                <a:solidFill>
                  <a:srgbClr val="7030A0"/>
                </a:solidFill>
              </a:rPr>
              <a:t>Bhāskara</a:t>
            </a:r>
            <a:r>
              <a:rPr lang="en-US" b="1" dirty="0">
                <a:solidFill>
                  <a:srgbClr val="7030A0"/>
                </a:solidFill>
              </a:rPr>
              <a:t> II</a:t>
            </a:r>
            <a:r>
              <a:rPr lang="en-US" dirty="0">
                <a:solidFill>
                  <a:srgbClr val="7030A0"/>
                </a:solidFill>
              </a:rPr>
              <a:t> found these enormous values in the 12</a:t>
            </a:r>
            <a:r>
              <a:rPr lang="en-US" baseline="30000" dirty="0">
                <a:solidFill>
                  <a:srgbClr val="7030A0"/>
                </a:solidFill>
              </a:rPr>
              <a:t>th</a:t>
            </a:r>
            <a:r>
              <a:rPr lang="en-US" dirty="0">
                <a:solidFill>
                  <a:srgbClr val="7030A0"/>
                </a:solidFill>
              </a:rPr>
              <a:t> century is an extraordinary achievement!</a:t>
            </a:r>
          </a:p>
        </p:txBody>
      </p:sp>
    </p:spTree>
    <p:extLst>
      <p:ext uri="{BB962C8B-B14F-4D97-AF65-F5344CB8AC3E}">
        <p14:creationId xmlns:p14="http://schemas.microsoft.com/office/powerpoint/2010/main" val="298303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/>
      <p:bldP spid="15" grpId="0"/>
      <p:bldP spid="24" grpId="0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Strassen’s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2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Multiplication is repeated addition, so a computer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much faster at adding </a:t>
                </a:r>
                <a:r>
                  <a:rPr lang="en-US" sz="2400" dirty="0"/>
                  <a:t>two numbers than </a:t>
                </a:r>
                <a:r>
                  <a:rPr lang="en-US" sz="2400" i="1" dirty="0"/>
                  <a:t>multiplying</a:t>
                </a:r>
                <a:r>
                  <a:rPr lang="en-US" sz="2400" dirty="0"/>
                  <a:t> them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From our first days in Algebra, we are taught that you can only add “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like</a:t>
                </a:r>
                <a:r>
                  <a:rPr lang="en-US" sz="2400" dirty="0"/>
                  <a:t>” terms (those terms where each variable and exponent are the same)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Hence, we are taught that the </a:t>
                </a:r>
                <a:r>
                  <a:rPr lang="en-US" sz="2400" b="1" dirty="0"/>
                  <a:t>FOIL</a:t>
                </a:r>
                <a:r>
                  <a:rPr lang="en-US" sz="2400" dirty="0"/>
                  <a:t> method of expanding the product of two monomials requires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four (4)</a:t>
                </a:r>
                <a:r>
                  <a:rPr lang="en-US" sz="2400" b="1" dirty="0"/>
                  <a:t> </a:t>
                </a:r>
                <a:r>
                  <a:rPr lang="en-US" sz="2400" dirty="0"/>
                  <a:t>multiplications: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first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outside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inside</a:t>
                </a:r>
                <a:r>
                  <a:rPr lang="en-US" sz="2400" dirty="0">
                    <a:solidFill>
                      <a:srgbClr val="0070C0"/>
                    </a:solidFill>
                  </a:rPr>
                  <a:t>,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last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20" y="1825625"/>
                <a:ext cx="7886700" cy="4351338"/>
              </a:xfrm>
              <a:blipFill>
                <a:blip r:embed="rId2"/>
                <a:stretch>
                  <a:fillRect l="-1083" t="-1961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23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Strassen’s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2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Volker Strassen showed in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1969</a:t>
                </a:r>
                <a:r>
                  <a:rPr lang="en-US" sz="2400" dirty="0"/>
                  <a:t> that you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sz="2400" dirty="0"/>
                  <a:t>only need </a:t>
                </a:r>
                <a:r>
                  <a:rPr lang="en-US" sz="2400" b="1" dirty="0"/>
                  <a:t>three</a:t>
                </a:r>
                <a:r>
                  <a:rPr lang="en-US" sz="2400" dirty="0"/>
                  <a:t> (3) multiplications!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 ∗7=</m:t>
                      </m:r>
                      <m:r>
                        <a:rPr lang="en-US" sz="2400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 ∗9=</m:t>
                      </m:r>
                      <m:r>
                        <a:rPr lang="en-US" sz="2400" b="0" i="1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 ∗16=</m:t>
                      </m:r>
                      <m:r>
                        <a:rPr lang="en-US" sz="2400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solution is then: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128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+45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20" y="1825625"/>
                <a:ext cx="7886700" cy="4351338"/>
              </a:xfrm>
              <a:blipFill>
                <a:blip r:embed="rId2"/>
                <a:stretch>
                  <a:fillRect l="-123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377130"/>
            <a:ext cx="2057400" cy="32537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2A715-F817-6DF8-B6B0-B0F7A0FA6290}"/>
                  </a:ext>
                </a:extLst>
              </p:cNvPr>
              <p:cNvSpPr txBox="1"/>
              <p:nvPr/>
            </p:nvSpPr>
            <p:spPr>
              <a:xfrm>
                <a:off x="3834363" y="3571834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72A715-F817-6DF8-B6B0-B0F7A0FA6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363" y="3571834"/>
                <a:ext cx="200375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3BD81C-1378-5E5C-32AF-EAE68C76E57D}"/>
              </a:ext>
            </a:extLst>
          </p:cNvPr>
          <p:cNvCxnSpPr>
            <a:cxnSpLocks/>
          </p:cNvCxnSpPr>
          <p:nvPr/>
        </p:nvCxnSpPr>
        <p:spPr>
          <a:xfrm flipH="1">
            <a:off x="3781425" y="4086225"/>
            <a:ext cx="104775" cy="209550"/>
          </a:xfrm>
          <a:prstGeom prst="straightConnector1">
            <a:avLst/>
          </a:prstGeom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0D2A74-53C4-7CF0-A8A2-9CED73EA1A8A}"/>
                  </a:ext>
                </a:extLst>
              </p:cNvPr>
              <p:cNvSpPr txBox="1"/>
              <p:nvPr/>
            </p:nvSpPr>
            <p:spPr>
              <a:xfrm>
                <a:off x="4351094" y="3571834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0D2A74-53C4-7CF0-A8A2-9CED73EA1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094" y="3571834"/>
                <a:ext cx="20037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1621F7-FC82-83AE-C57C-E26A6178C1B8}"/>
              </a:ext>
            </a:extLst>
          </p:cNvPr>
          <p:cNvCxnSpPr>
            <a:cxnSpLocks/>
          </p:cNvCxnSpPr>
          <p:nvPr/>
        </p:nvCxnSpPr>
        <p:spPr>
          <a:xfrm flipH="1">
            <a:off x="4350545" y="4086225"/>
            <a:ext cx="104775" cy="209550"/>
          </a:xfrm>
          <a:prstGeom prst="straightConnector1">
            <a:avLst/>
          </a:prstGeom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62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Strassen’s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20" y="1825625"/>
                <a:ext cx="8054242" cy="435133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We break the rules by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adding</a:t>
                </a:r>
                <a:r>
                  <a:rPr lang="en-US" sz="2400" dirty="0"/>
                  <a:t> the 3 + 5 = </a:t>
                </a:r>
                <a:r>
                  <a:rPr lang="en-US" sz="2400" b="1" dirty="0"/>
                  <a:t>8</a:t>
                </a:r>
                <a:r>
                  <a:rPr lang="en-US" sz="2400" dirty="0"/>
                  <a:t> and 7 + 9 = </a:t>
                </a:r>
                <a:r>
                  <a:rPr lang="en-US" sz="2400" b="1" dirty="0"/>
                  <a:t>16</a:t>
                </a:r>
                <a:r>
                  <a:rPr lang="en-US" sz="2400" dirty="0"/>
                  <a:t>, even though they are </a:t>
                </a:r>
                <a:r>
                  <a:rPr lang="en-US" sz="2400" u="sng" dirty="0"/>
                  <a:t>not</a:t>
                </a:r>
                <a:r>
                  <a:rPr lang="en-US" sz="2400" dirty="0"/>
                  <a:t> like terms!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 ∗7=21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 ∗9=45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=128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Essentially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we </a:t>
                </a:r>
                <a:r>
                  <a:rPr lang="en-US" sz="2400" b="1" i="1" dirty="0">
                    <a:solidFill>
                      <a:srgbClr val="00B050"/>
                    </a:solidFill>
                  </a:rPr>
                  <a:t>trade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one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 multiplication for 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two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 subtractions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128 −45 −21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21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+62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+45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20" y="1825625"/>
                <a:ext cx="8054242" cy="4351338"/>
              </a:xfrm>
              <a:blipFill rotWithShape="0">
                <a:blip r:embed="rId2"/>
                <a:stretch>
                  <a:fillRect l="-1060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3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Strassen’s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20" y="1825625"/>
            <a:ext cx="7886700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When doing standard matrix multiplication, you will find that the naïve approach requires </a:t>
            </a:r>
            <a:r>
              <a:rPr lang="en-US" sz="2400" b="1" dirty="0"/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operations, so a 3 x 3 matrix multiply requires </a:t>
            </a:r>
            <a:r>
              <a:rPr lang="en-US" sz="2400" u="sng" dirty="0"/>
              <a:t>27</a:t>
            </a:r>
            <a:r>
              <a:rPr lang="en-US" sz="2400" dirty="0"/>
              <a:t> multiplications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his 1969 paper, </a:t>
            </a:r>
            <a:r>
              <a:rPr lang="en-US" sz="2400" b="1" dirty="0">
                <a:solidFill>
                  <a:srgbClr val="7030A0"/>
                </a:solidFill>
              </a:rPr>
              <a:t>Volker Strassen </a:t>
            </a:r>
            <a:r>
              <a:rPr lang="en-US" sz="2400" dirty="0"/>
              <a:t>showed that the exponent is less than 3.  Further improvements on Strassen’s method has brought this down to </a:t>
            </a:r>
            <a:r>
              <a:rPr lang="en-US" sz="2400" b="1" dirty="0"/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2.3728596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solidFill>
                  <a:srgbClr val="00B050"/>
                </a:solidFill>
              </a:rPr>
              <a:t>Why is this important?  </a:t>
            </a:r>
            <a:r>
              <a:rPr lang="en-US" sz="2400" dirty="0"/>
              <a:t>Because if you have really large matrices (think about solving </a:t>
            </a:r>
            <a:r>
              <a:rPr lang="en-US" sz="2400" b="1" dirty="0"/>
              <a:t>1,000</a:t>
            </a:r>
            <a:r>
              <a:rPr lang="en-US" sz="2400" dirty="0"/>
              <a:t> equations with </a:t>
            </a:r>
            <a:r>
              <a:rPr lang="en-US" sz="2400" b="1" dirty="0"/>
              <a:t>1,000</a:t>
            </a:r>
            <a:r>
              <a:rPr lang="en-US" sz="2400" dirty="0"/>
              <a:t> unknowns) the difference adds up </a:t>
            </a:r>
            <a:r>
              <a:rPr lang="en-US" sz="2400" i="1" dirty="0"/>
              <a:t>quickly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With </a:t>
            </a:r>
            <a:r>
              <a:rPr lang="en-US" sz="2400" b="1" dirty="0"/>
              <a:t>N = 1000</a:t>
            </a:r>
            <a:r>
              <a:rPr lang="en-US" sz="2400" dirty="0"/>
              <a:t>, Strassen’s method is </a:t>
            </a:r>
            <a:r>
              <a:rPr lang="en-US" sz="2400" b="1" dirty="0">
                <a:solidFill>
                  <a:srgbClr val="FF0000"/>
                </a:solidFill>
              </a:rPr>
              <a:t>74x faster </a:t>
            </a:r>
            <a:r>
              <a:rPr lang="en-US" sz="2400" dirty="0"/>
              <a:t>(not just a mere 74% faster!)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than the naïve approach to standard matrix multiplication</a:t>
            </a:r>
            <a:endParaRPr lang="en-US" sz="2000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40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C3B511-EFFC-9DF7-29C6-DB0622BB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36695-493B-A066-9633-B03A6D7CA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374" y="964386"/>
            <a:ext cx="6513251" cy="492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242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8188081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CFs </a:t>
            </a:r>
            <a:r>
              <a:rPr lang="en-US" sz="2400" i="1" dirty="0">
                <a:solidFill>
                  <a:srgbClr val="FF0000"/>
                </a:solidFill>
              </a:rPr>
              <a:t>may</a:t>
            </a:r>
            <a:r>
              <a:rPr lang="en-US" sz="2400" dirty="0"/>
              <a:t> have their own rich </a:t>
            </a:r>
            <a:r>
              <a:rPr lang="en-US" sz="2400" b="1" dirty="0">
                <a:solidFill>
                  <a:srgbClr val="7030A0"/>
                </a:solidFill>
              </a:rPr>
              <a:t>arithmetic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7030A0"/>
                </a:solidFill>
              </a:rPr>
              <a:t>algebra</a:t>
            </a:r>
            <a:r>
              <a:rPr lang="en-US" sz="2400" dirty="0"/>
              <a:t>, and potentially even their own </a:t>
            </a:r>
            <a:r>
              <a:rPr lang="en-US" sz="2400" b="1" dirty="0">
                <a:solidFill>
                  <a:srgbClr val="7030A0"/>
                </a:solidFill>
              </a:rPr>
              <a:t>calculus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 can one </a:t>
            </a:r>
            <a:r>
              <a:rPr lang="en-US" sz="2000" u="sng" dirty="0"/>
              <a:t>directly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divide</a:t>
            </a:r>
            <a:r>
              <a:rPr lang="en-US" sz="2000" dirty="0"/>
              <a:t> two CFs?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 can one </a:t>
            </a:r>
            <a:r>
              <a:rPr lang="en-US" sz="2000" u="sng" dirty="0"/>
              <a:t>directly</a:t>
            </a:r>
            <a:r>
              <a:rPr lang="en-US" sz="2000" dirty="0"/>
              <a:t> take the </a:t>
            </a:r>
            <a:r>
              <a:rPr lang="en-US" sz="2000" b="1" dirty="0"/>
              <a:t>sin()</a:t>
            </a:r>
            <a:r>
              <a:rPr lang="en-US" sz="2000" dirty="0"/>
              <a:t> of a CF?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What does the </a:t>
            </a:r>
            <a:r>
              <a:rPr lang="en-US" sz="2000" b="1" dirty="0">
                <a:solidFill>
                  <a:srgbClr val="00B050"/>
                </a:solidFill>
              </a:rPr>
              <a:t>factorial</a:t>
            </a:r>
            <a:r>
              <a:rPr lang="en-US" sz="2000" dirty="0"/>
              <a:t> of a CF look like?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many ways a CF is a </a:t>
            </a:r>
            <a:r>
              <a:rPr lang="en-US" sz="2400" i="1" dirty="0"/>
              <a:t>more accurate</a:t>
            </a:r>
            <a:r>
              <a:rPr lang="en-US" sz="2400" dirty="0"/>
              <a:t> representation of an irrational or transcendental number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sum of an infinite series must stop somewhere, and after that point, all of the remaining digits of precision are lost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 CF encodes the entire number </a:t>
            </a:r>
            <a:r>
              <a:rPr lang="en-US" sz="2000" b="1" dirty="0">
                <a:solidFill>
                  <a:srgbClr val="FF0000"/>
                </a:solidFill>
              </a:rPr>
              <a:t>with no loss of precision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What will </a:t>
            </a:r>
            <a:r>
              <a:rPr lang="en-US" sz="2000" b="1" dirty="0"/>
              <a:t>you discover </a:t>
            </a:r>
            <a:r>
              <a:rPr lang="en-US" sz="2000" dirty="0"/>
              <a:t>about CFs?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D357BC-3F4E-7C78-046D-EAF518C7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</p:spTree>
    <p:extLst>
      <p:ext uri="{BB962C8B-B14F-4D97-AF65-F5344CB8AC3E}">
        <p14:creationId xmlns:p14="http://schemas.microsoft.com/office/powerpoint/2010/main" val="278235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5"/>
                <a:ext cx="8188081" cy="484089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Rational, Irrational, and Transcendental numbers each have their style of continued fractions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We can take any real number and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generate</a:t>
                </a:r>
                <a:r>
                  <a:rPr lang="en-US" sz="2000" dirty="0"/>
                  <a:t> a CF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Given a CF, we can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expand</a:t>
                </a:r>
                <a:r>
                  <a:rPr lang="en-US" sz="2000" dirty="0"/>
                  <a:t> it to regain the original number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convergents</a:t>
                </a:r>
                <a:r>
                  <a:rPr lang="en-US" sz="2400" dirty="0"/>
                  <a:t> of a CF are excellent approximations to the original number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magnitude of the </a:t>
                </a:r>
                <a:r>
                  <a:rPr lang="en-US" sz="2400" b="1" dirty="0"/>
                  <a:t>x</a:t>
                </a:r>
                <a:r>
                  <a:rPr lang="en-US" sz="2400" dirty="0"/>
                  <a:t> &amp; </a:t>
                </a:r>
                <a:r>
                  <a:rPr lang="en-US" sz="2400" b="1" dirty="0"/>
                  <a:t>y</a:t>
                </a:r>
                <a:r>
                  <a:rPr lang="en-US" sz="2400" dirty="0"/>
                  <a:t> values in solutions to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Pell’s Equation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=1}</m:t>
                    </m:r>
                  </m:oMath>
                </a14:m>
                <a:r>
                  <a:rPr lang="en-US" sz="2400" dirty="0"/>
                  <a:t> is related to the </a:t>
                </a:r>
                <a:r>
                  <a:rPr lang="en-US" sz="2400" u="sng" dirty="0"/>
                  <a:t>period</a:t>
                </a:r>
                <a:r>
                  <a:rPr lang="en-US" sz="2400" dirty="0"/>
                  <a:t> of the </a:t>
                </a:r>
                <a:r>
                  <a:rPr lang="en-US" sz="2400" i="1" dirty="0"/>
                  <a:t>simple</a:t>
                </a:r>
                <a:r>
                  <a:rPr lang="en-US" sz="2400" dirty="0"/>
                  <a:t> continued fraction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Memorizing thousands of digits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dirty="0"/>
                  <a:t> is okay – but I’d instead appreciate its beautifully simple GCF: 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[3; 1, {(2n+1)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|6}]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5"/>
                <a:ext cx="8188081" cy="4840898"/>
              </a:xfrm>
              <a:blipFill>
                <a:blip r:embed="rId3"/>
                <a:stretch>
                  <a:fillRect l="-1042" t="-1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5FA18FB-D61C-D007-5689-9C6BEFC3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09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</p:spTree>
    <p:extLst>
      <p:ext uri="{BB962C8B-B14F-4D97-AF65-F5344CB8AC3E}">
        <p14:creationId xmlns:p14="http://schemas.microsoft.com/office/powerpoint/2010/main" val="30839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12840</TotalTime>
  <Words>2239</Words>
  <Application>Microsoft Office PowerPoint</Application>
  <PresentationFormat>On-screen Show (4:3)</PresentationFormat>
  <Paragraphs>411</Paragraphs>
  <Slides>53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09 – Goals</vt:lpstr>
      <vt:lpstr>Expanding Your Definition of a “Number”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Golden Ratio</vt:lpstr>
      <vt:lpstr>PowerPoint Presentation</vt:lpstr>
      <vt:lpstr>PowerPoint Presentation</vt:lpstr>
      <vt:lpstr>PowerPoint Presentation</vt:lpstr>
      <vt:lpstr>PowerPoint Presentation</vt:lpstr>
      <vt:lpstr>Open std_cf.py</vt:lpstr>
      <vt:lpstr>View std_cf.py</vt:lpstr>
      <vt:lpstr>Run std_cf.py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Run gen_cf.py</vt:lpstr>
      <vt:lpstr>Pell’s Equation</vt:lpstr>
      <vt:lpstr>Numba – High Performance Python</vt:lpstr>
      <vt:lpstr>Open pells_equation.py</vt:lpstr>
      <vt:lpstr>Run pells_equation.py</vt:lpstr>
      <vt:lpstr>Pell's Equation</vt:lpstr>
      <vt:lpstr>Pell’s Equation: Period of a Standard CF</vt:lpstr>
      <vt:lpstr>Pell’s Equation: Period of a Standard CF</vt:lpstr>
      <vt:lpstr>Pell’s Equation</vt:lpstr>
      <vt:lpstr>Pell’s Equation</vt:lpstr>
      <vt:lpstr>The Chakravala Method</vt:lpstr>
      <vt:lpstr>Open chakravala_method.py</vt:lpstr>
      <vt:lpstr>View chakravala_method.py</vt:lpstr>
      <vt:lpstr>View chakravala_method.py</vt:lpstr>
      <vt:lpstr>View chakravala_method.py</vt:lpstr>
      <vt:lpstr>View chakravala_method.py</vt:lpstr>
      <vt:lpstr>Run chakravala_method.py</vt:lpstr>
      <vt:lpstr>Strassen’s Method</vt:lpstr>
      <vt:lpstr>Strassen’s Method</vt:lpstr>
      <vt:lpstr>Strassen’s Method</vt:lpstr>
      <vt:lpstr>Strassen’s Method</vt:lpstr>
      <vt:lpstr>PowerPoint Presentation</vt:lpstr>
      <vt:lpstr>Continued Fractions</vt:lpstr>
      <vt:lpstr>Session 09 – Now You Know…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1264</cp:revision>
  <cp:lastPrinted>2015-06-01T00:45:11Z</cp:lastPrinted>
  <dcterms:created xsi:type="dcterms:W3CDTF">2014-09-21T17:58:26Z</dcterms:created>
  <dcterms:modified xsi:type="dcterms:W3CDTF">2026-05-08T03:56:21Z</dcterms:modified>
</cp:coreProperties>
</file>