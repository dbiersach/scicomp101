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7"/>
  </p:notesMasterIdLst>
  <p:handoutMasterIdLst>
    <p:handoutMasterId r:id="rId98"/>
  </p:handoutMasterIdLst>
  <p:sldIdLst>
    <p:sldId id="1220" r:id="rId2"/>
    <p:sldId id="1137" r:id="rId3"/>
    <p:sldId id="1414" r:id="rId4"/>
    <p:sldId id="1325" r:id="rId5"/>
    <p:sldId id="1326" r:id="rId6"/>
    <p:sldId id="1576" r:id="rId7"/>
    <p:sldId id="1569" r:id="rId8"/>
    <p:sldId id="1577" r:id="rId9"/>
    <p:sldId id="1545" r:id="rId10"/>
    <p:sldId id="1253" r:id="rId11"/>
    <p:sldId id="1578" r:id="rId12"/>
    <p:sldId id="1537" r:id="rId13"/>
    <p:sldId id="1570" r:id="rId14"/>
    <p:sldId id="1534" r:id="rId15"/>
    <p:sldId id="1533" r:id="rId16"/>
    <p:sldId id="1535" r:id="rId17"/>
    <p:sldId id="1536" r:id="rId18"/>
    <p:sldId id="1579" r:id="rId19"/>
    <p:sldId id="1353" r:id="rId20"/>
    <p:sldId id="1354" r:id="rId21"/>
    <p:sldId id="1387" r:id="rId22"/>
    <p:sldId id="1493" r:id="rId23"/>
    <p:sldId id="1495" r:id="rId24"/>
    <p:sldId id="1580" r:id="rId25"/>
    <p:sldId id="1303" r:id="rId26"/>
    <p:sldId id="1497" r:id="rId27"/>
    <p:sldId id="1581" r:id="rId28"/>
    <p:sldId id="1582" r:id="rId29"/>
    <p:sldId id="1388" r:id="rId30"/>
    <p:sldId id="1285" r:id="rId31"/>
    <p:sldId id="1288" r:id="rId32"/>
    <p:sldId id="1287" r:id="rId33"/>
    <p:sldId id="1321" r:id="rId34"/>
    <p:sldId id="1320" r:id="rId35"/>
    <p:sldId id="1275" r:id="rId36"/>
    <p:sldId id="1280" r:id="rId37"/>
    <p:sldId id="1501" r:id="rId38"/>
    <p:sldId id="1583" r:id="rId39"/>
    <p:sldId id="1584" r:id="rId40"/>
    <p:sldId id="1511" r:id="rId41"/>
    <p:sldId id="1273" r:id="rId42"/>
    <p:sldId id="1274" r:id="rId43"/>
    <p:sldId id="1567" r:id="rId44"/>
    <p:sldId id="1272" r:id="rId45"/>
    <p:sldId id="1277" r:id="rId46"/>
    <p:sldId id="1568" r:id="rId47"/>
    <p:sldId id="1293" r:id="rId48"/>
    <p:sldId id="1292" r:id="rId49"/>
    <p:sldId id="1513" r:id="rId50"/>
    <p:sldId id="1512" r:id="rId51"/>
    <p:sldId id="1514" r:id="rId52"/>
    <p:sldId id="1515" r:id="rId53"/>
    <p:sldId id="1516" r:id="rId54"/>
    <p:sldId id="1517" r:id="rId55"/>
    <p:sldId id="1520" r:id="rId56"/>
    <p:sldId id="1519" r:id="rId57"/>
    <p:sldId id="1518" r:id="rId58"/>
    <p:sldId id="1328" r:id="rId59"/>
    <p:sldId id="1386" r:id="rId60"/>
    <p:sldId id="1522" r:id="rId61"/>
    <p:sldId id="1523" r:id="rId62"/>
    <p:sldId id="1524" r:id="rId63"/>
    <p:sldId id="1525" r:id="rId64"/>
    <p:sldId id="1526" r:id="rId65"/>
    <p:sldId id="1527" r:id="rId66"/>
    <p:sldId id="1529" r:id="rId67"/>
    <p:sldId id="903" r:id="rId68"/>
    <p:sldId id="1530" r:id="rId69"/>
    <p:sldId id="1531" r:id="rId70"/>
    <p:sldId id="1546" r:id="rId71"/>
    <p:sldId id="1547" r:id="rId72"/>
    <p:sldId id="451" r:id="rId73"/>
    <p:sldId id="452" r:id="rId74"/>
    <p:sldId id="1441" r:id="rId75"/>
    <p:sldId id="453" r:id="rId76"/>
    <p:sldId id="459" r:id="rId77"/>
    <p:sldId id="454" r:id="rId78"/>
    <p:sldId id="1486" r:id="rId79"/>
    <p:sldId id="463" r:id="rId80"/>
    <p:sldId id="1131" r:id="rId81"/>
    <p:sldId id="1571" r:id="rId82"/>
    <p:sldId id="1572" r:id="rId83"/>
    <p:sldId id="1573" r:id="rId84"/>
    <p:sldId id="1477" r:id="rId85"/>
    <p:sldId id="1479" r:id="rId86"/>
    <p:sldId id="1481" r:id="rId87"/>
    <p:sldId id="1483" r:id="rId88"/>
    <p:sldId id="1574" r:id="rId89"/>
    <p:sldId id="1451" r:id="rId90"/>
    <p:sldId id="1575" r:id="rId91"/>
    <p:sldId id="1452" r:id="rId92"/>
    <p:sldId id="1455" r:id="rId93"/>
    <p:sldId id="1487" r:id="rId94"/>
    <p:sldId id="416" r:id="rId95"/>
    <p:sldId id="995" r:id="rId96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758A"/>
    <a:srgbClr val="D09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8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104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CA3C-8904-978D-AED6-06B14ED0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38AFD-E8FE-91A8-AF1D-7EA43E5C4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CE616-86E9-3F3E-8B60-7AA951F1C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5F88-8FEE-CC95-3AC4-96BDA1B4F4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37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75541-09B7-4516-33DE-AA2D0556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91C2E-6F3E-63E5-F98B-034DE24D0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F25F5-FAB2-E255-3C18-0639D3FC9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DBA3A-477B-69DC-506B-F43A3AEF7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35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BA46-10DA-F922-5340-66E09EF2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61946-ACD9-D526-9350-6DFE6B567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F051E-087E-FC03-89B1-C04535F64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1D69C-2B56-61BA-4A9D-2F4542BD8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6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86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16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5A6B-920C-269F-617C-23F84EE8C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9DFF2-3DBC-FB19-847E-C66DACC50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3077F-30D5-529C-A09A-EC3F897AB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EEDB5-C7FD-9A35-86FD-A53AD7565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97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04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07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31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98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61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96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255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79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87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38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402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451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2119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363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99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C24E3-AF6E-0147-DF0E-3E60535D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DBE71-B503-E580-6414-2D61677E6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A1EF4-45B1-6AD3-D561-D5B29CF42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3D573-CE88-5C80-68A8-81D35D76C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743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728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2013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A1708-F7F0-4305-CA15-CD404355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761CA-E09C-F5EA-7C89-E6DDA45B3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F5226-B086-5EE2-B3DC-22C591A34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2BE77-99D9-49F4-C61D-993389094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5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0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2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4.png"/><Relationship Id="rId5" Type="http://schemas.openxmlformats.org/officeDocument/2006/relationships/image" Target="NULL"/><Relationship Id="rId10" Type="http://schemas.openxmlformats.org/officeDocument/2006/relationships/image" Target="../media/image23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json.org/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json.org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hyperlink" Target="https://realpython.com/python-json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denosine_triphosphate" TargetMode="External"/><Relationship Id="rId5" Type="http://schemas.openxmlformats.org/officeDocument/2006/relationships/hyperlink" Target="https://en.wikipedia.org/wiki/Citric_acid_cycle" TargetMode="External"/><Relationship Id="rId4" Type="http://schemas.openxmlformats.org/officeDocument/2006/relationships/hyperlink" Target="https://wou.edu/chemistry/courses/online-chemistry-textbooks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owserinator/Periodic-Table-JSON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NUL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catalog.data.gov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opendata.aws/" TargetMode="Externa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lenium.dev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www.selenium.dev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ummy.com/software/BeautifulSoup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hyperlink" Target="https://www.crummy.com/software/BeautifulSou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hyperlink" Target="https://www.schoolmykids.com/learn/periodic-table/electrical-conductivity-of-all-the-elements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repository.wolframcloud.com/" TargetMode="Externa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hyperlink" Target="https://www.amazon.com/Raspberry-Pi-4GB-2023-Processor/dp/B0CK3L9WD3" TargetMode="External"/><Relationship Id="rId4" Type="http://schemas.openxmlformats.org/officeDocument/2006/relationships/hyperlink" Target="https://www.adafruit.com/product/6007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repository.wolframcloud.com/" TargetMode="External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hyperlink" Target="https://datarepository.wolframcloud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0.png"/><Relationship Id="rId4" Type="http://schemas.openxmlformats.org/officeDocument/2006/relationships/image" Target="../media/image67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ergo-code.github.io/HiGHS/dev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0.png"/><Relationship Id="rId5" Type="http://schemas.openxmlformats.org/officeDocument/2006/relationships/image" Target="../media/image990.png"/><Relationship Id="rId4" Type="http://schemas.openxmlformats.org/officeDocument/2006/relationships/image" Target="../media/image15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ebqc.org/balance.php" TargetMode="Externa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25</a:t>
            </a:r>
          </a:p>
          <a:p>
            <a:pPr algn="ctr"/>
            <a:r>
              <a:rPr lang="en-US" dirty="0"/>
              <a:t>Computational Chemistry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25  </a:t>
            </a:r>
            <a:r>
              <a:rPr lang="en-US" sz="3200" dirty="0">
                <a:latin typeface="+mn-lt"/>
              </a:rPr>
              <a:t>– Goals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Identify an </a:t>
            </a:r>
            <a:r>
              <a:rPr lang="en-US" sz="2400" i="1" dirty="0"/>
              <a:t>unknown element </a:t>
            </a:r>
            <a:r>
              <a:rPr lang="en-US" sz="2400" dirty="0"/>
              <a:t>using the </a:t>
            </a:r>
            <a:r>
              <a:rPr lang="en-US" sz="2400" b="1" dirty="0">
                <a:solidFill>
                  <a:srgbClr val="00B050"/>
                </a:solidFill>
              </a:rPr>
              <a:t>Ideal Gas Law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the </a:t>
            </a:r>
            <a:r>
              <a:rPr lang="en-US" sz="2400" b="1" dirty="0"/>
              <a:t>method of least squares</a:t>
            </a:r>
            <a:r>
              <a:rPr lang="en-US" sz="2400" dirty="0"/>
              <a:t> (created by Gauss) to find the </a:t>
            </a:r>
            <a:r>
              <a:rPr lang="en-US" sz="2400" b="1" dirty="0">
                <a:solidFill>
                  <a:srgbClr val="7030A0"/>
                </a:solidFill>
              </a:rPr>
              <a:t>line of best fit</a:t>
            </a:r>
            <a:r>
              <a:rPr lang="en-US" sz="2400" dirty="0"/>
              <a:t> that passes through sampled data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Implement patterns to </a:t>
            </a:r>
            <a:r>
              <a:rPr lang="en-US" sz="2400" b="1" dirty="0"/>
              <a:t>serialize</a:t>
            </a:r>
            <a:r>
              <a:rPr lang="en-US" sz="2400" dirty="0"/>
              <a:t> and </a:t>
            </a:r>
            <a:r>
              <a:rPr lang="en-US" sz="2400" b="1" dirty="0"/>
              <a:t>rehydrate</a:t>
            </a:r>
            <a:r>
              <a:rPr lang="en-US" sz="2400" dirty="0"/>
              <a:t> a </a:t>
            </a:r>
            <a:r>
              <a:rPr lang="en-US" sz="2400" u="sng" dirty="0"/>
              <a:t>JSON</a:t>
            </a:r>
            <a:r>
              <a:rPr lang="en-US" sz="2400" dirty="0"/>
              <a:t> data file as a Python Dictionary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Investigate the nuclear stability of </a:t>
            </a:r>
            <a:r>
              <a:rPr lang="en-US" sz="2400" b="1" dirty="0">
                <a:solidFill>
                  <a:srgbClr val="FF0000"/>
                </a:solidFill>
              </a:rPr>
              <a:t>Uranium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Leverage </a:t>
            </a:r>
            <a:r>
              <a:rPr lang="en-US" sz="2400" b="1" dirty="0">
                <a:solidFill>
                  <a:srgbClr val="00B050"/>
                </a:solidFill>
              </a:rPr>
              <a:t>Open Data Sets </a:t>
            </a:r>
            <a:r>
              <a:rPr lang="en-US" sz="2400" dirty="0"/>
              <a:t>to analyze the </a:t>
            </a:r>
            <a:r>
              <a:rPr lang="en-US" sz="2400" b="1" dirty="0"/>
              <a:t>liquid range</a:t>
            </a:r>
            <a:r>
              <a:rPr lang="en-US" sz="2400" dirty="0"/>
              <a:t> of the elements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Balance </a:t>
            </a:r>
            <a:r>
              <a:rPr lang="en-US" sz="2400" b="1" dirty="0"/>
              <a:t>ionic chemical equations </a:t>
            </a:r>
            <a:r>
              <a:rPr lang="en-US" sz="2400" dirty="0"/>
              <a:t>using </a:t>
            </a:r>
            <a:r>
              <a:rPr lang="en-US" sz="2400" b="1" dirty="0">
                <a:solidFill>
                  <a:srgbClr val="0070C0"/>
                </a:solidFill>
              </a:rPr>
              <a:t>linear programming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2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F40B8-3E4E-D5C7-9F34-32B17F94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190" y="1715220"/>
            <a:ext cx="5807619" cy="24078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CEF732A-1703-9458-DBE1-4B4D5794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6595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Identify an Unknown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EC362-8001-15C0-01D5-A47D92DF37E6}"/>
                  </a:ext>
                </a:extLst>
              </p:cNvPr>
              <p:cNvSpPr txBox="1"/>
              <p:nvPr/>
            </p:nvSpPr>
            <p:spPr>
              <a:xfrm>
                <a:off x="5659398" y="4635004"/>
                <a:ext cx="1597104" cy="699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𝑛𝑅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EC362-8001-15C0-01D5-A47D92DF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398" y="4635004"/>
                <a:ext cx="1597104" cy="699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F10BB9-E7DD-023A-1786-E7E363BAF298}"/>
                  </a:ext>
                </a:extLst>
              </p:cNvPr>
              <p:cNvSpPr txBox="1"/>
              <p:nvPr/>
            </p:nvSpPr>
            <p:spPr>
              <a:xfrm>
                <a:off x="1657238" y="4450338"/>
                <a:ext cx="14233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F10BB9-E7DD-023A-1786-E7E363BA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38" y="4450338"/>
                <a:ext cx="1423338" cy="369332"/>
              </a:xfrm>
              <a:prstGeom prst="rect">
                <a:avLst/>
              </a:prstGeom>
              <a:blipFill>
                <a:blip r:embed="rId4"/>
                <a:stretch>
                  <a:fillRect l="-4721" r="-42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FE4232A-1B98-A13A-02D5-A86B8DDA8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238" y="4912252"/>
            <a:ext cx="1972976" cy="1565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27455-2217-8D60-2B09-69C5FC7E6F8C}"/>
                  </a:ext>
                </a:extLst>
              </p:cNvPr>
              <p:cNvSpPr txBox="1"/>
              <p:nvPr/>
            </p:nvSpPr>
            <p:spPr>
              <a:xfrm>
                <a:off x="5659398" y="5745757"/>
                <a:ext cx="1379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27455-2217-8D60-2B09-69C5FC7E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398" y="5745757"/>
                <a:ext cx="1379480" cy="369332"/>
              </a:xfrm>
              <a:prstGeom prst="rect">
                <a:avLst/>
              </a:prstGeom>
              <a:blipFill>
                <a:blip r:embed="rId6"/>
                <a:stretch>
                  <a:fillRect l="-4405" r="-440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A85CA-FA13-D02F-18B7-CEF3F1663900}"/>
                  </a:ext>
                </a:extLst>
              </p:cNvPr>
              <p:cNvSpPr txBox="1"/>
              <p:nvPr/>
            </p:nvSpPr>
            <p:spPr>
              <a:xfrm>
                <a:off x="7179352" y="5386538"/>
                <a:ext cx="8124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A85CA-FA13-D02F-18B7-CEF3F1663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352" y="5386538"/>
                <a:ext cx="81246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06F72A97-D005-E4B6-17FB-C61AC0E63692}"/>
              </a:ext>
            </a:extLst>
          </p:cNvPr>
          <p:cNvSpPr/>
          <p:nvPr/>
        </p:nvSpPr>
        <p:spPr>
          <a:xfrm>
            <a:off x="4212236" y="1761344"/>
            <a:ext cx="464695" cy="292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7D3E5-A696-FD02-48B7-2FA1CAD4C98B}"/>
              </a:ext>
            </a:extLst>
          </p:cNvPr>
          <p:cNvSpPr/>
          <p:nvPr/>
        </p:nvSpPr>
        <p:spPr>
          <a:xfrm>
            <a:off x="2483371" y="2810104"/>
            <a:ext cx="2778177" cy="2584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825661-5F91-70AD-1CDB-90337D0A9D2E}"/>
              </a:ext>
            </a:extLst>
          </p:cNvPr>
          <p:cNvSpPr/>
          <p:nvPr/>
        </p:nvSpPr>
        <p:spPr>
          <a:xfrm>
            <a:off x="5737174" y="1863710"/>
            <a:ext cx="661246" cy="18463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59A6FD-07D6-8E56-D5EF-1FA91AD227F3}"/>
              </a:ext>
            </a:extLst>
          </p:cNvPr>
          <p:cNvSpPr/>
          <p:nvPr/>
        </p:nvSpPr>
        <p:spPr>
          <a:xfrm>
            <a:off x="6888956" y="1863710"/>
            <a:ext cx="552450" cy="18463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F57709-7788-4715-F8AA-1F0709B84154}"/>
              </a:ext>
            </a:extLst>
          </p:cNvPr>
          <p:cNvSpPr/>
          <p:nvPr/>
        </p:nvSpPr>
        <p:spPr>
          <a:xfrm>
            <a:off x="4999220" y="3560164"/>
            <a:ext cx="547141" cy="29230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E5F8AD-9A7F-638B-9CD2-50C1F0EDA98B}"/>
              </a:ext>
            </a:extLst>
          </p:cNvPr>
          <p:cNvSpPr/>
          <p:nvPr/>
        </p:nvSpPr>
        <p:spPr>
          <a:xfrm>
            <a:off x="1668190" y="3830742"/>
            <a:ext cx="1015049" cy="29230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D9008-8B63-F640-0081-6C0E9DD15360}"/>
              </a:ext>
            </a:extLst>
          </p:cNvPr>
          <p:cNvSpPr txBox="1"/>
          <p:nvPr/>
        </p:nvSpPr>
        <p:spPr>
          <a:xfrm>
            <a:off x="789580" y="4909701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6C0AE-B256-242C-248A-FE2B2DF972A6}"/>
              </a:ext>
            </a:extLst>
          </p:cNvPr>
          <p:cNvSpPr txBox="1"/>
          <p:nvPr/>
        </p:nvSpPr>
        <p:spPr>
          <a:xfrm>
            <a:off x="789580" y="5525037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EAE79-0996-7430-1170-8B9F9403E370}"/>
              </a:ext>
            </a:extLst>
          </p:cNvPr>
          <p:cNvSpPr txBox="1"/>
          <p:nvPr/>
        </p:nvSpPr>
        <p:spPr>
          <a:xfrm>
            <a:off x="799215" y="5807312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11203C-D5D1-201D-C3EE-A5A2B6C5C745}"/>
              </a:ext>
            </a:extLst>
          </p:cNvPr>
          <p:cNvGrpSpPr/>
          <p:nvPr/>
        </p:nvGrpSpPr>
        <p:grpSpPr>
          <a:xfrm>
            <a:off x="6090166" y="6053304"/>
            <a:ext cx="884419" cy="537992"/>
            <a:chOff x="6090166" y="6053304"/>
            <a:chExt cx="884419" cy="5379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9C7C2B-A89F-0FA3-0209-ACF15FFDF10B}"/>
                </a:ext>
              </a:extLst>
            </p:cNvPr>
            <p:cNvSpPr txBox="1"/>
            <p:nvPr/>
          </p:nvSpPr>
          <p:spPr>
            <a:xfrm>
              <a:off x="6090166" y="6283519"/>
              <a:ext cx="8844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constant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FDB38C8-3DC5-8ECD-7EDB-313735ADE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8874" y="6053304"/>
              <a:ext cx="0" cy="32923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90796D7-C6E0-B2E3-230B-3EC2AC617863}"/>
              </a:ext>
            </a:extLst>
          </p:cNvPr>
          <p:cNvSpPr txBox="1"/>
          <p:nvPr/>
        </p:nvSpPr>
        <p:spPr>
          <a:xfrm>
            <a:off x="3703183" y="4922397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pascals (Pa)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8C1FE-D129-6D7D-D1E3-76400194707E}"/>
              </a:ext>
            </a:extLst>
          </p:cNvPr>
          <p:cNvSpPr txBox="1"/>
          <p:nvPr/>
        </p:nvSpPr>
        <p:spPr>
          <a:xfrm>
            <a:off x="3703182" y="5225861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meters</a:t>
            </a:r>
            <a:r>
              <a:rPr lang="en-US" sz="1400" b="1" baseline="30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CAE1A8-F132-8F3A-1FFF-75E380288C7C}"/>
              </a:ext>
            </a:extLst>
          </p:cNvPr>
          <p:cNvSpPr txBox="1"/>
          <p:nvPr/>
        </p:nvSpPr>
        <p:spPr>
          <a:xfrm>
            <a:off x="3665401" y="6115089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kelvin (K)</a:t>
            </a:r>
            <a:endParaRPr lang="en-US" sz="1400" b="1" baseline="30000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2BB3F4-3A8F-C2E6-D8A2-5095C106BC10}"/>
              </a:ext>
            </a:extLst>
          </p:cNvPr>
          <p:cNvSpPr txBox="1"/>
          <p:nvPr/>
        </p:nvSpPr>
        <p:spPr>
          <a:xfrm>
            <a:off x="3703182" y="4494702"/>
            <a:ext cx="109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SI Units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945D2B-E14E-E41E-A073-31984367799A}"/>
              </a:ext>
            </a:extLst>
          </p:cNvPr>
          <p:cNvSpPr/>
          <p:nvPr/>
        </p:nvSpPr>
        <p:spPr>
          <a:xfrm>
            <a:off x="6284650" y="4617655"/>
            <a:ext cx="694697" cy="8069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84466B-C47E-7914-F093-F71B5496A4AA}"/>
              </a:ext>
            </a:extLst>
          </p:cNvPr>
          <p:cNvSpPr/>
          <p:nvPr/>
        </p:nvSpPr>
        <p:spPr>
          <a:xfrm>
            <a:off x="6284650" y="5762625"/>
            <a:ext cx="520963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FB9FB74-DF71-0361-2443-DEA60BEDAB66}"/>
              </a:ext>
            </a:extLst>
          </p:cNvPr>
          <p:cNvCxnSpPr>
            <a:stCxn id="27" idx="0"/>
            <a:endCxn id="26" idx="2"/>
          </p:cNvCxnSpPr>
          <p:nvPr/>
        </p:nvCxnSpPr>
        <p:spPr>
          <a:xfrm rot="5400000" flipH="1" flipV="1">
            <a:off x="6419571" y="5550198"/>
            <a:ext cx="337989" cy="86867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5225C5-F444-93CF-D91D-A96DA2899EDE}"/>
              </a:ext>
            </a:extLst>
          </p:cNvPr>
          <p:cNvSpPr txBox="1"/>
          <p:nvPr/>
        </p:nvSpPr>
        <p:spPr>
          <a:xfrm>
            <a:off x="104216" y="787768"/>
            <a:ext cx="1579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From the 2015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</a:rPr>
              <a:t>NYS Chemistry Regents Exam</a:t>
            </a:r>
          </a:p>
        </p:txBody>
      </p:sp>
    </p:spTree>
    <p:extLst>
      <p:ext uri="{BB962C8B-B14F-4D97-AF65-F5344CB8AC3E}">
        <p14:creationId xmlns:p14="http://schemas.microsoft.com/office/powerpoint/2010/main" val="309810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" grpId="0"/>
      <p:bldP spid="3" grpId="0"/>
      <p:bldP spid="5" grpId="0"/>
      <p:bldP spid="9" grpId="0"/>
      <p:bldP spid="12" grpId="0"/>
      <p:bldP spid="14" grpId="0"/>
      <p:bldP spid="25" grpId="0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A94A0B-78B9-BA65-2469-2BF7F8E10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986" y="2466013"/>
            <a:ext cx="5952028" cy="249478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gas.csv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11132D-E9B0-59A8-7DDB-7BD3D52A55E0}"/>
              </a:ext>
            </a:extLst>
          </p:cNvPr>
          <p:cNvSpPr txBox="1"/>
          <p:nvPr/>
        </p:nvSpPr>
        <p:spPr>
          <a:xfrm>
            <a:off x="2029747" y="1767242"/>
            <a:ext cx="508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CSV</a:t>
            </a:r>
            <a:r>
              <a:rPr lang="en-US" sz="2000" dirty="0"/>
              <a:t> = </a:t>
            </a:r>
            <a:r>
              <a:rPr lang="en-US" sz="2000" b="1" dirty="0"/>
              <a:t>C</a:t>
            </a:r>
            <a:r>
              <a:rPr lang="en-US" sz="2000" dirty="0"/>
              <a:t>omma </a:t>
            </a:r>
            <a:r>
              <a:rPr lang="en-US" sz="2000" b="1" dirty="0"/>
              <a:t>S</a:t>
            </a:r>
            <a:r>
              <a:rPr lang="en-US" sz="2000" dirty="0"/>
              <a:t>eparated </a:t>
            </a:r>
            <a:r>
              <a:rPr lang="en-US" sz="2000" b="1" dirty="0"/>
              <a:t>V</a:t>
            </a:r>
            <a:r>
              <a:rPr lang="en-US" sz="2000" dirty="0"/>
              <a:t>alue (a "text" file)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B7220D-D707-8246-5EA6-54C9AECD9AAB}"/>
              </a:ext>
            </a:extLst>
          </p:cNvPr>
          <p:cNvGrpSpPr/>
          <p:nvPr/>
        </p:nvGrpSpPr>
        <p:grpSpPr>
          <a:xfrm>
            <a:off x="6059856" y="2744630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EE81D68-F7FD-7470-F5F6-5EB41FFCE9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B8C7ED-57C3-04B7-CEF2-E11D49424FC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95335A7-5478-4CEF-59E9-9A475CAE8890}"/>
              </a:ext>
            </a:extLst>
          </p:cNvPr>
          <p:cNvSpPr/>
          <p:nvPr/>
        </p:nvSpPr>
        <p:spPr>
          <a:xfrm>
            <a:off x="2478869" y="2797652"/>
            <a:ext cx="312457" cy="26328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0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6CD770-FDB7-C20D-25E9-3ABC5A37A8AF}"/>
              </a:ext>
            </a:extLst>
          </p:cNvPr>
          <p:cNvGrpSpPr/>
          <p:nvPr/>
        </p:nvGrpSpPr>
        <p:grpSpPr>
          <a:xfrm>
            <a:off x="271052" y="714716"/>
            <a:ext cx="1200473" cy="1979497"/>
            <a:chOff x="271052" y="714716"/>
            <a:chExt cx="1200473" cy="19794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9EF4B8-7B4F-BADA-C84E-A2218919C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040" y="714716"/>
              <a:ext cx="1150496" cy="130770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4766A7-DAA9-673B-9702-2C3EAE9DF8D3}"/>
                </a:ext>
              </a:extLst>
            </p:cNvPr>
            <p:cNvSpPr txBox="1"/>
            <p:nvPr/>
          </p:nvSpPr>
          <p:spPr>
            <a:xfrm>
              <a:off x="271052" y="2047882"/>
              <a:ext cx="12004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Carl Friedrich 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Linux Libertine"/>
                </a:rPr>
                <a:t>Gauss</a:t>
              </a:r>
            </a:p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(1777-1855)</a:t>
              </a:r>
              <a:endParaRPr lang="en-US" sz="1200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AB3D3B5-B482-D8C9-4E61-4FC850F6D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78" y="1368569"/>
            <a:ext cx="6004843" cy="4987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FF9B28-BE87-5476-9E03-67A480C3F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86" y="4600773"/>
            <a:ext cx="2091765" cy="1777316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448BF-5D63-C32D-2EFA-5E2E2F152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541" y="4579035"/>
            <a:ext cx="1420579" cy="1777316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BFBC66C-EC34-3C10-B69B-3C6A569BE2C3}"/>
              </a:ext>
            </a:extLst>
          </p:cNvPr>
          <p:cNvSpPr/>
          <p:nvPr/>
        </p:nvSpPr>
        <p:spPr>
          <a:xfrm>
            <a:off x="3312826" y="4519534"/>
            <a:ext cx="2522605" cy="1973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4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45E3-D034-7190-36D8-7082E037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32083857-922D-FF8A-B583-3112B402D2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974" y="1726751"/>
            <a:ext cx="5856052" cy="17822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C02E4-030A-9D5D-7F3F-BC01338D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456F2DFA-3CD0-511A-549F-F5446B13C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identify_element.py</a:t>
            </a:r>
            <a:endParaRPr lang="en-US" sz="32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FD6EF-33C4-CFD3-6436-2E7FD71B84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612" t="64802" r="29738"/>
          <a:stretch/>
        </p:blipFill>
        <p:spPr>
          <a:xfrm>
            <a:off x="2973410" y="3783983"/>
            <a:ext cx="3197180" cy="22995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5D78273-78B8-1F63-A92F-9B8991058CC8}"/>
              </a:ext>
            </a:extLst>
          </p:cNvPr>
          <p:cNvGrpSpPr/>
          <p:nvPr/>
        </p:nvGrpSpPr>
        <p:grpSpPr>
          <a:xfrm>
            <a:off x="4233300" y="1769554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6B5CE8C-9406-33B2-9D02-14AE29F10A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F734FE-4899-8232-7DD0-190C2E46B84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6762E8-07D7-6F14-478F-68BA843EFE54}"/>
              </a:ext>
            </a:extLst>
          </p:cNvPr>
          <p:cNvGrpSpPr/>
          <p:nvPr/>
        </p:nvGrpSpPr>
        <p:grpSpPr>
          <a:xfrm>
            <a:off x="3425279" y="2043767"/>
            <a:ext cx="1076632" cy="369332"/>
            <a:chOff x="4704120" y="2356972"/>
            <a:chExt cx="1076632" cy="369332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9F907A-65F2-97CB-238D-DA3031043E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7DE2788-9111-F06D-2D46-83269D5308B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5A68811-7646-E502-ED91-9A116E13A1FE}"/>
              </a:ext>
            </a:extLst>
          </p:cNvPr>
          <p:cNvGrpSpPr/>
          <p:nvPr/>
        </p:nvGrpSpPr>
        <p:grpSpPr>
          <a:xfrm>
            <a:off x="7392863" y="2325410"/>
            <a:ext cx="1068643" cy="369332"/>
            <a:chOff x="3647644" y="4910075"/>
            <a:chExt cx="1068643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BEA7F85-E28F-AE1D-139C-BD758E25184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43D346D-B272-06FF-162A-F99DDE9251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4040BD-CB17-86F9-F84F-C49A8CC19816}"/>
              </a:ext>
            </a:extLst>
          </p:cNvPr>
          <p:cNvGrpSpPr/>
          <p:nvPr/>
        </p:nvGrpSpPr>
        <p:grpSpPr>
          <a:xfrm>
            <a:off x="6791277" y="2617889"/>
            <a:ext cx="1064340" cy="369332"/>
            <a:chOff x="3647644" y="5421073"/>
            <a:chExt cx="1064340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09AAFB1-FDF8-B7C4-6CBA-FC88C611445F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07801B5-12F4-E920-0C02-7F93799ED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7005DC0-A350-A872-4B07-E84F40480AAA}"/>
              </a:ext>
            </a:extLst>
          </p:cNvPr>
          <p:cNvGrpSpPr/>
          <p:nvPr/>
        </p:nvGrpSpPr>
        <p:grpSpPr>
          <a:xfrm>
            <a:off x="6298476" y="2884772"/>
            <a:ext cx="1068643" cy="369332"/>
            <a:chOff x="3647644" y="5359159"/>
            <a:chExt cx="1068643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EACD540-615E-66A4-47BE-1797980DEED9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3E9495C-0529-4878-CC6A-03B911F42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25B99DD-3E5A-FF09-D4FC-9489F24B8540}"/>
              </a:ext>
            </a:extLst>
          </p:cNvPr>
          <p:cNvGrpSpPr/>
          <p:nvPr/>
        </p:nvGrpSpPr>
        <p:grpSpPr>
          <a:xfrm>
            <a:off x="3527817" y="3155738"/>
            <a:ext cx="1076632" cy="369332"/>
            <a:chOff x="2157212" y="5356391"/>
            <a:chExt cx="1076632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7505F6D-7732-E03F-9997-1B69B2F92A9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FC5EA28-E4ED-6DAB-025C-390DC84AAC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B169CD5-F718-ABE4-D2F7-A9319DB0B508}"/>
                  </a:ext>
                </a:extLst>
              </p:cNvPr>
              <p:cNvSpPr txBox="1"/>
              <p:nvPr/>
            </p:nvSpPr>
            <p:spPr>
              <a:xfrm>
                <a:off x="3763862" y="6123542"/>
                <a:ext cx="16162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B169CD5-F718-ABE4-D2F7-A9319DB0B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862" y="6123542"/>
                <a:ext cx="1616276" cy="369332"/>
              </a:xfrm>
              <a:prstGeom prst="rect">
                <a:avLst/>
              </a:prstGeom>
              <a:blipFill>
                <a:blip r:embed="rId5"/>
                <a:stretch>
                  <a:fillRect l="-4135" r="-33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66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2CEE5-A7E1-E679-30A8-CB097CE2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A17ED-AF48-C29A-F8E6-7AF5406B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8844C57C-98D4-031E-A088-312BD25F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identify_element.py</a:t>
            </a:r>
            <a:endParaRPr lang="en-US" sz="3200" b="1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D095D2-AE37-2CE0-C920-2F116B6C61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84" y="1468581"/>
            <a:ext cx="7658032" cy="43509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62CFDD9-9CC2-2C60-FB58-1C6BFFFEE096}"/>
              </a:ext>
            </a:extLst>
          </p:cNvPr>
          <p:cNvGrpSpPr/>
          <p:nvPr/>
        </p:nvGrpSpPr>
        <p:grpSpPr>
          <a:xfrm>
            <a:off x="6027766" y="2202704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7CC7A6B-9D64-089F-D0E6-FC5CB8BBE1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56811D-1714-33F7-D590-759CC1EC9E1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43A51F-28ED-D4CA-E406-84351B3286CF}"/>
              </a:ext>
            </a:extLst>
          </p:cNvPr>
          <p:cNvGrpSpPr/>
          <p:nvPr/>
        </p:nvGrpSpPr>
        <p:grpSpPr>
          <a:xfrm>
            <a:off x="7151615" y="2698918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73DBEEA-2694-F764-84C1-93CBDEC715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FE5E2F-56C5-5D83-B6FA-76CC320691B6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AB04C2-79EC-60B3-8593-11AD5E12F83B}"/>
              </a:ext>
            </a:extLst>
          </p:cNvPr>
          <p:cNvGrpSpPr/>
          <p:nvPr/>
        </p:nvGrpSpPr>
        <p:grpSpPr>
          <a:xfrm>
            <a:off x="7078541" y="2954525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6CBF09-05EB-7E44-DF82-D6D890EC3F1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1B722BD-31D5-0221-30B5-C19495190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4B1813-30DE-3BF8-7E1A-21CC8104D352}"/>
              </a:ext>
            </a:extLst>
          </p:cNvPr>
          <p:cNvGrpSpPr/>
          <p:nvPr/>
        </p:nvGrpSpPr>
        <p:grpSpPr>
          <a:xfrm>
            <a:off x="5899440" y="3708672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F43BDE-28EC-9EED-96A4-C257F249320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ABF1390-E165-95CD-DEBC-2A80F4D511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CF944E9-9FE5-E3ED-3571-FC1BFD0611E5}"/>
              </a:ext>
            </a:extLst>
          </p:cNvPr>
          <p:cNvGrpSpPr/>
          <p:nvPr/>
        </p:nvGrpSpPr>
        <p:grpSpPr>
          <a:xfrm>
            <a:off x="1124659" y="6054607"/>
            <a:ext cx="2370359" cy="523220"/>
            <a:chOff x="795753" y="5993289"/>
            <a:chExt cx="237035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8BD8003-8320-3541-FF87-9C7580A2D678}"/>
                    </a:ext>
                  </a:extLst>
                </p:cNvPr>
                <p:cNvSpPr txBox="1"/>
                <p:nvPr/>
              </p:nvSpPr>
              <p:spPr>
                <a:xfrm>
                  <a:off x="1889289" y="5994700"/>
                  <a:ext cx="1276823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97894F9-BD0E-3FC0-5588-310E66156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9289" y="5994700"/>
                  <a:ext cx="1276823" cy="5203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13F1909-B79D-C803-B0ED-1A7456AC9155}"/>
                </a:ext>
              </a:extLst>
            </p:cNvPr>
            <p:cNvSpPr txBox="1"/>
            <p:nvPr/>
          </p:nvSpPr>
          <p:spPr>
            <a:xfrm>
              <a:off x="795753" y="5993289"/>
              <a:ext cx="11542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7030A0"/>
                  </a:solidFill>
                </a:rPr>
                <a:t>Slope</a:t>
              </a:r>
              <a:r>
                <a:rPr lang="en-US" sz="1400" dirty="0">
                  <a:solidFill>
                    <a:srgbClr val="7030A0"/>
                  </a:solidFill>
                </a:rPr>
                <a:t> of line of best fit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AC331F-EBFC-D632-D63D-343421656782}"/>
                  </a:ext>
                </a:extLst>
              </p:cNvPr>
              <p:cNvSpPr txBox="1"/>
              <p:nvPr/>
            </p:nvSpPr>
            <p:spPr>
              <a:xfrm>
                <a:off x="4126669" y="6177718"/>
                <a:ext cx="1071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𝑛𝑅𝑇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AC331F-EBFC-D632-D63D-343421656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669" y="6177718"/>
                <a:ext cx="1071960" cy="276999"/>
              </a:xfrm>
              <a:prstGeom prst="rect">
                <a:avLst/>
              </a:prstGeom>
              <a:blipFill>
                <a:blip r:embed="rId9"/>
                <a:stretch>
                  <a:fillRect l="-5114" r="-454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8D78B4-7B20-64F3-03F7-4782ED012D90}"/>
                  </a:ext>
                </a:extLst>
              </p:cNvPr>
              <p:cNvSpPr txBox="1"/>
              <p:nvPr/>
            </p:nvSpPr>
            <p:spPr>
              <a:xfrm>
                <a:off x="5830280" y="6053998"/>
                <a:ext cx="2189061" cy="524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8D78B4-7B20-64F3-03F7-4782ED012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280" y="6053998"/>
                <a:ext cx="2189061" cy="52443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1607AEA-7C74-B987-8586-E4FF79C4ECA5}"/>
              </a:ext>
            </a:extLst>
          </p:cNvPr>
          <p:cNvGrpSpPr/>
          <p:nvPr/>
        </p:nvGrpSpPr>
        <p:grpSpPr>
          <a:xfrm>
            <a:off x="6890806" y="4369528"/>
            <a:ext cx="1068643" cy="369332"/>
            <a:chOff x="3647644" y="5359159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62FF31-0E4B-98E4-70ED-6243B60CAF2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F038050-F239-4B61-C3DD-1D121E3B95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01FC2BF-314F-7095-8FAD-02A165342AE1}"/>
              </a:ext>
            </a:extLst>
          </p:cNvPr>
          <p:cNvGrpSpPr/>
          <p:nvPr/>
        </p:nvGrpSpPr>
        <p:grpSpPr>
          <a:xfrm>
            <a:off x="8228247" y="4669325"/>
            <a:ext cx="747771" cy="369332"/>
            <a:chOff x="2157212" y="5356391"/>
            <a:chExt cx="747771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88F484-B1BA-CBF7-44B4-899AB7D19248}"/>
                </a:ext>
              </a:extLst>
            </p:cNvPr>
            <p:cNvSpPr txBox="1"/>
            <p:nvPr/>
          </p:nvSpPr>
          <p:spPr>
            <a:xfrm>
              <a:off x="2521525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2074240-B1C1-1A57-74B9-C225B80AA9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1057"/>
              <a:ext cx="386364" cy="40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5782A3-C40B-C479-D292-6E3BEA76779C}"/>
              </a:ext>
            </a:extLst>
          </p:cNvPr>
          <p:cNvGrpSpPr/>
          <p:nvPr/>
        </p:nvGrpSpPr>
        <p:grpSpPr>
          <a:xfrm>
            <a:off x="4431588" y="5180690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9790BC5-82D4-F523-2A97-168E8BE641A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32CA9BA-47CF-C7AF-019D-F76CE85E6F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2E7F48A-9082-9C14-DDCE-36C0FBA2E614}"/>
              </a:ext>
            </a:extLst>
          </p:cNvPr>
          <p:cNvGrpSpPr/>
          <p:nvPr/>
        </p:nvGrpSpPr>
        <p:grpSpPr>
          <a:xfrm>
            <a:off x="8265535" y="5415909"/>
            <a:ext cx="710483" cy="369332"/>
            <a:chOff x="2157212" y="5356391"/>
            <a:chExt cx="710483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9E8E261-DBC2-FB9B-C425-FDFEB1C5FE59}"/>
                </a:ext>
              </a:extLst>
            </p:cNvPr>
            <p:cNvSpPr txBox="1"/>
            <p:nvPr/>
          </p:nvSpPr>
          <p:spPr>
            <a:xfrm>
              <a:off x="2484237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0A5F730-EF6B-585A-CAF9-F5F7191EA7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1057"/>
              <a:ext cx="327025" cy="40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546AF74D-C684-B3A4-7F5B-00FD20C66928}"/>
              </a:ext>
            </a:extLst>
          </p:cNvPr>
          <p:cNvSpPr/>
          <p:nvPr/>
        </p:nvSpPr>
        <p:spPr>
          <a:xfrm>
            <a:off x="3155157" y="2796667"/>
            <a:ext cx="452438" cy="18335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8922A8D-5AA3-D9F2-3B9C-4BDF8515EAE4}"/>
              </a:ext>
            </a:extLst>
          </p:cNvPr>
          <p:cNvSpPr/>
          <p:nvPr/>
        </p:nvSpPr>
        <p:spPr>
          <a:xfrm>
            <a:off x="2643188" y="3047512"/>
            <a:ext cx="451059" cy="18335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67E5652-A9BC-B3C2-EBDF-C8CA8FBE3387}"/>
              </a:ext>
            </a:extLst>
          </p:cNvPr>
          <p:cNvSpPr/>
          <p:nvPr/>
        </p:nvSpPr>
        <p:spPr>
          <a:xfrm>
            <a:off x="3495018" y="5508895"/>
            <a:ext cx="452438" cy="19554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2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66" grpId="0" animBg="1"/>
      <p:bldP spid="67" grpId="0" animBg="1"/>
      <p:bldP spid="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0D85-6284-B39D-3D77-A1E4BB81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9F4BB-9DCA-042C-D62E-F1E46AAD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48386D1-F6F1-4045-D0CD-E169EEF4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identify_element.py</a:t>
            </a:r>
            <a:endParaRPr lang="en-US" sz="3200" b="1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0BA96C-BA2D-8381-DF6A-B7CDAE7F9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41" y="1720649"/>
            <a:ext cx="6472918" cy="299573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9F35EE9-F028-D38E-E911-F79D8EEAD038}"/>
              </a:ext>
            </a:extLst>
          </p:cNvPr>
          <p:cNvGrpSpPr/>
          <p:nvPr/>
        </p:nvGrpSpPr>
        <p:grpSpPr>
          <a:xfrm>
            <a:off x="7519680" y="2404883"/>
            <a:ext cx="1076632" cy="369332"/>
            <a:chOff x="4968362" y="2079211"/>
            <a:chExt cx="1076632" cy="36933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8DD07D5-E92C-A76A-772A-C64625BE3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C7E899-7229-F068-5B43-721BF91945D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ECA9E34-F728-0AFE-EC16-74400422DA1D}"/>
              </a:ext>
            </a:extLst>
          </p:cNvPr>
          <p:cNvGrpSpPr/>
          <p:nvPr/>
        </p:nvGrpSpPr>
        <p:grpSpPr>
          <a:xfrm>
            <a:off x="4640125" y="2735851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02D9870-6704-BC28-F66A-08F71D8C1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BC493D-90F1-F15A-4C31-AC3B9EFAB2B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D391BDE-AF8C-7FC4-9995-258C0EE4A043}"/>
              </a:ext>
            </a:extLst>
          </p:cNvPr>
          <p:cNvGrpSpPr/>
          <p:nvPr/>
        </p:nvGrpSpPr>
        <p:grpSpPr>
          <a:xfrm>
            <a:off x="5402121" y="3059668"/>
            <a:ext cx="1068643" cy="369332"/>
            <a:chOff x="3647644" y="4910075"/>
            <a:chExt cx="1068643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E0D9F9F-501F-3532-279B-775073EB6BE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F8070A3-C3AD-9B98-DCED-8722042EE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C975F671-3433-76BB-18D0-ED1A2FA6FF16}"/>
              </a:ext>
            </a:extLst>
          </p:cNvPr>
          <p:cNvSpPr/>
          <p:nvPr/>
        </p:nvSpPr>
        <p:spPr>
          <a:xfrm>
            <a:off x="3073789" y="3059668"/>
            <a:ext cx="2163957" cy="3693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82A2C51-0D6F-AE90-7F79-5002E9AC487D}"/>
                  </a:ext>
                </a:extLst>
              </p:cNvPr>
              <p:cNvSpPr txBox="1"/>
              <p:nvPr/>
            </p:nvSpPr>
            <p:spPr>
              <a:xfrm>
                <a:off x="3763862" y="5167033"/>
                <a:ext cx="16162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82A2C51-0D6F-AE90-7F79-5002E9AC4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862" y="5167033"/>
                <a:ext cx="1616276" cy="369332"/>
              </a:xfrm>
              <a:prstGeom prst="rect">
                <a:avLst/>
              </a:prstGeom>
              <a:blipFill>
                <a:blip r:embed="rId4"/>
                <a:stretch>
                  <a:fillRect l="-4135" r="-33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4E8730AB-F0EF-9015-A315-69B9CB9DF840}"/>
              </a:ext>
            </a:extLst>
          </p:cNvPr>
          <p:cNvGrpSpPr/>
          <p:nvPr/>
        </p:nvGrpSpPr>
        <p:grpSpPr>
          <a:xfrm>
            <a:off x="7682255" y="3381291"/>
            <a:ext cx="1064340" cy="369332"/>
            <a:chOff x="3647644" y="5421073"/>
            <a:chExt cx="1064340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3CD783-9C0C-D4B8-FFC8-E7DB82877BA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E44823D-EA2E-7713-DD3A-665855AC8B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729DC1-D5C4-9646-B7BB-936B2948A44D}"/>
              </a:ext>
            </a:extLst>
          </p:cNvPr>
          <p:cNvGrpSpPr/>
          <p:nvPr/>
        </p:nvGrpSpPr>
        <p:grpSpPr>
          <a:xfrm>
            <a:off x="2892391" y="4347047"/>
            <a:ext cx="1068643" cy="369332"/>
            <a:chOff x="3647644" y="5359159"/>
            <a:chExt cx="1068643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24C4122-4524-11B6-BEAA-4FC95C91E017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68C82E5-3C1E-1E6E-89EE-57DE4F1EB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333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AE88CD-9AE4-79EC-3776-C3877DFC5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963" y="1654991"/>
            <a:ext cx="5790074" cy="4504481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identify_element.py</a:t>
            </a:r>
            <a:endParaRPr lang="en-US" sz="3200" b="1" dirty="0"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2DA411-3B51-0030-7F81-04CF44363475}"/>
              </a:ext>
            </a:extLst>
          </p:cNvPr>
          <p:cNvSpPr/>
          <p:nvPr/>
        </p:nvSpPr>
        <p:spPr>
          <a:xfrm>
            <a:off x="5097570" y="1720724"/>
            <a:ext cx="846030" cy="2123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8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F20F6D-42D3-C971-865B-4294712F454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289"/>
          <a:stretch/>
        </p:blipFill>
        <p:spPr>
          <a:xfrm>
            <a:off x="297207" y="681340"/>
            <a:ext cx="8549587" cy="54953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380FE-CD68-573D-D82D-19C649D59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238" y="367095"/>
            <a:ext cx="4609524" cy="61238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C0F4BA-FDDA-807D-3992-E557B5C3942B}"/>
              </a:ext>
            </a:extLst>
          </p:cNvPr>
          <p:cNvCxnSpPr>
            <a:cxnSpLocks/>
          </p:cNvCxnSpPr>
          <p:nvPr/>
        </p:nvCxnSpPr>
        <p:spPr>
          <a:xfrm flipH="1">
            <a:off x="6513226" y="2926720"/>
            <a:ext cx="1919666" cy="12105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31F6B-25E6-8990-B0EC-C669DBC70DE1}"/>
              </a:ext>
            </a:extLst>
          </p:cNvPr>
          <p:cNvSpPr/>
          <p:nvPr/>
        </p:nvSpPr>
        <p:spPr>
          <a:xfrm>
            <a:off x="5433934" y="4616450"/>
            <a:ext cx="689548" cy="2853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E713E-CA34-B2E5-8830-ACD9BC7B9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18" y="501649"/>
            <a:ext cx="3438095" cy="485714"/>
          </a:xfrm>
          <a:prstGeom prst="rect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943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C593-3929-7468-C5FF-59A992F2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C12B42-775A-38A3-FDD7-7440B6F37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963" y="1654991"/>
            <a:ext cx="5790074" cy="4504481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5D01E-F310-2FDA-8CD5-9B66D31E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4EC93B22-600D-9748-EA73-7B79E7E6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identify_element.py</a:t>
            </a:r>
            <a:endParaRPr lang="en-US" sz="32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D0E5F-4D01-DACF-A5F5-E1B28BF8C6A8}"/>
              </a:ext>
            </a:extLst>
          </p:cNvPr>
          <p:cNvSpPr txBox="1"/>
          <p:nvPr/>
        </p:nvSpPr>
        <p:spPr>
          <a:xfrm>
            <a:off x="5154758" y="3792932"/>
            <a:ext cx="3606993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Argon is the third-most-abundant gas in Earth's atmosphere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2x</a:t>
            </a:r>
            <a:r>
              <a:rPr lang="en-US" dirty="0"/>
              <a:t> more abundant than </a:t>
            </a:r>
            <a:r>
              <a:rPr lang="en-US" b="1" dirty="0">
                <a:solidFill>
                  <a:srgbClr val="0070C0"/>
                </a:solidFill>
              </a:rPr>
              <a:t>water vapor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23x</a:t>
            </a:r>
            <a:r>
              <a:rPr lang="en-US" dirty="0"/>
              <a:t> more abundant than </a:t>
            </a:r>
            <a:r>
              <a:rPr lang="en-US" b="1" dirty="0">
                <a:solidFill>
                  <a:srgbClr val="00B050"/>
                </a:solidFill>
              </a:rPr>
              <a:t>carbon dioxide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493E3F-242D-4755-C1B2-DD77EC9A0A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0725" y="2894178"/>
            <a:ext cx="1254753" cy="125475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CECC58F-1C78-77F5-699E-3D1649A1B114}"/>
              </a:ext>
            </a:extLst>
          </p:cNvPr>
          <p:cNvSpPr/>
          <p:nvPr/>
        </p:nvSpPr>
        <p:spPr>
          <a:xfrm>
            <a:off x="3064348" y="2958990"/>
            <a:ext cx="377526" cy="1538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9E0887-ABFB-6B67-B851-3243986FD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599" y="2316921"/>
            <a:ext cx="3028571" cy="3904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EEEBF36-6FC8-E99B-D8A8-3FAA54D2FA5D}"/>
              </a:ext>
            </a:extLst>
          </p:cNvPr>
          <p:cNvSpPr/>
          <p:nvPr/>
        </p:nvSpPr>
        <p:spPr>
          <a:xfrm>
            <a:off x="4736623" y="2346366"/>
            <a:ext cx="635221" cy="1538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DD4F9C1-8050-8B50-62F8-0C7B0D329B53}"/>
              </a:ext>
            </a:extLst>
          </p:cNvPr>
          <p:cNvCxnSpPr>
            <a:cxnSpLocks/>
            <a:stCxn id="15" idx="2"/>
            <a:endCxn id="14" idx="3"/>
          </p:cNvCxnSpPr>
          <p:nvPr/>
        </p:nvCxnSpPr>
        <p:spPr>
          <a:xfrm rot="5400000">
            <a:off x="3980203" y="1961881"/>
            <a:ext cx="535702" cy="161236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73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D545-71C6-75AA-A410-143C175F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140B-2F03-B00F-A5F2-5EE26FC9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C08DC-7C3B-C048-B324-B8D2433C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C55CEA-4199-4A30-831E-5B6505D43183}"/>
              </a:ext>
            </a:extLst>
          </p:cNvPr>
          <p:cNvGrpSpPr/>
          <p:nvPr/>
        </p:nvGrpSpPr>
        <p:grpSpPr>
          <a:xfrm>
            <a:off x="271052" y="714716"/>
            <a:ext cx="1200473" cy="1979497"/>
            <a:chOff x="271052" y="714716"/>
            <a:chExt cx="1200473" cy="19794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90DF7B-958D-A5D7-7FA7-E5C2A0408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040" y="714716"/>
              <a:ext cx="1150496" cy="130770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1DB56A-042B-5212-9E5D-E671DE98AA22}"/>
                </a:ext>
              </a:extLst>
            </p:cNvPr>
            <p:cNvSpPr txBox="1"/>
            <p:nvPr/>
          </p:nvSpPr>
          <p:spPr>
            <a:xfrm>
              <a:off x="271052" y="2047882"/>
              <a:ext cx="12004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Carl Friedrich 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Linux Libertine"/>
                </a:rPr>
                <a:t>Gauss</a:t>
              </a:r>
            </a:p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(1777-1855)</a:t>
              </a:r>
              <a:endParaRPr lang="en-US" sz="1200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78F93F6-7365-D196-3A46-42A463C05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78" y="1368569"/>
            <a:ext cx="6004843" cy="49877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9128D6-8C61-61DA-A1D9-C1667839B1B0}"/>
              </a:ext>
            </a:extLst>
          </p:cNvPr>
          <p:cNvSpPr txBox="1"/>
          <p:nvPr/>
        </p:nvSpPr>
        <p:spPr>
          <a:xfrm>
            <a:off x="794083" y="4884821"/>
            <a:ext cx="1989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Clearly, these formulas work as expected…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DBC74-6B62-B7FD-E34D-726F480249AF}"/>
              </a:ext>
            </a:extLst>
          </p:cNvPr>
          <p:cNvSpPr txBox="1"/>
          <p:nvPr/>
        </p:nvSpPr>
        <p:spPr>
          <a:xfrm>
            <a:off x="6280483" y="4884821"/>
            <a:ext cx="1989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…but how did Gauss </a:t>
            </a:r>
            <a:r>
              <a:rPr lang="en-US" sz="2000" i="1" dirty="0">
                <a:solidFill>
                  <a:srgbClr val="7030A0"/>
                </a:solidFill>
              </a:rPr>
              <a:t>derive</a:t>
            </a:r>
            <a:r>
              <a:rPr lang="en-US" sz="2000" dirty="0">
                <a:solidFill>
                  <a:srgbClr val="7030A0"/>
                </a:solidFill>
              </a:rPr>
              <a:t> these formulas?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DC0559-2776-A1EA-8D02-0FCDFA71B804}"/>
              </a:ext>
            </a:extLst>
          </p:cNvPr>
          <p:cNvSpPr/>
          <p:nvPr/>
        </p:nvSpPr>
        <p:spPr>
          <a:xfrm>
            <a:off x="3200400" y="4427621"/>
            <a:ext cx="2711116" cy="1928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4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8FA5-C5AC-F8BB-35D7-DA7605B7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7DCD-126F-F0B0-7427-6A1655B5A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0E0C4-7ABA-4D70-2E9E-34AF5BF2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AFB547-21BD-8DE2-C86F-E6F96D0AC89A}"/>
                  </a:ext>
                </a:extLst>
              </p:cNvPr>
              <p:cNvSpPr txBox="1"/>
              <p:nvPr/>
            </p:nvSpPr>
            <p:spPr>
              <a:xfrm>
                <a:off x="2155152" y="1357086"/>
                <a:ext cx="4954370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AFB547-21BD-8DE2-C86F-E6F96D0AC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52" y="1357086"/>
                <a:ext cx="4954370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4EF62A-E0D1-ECE8-3D16-88E2C1C37FEE}"/>
                  </a:ext>
                </a:extLst>
              </p:cNvPr>
              <p:cNvSpPr txBox="1"/>
              <p:nvPr/>
            </p:nvSpPr>
            <p:spPr>
              <a:xfrm>
                <a:off x="2970440" y="3133831"/>
                <a:ext cx="3203120" cy="300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4EF62A-E0D1-ECE8-3D16-88E2C1C37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440" y="3133831"/>
                <a:ext cx="3203120" cy="300660"/>
              </a:xfrm>
              <a:prstGeom prst="rect">
                <a:avLst/>
              </a:prstGeom>
              <a:blipFill>
                <a:blip r:embed="rId3"/>
                <a:stretch>
                  <a:fillRect t="-2041" b="-38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2E8A219-0C48-85AA-E5F7-2FAB9A957FE6}"/>
              </a:ext>
            </a:extLst>
          </p:cNvPr>
          <p:cNvSpPr txBox="1"/>
          <p:nvPr/>
        </p:nvSpPr>
        <p:spPr>
          <a:xfrm>
            <a:off x="1744029" y="2493952"/>
            <a:ext cx="565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Let’s set aside the summation operator for now…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52B5A3-2A88-02EA-0ADC-BBDAEB6C8FA7}"/>
                  </a:ext>
                </a:extLst>
              </p:cNvPr>
              <p:cNvSpPr txBox="1"/>
              <p:nvPr/>
            </p:nvSpPr>
            <p:spPr>
              <a:xfrm>
                <a:off x="3213455" y="3635628"/>
                <a:ext cx="27170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52B5A3-2A88-02EA-0ADC-BBDAEB6C8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455" y="3635628"/>
                <a:ext cx="2717090" cy="276999"/>
              </a:xfrm>
              <a:prstGeom prst="rect">
                <a:avLst/>
              </a:prstGeom>
              <a:blipFill>
                <a:blip r:embed="rId4"/>
                <a:stretch>
                  <a:fillRect l="-2691" t="-2174" r="-2691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0C776BC-9737-DC0E-0B1F-7F9C81D3AC7F}"/>
              </a:ext>
            </a:extLst>
          </p:cNvPr>
          <p:cNvGrpSpPr/>
          <p:nvPr/>
        </p:nvGrpSpPr>
        <p:grpSpPr>
          <a:xfrm>
            <a:off x="2582736" y="4155054"/>
            <a:ext cx="1802694" cy="276999"/>
            <a:chOff x="1812606" y="3657752"/>
            <a:chExt cx="1802694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23BEEA4-72CD-09AF-1D2C-D33308B231ED}"/>
                    </a:ext>
                  </a:extLst>
                </p:cNvPr>
                <p:cNvSpPr txBox="1"/>
                <p:nvPr/>
              </p:nvSpPr>
              <p:spPr>
                <a:xfrm>
                  <a:off x="1812606" y="3657752"/>
                  <a:ext cx="3013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23BEEA4-72CD-09AF-1D2C-D33308B23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2606" y="3657752"/>
                  <a:ext cx="30136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408" t="-4444" r="-61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A057405-E7D8-A2AA-E719-F4B31BA169F9}"/>
                    </a:ext>
                  </a:extLst>
                </p:cNvPr>
                <p:cNvSpPr txBox="1"/>
                <p:nvPr/>
              </p:nvSpPr>
              <p:spPr>
                <a:xfrm>
                  <a:off x="2294328" y="3657752"/>
                  <a:ext cx="6772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𝑚𝑥𝑦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A057405-E7D8-A2AA-E719-F4B31BA16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328" y="3657752"/>
                  <a:ext cx="67723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802" r="-810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1973746-17E4-446F-2ABB-2A1D42167941}"/>
                    </a:ext>
                  </a:extLst>
                </p:cNvPr>
                <p:cNvSpPr txBox="1"/>
                <p:nvPr/>
              </p:nvSpPr>
              <p:spPr>
                <a:xfrm>
                  <a:off x="3130424" y="3657752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1973746-17E4-446F-2ABB-2A1D42167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0424" y="3657752"/>
                  <a:ext cx="48487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32" t="-4444" r="-16456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D3795F-54BD-2363-94B8-8782DBC18637}"/>
              </a:ext>
            </a:extLst>
          </p:cNvPr>
          <p:cNvGrpSpPr/>
          <p:nvPr/>
        </p:nvGrpSpPr>
        <p:grpSpPr>
          <a:xfrm>
            <a:off x="3072549" y="4476190"/>
            <a:ext cx="3078445" cy="369332"/>
            <a:chOff x="2302419" y="4042957"/>
            <a:chExt cx="307844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98311F7-F7C1-D513-82FC-B69FE4EF5D02}"/>
                    </a:ext>
                  </a:extLst>
                </p:cNvPr>
                <p:cNvSpPr txBox="1"/>
                <p:nvPr/>
              </p:nvSpPr>
              <p:spPr>
                <a:xfrm>
                  <a:off x="2302419" y="4089124"/>
                  <a:ext cx="6772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𝑚𝑥𝑦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98311F7-F7C1-D513-82FC-B69FE4EF5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2419" y="4089124"/>
                  <a:ext cx="67723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901" r="-810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5E1322F-6878-8B23-E385-57E2E3B57585}"/>
                    </a:ext>
                  </a:extLst>
                </p:cNvPr>
                <p:cNvSpPr txBox="1"/>
                <p:nvPr/>
              </p:nvSpPr>
              <p:spPr>
                <a:xfrm>
                  <a:off x="3548300" y="4042957"/>
                  <a:ext cx="86878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5E1322F-6878-8B23-E385-57E2E3B57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8300" y="4042957"/>
                  <a:ext cx="868784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AC0CE0A-9DAD-5415-DDBA-1B0F26BA1D29}"/>
                    </a:ext>
                  </a:extLst>
                </p:cNvPr>
                <p:cNvSpPr txBox="1"/>
                <p:nvPr/>
              </p:nvSpPr>
              <p:spPr>
                <a:xfrm>
                  <a:off x="4512081" y="4042957"/>
                  <a:ext cx="8687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𝑏𝑚𝑥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AC0CE0A-9DAD-5415-DDBA-1B0F26BA1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2081" y="4042957"/>
                  <a:ext cx="86878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04647EA-9194-2986-E832-4F836CA901CD}"/>
              </a:ext>
            </a:extLst>
          </p:cNvPr>
          <p:cNvGrpSpPr/>
          <p:nvPr/>
        </p:nvGrpSpPr>
        <p:grpSpPr>
          <a:xfrm>
            <a:off x="3908258" y="4889659"/>
            <a:ext cx="2600359" cy="369332"/>
            <a:chOff x="3138128" y="4427621"/>
            <a:chExt cx="260035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3EE815F-DC43-CCBF-D505-3C5977CC9981}"/>
                    </a:ext>
                  </a:extLst>
                </p:cNvPr>
                <p:cNvSpPr txBox="1"/>
                <p:nvPr/>
              </p:nvSpPr>
              <p:spPr>
                <a:xfrm>
                  <a:off x="3138128" y="4473788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3EE815F-DC43-CCBF-D505-3C5977CC9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8128" y="4473788"/>
                  <a:ext cx="484876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250" t="-4444" r="-15000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0320C6C-C9AA-9DF7-D2B7-7C783C1EA77E}"/>
                    </a:ext>
                  </a:extLst>
                </p:cNvPr>
                <p:cNvSpPr txBox="1"/>
                <p:nvPr/>
              </p:nvSpPr>
              <p:spPr>
                <a:xfrm>
                  <a:off x="4513019" y="4427621"/>
                  <a:ext cx="8687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𝑏𝑚𝑥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0320C6C-C9AA-9DF7-D2B7-7C783C1EA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019" y="4427621"/>
                  <a:ext cx="86878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8A75DC3-3DCB-2312-706B-8824BFD6550E}"/>
                    </a:ext>
                  </a:extLst>
                </p:cNvPr>
                <p:cNvSpPr txBox="1"/>
                <p:nvPr/>
              </p:nvSpPr>
              <p:spPr>
                <a:xfrm>
                  <a:off x="5213239" y="4427621"/>
                  <a:ext cx="5252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8A75DC3-3DCB-2312-706B-8824BFD655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3239" y="4427621"/>
                  <a:ext cx="525248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400293B-2ABB-97AF-4FAF-4C9C1572E88C}"/>
              </a:ext>
            </a:extLst>
          </p:cNvPr>
          <p:cNvCxnSpPr>
            <a:cxnSpLocks/>
          </p:cNvCxnSpPr>
          <p:nvPr/>
        </p:nvCxnSpPr>
        <p:spPr>
          <a:xfrm flipV="1">
            <a:off x="2538663" y="5236888"/>
            <a:ext cx="4066674" cy="461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DF5B75E-4B2A-CE76-9A0D-9F42544CB386}"/>
              </a:ext>
            </a:extLst>
          </p:cNvPr>
          <p:cNvGrpSpPr/>
          <p:nvPr/>
        </p:nvGrpSpPr>
        <p:grpSpPr>
          <a:xfrm>
            <a:off x="2097039" y="5431463"/>
            <a:ext cx="4481216" cy="276999"/>
            <a:chOff x="2097039" y="4934161"/>
            <a:chExt cx="4481216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FEE0A6-9CF1-74B0-4F5B-53D383380573}"/>
                    </a:ext>
                  </a:extLst>
                </p:cNvPr>
                <p:cNvSpPr txBox="1"/>
                <p:nvPr/>
              </p:nvSpPr>
              <p:spPr>
                <a:xfrm>
                  <a:off x="2565746" y="4934161"/>
                  <a:ext cx="40125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𝑚𝑥𝑦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𝑏𝑚𝑥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FEE0A6-9CF1-74B0-4F5B-53D383380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746" y="4934161"/>
                  <a:ext cx="401250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064" t="-4444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49C707F-72B5-9544-5349-275AD1BD7969}"/>
                    </a:ext>
                  </a:extLst>
                </p:cNvPr>
                <p:cNvSpPr txBox="1"/>
                <p:nvPr/>
              </p:nvSpPr>
              <p:spPr>
                <a:xfrm>
                  <a:off x="2097039" y="4934161"/>
                  <a:ext cx="4164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49C707F-72B5-9544-5349-275AD1BD79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7039" y="4934161"/>
                  <a:ext cx="416461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1765" r="-7353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9D06DDB-17E1-8AE1-88DD-1F990EA8B3AE}"/>
              </a:ext>
            </a:extLst>
          </p:cNvPr>
          <p:cNvSpPr txBox="1"/>
          <p:nvPr/>
        </p:nvSpPr>
        <p:spPr>
          <a:xfrm>
            <a:off x="5416722" y="2101401"/>
            <a:ext cx="233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Slope-intercept form of a line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CC95C8-6D6B-7150-AEC4-CA83B0D0FFCE}"/>
              </a:ext>
            </a:extLst>
          </p:cNvPr>
          <p:cNvSpPr txBox="1"/>
          <p:nvPr/>
        </p:nvSpPr>
        <p:spPr>
          <a:xfrm>
            <a:off x="2055511" y="1314982"/>
            <a:ext cx="9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7030A0"/>
                </a:solidFill>
              </a:rPr>
              <a:t>Least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EAF69D-A0AE-85C4-39C4-8DEB8A3989B7}"/>
              </a:ext>
            </a:extLst>
          </p:cNvPr>
          <p:cNvSpPr txBox="1"/>
          <p:nvPr/>
        </p:nvSpPr>
        <p:spPr>
          <a:xfrm>
            <a:off x="6702711" y="1314982"/>
            <a:ext cx="9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7030A0"/>
                </a:solidFill>
              </a:rPr>
              <a:t>Squares</a:t>
            </a:r>
          </a:p>
        </p:txBody>
      </p:sp>
    </p:spTree>
    <p:extLst>
      <p:ext uri="{BB962C8B-B14F-4D97-AF65-F5344CB8AC3E}">
        <p14:creationId xmlns:p14="http://schemas.microsoft.com/office/powerpoint/2010/main" val="74756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5" grpId="0"/>
      <p:bldP spid="61" grpId="0"/>
      <p:bldP spid="62" grpId="0"/>
      <p:bldP spid="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E2C6-3A0C-1F41-5B6A-596436D3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16D8-3339-F00B-924E-EBFB3EC9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C143D-0908-69AA-B430-A3550952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F11FFF-A126-8F0B-9EC8-ACC7ADBEED73}"/>
                  </a:ext>
                </a:extLst>
              </p:cNvPr>
              <p:cNvSpPr txBox="1"/>
              <p:nvPr/>
            </p:nvSpPr>
            <p:spPr>
              <a:xfrm>
                <a:off x="3744697" y="3435026"/>
                <a:ext cx="1583190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F11FFF-A126-8F0B-9EC8-ACC7ADBEE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97" y="3435026"/>
                <a:ext cx="1583190" cy="526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06A3A14-7C81-671C-B8F0-D05DA2108846}"/>
              </a:ext>
            </a:extLst>
          </p:cNvPr>
          <p:cNvSpPr txBox="1"/>
          <p:nvPr/>
        </p:nvSpPr>
        <p:spPr>
          <a:xfrm>
            <a:off x="628649" y="3236702"/>
            <a:ext cx="2684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S to have a </a:t>
            </a:r>
            <a:r>
              <a:rPr lang="en-US" b="1" dirty="0"/>
              <a:t>minimum</a:t>
            </a:r>
            <a:r>
              <a:rPr lang="en-US" dirty="0"/>
              <a:t>, these two </a:t>
            </a:r>
            <a:r>
              <a:rPr lang="en-US" i="1" dirty="0"/>
              <a:t>partial</a:t>
            </a:r>
            <a:r>
              <a:rPr lang="en-US" dirty="0"/>
              <a:t> </a:t>
            </a:r>
            <a:r>
              <a:rPr lang="en-US" i="1" dirty="0"/>
              <a:t>derivatives</a:t>
            </a:r>
            <a:r>
              <a:rPr lang="en-US" dirty="0"/>
              <a:t> must exist: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235DCCA-D64F-E6D5-C989-BFCB74B9252C}"/>
                  </a:ext>
                </a:extLst>
              </p:cNvPr>
              <p:cNvSpPr/>
              <p:nvPr/>
            </p:nvSpPr>
            <p:spPr>
              <a:xfrm>
                <a:off x="2892983" y="4432099"/>
                <a:ext cx="3358035" cy="6190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235DCCA-D64F-E6D5-C989-BFCB74B925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983" y="4432099"/>
                <a:ext cx="3358035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DFBE40E-38F5-F79E-0907-A9E4C11638DD}"/>
                  </a:ext>
                </a:extLst>
              </p:cNvPr>
              <p:cNvSpPr/>
              <p:nvPr/>
            </p:nvSpPr>
            <p:spPr>
              <a:xfrm>
                <a:off x="2973193" y="5514952"/>
                <a:ext cx="2924455" cy="6190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DFBE40E-38F5-F79E-0907-A9E4C1163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93" y="5514952"/>
                <a:ext cx="2924455" cy="619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5F612-2BEC-CD7F-C4F7-BF355DCC89DF}"/>
                  </a:ext>
                </a:extLst>
              </p:cNvPr>
              <p:cNvSpPr txBox="1"/>
              <p:nvPr/>
            </p:nvSpPr>
            <p:spPr>
              <a:xfrm>
                <a:off x="2155152" y="1357086"/>
                <a:ext cx="4954370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5F612-2BEC-CD7F-C4F7-BF355DCC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52" y="1357086"/>
                <a:ext cx="4954370" cy="1008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B208AEB-A7E5-ABB3-A2B6-0D1668ADA5AF}"/>
              </a:ext>
            </a:extLst>
          </p:cNvPr>
          <p:cNvGrpSpPr/>
          <p:nvPr/>
        </p:nvGrpSpPr>
        <p:grpSpPr>
          <a:xfrm>
            <a:off x="2198350" y="2636669"/>
            <a:ext cx="4919926" cy="307777"/>
            <a:chOff x="2097039" y="4934161"/>
            <a:chExt cx="4919926" cy="307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23AF9D0-F887-CCCB-CA16-D033E190A54F}"/>
                    </a:ext>
                  </a:extLst>
                </p:cNvPr>
                <p:cNvSpPr txBox="1"/>
                <p:nvPr/>
              </p:nvSpPr>
              <p:spPr>
                <a:xfrm>
                  <a:off x="2565746" y="4934161"/>
                  <a:ext cx="445121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𝑚𝑥𝑦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𝑏𝑚𝑥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23AF9D0-F887-CCCB-CA16-D033E190A5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746" y="4934161"/>
                  <a:ext cx="4451219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959" t="-4000" r="-137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BF3D6CB-F143-E4B9-9395-EF3F46057F70}"/>
                    </a:ext>
                  </a:extLst>
                </p:cNvPr>
                <p:cNvSpPr txBox="1"/>
                <p:nvPr/>
              </p:nvSpPr>
              <p:spPr>
                <a:xfrm>
                  <a:off x="2097039" y="4934161"/>
                  <a:ext cx="46256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BF3D6CB-F143-E4B9-9395-EF3F46057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7039" y="4934161"/>
                  <a:ext cx="462563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3158" r="-5263"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822227-1C2E-1F26-B2C5-E5F9C01DFBE2}"/>
                  </a:ext>
                </a:extLst>
              </p:cNvPr>
              <p:cNvSpPr txBox="1"/>
              <p:nvPr/>
            </p:nvSpPr>
            <p:spPr>
              <a:xfrm>
                <a:off x="3779989" y="5172363"/>
                <a:ext cx="1584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822227-1C2E-1F26-B2C5-E5F9C01DF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89" y="5172363"/>
                <a:ext cx="1584023" cy="276999"/>
              </a:xfrm>
              <a:prstGeom prst="rect">
                <a:avLst/>
              </a:prstGeom>
              <a:blipFill>
                <a:blip r:embed="rId8"/>
                <a:stretch>
                  <a:fillRect l="-1923" t="-4348" r="-2692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D15827-F52A-0514-4632-DB3A6A24E038}"/>
                  </a:ext>
                </a:extLst>
              </p:cNvPr>
              <p:cNvSpPr txBox="1"/>
              <p:nvPr/>
            </p:nvSpPr>
            <p:spPr>
              <a:xfrm>
                <a:off x="3962859" y="6133968"/>
                <a:ext cx="12182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D15827-F52A-0514-4632-DB3A6A24E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859" y="6133968"/>
                <a:ext cx="1218282" cy="276999"/>
              </a:xfrm>
              <a:prstGeom prst="rect">
                <a:avLst/>
              </a:prstGeom>
              <a:blipFill>
                <a:blip r:embed="rId9"/>
                <a:stretch>
                  <a:fillRect l="-2500" r="-4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6E45427-ACD3-5195-2155-AFFD36EB4EDF}"/>
              </a:ext>
            </a:extLst>
          </p:cNvPr>
          <p:cNvSpPr txBox="1"/>
          <p:nvPr/>
        </p:nvSpPr>
        <p:spPr>
          <a:xfrm>
            <a:off x="441158" y="4596063"/>
            <a:ext cx="185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Divide out the 2’s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6929AA-A7A2-0296-F7D7-4FEBEA14C12C}"/>
                  </a:ext>
                </a:extLst>
              </p:cNvPr>
              <p:cNvSpPr txBox="1"/>
              <p:nvPr/>
            </p:nvSpPr>
            <p:spPr>
              <a:xfrm>
                <a:off x="441158" y="5310862"/>
                <a:ext cx="185286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Move any term </a:t>
                </a:r>
                <a:r>
                  <a:rPr lang="en-US" b="1" dirty="0">
                    <a:solidFill>
                      <a:srgbClr val="0070C0"/>
                    </a:solidFill>
                  </a:rPr>
                  <a:t>not</a:t>
                </a:r>
                <a:r>
                  <a:rPr lang="en-US" dirty="0">
                    <a:solidFill>
                      <a:srgbClr val="0070C0"/>
                    </a:solidFill>
                  </a:rPr>
                  <a:t> containing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to the RHS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6929AA-A7A2-0296-F7D7-4FEBEA14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58" y="5310862"/>
                <a:ext cx="1852863" cy="923330"/>
              </a:xfrm>
              <a:prstGeom prst="rect">
                <a:avLst/>
              </a:prstGeom>
              <a:blipFill>
                <a:blip r:embed="rId10"/>
                <a:stretch>
                  <a:fillRect t="-3289" r="-2961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48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18" grpId="0"/>
      <p:bldP spid="16" grpId="0"/>
      <p:bldP spid="17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2E890-A74D-8EC5-174F-CB020676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9FA5-A7D6-35B7-DFA4-C2FDC4A6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A5506-44DF-B8D9-88B1-12E15A91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7B4783-3187-9FDF-24FF-DD691414E87A}"/>
                  </a:ext>
                </a:extLst>
              </p:cNvPr>
              <p:cNvSpPr txBox="1"/>
              <p:nvPr/>
            </p:nvSpPr>
            <p:spPr>
              <a:xfrm>
                <a:off x="2155152" y="1357086"/>
                <a:ext cx="4954370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7B4783-3187-9FDF-24FF-DD691414E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52" y="1357086"/>
                <a:ext cx="4954370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73923A1-A14B-70AD-C9B0-5D393F0CF497}"/>
              </a:ext>
            </a:extLst>
          </p:cNvPr>
          <p:cNvGrpSpPr/>
          <p:nvPr/>
        </p:nvGrpSpPr>
        <p:grpSpPr>
          <a:xfrm>
            <a:off x="2198350" y="2636669"/>
            <a:ext cx="4919926" cy="307777"/>
            <a:chOff x="2097039" y="4934161"/>
            <a:chExt cx="4919926" cy="307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55963C-8126-59B6-5C3F-7962C449BA0B}"/>
                    </a:ext>
                  </a:extLst>
                </p:cNvPr>
                <p:cNvSpPr txBox="1"/>
                <p:nvPr/>
              </p:nvSpPr>
              <p:spPr>
                <a:xfrm>
                  <a:off x="2565746" y="4934161"/>
                  <a:ext cx="445121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𝑚𝑥𝑦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𝑏𝑚𝑥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55963C-8126-59B6-5C3F-7962C449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746" y="4934161"/>
                  <a:ext cx="4451219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959" t="-4000" r="-137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B0966C0-CF0D-1A0C-CBFF-5FE894712728}"/>
                    </a:ext>
                  </a:extLst>
                </p:cNvPr>
                <p:cNvSpPr txBox="1"/>
                <p:nvPr/>
              </p:nvSpPr>
              <p:spPr>
                <a:xfrm>
                  <a:off x="2097039" y="4934161"/>
                  <a:ext cx="46256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B0966C0-CF0D-1A0C-CBFF-5FE8947127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7039" y="4934161"/>
                  <a:ext cx="462563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3158" r="-5263"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C60DD0-5345-5230-3A87-D2AAA274694D}"/>
              </a:ext>
            </a:extLst>
          </p:cNvPr>
          <p:cNvGrpSpPr/>
          <p:nvPr/>
        </p:nvGrpSpPr>
        <p:grpSpPr>
          <a:xfrm>
            <a:off x="3757330" y="3243027"/>
            <a:ext cx="1754776" cy="670526"/>
            <a:chOff x="3757330" y="3243027"/>
            <a:chExt cx="1754776" cy="6705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B6C65A-3E12-4FDA-706D-225257FDD442}"/>
                    </a:ext>
                  </a:extLst>
                </p:cNvPr>
                <p:cNvSpPr txBox="1"/>
                <p:nvPr/>
              </p:nvSpPr>
              <p:spPr>
                <a:xfrm>
                  <a:off x="3757330" y="3243027"/>
                  <a:ext cx="175477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𝑏𝑥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oMath>
                    </m:oMathPara>
                  </a14:m>
                  <a:endParaRPr lang="en-US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B6C65A-3E12-4FDA-706D-225257FDD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330" y="3243027"/>
                  <a:ext cx="1754776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389" t="-4000" r="-2778" b="-2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033919A-942B-75D4-6DD3-8872162B0830}"/>
                    </a:ext>
                  </a:extLst>
                </p:cNvPr>
                <p:cNvSpPr txBox="1"/>
                <p:nvPr/>
              </p:nvSpPr>
              <p:spPr>
                <a:xfrm>
                  <a:off x="3889928" y="3605776"/>
                  <a:ext cx="134985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𝑚𝑥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033919A-942B-75D4-6DD3-8872162B0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928" y="3605776"/>
                  <a:ext cx="1349857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802" r="-3604"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6ADF60B-9257-7F03-50AB-BBD37FD50ECA}"/>
              </a:ext>
            </a:extLst>
          </p:cNvPr>
          <p:cNvGrpSpPr/>
          <p:nvPr/>
        </p:nvGrpSpPr>
        <p:grpSpPr>
          <a:xfrm>
            <a:off x="3378292" y="4237590"/>
            <a:ext cx="2399055" cy="750811"/>
            <a:chOff x="3468908" y="4194025"/>
            <a:chExt cx="2399055" cy="750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44B54E7-824C-A694-2C74-279EB9F93BD1}"/>
                    </a:ext>
                  </a:extLst>
                </p:cNvPr>
                <p:cNvSpPr txBox="1"/>
                <p:nvPr/>
              </p:nvSpPr>
              <p:spPr>
                <a:xfrm>
                  <a:off x="3468908" y="4194025"/>
                  <a:ext cx="239905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44B54E7-824C-A694-2C74-279EB9F93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8908" y="4194025"/>
                  <a:ext cx="2399055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1961"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984A7D9-BDF3-E3ED-3BF8-316620AA3897}"/>
                    </a:ext>
                  </a:extLst>
                </p:cNvPr>
                <p:cNvSpPr txBox="1"/>
                <p:nvPr/>
              </p:nvSpPr>
              <p:spPr>
                <a:xfrm>
                  <a:off x="3594856" y="4637059"/>
                  <a:ext cx="213552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984A7D9-BDF3-E3ED-3BF8-316620AA3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4856" y="4637059"/>
                  <a:ext cx="2135521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2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766D51-6082-CA11-6912-8EB9D18C6C4B}"/>
                  </a:ext>
                </a:extLst>
              </p:cNvPr>
              <p:cNvSpPr txBox="1"/>
              <p:nvPr/>
            </p:nvSpPr>
            <p:spPr>
              <a:xfrm>
                <a:off x="328728" y="4012831"/>
                <a:ext cx="28245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B050"/>
                    </a:solidFill>
                  </a:rPr>
                  <a:t>Recall that we know all the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values, so the values in parentheses are constant coefficients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766D51-6082-CA11-6912-8EB9D18C6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28" y="4012831"/>
                <a:ext cx="2824523" cy="1200329"/>
              </a:xfrm>
              <a:prstGeom prst="rect">
                <a:avLst/>
              </a:prstGeom>
              <a:blipFill>
                <a:blip r:embed="rId9"/>
                <a:stretch>
                  <a:fillRect t="-2538" r="-864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CBDF66-20CE-4743-922A-9487F0E0BFAA}"/>
                  </a:ext>
                </a:extLst>
              </p:cNvPr>
              <p:cNvSpPr txBox="1"/>
              <p:nvPr/>
            </p:nvSpPr>
            <p:spPr>
              <a:xfrm>
                <a:off x="5990750" y="4151330"/>
                <a:ext cx="28245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This is a system of 2 linear equations with 2 unknowns: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CBDF66-20CE-4743-922A-9487F0E0B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750" y="4151330"/>
                <a:ext cx="2824523" cy="923330"/>
              </a:xfrm>
              <a:prstGeom prst="rect">
                <a:avLst/>
              </a:prstGeom>
              <a:blipFill>
                <a:blip r:embed="rId10"/>
                <a:stretch>
                  <a:fillRect l="-1944" t="-3974" r="-3240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000BC55-ADC9-4405-36CD-8637C85735D8}"/>
              </a:ext>
            </a:extLst>
          </p:cNvPr>
          <p:cNvSpPr txBox="1"/>
          <p:nvPr/>
        </p:nvSpPr>
        <p:spPr>
          <a:xfrm>
            <a:off x="3258627" y="5232153"/>
            <a:ext cx="2612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The values in parentheses should be </a:t>
            </a:r>
            <a:r>
              <a:rPr lang="en-US" sz="1600" b="1" dirty="0">
                <a:solidFill>
                  <a:srgbClr val="FF0000"/>
                </a:solidFill>
              </a:rPr>
              <a:t>summed</a:t>
            </a:r>
            <a:r>
              <a:rPr lang="en-US" sz="1600" dirty="0">
                <a:solidFill>
                  <a:srgbClr val="FF0000"/>
                </a:solidFill>
              </a:rPr>
              <a:t> per the original Sigma operator</a:t>
            </a:r>
          </a:p>
        </p:txBody>
      </p:sp>
    </p:spTree>
    <p:extLst>
      <p:ext uri="{BB962C8B-B14F-4D97-AF65-F5344CB8AC3E}">
        <p14:creationId xmlns:p14="http://schemas.microsoft.com/office/powerpoint/2010/main" val="111342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9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5336-7F2D-C182-55C1-0F792B5E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8351-F86D-0E8C-D8AF-AA786983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0F62C-A162-CC5D-A1F7-34683FBC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A40D70-186F-DC05-1A7C-9923FA9563EC}"/>
              </a:ext>
            </a:extLst>
          </p:cNvPr>
          <p:cNvGrpSpPr/>
          <p:nvPr/>
        </p:nvGrpSpPr>
        <p:grpSpPr>
          <a:xfrm>
            <a:off x="3372472" y="1558559"/>
            <a:ext cx="2399055" cy="750811"/>
            <a:chOff x="3468908" y="4194025"/>
            <a:chExt cx="2399055" cy="750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31F24C3-FAC2-561C-C9FA-615570101592}"/>
                    </a:ext>
                  </a:extLst>
                </p:cNvPr>
                <p:cNvSpPr txBox="1"/>
                <p:nvPr/>
              </p:nvSpPr>
              <p:spPr>
                <a:xfrm>
                  <a:off x="3468908" y="4194025"/>
                  <a:ext cx="239905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31F24C3-FAC2-561C-C9FA-615570101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8908" y="4194025"/>
                  <a:ext cx="2399055" cy="307777"/>
                </a:xfrm>
                <a:prstGeom prst="rect">
                  <a:avLst/>
                </a:prstGeom>
                <a:blipFill>
                  <a:blip r:embed="rId2"/>
                  <a:stretch>
                    <a:fillRect t="-4000" b="-2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0E232C7-77B9-8607-097E-BD3CE71A9F23}"/>
                    </a:ext>
                  </a:extLst>
                </p:cNvPr>
                <p:cNvSpPr txBox="1"/>
                <p:nvPr/>
              </p:nvSpPr>
              <p:spPr>
                <a:xfrm>
                  <a:off x="3594856" y="4637059"/>
                  <a:ext cx="213552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0E232C7-77B9-8607-097E-BD3CE71A9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4856" y="4637059"/>
                  <a:ext cx="2135521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86D263-E9FF-14DC-CF37-E433335249FB}"/>
                  </a:ext>
                </a:extLst>
              </p:cNvPr>
              <p:cNvSpPr txBox="1"/>
              <p:nvPr/>
            </p:nvSpPr>
            <p:spPr>
              <a:xfrm>
                <a:off x="1042737" y="2822947"/>
                <a:ext cx="213552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86D263-E9FF-14DC-CF37-E43333524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37" y="2822947"/>
                <a:ext cx="2135521" cy="307777"/>
              </a:xfrm>
              <a:prstGeom prst="rect">
                <a:avLst/>
              </a:prstGeom>
              <a:blipFill>
                <a:blip r:embed="rId4"/>
                <a:stretch>
                  <a:fillRect r="-114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25CF71-9819-71C6-9118-9A9580A12572}"/>
                  </a:ext>
                </a:extLst>
              </p:cNvPr>
              <p:cNvSpPr txBox="1"/>
              <p:nvPr/>
            </p:nvSpPr>
            <p:spPr>
              <a:xfrm>
                <a:off x="1193836" y="3366633"/>
                <a:ext cx="1833322" cy="65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25CF71-9819-71C6-9118-9A9580A12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836" y="3366633"/>
                <a:ext cx="1833322" cy="6519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2486FE-920A-2D4D-1436-A36F7031763B}"/>
                  </a:ext>
                </a:extLst>
              </p:cNvPr>
              <p:cNvSpPr txBox="1"/>
              <p:nvPr/>
            </p:nvSpPr>
            <p:spPr>
              <a:xfrm>
                <a:off x="4362019" y="2634370"/>
                <a:ext cx="3792448" cy="684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nor/>
                                </m:rPr>
                                <a:rPr lang="en-US" sz="2000" dirty="0"/>
                                <m:t> 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2486FE-920A-2D4D-1436-A36F7031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19" y="2634370"/>
                <a:ext cx="3792448" cy="6849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B917DB-5893-C201-3277-A8F18B0E0B79}"/>
                  </a:ext>
                </a:extLst>
              </p:cNvPr>
              <p:cNvSpPr txBox="1"/>
              <p:nvPr/>
            </p:nvSpPr>
            <p:spPr>
              <a:xfrm>
                <a:off x="4064469" y="3575054"/>
                <a:ext cx="438754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(1)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=(1)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B917DB-5893-C201-3277-A8F18B0E0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469" y="3575054"/>
                <a:ext cx="4387548" cy="307777"/>
              </a:xfrm>
              <a:prstGeom prst="rect">
                <a:avLst/>
              </a:prstGeom>
              <a:blipFill>
                <a:blip r:embed="rId7"/>
                <a:stretch>
                  <a:fillRect l="-1669" t="-196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904AD-A59C-6109-8008-6269139A407C}"/>
                  </a:ext>
                </a:extLst>
              </p:cNvPr>
              <p:cNvSpPr txBox="1"/>
              <p:nvPr/>
            </p:nvSpPr>
            <p:spPr>
              <a:xfrm>
                <a:off x="4081558" y="4138584"/>
                <a:ext cx="43533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=(1)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904AD-A59C-6109-8008-6269139A4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558" y="4138584"/>
                <a:ext cx="4353371" cy="307777"/>
              </a:xfrm>
              <a:prstGeom prst="rect">
                <a:avLst/>
              </a:prstGeom>
              <a:blipFill>
                <a:blip r:embed="rId8"/>
                <a:stretch>
                  <a:fillRect t="-400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802D00-AFEC-0079-FB23-826A81270930}"/>
                  </a:ext>
                </a:extLst>
              </p:cNvPr>
              <p:cNvSpPr txBox="1"/>
              <p:nvPr/>
            </p:nvSpPr>
            <p:spPr>
              <a:xfrm>
                <a:off x="4065079" y="4702114"/>
                <a:ext cx="43863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802D00-AFEC-0079-FB23-826A81270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079" y="4702114"/>
                <a:ext cx="4386329" cy="307777"/>
              </a:xfrm>
              <a:prstGeom prst="rect">
                <a:avLst/>
              </a:prstGeom>
              <a:blipFill>
                <a:blip r:embed="rId9"/>
                <a:stretch>
                  <a:fillRect t="-1961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D75340-A3BB-264C-DBD8-5B081B14EF8D}"/>
                  </a:ext>
                </a:extLst>
              </p:cNvPr>
              <p:cNvSpPr txBox="1"/>
              <p:nvPr/>
            </p:nvSpPr>
            <p:spPr>
              <a:xfrm>
                <a:off x="4084892" y="5265644"/>
                <a:ext cx="43467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D75340-A3BB-264C-DBD8-5B081B14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892" y="5265644"/>
                <a:ext cx="4346703" cy="307777"/>
              </a:xfrm>
              <a:prstGeom prst="rect">
                <a:avLst/>
              </a:prstGeom>
              <a:blipFill>
                <a:blip r:embed="rId10"/>
                <a:stretch>
                  <a:fillRect l="-281" t="-400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F0584D-8CDA-9556-7736-9FCB47BE8090}"/>
                  </a:ext>
                </a:extLst>
              </p:cNvPr>
              <p:cNvSpPr txBox="1"/>
              <p:nvPr/>
            </p:nvSpPr>
            <p:spPr>
              <a:xfrm>
                <a:off x="5013351" y="5829175"/>
                <a:ext cx="2489784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F0584D-8CDA-9556-7736-9FCB47BE8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351" y="5829175"/>
                <a:ext cx="2489784" cy="6408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20468F71-03AD-591C-B844-61F7C1052AD8}"/>
              </a:ext>
            </a:extLst>
          </p:cNvPr>
          <p:cNvSpPr/>
          <p:nvPr/>
        </p:nvSpPr>
        <p:spPr>
          <a:xfrm>
            <a:off x="3433011" y="2085474"/>
            <a:ext cx="256673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48DC93-40A5-3C57-8C07-A3F66279A211}"/>
              </a:ext>
            </a:extLst>
          </p:cNvPr>
          <p:cNvSpPr/>
          <p:nvPr/>
        </p:nvSpPr>
        <p:spPr>
          <a:xfrm>
            <a:off x="1605173" y="2710652"/>
            <a:ext cx="256673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DCEAC07-36B5-FF7A-5281-66694AD26049}"/>
              </a:ext>
            </a:extLst>
          </p:cNvPr>
          <p:cNvCxnSpPr>
            <a:stCxn id="16" idx="1"/>
            <a:endCxn id="17" idx="0"/>
          </p:cNvCxnSpPr>
          <p:nvPr/>
        </p:nvCxnSpPr>
        <p:spPr>
          <a:xfrm rot="10800000" flipV="1">
            <a:off x="1733511" y="2165684"/>
            <a:ext cx="1699501" cy="544967"/>
          </a:xfrm>
          <a:prstGeom prst="bentConnector2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9D0B391-19DE-B4D4-8CD8-2410C7A0A4DE}"/>
              </a:ext>
            </a:extLst>
          </p:cNvPr>
          <p:cNvSpPr/>
          <p:nvPr/>
        </p:nvSpPr>
        <p:spPr>
          <a:xfrm>
            <a:off x="1169773" y="3628419"/>
            <a:ext cx="256673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1DCA71-2223-C16D-C187-D18AD75BC16E}"/>
              </a:ext>
            </a:extLst>
          </p:cNvPr>
          <p:cNvSpPr/>
          <p:nvPr/>
        </p:nvSpPr>
        <p:spPr>
          <a:xfrm>
            <a:off x="4700338" y="1557893"/>
            <a:ext cx="256673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A1C2A10-5F8F-377C-7F6D-5C15FF3AEC1B}"/>
              </a:ext>
            </a:extLst>
          </p:cNvPr>
          <p:cNvCxnSpPr>
            <a:cxnSpLocks/>
            <a:stCxn id="5" idx="1"/>
            <a:endCxn id="23" idx="0"/>
          </p:cNvCxnSpPr>
          <p:nvPr/>
        </p:nvCxnSpPr>
        <p:spPr>
          <a:xfrm rot="10800000" flipH="1">
            <a:off x="1193835" y="1557894"/>
            <a:ext cx="3634839" cy="2134695"/>
          </a:xfrm>
          <a:prstGeom prst="bentConnector4">
            <a:avLst>
              <a:gd name="adj1" fmla="val -6289"/>
              <a:gd name="adj2" fmla="val 110709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5A48B65-C1CC-9F90-054D-77921251E5A8}"/>
              </a:ext>
            </a:extLst>
          </p:cNvPr>
          <p:cNvSpPr/>
          <p:nvPr/>
        </p:nvSpPr>
        <p:spPr>
          <a:xfrm>
            <a:off x="5617899" y="1646124"/>
            <a:ext cx="256673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4E8FAF-9CE3-025E-0517-D41360EDD6F2}"/>
              </a:ext>
            </a:extLst>
          </p:cNvPr>
          <p:cNvSpPr/>
          <p:nvPr/>
        </p:nvSpPr>
        <p:spPr>
          <a:xfrm>
            <a:off x="6329613" y="2482429"/>
            <a:ext cx="256673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88D47DF-B7B7-02D4-4DC4-3461D6F941B3}"/>
              </a:ext>
            </a:extLst>
          </p:cNvPr>
          <p:cNvCxnSpPr>
            <a:cxnSpLocks/>
            <a:stCxn id="32" idx="3"/>
            <a:endCxn id="33" idx="0"/>
          </p:cNvCxnSpPr>
          <p:nvPr/>
        </p:nvCxnSpPr>
        <p:spPr>
          <a:xfrm>
            <a:off x="5874572" y="1726335"/>
            <a:ext cx="583378" cy="756094"/>
          </a:xfrm>
          <a:prstGeom prst="bentConnector2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24C5BFF-B7A2-8EB6-DB23-7C93AFEC40DA}"/>
              </a:ext>
            </a:extLst>
          </p:cNvPr>
          <p:cNvSpPr txBox="1"/>
          <p:nvPr/>
        </p:nvSpPr>
        <p:spPr>
          <a:xfrm>
            <a:off x="628649" y="4485090"/>
            <a:ext cx="2804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Recall we are using parentheses to remind us those coefficients represent </a:t>
            </a:r>
            <a:r>
              <a:rPr lang="en-US" sz="1600" b="1" dirty="0">
                <a:solidFill>
                  <a:srgbClr val="FF0000"/>
                </a:solidFill>
              </a:rPr>
              <a:t>sums</a:t>
            </a:r>
          </a:p>
        </p:txBody>
      </p:sp>
    </p:spTree>
    <p:extLst>
      <p:ext uri="{BB962C8B-B14F-4D97-AF65-F5344CB8AC3E}">
        <p14:creationId xmlns:p14="http://schemas.microsoft.com/office/powerpoint/2010/main" val="130577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07FDE-2D72-E77E-A5DE-77933C3C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BA08-DC47-F6C6-A261-25D0CC74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A8AF5-714C-1570-BEB0-0EE75B09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8451BC-5023-B1FB-DCC1-5601ECBD04B4}"/>
                  </a:ext>
                </a:extLst>
              </p:cNvPr>
              <p:cNvSpPr txBox="1"/>
              <p:nvPr/>
            </p:nvSpPr>
            <p:spPr>
              <a:xfrm>
                <a:off x="5126455" y="1655676"/>
                <a:ext cx="1833322" cy="65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8451BC-5023-B1FB-DCC1-5601ECBD0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455" y="1655676"/>
                <a:ext cx="1833322" cy="6519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7B5012-74F7-A45B-15FA-074930FF7B2E}"/>
                  </a:ext>
                </a:extLst>
              </p:cNvPr>
              <p:cNvSpPr txBox="1"/>
              <p:nvPr/>
            </p:nvSpPr>
            <p:spPr>
              <a:xfrm>
                <a:off x="2184223" y="1661223"/>
                <a:ext cx="2489784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7B5012-74F7-A45B-15FA-074930FF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223" y="1661223"/>
                <a:ext cx="2489784" cy="640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A7958E-E14A-2928-CEAA-6006A5D31441}"/>
                  </a:ext>
                </a:extLst>
              </p:cNvPr>
              <p:cNvSpPr txBox="1"/>
              <p:nvPr/>
            </p:nvSpPr>
            <p:spPr>
              <a:xfrm>
                <a:off x="5782091" y="2672767"/>
                <a:ext cx="1117101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A7958E-E14A-2928-CEAA-6006A5D31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091" y="2672767"/>
                <a:ext cx="1117101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A90C01D-4C4B-F72A-174C-4892C019DE80}"/>
              </a:ext>
            </a:extLst>
          </p:cNvPr>
          <p:cNvGrpSpPr/>
          <p:nvPr/>
        </p:nvGrpSpPr>
        <p:grpSpPr>
          <a:xfrm>
            <a:off x="2188661" y="2672767"/>
            <a:ext cx="2406314" cy="756233"/>
            <a:chOff x="2165686" y="2756108"/>
            <a:chExt cx="2406314" cy="756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25130D6-8D08-26AD-EE54-92C4791BB04D}"/>
                    </a:ext>
                  </a:extLst>
                </p:cNvPr>
                <p:cNvSpPr txBox="1"/>
                <p:nvPr/>
              </p:nvSpPr>
              <p:spPr>
                <a:xfrm>
                  <a:off x="4123352" y="2756108"/>
                  <a:ext cx="448648" cy="7562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25130D6-8D08-26AD-EE54-92C4791BB0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3352" y="2756108"/>
                  <a:ext cx="448648" cy="75623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F82F3FD-64FE-4A8D-FEBB-F32A0E0218F5}"/>
                    </a:ext>
                  </a:extLst>
                </p:cNvPr>
                <p:cNvSpPr txBox="1"/>
                <p:nvPr/>
              </p:nvSpPr>
              <p:spPr>
                <a:xfrm>
                  <a:off x="2165686" y="2811059"/>
                  <a:ext cx="186088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Recall all sums range from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F82F3FD-64FE-4A8D-FEBB-F32A0E021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686" y="2811059"/>
                  <a:ext cx="1860884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623"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47C8C8-F0B1-98B2-9776-3974D280400F}"/>
                  </a:ext>
                </a:extLst>
              </p:cNvPr>
              <p:cNvSpPr txBox="1"/>
              <p:nvPr/>
            </p:nvSpPr>
            <p:spPr>
              <a:xfrm>
                <a:off x="1820236" y="5794051"/>
                <a:ext cx="55035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0" dirty="0">
                    <a:solidFill>
                      <a:srgbClr val="7030A0"/>
                    </a:solidFill>
                  </a:rPr>
                  <a:t>Recall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</a:rPr>
                  <a:t> represents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</a:rPr>
                  <a:t> represents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47C8C8-F0B1-98B2-9776-3974D2804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36" y="5794051"/>
                <a:ext cx="5503529" cy="400110"/>
              </a:xfrm>
              <a:prstGeom prst="rect">
                <a:avLst/>
              </a:prstGeom>
              <a:blipFill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806077-CAD6-AC23-71E3-781D3CC345EE}"/>
                  </a:ext>
                </a:extLst>
              </p:cNvPr>
              <p:cNvSpPr txBox="1"/>
              <p:nvPr/>
            </p:nvSpPr>
            <p:spPr>
              <a:xfrm>
                <a:off x="3283731" y="3794181"/>
                <a:ext cx="2576539" cy="647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nary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806077-CAD6-AC23-71E3-781D3CC34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731" y="3794181"/>
                <a:ext cx="2576539" cy="6476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B5435B-478C-EBE3-26E0-7294C7CD67DE}"/>
                  </a:ext>
                </a:extLst>
              </p:cNvPr>
              <p:cNvSpPr txBox="1"/>
              <p:nvPr/>
            </p:nvSpPr>
            <p:spPr>
              <a:xfrm>
                <a:off x="3387634" y="4774890"/>
                <a:ext cx="2016065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B5435B-478C-EBE3-26E0-7294C7CD6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634" y="4774890"/>
                <a:ext cx="2016065" cy="5973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E1EB8CCF-310E-9B36-A825-4996472E2B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9407" y="3696719"/>
            <a:ext cx="2654486" cy="9689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E3131D2-D300-A25A-81FA-E1934F2DC0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7441" y="4661615"/>
            <a:ext cx="2654486" cy="71650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4DE6D9E9-FC20-A8AE-A47F-56219171D58D}"/>
              </a:ext>
            </a:extLst>
          </p:cNvPr>
          <p:cNvSpPr/>
          <p:nvPr/>
        </p:nvSpPr>
        <p:spPr>
          <a:xfrm>
            <a:off x="3283731" y="4010526"/>
            <a:ext cx="285637" cy="256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3A8BD7-555A-1415-E5D4-387EDA622ED8}"/>
              </a:ext>
            </a:extLst>
          </p:cNvPr>
          <p:cNvSpPr/>
          <p:nvPr/>
        </p:nvSpPr>
        <p:spPr>
          <a:xfrm>
            <a:off x="4718330" y="4807040"/>
            <a:ext cx="256896" cy="256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E91E278-C0CF-61CE-54D5-A58DE48B5FD0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rot="16200000" flipH="1">
            <a:off x="3866744" y="3827006"/>
            <a:ext cx="539840" cy="1420228"/>
          </a:xfrm>
          <a:prstGeom prst="bentConnector3">
            <a:avLst>
              <a:gd name="adj1" fmla="val 57058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77281A6-2B51-314A-1762-3964FA6A193D}"/>
              </a:ext>
            </a:extLst>
          </p:cNvPr>
          <p:cNvGrpSpPr/>
          <p:nvPr/>
        </p:nvGrpSpPr>
        <p:grpSpPr>
          <a:xfrm>
            <a:off x="330107" y="2917244"/>
            <a:ext cx="1730743" cy="2714617"/>
            <a:chOff x="438460" y="3012357"/>
            <a:chExt cx="1730743" cy="271461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F35F243-6A63-2C39-E187-73AB9EA2DF43}"/>
                </a:ext>
              </a:extLst>
            </p:cNvPr>
            <p:cNvSpPr txBox="1"/>
            <p:nvPr/>
          </p:nvSpPr>
          <p:spPr>
            <a:xfrm>
              <a:off x="438460" y="4772867"/>
              <a:ext cx="17307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Gauss in 1795 </a:t>
              </a:r>
            </a:p>
            <a:p>
              <a:pPr algn="ctr"/>
              <a:r>
                <a:rPr lang="en-US" sz="1400" dirty="0"/>
                <a:t>He was </a:t>
              </a:r>
              <a:r>
                <a:rPr lang="en-US" sz="1400" b="1" dirty="0"/>
                <a:t>18</a:t>
              </a:r>
              <a:r>
                <a:rPr lang="en-US" sz="1400" dirty="0"/>
                <a:t> when he invented his method of least squares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47D5895-F0BD-9F9A-4B46-8E42EF111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3876" y="3012357"/>
              <a:ext cx="1299911" cy="172697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9CEBDB0-3E4E-0219-C65C-4F7F3133F0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59987" y="3645980"/>
            <a:ext cx="6336998" cy="192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6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1" grpId="0"/>
      <p:bldP spid="8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85FC-AA8B-0612-E457-834EEF84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9A1D-1B29-A733-B08A-9B9E951D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Isotopes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C5F2-E0BF-F6D8-786D-A45D3761B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An </a:t>
            </a:r>
            <a:r>
              <a:rPr lang="en-US" sz="2000" b="1" dirty="0">
                <a:solidFill>
                  <a:srgbClr val="FF0000"/>
                </a:solidFill>
              </a:rPr>
              <a:t>isotope</a:t>
            </a:r>
            <a:r>
              <a:rPr lang="en-US" sz="2000" dirty="0"/>
              <a:t> is a variant of the same </a:t>
            </a:r>
            <a:r>
              <a:rPr lang="en-US" sz="2000" u="sng" dirty="0"/>
              <a:t>element</a:t>
            </a:r>
            <a:r>
              <a:rPr lang="en-US" sz="2000" dirty="0"/>
              <a:t> that shares the same number of </a:t>
            </a:r>
            <a:r>
              <a:rPr lang="en-US" sz="2000" b="1" dirty="0">
                <a:solidFill>
                  <a:srgbClr val="0070C0"/>
                </a:solidFill>
              </a:rPr>
              <a:t>protons</a:t>
            </a:r>
            <a:r>
              <a:rPr lang="en-US" sz="2000" dirty="0"/>
              <a:t> (which </a:t>
            </a:r>
            <a:r>
              <a:rPr lang="en-US" sz="2000" i="1" dirty="0"/>
              <a:t>defines</a:t>
            </a:r>
            <a:r>
              <a:rPr lang="en-US" sz="2000" dirty="0"/>
              <a:t> the element) but differs in its number of </a:t>
            </a:r>
            <a:r>
              <a:rPr lang="en-US" sz="2000" b="1" dirty="0"/>
              <a:t>neutrons</a:t>
            </a:r>
            <a:r>
              <a:rPr lang="en-US" sz="2000" dirty="0"/>
              <a:t> — for example, Carbon-12 and Carbon-14 are both carbon, but C-14 has two extra neutrons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800" dirty="0"/>
              <a:t>Neutrons act as a nuclear "glue" as they help </a:t>
            </a:r>
            <a:r>
              <a:rPr lang="en-US" sz="1800" i="1" dirty="0"/>
              <a:t>offset</a:t>
            </a:r>
            <a:r>
              <a:rPr lang="en-US" sz="1800" dirty="0"/>
              <a:t> the </a:t>
            </a:r>
            <a:r>
              <a:rPr lang="en-US" sz="1800" b="1" dirty="0"/>
              <a:t>electrostatic repulsion</a:t>
            </a:r>
            <a:r>
              <a:rPr lang="en-US" sz="1800" dirty="0"/>
              <a:t> between the positively charged protons packed together in the nucleus, and the </a:t>
            </a:r>
            <a:r>
              <a:rPr lang="en-US" sz="1800" b="1" dirty="0">
                <a:solidFill>
                  <a:srgbClr val="7030A0"/>
                </a:solidFill>
              </a:rPr>
              <a:t>strong nuclear force </a:t>
            </a:r>
            <a:r>
              <a:rPr lang="en-US" sz="1800" dirty="0"/>
              <a:t>they contribute helps hold the nucleus together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There is a narrow </a:t>
            </a:r>
            <a:r>
              <a:rPr lang="en-US" sz="2000" b="1" dirty="0"/>
              <a:t>stability</a:t>
            </a:r>
            <a:r>
              <a:rPr lang="en-US" sz="2000" dirty="0"/>
              <a:t> band — for any given element, only certain neutron counts produce a </a:t>
            </a:r>
            <a:r>
              <a:rPr lang="en-US" sz="2000" b="1" dirty="0">
                <a:solidFill>
                  <a:srgbClr val="00B050"/>
                </a:solidFill>
              </a:rPr>
              <a:t>stable</a:t>
            </a:r>
            <a:r>
              <a:rPr lang="en-US" sz="2000" dirty="0"/>
              <a:t> or long-lived nucleus. Too few or too many neutrons throw off the balance, making the nucleus unstable and prone to radioactive decay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800" dirty="0"/>
              <a:t>A one-neutron difference can shift a nucleus not just in how </a:t>
            </a:r>
            <a:r>
              <a:rPr lang="en-US" sz="1800" b="1" dirty="0"/>
              <a:t>fast</a:t>
            </a:r>
            <a:r>
              <a:rPr lang="en-US" sz="1800" dirty="0"/>
              <a:t> it decays but </a:t>
            </a:r>
            <a:r>
              <a:rPr lang="en-US" sz="1800" b="1" dirty="0"/>
              <a:t>how</a:t>
            </a:r>
            <a:r>
              <a:rPr lang="en-US" sz="1800" dirty="0"/>
              <a:t> it decays (alpha, beta, gamma, electron capture, etc.), since each mechanism is driven by different nuclear force imbalances, further contributing to </a:t>
            </a:r>
            <a:r>
              <a:rPr lang="en-US" sz="1800" b="1" dirty="0">
                <a:solidFill>
                  <a:srgbClr val="FF0000"/>
                </a:solidFill>
              </a:rPr>
              <a:t>wildly different observed half-lives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929BD-0444-4185-74D5-4887AEB7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7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Python Dictionaries and JSON Data Files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B83A9-A3B0-C08F-C2F6-85E4BEE84F2C}"/>
              </a:ext>
            </a:extLst>
          </p:cNvPr>
          <p:cNvSpPr txBox="1"/>
          <p:nvPr/>
        </p:nvSpPr>
        <p:spPr>
          <a:xfrm>
            <a:off x="2169030" y="1971165"/>
            <a:ext cx="2870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https://www.json.org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9DCFB4-3AFB-2C5E-17B3-4F27A913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388" y="2550936"/>
            <a:ext cx="4637901" cy="2775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6F1B47-36EC-A20E-2801-0190BC0A6C35}"/>
              </a:ext>
            </a:extLst>
          </p:cNvPr>
          <p:cNvSpPr txBox="1"/>
          <p:nvPr/>
        </p:nvSpPr>
        <p:spPr>
          <a:xfrm>
            <a:off x="1924972" y="1515193"/>
            <a:ext cx="335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J</a:t>
            </a:r>
            <a:r>
              <a:rPr lang="en-US" dirty="0"/>
              <a:t>ava</a:t>
            </a:r>
            <a:r>
              <a:rPr lang="en-US" b="1" dirty="0"/>
              <a:t>S</a:t>
            </a:r>
            <a:r>
              <a:rPr lang="en-US" dirty="0"/>
              <a:t>cript </a:t>
            </a:r>
            <a:r>
              <a:rPr lang="en-US" b="1" dirty="0"/>
              <a:t>O</a:t>
            </a:r>
            <a:r>
              <a:rPr lang="en-US" dirty="0"/>
              <a:t>bject </a:t>
            </a:r>
            <a:r>
              <a:rPr lang="en-US" b="1" dirty="0"/>
              <a:t>N</a:t>
            </a:r>
            <a:r>
              <a:rPr lang="en-US" dirty="0"/>
              <a:t>otation (JSON)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D51AD-2898-23A5-A6CD-32E121709BD7}"/>
              </a:ext>
            </a:extLst>
          </p:cNvPr>
          <p:cNvSpPr txBox="1"/>
          <p:nvPr/>
        </p:nvSpPr>
        <p:spPr>
          <a:xfrm>
            <a:off x="5820235" y="1601833"/>
            <a:ext cx="21585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"Key-Value Pairs"</a:t>
            </a:r>
          </a:p>
        </p:txBody>
      </p:sp>
    </p:spTree>
    <p:extLst>
      <p:ext uri="{BB962C8B-B14F-4D97-AF65-F5344CB8AC3E}">
        <p14:creationId xmlns:p14="http://schemas.microsoft.com/office/powerpoint/2010/main" val="2426676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Python Dictionaries and JSON Data Files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B83A9-A3B0-C08F-C2F6-85E4BEE84F2C}"/>
              </a:ext>
            </a:extLst>
          </p:cNvPr>
          <p:cNvSpPr txBox="1"/>
          <p:nvPr/>
        </p:nvSpPr>
        <p:spPr>
          <a:xfrm>
            <a:off x="2169030" y="1971165"/>
            <a:ext cx="2870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https://www.json.org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9DCFB4-3AFB-2C5E-17B3-4F27A913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388" y="2550936"/>
            <a:ext cx="4637901" cy="2775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6F1B47-36EC-A20E-2801-0190BC0A6C35}"/>
              </a:ext>
            </a:extLst>
          </p:cNvPr>
          <p:cNvSpPr txBox="1"/>
          <p:nvPr/>
        </p:nvSpPr>
        <p:spPr>
          <a:xfrm>
            <a:off x="1924972" y="1515193"/>
            <a:ext cx="335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J</a:t>
            </a:r>
            <a:r>
              <a:rPr lang="en-US" dirty="0"/>
              <a:t>ava</a:t>
            </a:r>
            <a:r>
              <a:rPr lang="en-US" b="1" dirty="0"/>
              <a:t>S</a:t>
            </a:r>
            <a:r>
              <a:rPr lang="en-US" dirty="0"/>
              <a:t>cript </a:t>
            </a:r>
            <a:r>
              <a:rPr lang="en-US" b="1" dirty="0"/>
              <a:t>O</a:t>
            </a:r>
            <a:r>
              <a:rPr lang="en-US" dirty="0"/>
              <a:t>bject </a:t>
            </a:r>
            <a:r>
              <a:rPr lang="en-US" b="1" dirty="0"/>
              <a:t>N</a:t>
            </a:r>
            <a:r>
              <a:rPr lang="en-US" dirty="0"/>
              <a:t>otation (JSON)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D51AD-2898-23A5-A6CD-32E121709BD7}"/>
              </a:ext>
            </a:extLst>
          </p:cNvPr>
          <p:cNvSpPr txBox="1"/>
          <p:nvPr/>
        </p:nvSpPr>
        <p:spPr>
          <a:xfrm>
            <a:off x="5820235" y="1601833"/>
            <a:ext cx="21585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"Key-Value Pairs"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B76B93-A013-148D-40BA-87804CE18290}"/>
              </a:ext>
            </a:extLst>
          </p:cNvPr>
          <p:cNvSpPr txBox="1"/>
          <p:nvPr/>
        </p:nvSpPr>
        <p:spPr>
          <a:xfrm>
            <a:off x="4353186" y="3006908"/>
            <a:ext cx="3837482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https://realpython.com/python-json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EAC80F-70F5-FC83-2C51-B89EFD346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355" y="3559963"/>
            <a:ext cx="5147144" cy="24779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4836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1C8DFA-8B65-4CE6-6EAB-9F0DB6450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04" y="1240532"/>
            <a:ext cx="8496593" cy="516026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8A2028-2C22-2FA1-AE7D-E88B89E8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Periodic Table (circa 2021)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8CDF03-CBF0-9E4C-365A-F103A4A0AFFF}"/>
              </a:ext>
            </a:extLst>
          </p:cNvPr>
          <p:cNvSpPr/>
          <p:nvPr/>
        </p:nvSpPr>
        <p:spPr>
          <a:xfrm>
            <a:off x="2803161" y="5846163"/>
            <a:ext cx="239842" cy="202821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A642CC-1751-6BCB-AF12-8885DC32CAB2}"/>
              </a:ext>
            </a:extLst>
          </p:cNvPr>
          <p:cNvSpPr txBox="1"/>
          <p:nvPr/>
        </p:nvSpPr>
        <p:spPr>
          <a:xfrm>
            <a:off x="3423836" y="5051686"/>
            <a:ext cx="2098624" cy="923330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U-238</a:t>
            </a:r>
          </a:p>
          <a:p>
            <a:pPr algn="ctr"/>
            <a:r>
              <a:rPr lang="en-US" dirty="0"/>
              <a:t># of Protons = 92</a:t>
            </a:r>
          </a:p>
          <a:p>
            <a:pPr algn="ctr"/>
            <a:r>
              <a:rPr lang="en-US" dirty="0"/>
              <a:t># of Neutrons = 146</a:t>
            </a:r>
          </a:p>
        </p:txBody>
      </p:sp>
    </p:spTree>
    <p:extLst>
      <p:ext uri="{BB962C8B-B14F-4D97-AF65-F5344CB8AC3E}">
        <p14:creationId xmlns:p14="http://schemas.microsoft.com/office/powerpoint/2010/main" val="307102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4311-1AFF-AAE4-DAD1-CEAA0762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926F6B-CA8F-D9C0-CE13-59C403F14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761" y="1481725"/>
            <a:ext cx="4803875" cy="5011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7C123-650B-D3A4-0704-F2C26C3E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write_json.py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50A85-B8DC-5465-E411-E295E511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3D7881F-48B5-62C5-3A55-849036FDE92C}"/>
              </a:ext>
            </a:extLst>
          </p:cNvPr>
          <p:cNvGrpSpPr/>
          <p:nvPr/>
        </p:nvGrpSpPr>
        <p:grpSpPr>
          <a:xfrm>
            <a:off x="3766360" y="2341920"/>
            <a:ext cx="1076632" cy="369332"/>
            <a:chOff x="4968362" y="2079211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10DBAA9-47CB-38C7-D710-9C5CA0CE05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A17439-5677-87F3-4272-DC07E217F92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B341DF-7BB0-AAB2-DA84-BC73E590122D}"/>
              </a:ext>
            </a:extLst>
          </p:cNvPr>
          <p:cNvGrpSpPr/>
          <p:nvPr/>
        </p:nvGrpSpPr>
        <p:grpSpPr>
          <a:xfrm>
            <a:off x="4885777" y="3197739"/>
            <a:ext cx="1076632" cy="369332"/>
            <a:chOff x="4704120" y="2356972"/>
            <a:chExt cx="1076632" cy="36933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2CDCA60-A004-70B7-1E5E-AD790B6F9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D18C9E1-80A2-825E-3B46-7F8911BE912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27F1560A-85DE-B254-FFD7-860652FE9EC8}"/>
              </a:ext>
            </a:extLst>
          </p:cNvPr>
          <p:cNvSpPr/>
          <p:nvPr/>
        </p:nvSpPr>
        <p:spPr>
          <a:xfrm>
            <a:off x="3213516" y="3817217"/>
            <a:ext cx="3796884" cy="925428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3D94D19-BA22-232E-2033-46A37E00A971}"/>
              </a:ext>
            </a:extLst>
          </p:cNvPr>
          <p:cNvGrpSpPr/>
          <p:nvPr/>
        </p:nvGrpSpPr>
        <p:grpSpPr>
          <a:xfrm>
            <a:off x="4806950" y="3503906"/>
            <a:ext cx="1068643" cy="369332"/>
            <a:chOff x="3647644" y="4910075"/>
            <a:chExt cx="1068643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A44EFF-D820-70A5-BCAD-848C4373F24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B75507F-3DB3-4BAB-5781-B9BDA7D3AD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3A86B13-EB81-45F4-45F4-23000686928D}"/>
              </a:ext>
            </a:extLst>
          </p:cNvPr>
          <p:cNvGrpSpPr/>
          <p:nvPr/>
        </p:nvGrpSpPr>
        <p:grpSpPr>
          <a:xfrm>
            <a:off x="6828453" y="3830745"/>
            <a:ext cx="1064340" cy="369332"/>
            <a:chOff x="3647644" y="5421073"/>
            <a:chExt cx="1064340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5C87A8-7917-5D6A-75D7-B47A875DDAF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33B6121-9CC9-1460-A1A8-AAD9DC5946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9ED25EB-3A6C-26F0-3DFB-E2415CE21F2D}"/>
              </a:ext>
            </a:extLst>
          </p:cNvPr>
          <p:cNvSpPr/>
          <p:nvPr/>
        </p:nvSpPr>
        <p:spPr>
          <a:xfrm>
            <a:off x="4696941" y="4131672"/>
            <a:ext cx="444553" cy="28733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1FD4E-EF0A-12BE-9FFE-9214465A760D}"/>
              </a:ext>
            </a:extLst>
          </p:cNvPr>
          <p:cNvSpPr txBox="1"/>
          <p:nvPr/>
        </p:nvSpPr>
        <p:spPr>
          <a:xfrm>
            <a:off x="6278086" y="4251675"/>
            <a:ext cx="21585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"Key-Value Pairs"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CDE97E1-9FD6-9E91-F614-9779E6B5E917}"/>
              </a:ext>
            </a:extLst>
          </p:cNvPr>
          <p:cNvGrpSpPr/>
          <p:nvPr/>
        </p:nvGrpSpPr>
        <p:grpSpPr>
          <a:xfrm>
            <a:off x="5283689" y="4090675"/>
            <a:ext cx="1068643" cy="369332"/>
            <a:chOff x="3647644" y="5359159"/>
            <a:chExt cx="1068643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2F79D31-33AF-94F0-1034-D872633D0E3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D671653-6FB9-D278-C66F-C0F1AE7A49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066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3" grpId="0" animBg="1"/>
      <p:bldP spid="4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BBF0-C8D7-B66D-1C2A-544AE9F1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B1E4-D327-A84E-1DF1-69064B4F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write_json.py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64AE-994E-ED26-4E41-29F3DBA2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23F77E-8447-D9BC-3C90-D5BDA3C3B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6" t="51622" b="15016"/>
          <a:stretch>
            <a:fillRect/>
          </a:stretch>
        </p:blipFill>
        <p:spPr>
          <a:xfrm>
            <a:off x="1412258" y="1866578"/>
            <a:ext cx="6297668" cy="13154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AC0F80B-C807-20FC-F011-37C17A96666D}"/>
              </a:ext>
            </a:extLst>
          </p:cNvPr>
          <p:cNvGrpSpPr/>
          <p:nvPr/>
        </p:nvGrpSpPr>
        <p:grpSpPr>
          <a:xfrm>
            <a:off x="5065245" y="1914704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221F71B-A67D-1BA5-6C4C-11C1819026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8F7A5A-AB1E-5EF8-4EB0-9DEEAC40F62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7ECF83-2B04-5BEA-A551-D042CBA3B881}"/>
              </a:ext>
            </a:extLst>
          </p:cNvPr>
          <p:cNvGrpSpPr/>
          <p:nvPr/>
        </p:nvGrpSpPr>
        <p:grpSpPr>
          <a:xfrm>
            <a:off x="7493789" y="2160208"/>
            <a:ext cx="1076632" cy="369332"/>
            <a:chOff x="4704120" y="2356972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25D1571-C44D-2E18-A1DB-EE5F3D3C8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5894A7-34D7-6829-2FB8-85D81F95F79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DDBAA0-F7D5-8675-EBD1-E39869151956}"/>
              </a:ext>
            </a:extLst>
          </p:cNvPr>
          <p:cNvGrpSpPr/>
          <p:nvPr/>
        </p:nvGrpSpPr>
        <p:grpSpPr>
          <a:xfrm>
            <a:off x="6540950" y="2380843"/>
            <a:ext cx="1068643" cy="369332"/>
            <a:chOff x="3647644" y="4910075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479E86-A2C6-AA89-FDC3-382436E3CFB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1EB11D0-6B0B-E194-71B9-0E0BF866B4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50B106-2D5F-A210-B2B8-72A278B3091E}"/>
              </a:ext>
            </a:extLst>
          </p:cNvPr>
          <p:cNvGrpSpPr/>
          <p:nvPr/>
        </p:nvGrpSpPr>
        <p:grpSpPr>
          <a:xfrm>
            <a:off x="7247972" y="2851600"/>
            <a:ext cx="1064340" cy="369332"/>
            <a:chOff x="3647644" y="5421073"/>
            <a:chExt cx="1064340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8EB6A80-79AE-89A4-FFB4-C7D90751274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3F6F924-AF02-1B76-519F-60DC87F071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99DF95D-E503-749E-F1F0-3CA4BD88E1E6}"/>
              </a:ext>
            </a:extLst>
          </p:cNvPr>
          <p:cNvSpPr/>
          <p:nvPr/>
        </p:nvSpPr>
        <p:spPr>
          <a:xfrm>
            <a:off x="4093219" y="2214698"/>
            <a:ext cx="2006193" cy="23903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D4033F-C97C-E504-3B77-0ABDBAD0651F}"/>
              </a:ext>
            </a:extLst>
          </p:cNvPr>
          <p:cNvSpPr/>
          <p:nvPr/>
        </p:nvSpPr>
        <p:spPr>
          <a:xfrm>
            <a:off x="1997730" y="2465637"/>
            <a:ext cx="904876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0E95B5-27E2-CAA7-CF84-D345322119C1}"/>
              </a:ext>
            </a:extLst>
          </p:cNvPr>
          <p:cNvSpPr/>
          <p:nvPr/>
        </p:nvSpPr>
        <p:spPr>
          <a:xfrm>
            <a:off x="2979300" y="2465637"/>
            <a:ext cx="1534157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8C2BB3-35BA-7636-2173-02AC52C41E58}"/>
              </a:ext>
            </a:extLst>
          </p:cNvPr>
          <p:cNvSpPr/>
          <p:nvPr/>
        </p:nvSpPr>
        <p:spPr>
          <a:xfrm>
            <a:off x="4652414" y="2465637"/>
            <a:ext cx="790985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41374E-CE18-3760-8DA3-1505CB6F77BB}"/>
              </a:ext>
            </a:extLst>
          </p:cNvPr>
          <p:cNvSpPr/>
          <p:nvPr/>
        </p:nvSpPr>
        <p:spPr>
          <a:xfrm>
            <a:off x="5615822" y="2470400"/>
            <a:ext cx="790985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EA266-24CD-5F42-3EF6-98E3D723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D504-DADB-8D02-7853-2198D227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write_json.py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88355-718B-DF05-5160-135E1447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7CD933-603C-F6EC-2DC5-6BFDFD92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6" t="51622" b="15016"/>
          <a:stretch>
            <a:fillRect/>
          </a:stretch>
        </p:blipFill>
        <p:spPr>
          <a:xfrm>
            <a:off x="1412258" y="1866578"/>
            <a:ext cx="6297668" cy="13154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312AF34-31C0-39B5-ACEA-64533BEB1C98}"/>
              </a:ext>
            </a:extLst>
          </p:cNvPr>
          <p:cNvGrpSpPr/>
          <p:nvPr/>
        </p:nvGrpSpPr>
        <p:grpSpPr>
          <a:xfrm>
            <a:off x="5065245" y="1914704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9947A26-3159-B946-38B5-A981B0E417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48945C-29B8-BFA7-E6D1-C1C7F11C4A5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45DB24-79C3-0C23-8525-771B56C9DCBE}"/>
              </a:ext>
            </a:extLst>
          </p:cNvPr>
          <p:cNvGrpSpPr/>
          <p:nvPr/>
        </p:nvGrpSpPr>
        <p:grpSpPr>
          <a:xfrm>
            <a:off x="7493789" y="2160208"/>
            <a:ext cx="1076632" cy="369332"/>
            <a:chOff x="4704120" y="2356972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D6D2A2A-7A81-402E-A1E9-195D17448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B106CD-2027-60DF-6A73-CC290D098EE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C963B7-5C24-F4AC-29E8-28012413DA7D}"/>
              </a:ext>
            </a:extLst>
          </p:cNvPr>
          <p:cNvGrpSpPr/>
          <p:nvPr/>
        </p:nvGrpSpPr>
        <p:grpSpPr>
          <a:xfrm>
            <a:off x="6540950" y="2380843"/>
            <a:ext cx="1068643" cy="369332"/>
            <a:chOff x="3647644" y="4910075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041EBE-AA15-D968-6CA6-9CB38046CDE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DD651EF-1BEA-3684-672E-6EFC7E140D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88399D-ED5A-08FE-4109-3DF16E533937}"/>
              </a:ext>
            </a:extLst>
          </p:cNvPr>
          <p:cNvGrpSpPr/>
          <p:nvPr/>
        </p:nvGrpSpPr>
        <p:grpSpPr>
          <a:xfrm>
            <a:off x="7247972" y="2851600"/>
            <a:ext cx="1064340" cy="369332"/>
            <a:chOff x="3647644" y="5421073"/>
            <a:chExt cx="1064340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2262CF-F944-C021-8B3A-6B6D4DB0EF3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E782240-253E-D489-D719-D022AAE3B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9CDA4684-80E2-7061-CF8D-14F0E18A8E45}"/>
              </a:ext>
            </a:extLst>
          </p:cNvPr>
          <p:cNvSpPr/>
          <p:nvPr/>
        </p:nvSpPr>
        <p:spPr>
          <a:xfrm>
            <a:off x="4093219" y="2214698"/>
            <a:ext cx="2006193" cy="23903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1FC683-DB51-4716-1040-6101212B8617}"/>
              </a:ext>
            </a:extLst>
          </p:cNvPr>
          <p:cNvSpPr/>
          <p:nvPr/>
        </p:nvSpPr>
        <p:spPr>
          <a:xfrm>
            <a:off x="1997730" y="2465637"/>
            <a:ext cx="904876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CB2E69-A5AA-AD32-837F-3A3ADFE22962}"/>
              </a:ext>
            </a:extLst>
          </p:cNvPr>
          <p:cNvSpPr/>
          <p:nvPr/>
        </p:nvSpPr>
        <p:spPr>
          <a:xfrm>
            <a:off x="2979300" y="2465637"/>
            <a:ext cx="1534157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22D485-89CA-40A6-B313-2BA18A39E88A}"/>
              </a:ext>
            </a:extLst>
          </p:cNvPr>
          <p:cNvSpPr/>
          <p:nvPr/>
        </p:nvSpPr>
        <p:spPr>
          <a:xfrm>
            <a:off x="4652414" y="2465637"/>
            <a:ext cx="790985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2F03DE-A8BF-314B-1A7F-F4CF91FB64FB}"/>
              </a:ext>
            </a:extLst>
          </p:cNvPr>
          <p:cNvSpPr/>
          <p:nvPr/>
        </p:nvSpPr>
        <p:spPr>
          <a:xfrm>
            <a:off x="5615822" y="2470400"/>
            <a:ext cx="790985" cy="21578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95AA8-42C2-A84E-1F85-3624B9565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4" y="3735010"/>
            <a:ext cx="7694212" cy="33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8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2F7024-EF68-64B8-937C-F128AC3836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285" y="1371600"/>
            <a:ext cx="5171429" cy="534285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uranium_isotopes</a:t>
            </a:r>
            <a:r>
              <a:rPr lang="en-US" sz="3200" b="1" dirty="0">
                <a:latin typeface="+mn-lt"/>
              </a:rPr>
              <a:t>.json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067F30-375A-11B9-1D2B-980D15D23D64}"/>
              </a:ext>
            </a:extLst>
          </p:cNvPr>
          <p:cNvSpPr/>
          <p:nvPr/>
        </p:nvSpPr>
        <p:spPr>
          <a:xfrm>
            <a:off x="3644978" y="1421606"/>
            <a:ext cx="1260398" cy="183358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5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D58F-7443-404F-C146-2FE621FF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C66F-9794-7163-52A8-98DAA99E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read_json.py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0EA-04AD-C1DE-4939-BD7048F6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6FB16-D9A9-B124-FF5B-CFB51583FF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571" y="1578686"/>
            <a:ext cx="5142857" cy="469523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520F834-7D5C-10E6-03B4-AC7B2B43D846}"/>
              </a:ext>
            </a:extLst>
          </p:cNvPr>
          <p:cNvGrpSpPr/>
          <p:nvPr/>
        </p:nvGrpSpPr>
        <p:grpSpPr>
          <a:xfrm>
            <a:off x="5506403" y="1586416"/>
            <a:ext cx="1076632" cy="369332"/>
            <a:chOff x="4968362" y="2079211"/>
            <a:chExt cx="1076632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6DD60C9-367E-748E-9705-9690E0AFE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11A3CC-41BA-FBC9-8160-6A72D472E24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6D98C4-F0C5-591F-FDE4-06ACC2FF37A2}"/>
              </a:ext>
            </a:extLst>
          </p:cNvPr>
          <p:cNvGrpSpPr/>
          <p:nvPr/>
        </p:nvGrpSpPr>
        <p:grpSpPr>
          <a:xfrm>
            <a:off x="5894662" y="1828625"/>
            <a:ext cx="1076632" cy="369332"/>
            <a:chOff x="4704120" y="2356972"/>
            <a:chExt cx="1076632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9259D1F-054D-F9D8-A2CD-45485FB4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8329FB-FF04-E623-4D0C-3F8935DB28A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09937C1-4E62-09C2-CC25-16FB147FADA3}"/>
              </a:ext>
            </a:extLst>
          </p:cNvPr>
          <p:cNvGrpSpPr/>
          <p:nvPr/>
        </p:nvGrpSpPr>
        <p:grpSpPr>
          <a:xfrm>
            <a:off x="5771094" y="2059664"/>
            <a:ext cx="1068643" cy="369332"/>
            <a:chOff x="3647644" y="4910075"/>
            <a:chExt cx="1068643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8B92DE-DF00-A3E3-F935-0ED8F9E98D17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75D466A-DE44-98E2-2DE0-862844EAE9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C7F97A-AC64-1F8E-6DF6-731D693D701B}"/>
              </a:ext>
            </a:extLst>
          </p:cNvPr>
          <p:cNvGrpSpPr/>
          <p:nvPr/>
        </p:nvGrpSpPr>
        <p:grpSpPr>
          <a:xfrm>
            <a:off x="6954480" y="3042185"/>
            <a:ext cx="1064340" cy="369332"/>
            <a:chOff x="3647644" y="5421073"/>
            <a:chExt cx="1064340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BE734C-14EF-5DE4-6B71-A7345090709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F3BFF31-A2AE-023D-CEF2-D7E37BB30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95B190D-B102-9489-18D1-085FD04889C5}"/>
              </a:ext>
            </a:extLst>
          </p:cNvPr>
          <p:cNvGrpSpPr/>
          <p:nvPr/>
        </p:nvGrpSpPr>
        <p:grpSpPr>
          <a:xfrm>
            <a:off x="5881705" y="3429000"/>
            <a:ext cx="1068643" cy="369332"/>
            <a:chOff x="3647644" y="5359159"/>
            <a:chExt cx="1068643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A0A50EE-CAEF-65E6-FAEB-7102EF49093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7F64773-DFEE-2C88-E314-A41486682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E07274-76DC-D0A4-959A-EECC4A81E209}"/>
              </a:ext>
            </a:extLst>
          </p:cNvPr>
          <p:cNvGrpSpPr/>
          <p:nvPr/>
        </p:nvGrpSpPr>
        <p:grpSpPr>
          <a:xfrm>
            <a:off x="5498247" y="3935688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AB3E78C-DB41-9940-CA63-EB0A14A5819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C84EC83-80E3-8E21-FA67-BABC920D1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B552C8-D973-AA21-4ABC-3D4E50694921}"/>
              </a:ext>
            </a:extLst>
          </p:cNvPr>
          <p:cNvGrpSpPr/>
          <p:nvPr/>
        </p:nvGrpSpPr>
        <p:grpSpPr>
          <a:xfrm>
            <a:off x="4716141" y="4571524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F173068-F310-B9CD-B864-7A3B0BDF62B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961DB38-0630-DA68-CFAB-1D7FF1D83F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0FB4B1-C027-9A3E-0896-B47DDDC25758}"/>
              </a:ext>
            </a:extLst>
          </p:cNvPr>
          <p:cNvGrpSpPr/>
          <p:nvPr/>
        </p:nvGrpSpPr>
        <p:grpSpPr>
          <a:xfrm>
            <a:off x="4694462" y="4968672"/>
            <a:ext cx="1076632" cy="369332"/>
            <a:chOff x="2157212" y="5356391"/>
            <a:chExt cx="1076632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EC5A4C9-4179-BFFE-2671-FFECA509D95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ECBF69B-83CA-7E33-D656-75D1B661E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D72EAF6-3C59-318F-83FD-BC1C5CC0A177}"/>
              </a:ext>
            </a:extLst>
          </p:cNvPr>
          <p:cNvGrpSpPr/>
          <p:nvPr/>
        </p:nvGrpSpPr>
        <p:grpSpPr>
          <a:xfrm>
            <a:off x="6380922" y="3642556"/>
            <a:ext cx="1076632" cy="369332"/>
            <a:chOff x="2157212" y="5356391"/>
            <a:chExt cx="1076632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3ABCAC6-94C6-B62C-BB6E-9D065183A5B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18E709D-C266-8FF0-E64C-285EE0888D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669A647-A2F9-EE9C-611A-2C714669CA0F}"/>
              </a:ext>
            </a:extLst>
          </p:cNvPr>
          <p:cNvGrpSpPr/>
          <p:nvPr/>
        </p:nvGrpSpPr>
        <p:grpSpPr>
          <a:xfrm>
            <a:off x="5060371" y="5928655"/>
            <a:ext cx="1076632" cy="369332"/>
            <a:chOff x="2157212" y="5356391"/>
            <a:chExt cx="1076632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3A9F96B-BC22-FE35-6C44-73772996E7B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422A7DC-E4D1-04E8-0896-9413CDBFD1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768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7FCE-EE6B-36F9-3681-029422D0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AB43F2-3EC3-4132-B126-E95D527DC5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346" y="1928544"/>
            <a:ext cx="6450221" cy="26963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9B7B57-F835-4A54-92D1-E5EF15F7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read_json.py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FE3EF-58A2-34A0-6D4B-31E4161C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0807BB4-98CC-67F6-8164-AA20DA316C2B}"/>
              </a:ext>
            </a:extLst>
          </p:cNvPr>
          <p:cNvGrpSpPr/>
          <p:nvPr/>
        </p:nvGrpSpPr>
        <p:grpSpPr>
          <a:xfrm>
            <a:off x="6950348" y="2356850"/>
            <a:ext cx="1076632" cy="369332"/>
            <a:chOff x="4968362" y="2079211"/>
            <a:chExt cx="1076632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07FA8CE-4C29-308C-5AF8-F368516676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F022EE-3F0C-F1F9-8461-8CEED523045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598E7E-6C52-3BFD-1EC2-78806767175B}"/>
              </a:ext>
            </a:extLst>
          </p:cNvPr>
          <p:cNvGrpSpPr/>
          <p:nvPr/>
        </p:nvGrpSpPr>
        <p:grpSpPr>
          <a:xfrm>
            <a:off x="6508947" y="2798951"/>
            <a:ext cx="1076632" cy="369332"/>
            <a:chOff x="4704120" y="2356972"/>
            <a:chExt cx="1076632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6C936F8-D390-E4E1-363D-4D2A974295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E3C499-331A-066F-AC4A-66E7B55DE90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DB8372-6EEC-D6E7-498B-18BBD38D38A5}"/>
              </a:ext>
            </a:extLst>
          </p:cNvPr>
          <p:cNvGrpSpPr/>
          <p:nvPr/>
        </p:nvGrpSpPr>
        <p:grpSpPr>
          <a:xfrm>
            <a:off x="7059144" y="3065238"/>
            <a:ext cx="799729" cy="369332"/>
            <a:chOff x="3647644" y="4907736"/>
            <a:chExt cx="799729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229A48B-CDE2-7876-F480-B7C59CF92239}"/>
                </a:ext>
              </a:extLst>
            </p:cNvPr>
            <p:cNvSpPr txBox="1"/>
            <p:nvPr/>
          </p:nvSpPr>
          <p:spPr>
            <a:xfrm>
              <a:off x="4063915" y="4907736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386BA89-8974-9B2E-16F4-0AC334AA55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42750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643DDF-ED58-0FB7-905A-A948EFD26977}"/>
              </a:ext>
            </a:extLst>
          </p:cNvPr>
          <p:cNvGrpSpPr/>
          <p:nvPr/>
        </p:nvGrpSpPr>
        <p:grpSpPr>
          <a:xfrm>
            <a:off x="6944870" y="3919646"/>
            <a:ext cx="1064340" cy="369332"/>
            <a:chOff x="3647644" y="5421073"/>
            <a:chExt cx="1064340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F28215-209B-4D75-7340-571038CA186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BB558FE-F84F-65DE-1D31-A4396D0793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372489F-4256-BDC3-382E-C78E9AC0B153}"/>
              </a:ext>
            </a:extLst>
          </p:cNvPr>
          <p:cNvGrpSpPr/>
          <p:nvPr/>
        </p:nvGrpSpPr>
        <p:grpSpPr>
          <a:xfrm>
            <a:off x="7851324" y="4194603"/>
            <a:ext cx="1068643" cy="369332"/>
            <a:chOff x="3647644" y="5359159"/>
            <a:chExt cx="1068643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1C5078F-E5D7-2B63-2174-14B65C4028BA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05165CD-7D06-792A-52D3-0BBEC56A0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610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F9962-4833-C150-F38D-804E76AE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8A1FEBF7-1CE2-9DBA-8B6B-05B9D380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810" y="2717994"/>
            <a:ext cx="6018381" cy="10665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E09DA4-77B6-ACE9-834C-9424FE9F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read_json.py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B07EC-2D31-4BEE-19C6-4C32D793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E035E-F620-D7AA-C8C3-E7FAC851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424" y="4803579"/>
            <a:ext cx="6647619" cy="180952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03DC3D-6866-6019-B95F-353D444B847E}"/>
              </a:ext>
            </a:extLst>
          </p:cNvPr>
          <p:cNvGrpSpPr/>
          <p:nvPr/>
        </p:nvGrpSpPr>
        <p:grpSpPr>
          <a:xfrm>
            <a:off x="5010842" y="3066601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CAD5F99-9ADA-FAFD-5598-680C3E9D37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536F8F-083E-EF4E-DB94-79031697262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AFA047-9DFD-26A7-0BD6-CA4AC6370CF2}"/>
              </a:ext>
            </a:extLst>
          </p:cNvPr>
          <p:cNvSpPr txBox="1"/>
          <p:nvPr/>
        </p:nvSpPr>
        <p:spPr>
          <a:xfrm>
            <a:off x="3052400" y="4172638"/>
            <a:ext cx="3039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One</a:t>
            </a:r>
            <a:r>
              <a:rPr lang="en-US" sz="20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 </a:t>
            </a:r>
            <a:r>
              <a:rPr lang="en-US" sz="2000" i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tiny</a:t>
            </a:r>
            <a:r>
              <a:rPr lang="en-US" sz="20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 neutron can make a </a:t>
            </a:r>
            <a:r>
              <a:rPr lang="en-US" sz="20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world</a:t>
            </a:r>
            <a:r>
              <a:rPr lang="en-US" sz="20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 of difference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584A39-0C7E-CED2-0350-7BC53F9011F7}"/>
              </a:ext>
            </a:extLst>
          </p:cNvPr>
          <p:cNvSpPr/>
          <p:nvPr/>
        </p:nvSpPr>
        <p:spPr>
          <a:xfrm>
            <a:off x="4648200" y="3066602"/>
            <a:ext cx="298561" cy="369331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FFF8DA-EB1E-8960-FBC7-7FB4C46AA70C}"/>
              </a:ext>
            </a:extLst>
          </p:cNvPr>
          <p:cNvSpPr txBox="1"/>
          <p:nvPr/>
        </p:nvSpPr>
        <p:spPr>
          <a:xfrm>
            <a:off x="3376140" y="1470460"/>
            <a:ext cx="2391718" cy="92333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Which two </a:t>
            </a:r>
            <a:r>
              <a:rPr lang="en-US" b="1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isotopes</a:t>
            </a:r>
            <a:r>
              <a:rPr lang="en-US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 of Uranium differ the most in half-life?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98C881-13E2-7CA3-42B9-2047AFC0BBA9}"/>
              </a:ext>
            </a:extLst>
          </p:cNvPr>
          <p:cNvSpPr/>
          <p:nvPr/>
        </p:nvSpPr>
        <p:spPr>
          <a:xfrm>
            <a:off x="1498730" y="5430253"/>
            <a:ext cx="257881" cy="296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B147C-6CB2-9995-3432-08A9420C875F}"/>
              </a:ext>
            </a:extLst>
          </p:cNvPr>
          <p:cNvSpPr/>
          <p:nvPr/>
        </p:nvSpPr>
        <p:spPr>
          <a:xfrm>
            <a:off x="1684422" y="3445040"/>
            <a:ext cx="257881" cy="256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D69F1DD-352E-D7AC-E381-3D9ACF83C6A7}"/>
              </a:ext>
            </a:extLst>
          </p:cNvPr>
          <p:cNvCxnSpPr>
            <a:stCxn id="17" idx="1"/>
            <a:endCxn id="18" idx="1"/>
          </p:cNvCxnSpPr>
          <p:nvPr/>
        </p:nvCxnSpPr>
        <p:spPr>
          <a:xfrm rot="10800000" flipH="1">
            <a:off x="1498730" y="3573189"/>
            <a:ext cx="185692" cy="2005454"/>
          </a:xfrm>
          <a:prstGeom prst="bentConnector3">
            <a:avLst>
              <a:gd name="adj1" fmla="val -12310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E18732-E738-A63A-AF95-79B4E1D6B82D}"/>
              </a:ext>
            </a:extLst>
          </p:cNvPr>
          <p:cNvGrpSpPr/>
          <p:nvPr/>
        </p:nvGrpSpPr>
        <p:grpSpPr>
          <a:xfrm>
            <a:off x="7443837" y="3409762"/>
            <a:ext cx="1076632" cy="369332"/>
            <a:chOff x="4704120" y="2356972"/>
            <a:chExt cx="1076632" cy="3693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0CA1ED3-6EA5-DF29-8294-BDB7312268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83F91A-135E-24BB-A377-3D9BAD0723C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952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29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Elements By Country of Discovery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C3174F1-D1BC-2942-7D07-CF4DB7931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5" y="1468581"/>
            <a:ext cx="8695811" cy="457995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0EAE67-6066-858B-014F-7ABC0F5CF6E8}"/>
              </a:ext>
            </a:extLst>
          </p:cNvPr>
          <p:cNvCxnSpPr/>
          <p:nvPr/>
        </p:nvCxnSpPr>
        <p:spPr>
          <a:xfrm>
            <a:off x="1926236" y="1191718"/>
            <a:ext cx="419725" cy="359764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D1295C0-6A67-F01C-BADB-5577801E3A49}"/>
              </a:ext>
            </a:extLst>
          </p:cNvPr>
          <p:cNvSpPr/>
          <p:nvPr/>
        </p:nvSpPr>
        <p:spPr>
          <a:xfrm>
            <a:off x="2286000" y="1843790"/>
            <a:ext cx="509666" cy="29980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30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B8A2028-2C22-2FA1-AE7D-E88B89E8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One Element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9EC2A8-E295-D11E-F07C-98B941C5F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90" y="1920828"/>
            <a:ext cx="7217619" cy="27261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1B52BF-AC4D-C06C-2C81-92F35B354A4E}"/>
              </a:ext>
            </a:extLst>
          </p:cNvPr>
          <p:cNvSpPr txBox="1"/>
          <p:nvPr/>
        </p:nvSpPr>
        <p:spPr>
          <a:xfrm>
            <a:off x="1360355" y="4874625"/>
            <a:ext cx="6423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https://wou.edu/chemistry/courses/online-chemistry-textbooks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76653-4D73-075F-D4C2-7449C40CEDD6}"/>
              </a:ext>
            </a:extLst>
          </p:cNvPr>
          <p:cNvSpPr txBox="1"/>
          <p:nvPr/>
        </p:nvSpPr>
        <p:spPr>
          <a:xfrm>
            <a:off x="2272966" y="60986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https://en.wikipedia.org/wiki/Krebs_Cycle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8092D-C79D-D488-0F17-E634B188CC96}"/>
              </a:ext>
            </a:extLst>
          </p:cNvPr>
          <p:cNvSpPr txBox="1"/>
          <p:nvPr/>
        </p:nvSpPr>
        <p:spPr>
          <a:xfrm>
            <a:off x="1631282" y="5615488"/>
            <a:ext cx="585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6"/>
              </a:rPr>
              <a:t>https://en.wikipedia.org/wiki/Adenosine_triphosphate</a:t>
            </a:r>
            <a:r>
              <a:rPr lang="en-US" dirty="0"/>
              <a:t> (ATP)</a:t>
            </a:r>
          </a:p>
        </p:txBody>
      </p:sp>
    </p:spTree>
    <p:extLst>
      <p:ext uri="{BB962C8B-B14F-4D97-AF65-F5344CB8AC3E}">
        <p14:creationId xmlns:p14="http://schemas.microsoft.com/office/powerpoint/2010/main" val="179918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Book Antiqua" panose="02040602050305030304" pitchFamily="18" charset="0"/>
              </a:rPr>
              <a:t>"It's not what you look at that matters, it's what you see."</a:t>
            </a:r>
            <a:br>
              <a:rPr lang="en-US" sz="2400" dirty="0">
                <a:latin typeface="Book Antiqua" panose="02040602050305030304" pitchFamily="18" charset="0"/>
              </a:rPr>
            </a:br>
            <a:r>
              <a:rPr lang="en-US" sz="1800" dirty="0">
                <a:solidFill>
                  <a:srgbClr val="00B050"/>
                </a:solidFill>
                <a:latin typeface="+mn-lt"/>
              </a:rPr>
              <a:t>Henry David Thoreau (1846)</a:t>
            </a:r>
            <a:endParaRPr lang="en-US" sz="24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Scientists have measured the various electrical impulses traveling up the major nerves stemming from our eyes, ears, nose, tongue, and skin that ultimately signal our brain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have determined that </a:t>
            </a:r>
            <a:r>
              <a:rPr lang="en-US" sz="2400" dirty="0">
                <a:solidFill>
                  <a:srgbClr val="0070C0"/>
                </a:solidFill>
              </a:rPr>
              <a:t>more than 80% of our total sensory input comes from our </a:t>
            </a:r>
            <a:r>
              <a:rPr lang="en-US" sz="2400" i="1" dirty="0">
                <a:solidFill>
                  <a:srgbClr val="0070C0"/>
                </a:solidFill>
              </a:rPr>
              <a:t>eyes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– we are an incredibly </a:t>
            </a:r>
            <a:r>
              <a:rPr lang="en-US" sz="2400" b="1" dirty="0"/>
              <a:t>visual</a:t>
            </a:r>
            <a:r>
              <a:rPr lang="en-US" sz="2400" dirty="0"/>
              <a:t> species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Humans do poorly at spotting trends in </a:t>
            </a:r>
            <a:r>
              <a:rPr lang="en-US" sz="2400" b="1" dirty="0">
                <a:solidFill>
                  <a:srgbClr val="C00000"/>
                </a:solidFill>
              </a:rPr>
              <a:t>tabular data</a:t>
            </a:r>
            <a:r>
              <a:rPr lang="en-US" sz="2400" dirty="0">
                <a:solidFill>
                  <a:srgbClr val="C00000"/>
                </a:solidFill>
              </a:rPr>
              <a:t>,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whereas </a:t>
            </a:r>
            <a:r>
              <a:rPr lang="en-US" sz="2400" b="1" dirty="0">
                <a:solidFill>
                  <a:srgbClr val="00B050"/>
                </a:solidFill>
              </a:rPr>
              <a:t>graphical charts </a:t>
            </a:r>
            <a:r>
              <a:rPr lang="en-US" sz="2400" dirty="0"/>
              <a:t>enable us to sense trends and quickly spot </a:t>
            </a:r>
            <a:r>
              <a:rPr lang="en-US" sz="2400" u="sng" dirty="0"/>
              <a:t>anomalies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boring old </a:t>
            </a:r>
            <a:r>
              <a:rPr lang="en-US" sz="2400" b="1" dirty="0"/>
              <a:t>periodic chart </a:t>
            </a:r>
            <a:r>
              <a:rPr lang="en-US" sz="2400" dirty="0"/>
              <a:t>is full of hidden and surprising </a:t>
            </a:r>
            <a:r>
              <a:rPr lang="en-US" sz="2400" i="1" dirty="0"/>
              <a:t>art</a:t>
            </a:r>
            <a:r>
              <a:rPr lang="en-US" sz="2400" dirty="0"/>
              <a:t> if we can find ways to better </a:t>
            </a:r>
            <a:r>
              <a:rPr lang="en-US" sz="2400" b="1" dirty="0">
                <a:solidFill>
                  <a:srgbClr val="7030A0"/>
                </a:solidFill>
              </a:rPr>
              <a:t>visualize</a:t>
            </a:r>
            <a:r>
              <a:rPr lang="en-US" sz="2400" dirty="0"/>
              <a:t> the data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7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Liquid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Your scientist has asked you to plot the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melting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boiling</a:t>
            </a:r>
            <a:r>
              <a:rPr lang="en-US" sz="2400" dirty="0"/>
              <a:t> point of each element across the periodic chart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She is interested in visualizing any </a:t>
            </a:r>
            <a:r>
              <a:rPr lang="en-US" sz="2400" b="1" dirty="0">
                <a:solidFill>
                  <a:srgbClr val="00B050"/>
                </a:solidFill>
              </a:rPr>
              <a:t>trends</a:t>
            </a:r>
            <a:r>
              <a:rPr lang="en-US" sz="2400" dirty="0"/>
              <a:t> and </a:t>
            </a:r>
            <a:r>
              <a:rPr lang="en-US" sz="2400" i="1" dirty="0"/>
              <a:t>discontinuities</a:t>
            </a:r>
            <a:r>
              <a:rPr lang="en-US" sz="2400" dirty="0"/>
              <a:t> in elements having the same valence shell structure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Therefore, she wants you to plot the elements first </a:t>
            </a:r>
            <a:r>
              <a:rPr lang="en-US" sz="2400" b="1" dirty="0"/>
              <a:t>by group</a:t>
            </a:r>
            <a:r>
              <a:rPr lang="en-US" sz="2400" dirty="0"/>
              <a:t>, then </a:t>
            </a:r>
            <a:r>
              <a:rPr lang="en-US" sz="2400" b="1" dirty="0"/>
              <a:t>by period</a:t>
            </a:r>
            <a:r>
              <a:rPr lang="en-US" sz="2400" dirty="0"/>
              <a:t>, then </a:t>
            </a:r>
            <a:r>
              <a:rPr lang="en-US" sz="2400" b="1" dirty="0"/>
              <a:t>by atomic number </a:t>
            </a:r>
            <a:r>
              <a:rPr lang="en-US" sz="2400" dirty="0"/>
              <a:t>order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She has asked you to include elements from both the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Lanthanoid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Actinoid</a:t>
            </a:r>
            <a:r>
              <a:rPr lang="en-US" sz="2400" dirty="0"/>
              <a:t> series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Is there a readily available </a:t>
            </a:r>
            <a:r>
              <a:rPr lang="en-US" sz="2400" b="1" dirty="0">
                <a:solidFill>
                  <a:srgbClr val="7030A0"/>
                </a:solidFill>
              </a:rPr>
              <a:t>data set</a:t>
            </a:r>
            <a:r>
              <a:rPr lang="en-US" sz="2400" dirty="0"/>
              <a:t> on the web that encodes the </a:t>
            </a:r>
            <a:r>
              <a:rPr lang="en-US" sz="2400" u="sng" dirty="0"/>
              <a:t>entire</a:t>
            </a:r>
            <a:r>
              <a:rPr lang="en-US" sz="2400" dirty="0"/>
              <a:t> periodic chart?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9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1C8DFA-8B65-4CE6-6EAB-9F0DB64508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091"/>
          <a:stretch/>
        </p:blipFill>
        <p:spPr>
          <a:xfrm>
            <a:off x="323704" y="1240532"/>
            <a:ext cx="8496593" cy="402031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8A2028-2C22-2FA1-AE7D-E88B89E8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Periodic Table (circa 2021)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8A0068B-D372-02CF-1023-604D8BE928B5}"/>
              </a:ext>
            </a:extLst>
          </p:cNvPr>
          <p:cNvCxnSpPr/>
          <p:nvPr/>
        </p:nvCxnSpPr>
        <p:spPr>
          <a:xfrm>
            <a:off x="2173574" y="2960557"/>
            <a:ext cx="297554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C913508-4B0E-AF07-6581-A621F6741B99}"/>
              </a:ext>
            </a:extLst>
          </p:cNvPr>
          <p:cNvSpPr/>
          <p:nvPr/>
        </p:nvSpPr>
        <p:spPr>
          <a:xfrm>
            <a:off x="568924" y="1597156"/>
            <a:ext cx="478826" cy="2098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49ED8C-7CE9-A9FB-D31E-8A4938D6D2DA}"/>
              </a:ext>
            </a:extLst>
          </p:cNvPr>
          <p:cNvCxnSpPr>
            <a:cxnSpLocks/>
          </p:cNvCxnSpPr>
          <p:nvPr/>
        </p:nvCxnSpPr>
        <p:spPr>
          <a:xfrm>
            <a:off x="6021050" y="1597156"/>
            <a:ext cx="27107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6B7B3D4-F34B-C55F-22CB-25975A0A59C0}"/>
              </a:ext>
            </a:extLst>
          </p:cNvPr>
          <p:cNvSpPr/>
          <p:nvPr/>
        </p:nvSpPr>
        <p:spPr>
          <a:xfrm rot="16200000">
            <a:off x="166658" y="1754201"/>
            <a:ext cx="523952" cy="2098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665A79-9A5B-04C3-BDEB-B36142A3C043}"/>
              </a:ext>
            </a:extLst>
          </p:cNvPr>
          <p:cNvCxnSpPr>
            <a:cxnSpLocks/>
          </p:cNvCxnSpPr>
          <p:nvPr/>
        </p:nvCxnSpPr>
        <p:spPr>
          <a:xfrm>
            <a:off x="248899" y="2525843"/>
            <a:ext cx="0" cy="26232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522DA25-B73D-3AD8-95BD-AAF0E61DC8B9}"/>
              </a:ext>
            </a:extLst>
          </p:cNvPr>
          <p:cNvSpPr txBox="1"/>
          <p:nvPr/>
        </p:nvSpPr>
        <p:spPr>
          <a:xfrm>
            <a:off x="386778" y="5300799"/>
            <a:ext cx="4047344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All elements in a </a:t>
            </a:r>
            <a:r>
              <a:rPr lang="en-US" b="1" dirty="0"/>
              <a:t>group</a:t>
            </a:r>
            <a:r>
              <a:rPr lang="en-US" dirty="0"/>
              <a:t> have the same number of valence </a:t>
            </a:r>
            <a:r>
              <a:rPr lang="en-US" i="1" dirty="0"/>
              <a:t>electrons</a:t>
            </a:r>
            <a:r>
              <a:rPr lang="en-US" dirty="0"/>
              <a:t>. As a result, elements in the same group often display similar properties and </a:t>
            </a:r>
            <a:r>
              <a:rPr lang="en-US" i="1" dirty="0"/>
              <a:t>reactivity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0B812-DBC4-D9FA-DE58-F48193E23658}"/>
              </a:ext>
            </a:extLst>
          </p:cNvPr>
          <p:cNvSpPr txBox="1"/>
          <p:nvPr/>
        </p:nvSpPr>
        <p:spPr>
          <a:xfrm>
            <a:off x="4709879" y="5300798"/>
            <a:ext cx="4047344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All elements in a </a:t>
            </a:r>
            <a:r>
              <a:rPr lang="en-US" b="1" dirty="0"/>
              <a:t>period</a:t>
            </a:r>
            <a:r>
              <a:rPr lang="en-US" dirty="0"/>
              <a:t> have the same number of electron </a:t>
            </a:r>
            <a:r>
              <a:rPr lang="en-US" u="sng" dirty="0"/>
              <a:t>shells</a:t>
            </a:r>
            <a:r>
              <a:rPr lang="en-US" dirty="0"/>
              <a:t>. Each </a:t>
            </a:r>
            <a:r>
              <a:rPr lang="en-US" i="1" dirty="0"/>
              <a:t>next</a:t>
            </a:r>
            <a:r>
              <a:rPr lang="en-US" dirty="0"/>
              <a:t> element in a period </a:t>
            </a:r>
            <a:r>
              <a:rPr lang="en-US" b="1" dirty="0"/>
              <a:t>has one more proton </a:t>
            </a:r>
            <a:r>
              <a:rPr lang="en-US" dirty="0"/>
              <a:t>and is </a:t>
            </a:r>
            <a:r>
              <a:rPr lang="en-US" i="1" dirty="0"/>
              <a:t>less</a:t>
            </a:r>
            <a:r>
              <a:rPr lang="en-US" dirty="0"/>
              <a:t> metallic than its predecessor.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C303E8-8316-1E67-AE36-92AC9CF65C78}"/>
              </a:ext>
            </a:extLst>
          </p:cNvPr>
          <p:cNvSpPr/>
          <p:nvPr/>
        </p:nvSpPr>
        <p:spPr>
          <a:xfrm>
            <a:off x="568925" y="2005018"/>
            <a:ext cx="462156" cy="31742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53279C-B626-0184-4C5F-ACF819C86418}"/>
              </a:ext>
            </a:extLst>
          </p:cNvPr>
          <p:cNvSpPr/>
          <p:nvPr/>
        </p:nvSpPr>
        <p:spPr>
          <a:xfrm>
            <a:off x="568501" y="3364705"/>
            <a:ext cx="8163269" cy="45005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3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" grpId="0"/>
      <p:bldP spid="7" grpId="0"/>
      <p:bldP spid="1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1C8DFA-8B65-4CE6-6EAB-9F0DB6450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04" y="1240532"/>
            <a:ext cx="8496593" cy="516026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8A2028-2C22-2FA1-AE7D-E88B89E8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Periodic Table (circa 2021)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2EDD8-A129-3279-EA1B-230F5DC53B7C}"/>
              </a:ext>
            </a:extLst>
          </p:cNvPr>
          <p:cNvSpPr/>
          <p:nvPr/>
        </p:nvSpPr>
        <p:spPr>
          <a:xfrm>
            <a:off x="537411" y="5486400"/>
            <a:ext cx="1187115" cy="2646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75AA80-8C46-94E5-256F-B3390E5DA011}"/>
              </a:ext>
            </a:extLst>
          </p:cNvPr>
          <p:cNvSpPr/>
          <p:nvPr/>
        </p:nvSpPr>
        <p:spPr>
          <a:xfrm>
            <a:off x="729916" y="5951619"/>
            <a:ext cx="994610" cy="2646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406C2C-BCD6-F871-EAEC-7311127861CF}"/>
              </a:ext>
            </a:extLst>
          </p:cNvPr>
          <p:cNvCxnSpPr/>
          <p:nvPr/>
        </p:nvCxnSpPr>
        <p:spPr>
          <a:xfrm flipV="1">
            <a:off x="890337" y="4588042"/>
            <a:ext cx="713874" cy="9625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3C24B7-AD84-D861-44D5-ADC291D789E0}"/>
              </a:ext>
            </a:extLst>
          </p:cNvPr>
          <p:cNvCxnSpPr>
            <a:cxnSpLocks/>
          </p:cNvCxnSpPr>
          <p:nvPr/>
        </p:nvCxnSpPr>
        <p:spPr>
          <a:xfrm flipV="1">
            <a:off x="1070810" y="5032653"/>
            <a:ext cx="533401" cy="9871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8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9D5EE6-69D8-40D1-193D-B3CD657CC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05" y="1880811"/>
            <a:ext cx="6905190" cy="47528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Periodic Table as JSON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5A607-BE9A-D737-8CC5-DED279F6ABF6}"/>
              </a:ext>
            </a:extLst>
          </p:cNvPr>
          <p:cNvSpPr txBox="1"/>
          <p:nvPr/>
        </p:nvSpPr>
        <p:spPr>
          <a:xfrm>
            <a:off x="1772587" y="1350334"/>
            <a:ext cx="55988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hlinkClick r:id="rId4"/>
              </a:rPr>
              <a:t>https://github.com/Bowserinator/Periodic-Table-JSON</a:t>
            </a:r>
            <a:endParaRPr lang="en-US"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ED6106-EDF0-ECFB-E22C-B9D8C03D477F}"/>
              </a:ext>
            </a:extLst>
          </p:cNvPr>
          <p:cNvGrpSpPr/>
          <p:nvPr/>
        </p:nvGrpSpPr>
        <p:grpSpPr>
          <a:xfrm>
            <a:off x="5506403" y="5204231"/>
            <a:ext cx="1076632" cy="369332"/>
            <a:chOff x="4968362" y="2079211"/>
            <a:chExt cx="1076632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8D48F09-887D-FBEE-702D-B2BC03C30B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028FB1B-532B-26B7-DFC9-3022845E0B0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351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90A13-CE6E-944E-69BE-311D41CD5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77" y="313866"/>
            <a:ext cx="5838045" cy="640761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EF4C532-0AE1-FB2C-25F7-377B58FBC116}"/>
              </a:ext>
            </a:extLst>
          </p:cNvPr>
          <p:cNvGrpSpPr/>
          <p:nvPr/>
        </p:nvGrpSpPr>
        <p:grpSpPr>
          <a:xfrm>
            <a:off x="2575169" y="3155834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A2CF0CA-B92F-4A4C-0BCF-03ABFE3B57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774457-6FCF-C36E-4A82-4C335BE229A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CF9434-F2C6-C351-C3BB-0E6E60C40B49}"/>
              </a:ext>
            </a:extLst>
          </p:cNvPr>
          <p:cNvGrpSpPr/>
          <p:nvPr/>
        </p:nvGrpSpPr>
        <p:grpSpPr>
          <a:xfrm>
            <a:off x="2560179" y="1834278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BF0E11E-822F-9F8D-EC44-1F802ACF91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CEC986-753A-D043-CAA2-E5122A9B7C5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A7F3CE9-E738-E4D6-3CB4-D19F346050BC}"/>
              </a:ext>
            </a:extLst>
          </p:cNvPr>
          <p:cNvGrpSpPr/>
          <p:nvPr/>
        </p:nvGrpSpPr>
        <p:grpSpPr>
          <a:xfrm>
            <a:off x="2418614" y="2125157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84123A-4C9D-3490-C3EC-FB15C40A658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53D2017-2E8E-F305-8137-CF67BC54CD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51F542-9D3D-CB30-DDDC-E5843C89D7C8}"/>
              </a:ext>
            </a:extLst>
          </p:cNvPr>
          <p:cNvGrpSpPr/>
          <p:nvPr/>
        </p:nvGrpSpPr>
        <p:grpSpPr>
          <a:xfrm>
            <a:off x="2744443" y="1986166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63080D-F5C3-F7DC-15A9-14F8506C36C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3C15FF0-A9EB-965C-AC55-23DF5C5BB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1B22D6-C6C8-C9EB-60D5-CC08A7362B35}"/>
              </a:ext>
            </a:extLst>
          </p:cNvPr>
          <p:cNvGrpSpPr/>
          <p:nvPr/>
        </p:nvGrpSpPr>
        <p:grpSpPr>
          <a:xfrm>
            <a:off x="2670074" y="1389202"/>
            <a:ext cx="1068643" cy="369332"/>
            <a:chOff x="3647644" y="5359159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9629F1-02A8-2DB6-48C4-258197E63EF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22CF874-6C3B-29C0-16F9-5D638892E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363FCA-C242-ED1F-FC70-6B116F747B39}"/>
              </a:ext>
            </a:extLst>
          </p:cNvPr>
          <p:cNvGrpSpPr/>
          <p:nvPr/>
        </p:nvGrpSpPr>
        <p:grpSpPr>
          <a:xfrm>
            <a:off x="2701235" y="792417"/>
            <a:ext cx="1076632" cy="369332"/>
            <a:chOff x="2157212" y="5356391"/>
            <a:chExt cx="1076632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1D3254-293E-ACCB-1E6F-D72F0125A4E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A09461B-9055-6D8F-8373-D7C3E39A43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B7D75BA-89BB-D8E2-3BCD-673028CE01B3}"/>
              </a:ext>
            </a:extLst>
          </p:cNvPr>
          <p:cNvSpPr txBox="1"/>
          <p:nvPr/>
        </p:nvSpPr>
        <p:spPr>
          <a:xfrm>
            <a:off x="5216577" y="683032"/>
            <a:ext cx="314043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periodic_table.json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9CD77B-845F-9D3E-2C13-468E68FD8140}"/>
              </a:ext>
            </a:extLst>
          </p:cNvPr>
          <p:cNvSpPr/>
          <p:nvPr/>
        </p:nvSpPr>
        <p:spPr>
          <a:xfrm>
            <a:off x="1645482" y="313866"/>
            <a:ext cx="93377" cy="1658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B15AA0-5133-B91D-00CF-243EFB124641}"/>
              </a:ext>
            </a:extLst>
          </p:cNvPr>
          <p:cNvSpPr/>
          <p:nvPr/>
        </p:nvSpPr>
        <p:spPr>
          <a:xfrm>
            <a:off x="1645482" y="6516428"/>
            <a:ext cx="93377" cy="1658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7082323-18AC-E8FD-50E1-B045E8BE5581}"/>
              </a:ext>
            </a:extLst>
          </p:cNvPr>
          <p:cNvCxnSpPr>
            <a:stCxn id="24" idx="1"/>
            <a:endCxn id="25" idx="1"/>
          </p:cNvCxnSpPr>
          <p:nvPr/>
        </p:nvCxnSpPr>
        <p:spPr>
          <a:xfrm rot="10800000" flipV="1">
            <a:off x="1645482" y="396776"/>
            <a:ext cx="12700" cy="6202562"/>
          </a:xfrm>
          <a:prstGeom prst="bentConnector3">
            <a:avLst>
              <a:gd name="adj1" fmla="val 180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2CCCD4D-440D-32C4-5281-128DEF9CCA2A}"/>
              </a:ext>
            </a:extLst>
          </p:cNvPr>
          <p:cNvSpPr/>
          <p:nvPr/>
        </p:nvSpPr>
        <p:spPr>
          <a:xfrm>
            <a:off x="2269170" y="5627415"/>
            <a:ext cx="93377" cy="1658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638C1F-E6F0-82ED-6DAE-A535FB0350EF}"/>
              </a:ext>
            </a:extLst>
          </p:cNvPr>
          <p:cNvSpPr/>
          <p:nvPr/>
        </p:nvSpPr>
        <p:spPr>
          <a:xfrm>
            <a:off x="1746354" y="6220512"/>
            <a:ext cx="158646" cy="1658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DA32A64-6630-09FF-2724-827AC0E24BDF}"/>
              </a:ext>
            </a:extLst>
          </p:cNvPr>
          <p:cNvCxnSpPr>
            <a:cxnSpLocks/>
            <a:stCxn id="28" idx="3"/>
            <a:endCxn id="29" idx="3"/>
          </p:cNvCxnSpPr>
          <p:nvPr/>
        </p:nvCxnSpPr>
        <p:spPr>
          <a:xfrm flipH="1">
            <a:off x="1905000" y="5710325"/>
            <a:ext cx="457547" cy="593097"/>
          </a:xfrm>
          <a:prstGeom prst="bentConnector3">
            <a:avLst>
              <a:gd name="adj1" fmla="val -1172061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BA03FA-102B-42E9-27CA-B8AB3664B24D}"/>
              </a:ext>
            </a:extLst>
          </p:cNvPr>
          <p:cNvSpPr txBox="1"/>
          <p:nvPr/>
        </p:nvSpPr>
        <p:spPr>
          <a:xfrm>
            <a:off x="4584993" y="1372613"/>
            <a:ext cx="2429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JSON is like a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Python dictionary with </a:t>
            </a:r>
            <a:r>
              <a:rPr lang="en-US" b="1" u="sng" dirty="0">
                <a:solidFill>
                  <a:srgbClr val="7030A0"/>
                </a:solidFill>
              </a:rPr>
              <a:t>keys</a:t>
            </a:r>
            <a:r>
              <a:rPr lang="en-US" b="1" dirty="0">
                <a:solidFill>
                  <a:srgbClr val="7030A0"/>
                </a:solidFill>
              </a:rPr>
              <a:t> and </a:t>
            </a:r>
            <a:r>
              <a:rPr lang="en-US" b="1" i="1" dirty="0">
                <a:solidFill>
                  <a:srgbClr val="7030A0"/>
                </a:solidFill>
              </a:rPr>
              <a:t>values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320F0E-2D91-D049-25AE-418428EE7E92}"/>
              </a:ext>
            </a:extLst>
          </p:cNvPr>
          <p:cNvSpPr txBox="1"/>
          <p:nvPr/>
        </p:nvSpPr>
        <p:spPr>
          <a:xfrm>
            <a:off x="4990788" y="5063993"/>
            <a:ext cx="2429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A value can itself be a "nested" dictionary</a:t>
            </a:r>
          </a:p>
        </p:txBody>
      </p:sp>
    </p:spTree>
    <p:extLst>
      <p:ext uri="{BB962C8B-B14F-4D97-AF65-F5344CB8AC3E}">
        <p14:creationId xmlns:p14="http://schemas.microsoft.com/office/powerpoint/2010/main" val="281890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 animBg="1"/>
      <p:bldP spid="29" grpId="0" animBg="1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CE89-42EE-3F29-0B58-7462D367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DD18-1995-2E57-5BB1-9116AB79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plot_liquid_range.py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C2EDED-A3BF-10F1-6F02-5AAA012E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3B5088-B70E-A0F3-2F2F-06A3A3B84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28" y="1690689"/>
            <a:ext cx="6857143" cy="445714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9DB4258-D265-BBC0-0278-7C5E906C5958}"/>
              </a:ext>
            </a:extLst>
          </p:cNvPr>
          <p:cNvGrpSpPr/>
          <p:nvPr/>
        </p:nvGrpSpPr>
        <p:grpSpPr>
          <a:xfrm>
            <a:off x="4391303" y="1892802"/>
            <a:ext cx="1076632" cy="369332"/>
            <a:chOff x="4968362" y="2079211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B701173-45B2-6535-5274-21B713A2CB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FD7117A-8EB4-3CA4-C776-96509AE82FE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64F155-7CF9-0877-63A5-D07CB3603181}"/>
              </a:ext>
            </a:extLst>
          </p:cNvPr>
          <p:cNvGrpSpPr/>
          <p:nvPr/>
        </p:nvGrpSpPr>
        <p:grpSpPr>
          <a:xfrm>
            <a:off x="5622793" y="2128040"/>
            <a:ext cx="1076632" cy="369332"/>
            <a:chOff x="4704120" y="2356972"/>
            <a:chExt cx="1076632" cy="369332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65C1872-D715-C9A4-E659-94704AAA50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058F28-CB66-222C-FA04-35F890DAF73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415CAF8-9900-D5BF-333A-2527209930AC}"/>
              </a:ext>
            </a:extLst>
          </p:cNvPr>
          <p:cNvGrpSpPr/>
          <p:nvPr/>
        </p:nvGrpSpPr>
        <p:grpSpPr>
          <a:xfrm>
            <a:off x="6418007" y="2355885"/>
            <a:ext cx="1068643" cy="369332"/>
            <a:chOff x="3647644" y="4910075"/>
            <a:chExt cx="1068643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9F2DF2E-7296-E909-8BD6-422443965308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FDCD53B-6E1F-C45C-BA94-53763802F9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BDF54CC-37A9-1F63-4DE3-851296A6C851}"/>
              </a:ext>
            </a:extLst>
          </p:cNvPr>
          <p:cNvGrpSpPr/>
          <p:nvPr/>
        </p:nvGrpSpPr>
        <p:grpSpPr>
          <a:xfrm>
            <a:off x="4880757" y="2601305"/>
            <a:ext cx="1064340" cy="369332"/>
            <a:chOff x="3647644" y="5421073"/>
            <a:chExt cx="1064340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E6CA581-1E60-63AB-721A-7E074FAFD0F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1F43027-F9B1-7701-A0C6-6E332D5C0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DC3D35-9A22-0C81-3F53-1C3CB03630A6}"/>
              </a:ext>
            </a:extLst>
          </p:cNvPr>
          <p:cNvGrpSpPr/>
          <p:nvPr/>
        </p:nvGrpSpPr>
        <p:grpSpPr>
          <a:xfrm>
            <a:off x="3132171" y="3268125"/>
            <a:ext cx="1068643" cy="369332"/>
            <a:chOff x="3647644" y="5359159"/>
            <a:chExt cx="1068643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47B0741-D6AA-77FD-AB97-AF9320DDB85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37EF129-7BAA-545F-9BE7-343D2B9B91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9F28D88-1C98-5413-CA3F-6617A1574201}"/>
              </a:ext>
            </a:extLst>
          </p:cNvPr>
          <p:cNvGrpSpPr/>
          <p:nvPr/>
        </p:nvGrpSpPr>
        <p:grpSpPr>
          <a:xfrm>
            <a:off x="4150712" y="3723815"/>
            <a:ext cx="1076632" cy="369332"/>
            <a:chOff x="2157212" y="5356391"/>
            <a:chExt cx="107663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023801-D526-F4D1-8DAB-BD0F84F980D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B66653A-732E-6778-0DE4-18914F4B3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008758F-6BE8-734D-141F-B3338245E61E}"/>
              </a:ext>
            </a:extLst>
          </p:cNvPr>
          <p:cNvGrpSpPr/>
          <p:nvPr/>
        </p:nvGrpSpPr>
        <p:grpSpPr>
          <a:xfrm>
            <a:off x="6756605" y="3948117"/>
            <a:ext cx="1076632" cy="369332"/>
            <a:chOff x="2157212" y="5356391"/>
            <a:chExt cx="1076632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5524B5-82C6-66B9-1590-DCCA62F4A28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7D0112E-E941-B013-DD11-897D7210C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1661DF9-3E35-7DCD-3F00-8FE09151EC22}"/>
              </a:ext>
            </a:extLst>
          </p:cNvPr>
          <p:cNvGrpSpPr/>
          <p:nvPr/>
        </p:nvGrpSpPr>
        <p:grpSpPr>
          <a:xfrm>
            <a:off x="7928907" y="4194377"/>
            <a:ext cx="1076632" cy="369332"/>
            <a:chOff x="2157212" y="5356391"/>
            <a:chExt cx="1076632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B84B774-5714-49F9-952B-4ABCDE9A781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66836E3-3FF7-536D-C691-1FA249F17E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9894FC5-5D73-BCFD-23B3-2F9057CB0C65}"/>
              </a:ext>
            </a:extLst>
          </p:cNvPr>
          <p:cNvGrpSpPr/>
          <p:nvPr/>
        </p:nvGrpSpPr>
        <p:grpSpPr>
          <a:xfrm>
            <a:off x="3804125" y="3495970"/>
            <a:ext cx="1076632" cy="369332"/>
            <a:chOff x="2157212" y="5356391"/>
            <a:chExt cx="1076632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9D08D87-F674-6CD3-D7AF-51E6816720D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6080C4C-D677-5127-8FD1-FDB98A3D8A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0CA18DC-D550-4AC9-64F3-E5C667A79AF2}"/>
              </a:ext>
            </a:extLst>
          </p:cNvPr>
          <p:cNvGrpSpPr/>
          <p:nvPr/>
        </p:nvGrpSpPr>
        <p:grpSpPr>
          <a:xfrm>
            <a:off x="6696378" y="5047974"/>
            <a:ext cx="1076632" cy="369332"/>
            <a:chOff x="2157212" y="5356391"/>
            <a:chExt cx="1076632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3362C3D-6AA0-7F51-673D-A26ED42C42D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47222ED-52AD-408E-6896-F0B55314C8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3DCE0A13-764C-4897-D411-C84754A70573}"/>
              </a:ext>
            </a:extLst>
          </p:cNvPr>
          <p:cNvSpPr/>
          <p:nvPr/>
        </p:nvSpPr>
        <p:spPr>
          <a:xfrm>
            <a:off x="4399066" y="2206399"/>
            <a:ext cx="164282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2B081F6-759E-B984-A4E9-7EE96C87FE1F}"/>
              </a:ext>
            </a:extLst>
          </p:cNvPr>
          <p:cNvSpPr/>
          <p:nvPr/>
        </p:nvSpPr>
        <p:spPr>
          <a:xfrm>
            <a:off x="2313276" y="4035406"/>
            <a:ext cx="478050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2592772-A479-369A-ECCC-5432A3F1D6C0}"/>
              </a:ext>
            </a:extLst>
          </p:cNvPr>
          <p:cNvSpPr/>
          <p:nvPr/>
        </p:nvSpPr>
        <p:spPr>
          <a:xfrm>
            <a:off x="3440658" y="4273645"/>
            <a:ext cx="1502316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40588D0-BB81-B62D-5BB5-D9C6847A9D7F}"/>
              </a:ext>
            </a:extLst>
          </p:cNvPr>
          <p:cNvSpPr/>
          <p:nvPr/>
        </p:nvSpPr>
        <p:spPr>
          <a:xfrm>
            <a:off x="4009085" y="5191374"/>
            <a:ext cx="1936012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6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65DA-47FE-15E6-E188-932B14A45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710EBC-5202-C8E7-2FC2-7711A80714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80" y="1711316"/>
            <a:ext cx="7870041" cy="42769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DA3C31-86A6-D6CB-B933-55F9FAAB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plot_liquid_range.py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E94D70-9E0F-259D-690D-2AE180A3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FE59AD-B54D-5202-A97B-AF4CEB51181F}"/>
              </a:ext>
            </a:extLst>
          </p:cNvPr>
          <p:cNvGrpSpPr/>
          <p:nvPr/>
        </p:nvGrpSpPr>
        <p:grpSpPr>
          <a:xfrm>
            <a:off x="3331028" y="1946173"/>
            <a:ext cx="1076632" cy="369332"/>
            <a:chOff x="4968362" y="2079211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67DA26D-A66E-BE60-799D-DEA22349C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611EE52-DB8D-6D12-C261-18AB80B53FB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293BC2-5EF0-F77F-CFDB-922CCD38CA4E}"/>
              </a:ext>
            </a:extLst>
          </p:cNvPr>
          <p:cNvGrpSpPr/>
          <p:nvPr/>
        </p:nvGrpSpPr>
        <p:grpSpPr>
          <a:xfrm>
            <a:off x="5928276" y="2205998"/>
            <a:ext cx="1076632" cy="369332"/>
            <a:chOff x="4704120" y="2356972"/>
            <a:chExt cx="1076632" cy="369332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AF03FB6-1D9C-0B16-076B-FDA56EF25B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D9608FC-4564-86A5-0D70-93A9A458EB9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42DE6D2-E1E8-5069-AFF6-A01A3313C0A1}"/>
              </a:ext>
            </a:extLst>
          </p:cNvPr>
          <p:cNvGrpSpPr/>
          <p:nvPr/>
        </p:nvGrpSpPr>
        <p:grpSpPr>
          <a:xfrm>
            <a:off x="3451392" y="3189358"/>
            <a:ext cx="1068643" cy="369332"/>
            <a:chOff x="3647644" y="4910075"/>
            <a:chExt cx="1068643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4BA89C-6FE5-72FD-C6B7-9D1E1C124B98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06345CE-72FE-0C2A-6E8A-CB61B36B52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AEB0B29-2750-89E9-2D59-0ACEA0357ECD}"/>
              </a:ext>
            </a:extLst>
          </p:cNvPr>
          <p:cNvGrpSpPr/>
          <p:nvPr/>
        </p:nvGrpSpPr>
        <p:grpSpPr>
          <a:xfrm>
            <a:off x="4124308" y="3428338"/>
            <a:ext cx="1064340" cy="369332"/>
            <a:chOff x="3647644" y="5421073"/>
            <a:chExt cx="1064340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3627BA6-C084-6814-A36B-168888F1009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9E82B7E-C9AD-65E8-359F-BE7D9F2C70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60983DE-2DB2-65A0-979A-0FAF8EE05462}"/>
              </a:ext>
            </a:extLst>
          </p:cNvPr>
          <p:cNvGrpSpPr/>
          <p:nvPr/>
        </p:nvGrpSpPr>
        <p:grpSpPr>
          <a:xfrm>
            <a:off x="4178755" y="3671482"/>
            <a:ext cx="1068643" cy="369332"/>
            <a:chOff x="3647644" y="5359159"/>
            <a:chExt cx="1068643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697A328-6D77-38DF-141C-ED9C54593A47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51B2FD5-EA85-CDB7-FA92-3397C2E6C3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68E6943-DC02-ABE2-8E99-5B982F5FEFDF}"/>
              </a:ext>
            </a:extLst>
          </p:cNvPr>
          <p:cNvGrpSpPr/>
          <p:nvPr/>
        </p:nvGrpSpPr>
        <p:grpSpPr>
          <a:xfrm>
            <a:off x="7737178" y="4664535"/>
            <a:ext cx="1076632" cy="369332"/>
            <a:chOff x="2157212" y="5356391"/>
            <a:chExt cx="107663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6B091E2-1F1D-1C0B-B89D-0F365ECB6EC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9C134E2-659B-F2A2-51CD-C6CAF8394C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6EBE00-5317-4B30-42C8-0FDC531B65E8}"/>
              </a:ext>
            </a:extLst>
          </p:cNvPr>
          <p:cNvGrpSpPr/>
          <p:nvPr/>
        </p:nvGrpSpPr>
        <p:grpSpPr>
          <a:xfrm>
            <a:off x="7758648" y="4900550"/>
            <a:ext cx="1076632" cy="369332"/>
            <a:chOff x="2157212" y="5356391"/>
            <a:chExt cx="1076632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E8E7554-8E52-C769-B47A-2D77F5C0E9A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82CDFEE-0687-DD64-2BB5-D5C426AC36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EA2E3B-5D27-BF3D-4C4B-C19BB61D4D1D}"/>
              </a:ext>
            </a:extLst>
          </p:cNvPr>
          <p:cNvGrpSpPr/>
          <p:nvPr/>
        </p:nvGrpSpPr>
        <p:grpSpPr>
          <a:xfrm>
            <a:off x="5973514" y="5143901"/>
            <a:ext cx="1076632" cy="369332"/>
            <a:chOff x="2157212" y="5356391"/>
            <a:chExt cx="1076632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7B5E187-DBCF-2365-59CE-17C9C754037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729A6E2-6F1C-CFB9-1E69-7F22B36F84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C2CEC64-2299-66FD-2171-600CFD2089E9}"/>
              </a:ext>
            </a:extLst>
          </p:cNvPr>
          <p:cNvGrpSpPr/>
          <p:nvPr/>
        </p:nvGrpSpPr>
        <p:grpSpPr>
          <a:xfrm>
            <a:off x="5863268" y="3428338"/>
            <a:ext cx="893337" cy="519779"/>
            <a:chOff x="2286137" y="5307625"/>
            <a:chExt cx="893337" cy="51977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589A2B4-CE06-00B1-5067-B9A7CF765830}"/>
                </a:ext>
              </a:extLst>
            </p:cNvPr>
            <p:cNvSpPr txBox="1"/>
            <p:nvPr/>
          </p:nvSpPr>
          <p:spPr>
            <a:xfrm>
              <a:off x="2796016" y="530762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483D3A5-3D82-DED8-303F-2FA09AA867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6137" y="5545146"/>
              <a:ext cx="564249" cy="28225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22B782-A4CB-FCB4-9CEA-6A743C480FA8}"/>
              </a:ext>
            </a:extLst>
          </p:cNvPr>
          <p:cNvGrpSpPr/>
          <p:nvPr/>
        </p:nvGrpSpPr>
        <p:grpSpPr>
          <a:xfrm>
            <a:off x="6248181" y="5391898"/>
            <a:ext cx="1076632" cy="369332"/>
            <a:chOff x="2157212" y="5356391"/>
            <a:chExt cx="1076632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A9937E5-2A72-288E-9216-FDC2545C5AC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6AFF5E-BEF6-8C27-C0E4-D557E82E3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FC716B17-8858-B666-89C9-C86D85D1B915}"/>
              </a:ext>
            </a:extLst>
          </p:cNvPr>
          <p:cNvSpPr/>
          <p:nvPr/>
        </p:nvSpPr>
        <p:spPr>
          <a:xfrm>
            <a:off x="2867670" y="2297741"/>
            <a:ext cx="463358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DED5887-6138-E804-1CAD-D443F95CAE4D}"/>
              </a:ext>
            </a:extLst>
          </p:cNvPr>
          <p:cNvSpPr/>
          <p:nvPr/>
        </p:nvSpPr>
        <p:spPr>
          <a:xfrm>
            <a:off x="2055441" y="3507606"/>
            <a:ext cx="693173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9A932E-BEBE-BC69-3418-93B9A5D4B989}"/>
              </a:ext>
            </a:extLst>
          </p:cNvPr>
          <p:cNvSpPr/>
          <p:nvPr/>
        </p:nvSpPr>
        <p:spPr>
          <a:xfrm>
            <a:off x="713274" y="3752426"/>
            <a:ext cx="1043337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6BEEE7-F7AE-7311-E3EA-4EAB013226DE}"/>
              </a:ext>
            </a:extLst>
          </p:cNvPr>
          <p:cNvSpPr/>
          <p:nvPr/>
        </p:nvSpPr>
        <p:spPr>
          <a:xfrm>
            <a:off x="4087663" y="4726890"/>
            <a:ext cx="3362116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3FF8A1-22F8-5D8D-0BAB-94E84C32354C}"/>
              </a:ext>
            </a:extLst>
          </p:cNvPr>
          <p:cNvSpPr/>
          <p:nvPr/>
        </p:nvSpPr>
        <p:spPr>
          <a:xfrm>
            <a:off x="3874162" y="4989977"/>
            <a:ext cx="3065738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E8701-CFCF-2A67-1930-DABEE4CF7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C39A-B394-9D3E-4429-09B2671F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plot_liquid_range.py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CE65C9-3463-5045-562E-C863A071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56B20-71DC-CDA7-E8C2-28FA5263D1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03" y="1690689"/>
            <a:ext cx="7750193" cy="397170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FAF1319-3B2F-4D27-261B-88038A08B31B}"/>
              </a:ext>
            </a:extLst>
          </p:cNvPr>
          <p:cNvGrpSpPr/>
          <p:nvPr/>
        </p:nvGrpSpPr>
        <p:grpSpPr>
          <a:xfrm>
            <a:off x="6817986" y="1929572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828BBAE-A3CF-8AA7-6069-7602E5E225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19EFFD-4593-114A-5622-32BEFD033F7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B604BA-1FFF-E817-518F-441B0DEC9955}"/>
              </a:ext>
            </a:extLst>
          </p:cNvPr>
          <p:cNvGrpSpPr/>
          <p:nvPr/>
        </p:nvGrpSpPr>
        <p:grpSpPr>
          <a:xfrm>
            <a:off x="6207347" y="2199980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7BBEB73-8961-1A41-5D46-27A88879D7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13D861-F37D-9A6A-F7C6-9ED1C54101F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E87305-B29F-4DF2-EBE2-C5EF1C60DB27}"/>
              </a:ext>
            </a:extLst>
          </p:cNvPr>
          <p:cNvGrpSpPr/>
          <p:nvPr/>
        </p:nvGrpSpPr>
        <p:grpSpPr>
          <a:xfrm>
            <a:off x="3865966" y="2464247"/>
            <a:ext cx="1068643" cy="369332"/>
            <a:chOff x="3647644" y="4910075"/>
            <a:chExt cx="106864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D36EA3-5950-CB99-D581-E4F1507441B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7A30969-2669-9110-DB3B-FEAFAB6DF5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BB99DE-40AF-6FF8-0ED3-AFF00C5A54DF}"/>
              </a:ext>
            </a:extLst>
          </p:cNvPr>
          <p:cNvGrpSpPr/>
          <p:nvPr/>
        </p:nvGrpSpPr>
        <p:grpSpPr>
          <a:xfrm>
            <a:off x="8045197" y="2907157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082638-7A21-DA01-D4D1-7E1590ACAE0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D6FBF2B-3B67-A939-8284-FFE3C47E5C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A85E10-4469-713E-CA40-86A5E4EC4793}"/>
              </a:ext>
            </a:extLst>
          </p:cNvPr>
          <p:cNvGrpSpPr/>
          <p:nvPr/>
        </p:nvGrpSpPr>
        <p:grpSpPr>
          <a:xfrm>
            <a:off x="2402256" y="3991606"/>
            <a:ext cx="1068643" cy="369332"/>
            <a:chOff x="3647644" y="5359159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C0534E-70AE-575C-E061-A0253B26B9EA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3EE2D32-B48A-1693-FE8D-8E88386456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A1B8ED-773B-A558-168C-CE19456C5CA2}"/>
              </a:ext>
            </a:extLst>
          </p:cNvPr>
          <p:cNvGrpSpPr/>
          <p:nvPr/>
        </p:nvGrpSpPr>
        <p:grpSpPr>
          <a:xfrm>
            <a:off x="6745663" y="4509708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3F4624-5C15-EF95-E83B-868EC623CDC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7328F60-8DFA-3B86-FB2E-0436EC60E9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DED42F-A9E7-BEB2-8761-A805D6918306}"/>
              </a:ext>
            </a:extLst>
          </p:cNvPr>
          <p:cNvGrpSpPr/>
          <p:nvPr/>
        </p:nvGrpSpPr>
        <p:grpSpPr>
          <a:xfrm>
            <a:off x="3918232" y="4756868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046C5E-9DC5-E5CA-9AE8-F26E79A77D8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A9A5965-28FF-0CC6-E0A1-A14BDBF89C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73197DE-3B85-87D3-7D42-5FE36C83BB57}"/>
              </a:ext>
            </a:extLst>
          </p:cNvPr>
          <p:cNvGrpSpPr/>
          <p:nvPr/>
        </p:nvGrpSpPr>
        <p:grpSpPr>
          <a:xfrm>
            <a:off x="2597557" y="4262538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D8BA4FE-C62A-E2AC-FABC-3F5297E2066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7155226-32E6-1391-EACA-399395318F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22B91A-DBCE-EAB5-5664-D2B2080B8A56}"/>
              </a:ext>
            </a:extLst>
          </p:cNvPr>
          <p:cNvGrpSpPr/>
          <p:nvPr/>
        </p:nvGrpSpPr>
        <p:grpSpPr>
          <a:xfrm>
            <a:off x="2233810" y="5022750"/>
            <a:ext cx="1076632" cy="369332"/>
            <a:chOff x="2157212" y="5356391"/>
            <a:chExt cx="1076632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69F3BA-CB7B-92E1-C386-F56774B4983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AAFB8CC3-F680-6602-3278-264396D0C1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BE0D208-2555-E587-109B-30579FCEFD39}"/>
              </a:ext>
            </a:extLst>
          </p:cNvPr>
          <p:cNvGrpSpPr/>
          <p:nvPr/>
        </p:nvGrpSpPr>
        <p:grpSpPr>
          <a:xfrm>
            <a:off x="1914776" y="5288586"/>
            <a:ext cx="1076632" cy="369332"/>
            <a:chOff x="2157212" y="5356391"/>
            <a:chExt cx="1076632" cy="369332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036D871-890D-E08F-6C0F-A053C68E1CC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CCF2FBC-3CF6-D21E-8A83-0176B1B3B1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877324C3-B20D-10C3-DE73-4B51C8FE086B}"/>
              </a:ext>
            </a:extLst>
          </p:cNvPr>
          <p:cNvSpPr/>
          <p:nvPr/>
        </p:nvSpPr>
        <p:spPr>
          <a:xfrm>
            <a:off x="4162927" y="2016861"/>
            <a:ext cx="2510548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7543BDB-F550-D9CF-152A-B616C8E2723A}"/>
              </a:ext>
            </a:extLst>
          </p:cNvPr>
          <p:cNvSpPr/>
          <p:nvPr/>
        </p:nvSpPr>
        <p:spPr>
          <a:xfrm>
            <a:off x="3979486" y="2264472"/>
            <a:ext cx="2159607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EABADD9-6894-4125-7956-EB28CF206054}"/>
              </a:ext>
            </a:extLst>
          </p:cNvPr>
          <p:cNvSpPr/>
          <p:nvPr/>
        </p:nvSpPr>
        <p:spPr>
          <a:xfrm>
            <a:off x="1096998" y="4341806"/>
            <a:ext cx="1432306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D4A2E7-5985-29DE-35DA-BACEB384CF46}"/>
              </a:ext>
            </a:extLst>
          </p:cNvPr>
          <p:cNvSpPr/>
          <p:nvPr/>
        </p:nvSpPr>
        <p:spPr>
          <a:xfrm>
            <a:off x="2702849" y="2535404"/>
            <a:ext cx="884134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B47B310-C28D-1DC1-9B68-E3751E35080E}"/>
              </a:ext>
            </a:extLst>
          </p:cNvPr>
          <p:cNvSpPr/>
          <p:nvPr/>
        </p:nvSpPr>
        <p:spPr>
          <a:xfrm>
            <a:off x="1092159" y="4591408"/>
            <a:ext cx="1675104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2916862-C4EF-9BC4-2B2B-78099F077E07}"/>
              </a:ext>
            </a:extLst>
          </p:cNvPr>
          <p:cNvSpPr/>
          <p:nvPr/>
        </p:nvSpPr>
        <p:spPr>
          <a:xfrm>
            <a:off x="5345049" y="4588976"/>
            <a:ext cx="1186862" cy="21079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5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5911-1370-54E9-6A24-F84613F6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2225AA-6B0A-2B01-83AC-B8A50FE80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27" y="1402098"/>
            <a:ext cx="8157947" cy="4954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779178-9EF6-4045-29F2-C385C8DB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plot_liquid_range.py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78DB5-A959-2316-56CB-7294ED6A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B515E-A318-640C-2CAC-6A40ED89B271}"/>
              </a:ext>
            </a:extLst>
          </p:cNvPr>
          <p:cNvSpPr txBox="1"/>
          <p:nvPr/>
        </p:nvSpPr>
        <p:spPr>
          <a:xfrm>
            <a:off x="6079958" y="1844842"/>
            <a:ext cx="1844841" cy="646331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Press </a:t>
            </a:r>
            <a:r>
              <a:rPr lang="en-US" b="1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q</a:t>
            </a:r>
            <a:r>
              <a:rPr lang="en-US" dirty="0">
                <a:solidFill>
                  <a:srgbClr val="7030A0"/>
                </a:solidFill>
              </a:rPr>
              <a:t> to close the plot window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35D539-3F98-F76A-A18B-A0791C7E7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381" y="5127296"/>
            <a:ext cx="3695238" cy="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0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37516-9C04-1822-850A-E32B4767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C9267-AA01-CDA5-DF30-C15BD78651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633"/>
            <a:ext cx="9144000" cy="60627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204056-5377-401D-16C1-EE21F5A189C1}"/>
              </a:ext>
            </a:extLst>
          </p:cNvPr>
          <p:cNvSpPr/>
          <p:nvPr/>
        </p:nvSpPr>
        <p:spPr>
          <a:xfrm>
            <a:off x="8515350" y="5329003"/>
            <a:ext cx="550067" cy="43076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AAB956-0641-C05A-1274-06F8AA173B2D}"/>
              </a:ext>
            </a:extLst>
          </p:cNvPr>
          <p:cNvCxnSpPr>
            <a:cxnSpLocks/>
          </p:cNvCxnSpPr>
          <p:nvPr/>
        </p:nvCxnSpPr>
        <p:spPr>
          <a:xfrm>
            <a:off x="3041589" y="5095875"/>
            <a:ext cx="1" cy="853075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52D78-67ED-534B-057A-1707923CADFA}"/>
              </a:ext>
            </a:extLst>
          </p:cNvPr>
          <p:cNvCxnSpPr>
            <a:cxnSpLocks/>
          </p:cNvCxnSpPr>
          <p:nvPr/>
        </p:nvCxnSpPr>
        <p:spPr>
          <a:xfrm>
            <a:off x="8664992" y="5668326"/>
            <a:ext cx="0" cy="260987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77F2DD-1ECC-3CA9-3E5B-FF4987DE7233}"/>
              </a:ext>
            </a:extLst>
          </p:cNvPr>
          <p:cNvCxnSpPr>
            <a:cxnSpLocks/>
          </p:cNvCxnSpPr>
          <p:nvPr/>
        </p:nvCxnSpPr>
        <p:spPr>
          <a:xfrm>
            <a:off x="3040796" y="2242344"/>
            <a:ext cx="3174" cy="2734469"/>
          </a:xfrm>
          <a:prstGeom prst="straightConnector1">
            <a:avLst/>
          </a:prstGeom>
          <a:ln w="28575">
            <a:solidFill>
              <a:srgbClr val="00206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836A306-B3C0-7356-E68F-FF72ACE26C78}"/>
              </a:ext>
            </a:extLst>
          </p:cNvPr>
          <p:cNvSpPr/>
          <p:nvPr/>
        </p:nvSpPr>
        <p:spPr>
          <a:xfrm>
            <a:off x="2925305" y="2121107"/>
            <a:ext cx="230981" cy="2974767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allout: Bent Line 31">
            <a:extLst>
              <a:ext uri="{FF2B5EF4-FFF2-40B4-BE49-F238E27FC236}">
                <a16:creationId xmlns:a16="http://schemas.microsoft.com/office/drawing/2014/main" id="{DEEF93EF-B7D3-CB16-B245-F65903C22ADE}"/>
              </a:ext>
            </a:extLst>
          </p:cNvPr>
          <p:cNvSpPr/>
          <p:nvPr/>
        </p:nvSpPr>
        <p:spPr>
          <a:xfrm>
            <a:off x="3825834" y="2399444"/>
            <a:ext cx="1927069" cy="928371"/>
          </a:xfrm>
          <a:prstGeom prst="borderCallout2">
            <a:avLst>
              <a:gd name="adj1" fmla="val 28071"/>
              <a:gd name="adj2" fmla="val -3088"/>
              <a:gd name="adj3" fmla="val 44576"/>
              <a:gd name="adj4" fmla="val -23703"/>
              <a:gd name="adj5" fmla="val 124407"/>
              <a:gd name="adj6" fmla="val -39183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Neptunium</a:t>
            </a:r>
            <a:r>
              <a:rPr lang="en-US" sz="1600" dirty="0">
                <a:solidFill>
                  <a:schemeClr val="tx1"/>
                </a:solidFill>
              </a:rPr>
              <a:t> has the </a:t>
            </a:r>
            <a:r>
              <a:rPr lang="en-US" sz="1600" i="1" dirty="0">
                <a:solidFill>
                  <a:schemeClr val="tx1"/>
                </a:solidFill>
              </a:rPr>
              <a:t>largest</a:t>
            </a:r>
            <a:r>
              <a:rPr lang="en-US" sz="1600" dirty="0">
                <a:solidFill>
                  <a:schemeClr val="tx1"/>
                </a:solidFill>
              </a:rPr>
              <a:t> liquid range of any element</a:t>
            </a:r>
          </a:p>
        </p:txBody>
      </p:sp>
      <p:sp>
        <p:nvSpPr>
          <p:cNvPr id="33" name="Callout: Bent Line 32">
            <a:extLst>
              <a:ext uri="{FF2B5EF4-FFF2-40B4-BE49-F238E27FC236}">
                <a16:creationId xmlns:a16="http://schemas.microsoft.com/office/drawing/2014/main" id="{ABB642EA-C917-C43C-6F57-D40F1DF41908}"/>
              </a:ext>
            </a:extLst>
          </p:cNvPr>
          <p:cNvSpPr/>
          <p:nvPr/>
        </p:nvSpPr>
        <p:spPr>
          <a:xfrm>
            <a:off x="6863315" y="3804263"/>
            <a:ext cx="1928416" cy="928371"/>
          </a:xfrm>
          <a:prstGeom prst="borderCallout2">
            <a:avLst>
              <a:gd name="adj1" fmla="val 111227"/>
              <a:gd name="adj2" fmla="val 52491"/>
              <a:gd name="adj3" fmla="val 161640"/>
              <a:gd name="adj4" fmla="val 60637"/>
              <a:gd name="adj5" fmla="val 197067"/>
              <a:gd name="adj6" fmla="val 91797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Neon</a:t>
            </a:r>
            <a:r>
              <a:rPr lang="en-US" sz="1600" dirty="0">
                <a:solidFill>
                  <a:schemeClr val="tx1"/>
                </a:solidFill>
              </a:rPr>
              <a:t> has the </a:t>
            </a:r>
            <a:r>
              <a:rPr lang="en-US" sz="1600" i="1" dirty="0">
                <a:solidFill>
                  <a:schemeClr val="tx1"/>
                </a:solidFill>
              </a:rPr>
              <a:t>smallest</a:t>
            </a:r>
            <a:r>
              <a:rPr lang="en-US" sz="1600" dirty="0">
                <a:solidFill>
                  <a:schemeClr val="tx1"/>
                </a:solidFill>
              </a:rPr>
              <a:t> liquid range of any element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C5A5452-3518-459F-BBDD-CDC8E31B0B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9095" b="22311"/>
          <a:stretch/>
        </p:blipFill>
        <p:spPr>
          <a:xfrm>
            <a:off x="5377443" y="1259370"/>
            <a:ext cx="3493560" cy="4394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F591C5-36FA-4DD6-EAFA-7428997BA656}"/>
              </a:ext>
            </a:extLst>
          </p:cNvPr>
          <p:cNvSpPr/>
          <p:nvPr/>
        </p:nvSpPr>
        <p:spPr>
          <a:xfrm>
            <a:off x="8382707" y="1347531"/>
            <a:ext cx="418548" cy="12847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EC85C-9177-6143-F773-8DDCE58E30D0}"/>
              </a:ext>
            </a:extLst>
          </p:cNvPr>
          <p:cNvSpPr/>
          <p:nvPr/>
        </p:nvSpPr>
        <p:spPr>
          <a:xfrm>
            <a:off x="8381359" y="1509778"/>
            <a:ext cx="418548" cy="12847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D9FD7DA-6C22-1A22-6653-78F98E27325D}"/>
              </a:ext>
            </a:extLst>
          </p:cNvPr>
          <p:cNvCxnSpPr>
            <a:stCxn id="3" idx="3"/>
            <a:endCxn id="33" idx="3"/>
          </p:cNvCxnSpPr>
          <p:nvPr/>
        </p:nvCxnSpPr>
        <p:spPr>
          <a:xfrm flipH="1">
            <a:off x="7827523" y="1411766"/>
            <a:ext cx="973732" cy="2392497"/>
          </a:xfrm>
          <a:prstGeom prst="bentConnector4">
            <a:avLst>
              <a:gd name="adj1" fmla="val -23477"/>
              <a:gd name="adj2" fmla="val 51342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E43CD2C-F691-CD25-5DA7-FAEA24EEE87F}"/>
              </a:ext>
            </a:extLst>
          </p:cNvPr>
          <p:cNvCxnSpPr>
            <a:cxnSpLocks/>
            <a:stCxn id="4" idx="2"/>
            <a:endCxn id="32" idx="3"/>
          </p:cNvCxnSpPr>
          <p:nvPr/>
        </p:nvCxnSpPr>
        <p:spPr>
          <a:xfrm rot="5400000">
            <a:off x="6309403" y="118214"/>
            <a:ext cx="761196" cy="3801264"/>
          </a:xfrm>
          <a:prstGeom prst="bentConnector3">
            <a:avLst>
              <a:gd name="adj1" fmla="val 59928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8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8" grpId="0" animBg="1"/>
      <p:bldP spid="32" grpId="0" animBg="1"/>
      <p:bldP spid="33" grpId="0" animBg="1"/>
      <p:bldP spid="3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37516-9C04-1822-850A-E32B4767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C9267-AA01-CDA5-DF30-C15BD78651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633"/>
            <a:ext cx="9144000" cy="606273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52D78-67ED-534B-057A-1707923CADFA}"/>
              </a:ext>
            </a:extLst>
          </p:cNvPr>
          <p:cNvCxnSpPr>
            <a:cxnSpLocks/>
          </p:cNvCxnSpPr>
          <p:nvPr/>
        </p:nvCxnSpPr>
        <p:spPr>
          <a:xfrm>
            <a:off x="5202150" y="629587"/>
            <a:ext cx="0" cy="5319362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1AE2B8-D3DC-A380-606A-7E4A0C4811F9}"/>
              </a:ext>
            </a:extLst>
          </p:cNvPr>
          <p:cNvCxnSpPr>
            <a:cxnSpLocks/>
          </p:cNvCxnSpPr>
          <p:nvPr/>
        </p:nvCxnSpPr>
        <p:spPr>
          <a:xfrm>
            <a:off x="6861061" y="629587"/>
            <a:ext cx="0" cy="5319362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8DD7175F-5F1F-12E1-8340-182A5D5FF0FE}"/>
              </a:ext>
            </a:extLst>
          </p:cNvPr>
          <p:cNvSpPr/>
          <p:nvPr/>
        </p:nvSpPr>
        <p:spPr>
          <a:xfrm>
            <a:off x="1571862" y="4234720"/>
            <a:ext cx="2746622" cy="1075818"/>
          </a:xfrm>
          <a:prstGeom prst="borderCallout2">
            <a:avLst>
              <a:gd name="adj1" fmla="val 37065"/>
              <a:gd name="adj2" fmla="val 103418"/>
              <a:gd name="adj3" fmla="val 31338"/>
              <a:gd name="adj4" fmla="val 122337"/>
              <a:gd name="adj5" fmla="val 42894"/>
              <a:gd name="adj6" fmla="val 132128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Hassium-108</a:t>
            </a:r>
            <a:r>
              <a:rPr lang="en-US" sz="1600" dirty="0">
                <a:solidFill>
                  <a:schemeClr val="tx1"/>
                </a:solidFill>
              </a:rPr>
              <a:t> is currently the heaviest element for which we can </a:t>
            </a:r>
            <a:r>
              <a:rPr lang="en-US" sz="1600" u="sng" dirty="0">
                <a:solidFill>
                  <a:schemeClr val="tx1"/>
                </a:solidFill>
              </a:rPr>
              <a:t>measure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i="1" dirty="0">
                <a:solidFill>
                  <a:schemeClr val="tx1"/>
                </a:solidFill>
              </a:rPr>
              <a:t>some</a:t>
            </a:r>
            <a:r>
              <a:rPr lang="en-US" sz="1600" dirty="0">
                <a:solidFill>
                  <a:schemeClr val="tx1"/>
                </a:solidFill>
              </a:rPr>
              <a:t> chemistry</a:t>
            </a:r>
          </a:p>
        </p:txBody>
      </p:sp>
      <p:sp>
        <p:nvSpPr>
          <p:cNvPr id="19" name="Callout: Bent Line 18">
            <a:extLst>
              <a:ext uri="{FF2B5EF4-FFF2-40B4-BE49-F238E27FC236}">
                <a16:creationId xmlns:a16="http://schemas.microsoft.com/office/drawing/2014/main" id="{11F1FCC6-129E-D5EF-5C8D-356615AAE389}"/>
              </a:ext>
            </a:extLst>
          </p:cNvPr>
          <p:cNvSpPr/>
          <p:nvPr/>
        </p:nvSpPr>
        <p:spPr>
          <a:xfrm>
            <a:off x="3950300" y="1837856"/>
            <a:ext cx="2746623" cy="1188595"/>
          </a:xfrm>
          <a:prstGeom prst="borderCallout2">
            <a:avLst>
              <a:gd name="adj1" fmla="val 92995"/>
              <a:gd name="adj2" fmla="val 57130"/>
              <a:gd name="adj3" fmla="val 144899"/>
              <a:gd name="adj4" fmla="val 78223"/>
              <a:gd name="adj5" fmla="val 152489"/>
              <a:gd name="adj6" fmla="val 106293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Carbon</a:t>
            </a:r>
            <a:r>
              <a:rPr lang="en-US" sz="1600" dirty="0">
                <a:solidFill>
                  <a:schemeClr val="tx1"/>
                </a:solidFill>
              </a:rPr>
              <a:t> doesn't have a melting point – it </a:t>
            </a:r>
            <a:r>
              <a:rPr lang="en-US" sz="1600" u="sng" dirty="0">
                <a:solidFill>
                  <a:schemeClr val="tx1"/>
                </a:solidFill>
              </a:rPr>
              <a:t>sublimes</a:t>
            </a:r>
            <a:r>
              <a:rPr lang="en-US" sz="1600" dirty="0">
                <a:solidFill>
                  <a:schemeClr val="tx1"/>
                </a:solidFill>
              </a:rPr>
              <a:t> at 1 atm</a:t>
            </a:r>
            <a:endParaRPr lang="en-US" sz="1600" u="sng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Its boiling point is </a:t>
            </a:r>
            <a:r>
              <a:rPr lang="en-US" sz="1600" i="1" dirty="0">
                <a:solidFill>
                  <a:schemeClr val="tx1"/>
                </a:solidFill>
              </a:rPr>
              <a:t>estimated</a:t>
            </a:r>
            <a:r>
              <a:rPr lang="en-US" sz="1600" dirty="0">
                <a:solidFill>
                  <a:schemeClr val="tx1"/>
                </a:solidFill>
              </a:rPr>
              <a:t> to be </a:t>
            </a:r>
            <a:r>
              <a:rPr lang="en-US" sz="1600" dirty="0">
                <a:solidFill>
                  <a:srgbClr val="FF0000"/>
                </a:solidFill>
              </a:rPr>
              <a:t>8,700°F </a:t>
            </a:r>
            <a:r>
              <a:rPr lang="en-US" sz="1600" dirty="0">
                <a:solidFill>
                  <a:schemeClr val="tx1"/>
                </a:solidFill>
              </a:rPr>
              <a:t>at </a:t>
            </a:r>
            <a:r>
              <a:rPr lang="en-US" sz="1600" dirty="0">
                <a:solidFill>
                  <a:srgbClr val="FF0000"/>
                </a:solidFill>
              </a:rPr>
              <a:t>10 MPa!</a:t>
            </a:r>
          </a:p>
        </p:txBody>
      </p:sp>
    </p:spTree>
    <p:extLst>
      <p:ext uri="{BB962C8B-B14F-4D97-AF65-F5344CB8AC3E}">
        <p14:creationId xmlns:p14="http://schemas.microsoft.com/office/powerpoint/2010/main" val="379981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37516-9C04-1822-850A-E32B4767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C9267-AA01-CDA5-DF30-C15BD78651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633"/>
            <a:ext cx="9144000" cy="60627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E3C3C6-5712-ED3D-9A72-9A418E64C368}"/>
              </a:ext>
            </a:extLst>
          </p:cNvPr>
          <p:cNvSpPr/>
          <p:nvPr/>
        </p:nvSpPr>
        <p:spPr>
          <a:xfrm>
            <a:off x="4469210" y="780504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8DF1B1-597A-2105-309A-50CEB1A6D153}"/>
              </a:ext>
            </a:extLst>
          </p:cNvPr>
          <p:cNvSpPr/>
          <p:nvPr/>
        </p:nvSpPr>
        <p:spPr>
          <a:xfrm>
            <a:off x="4756521" y="1075311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E2202-070E-40A4-CD41-AB399C7D5382}"/>
              </a:ext>
            </a:extLst>
          </p:cNvPr>
          <p:cNvSpPr/>
          <p:nvPr/>
        </p:nvSpPr>
        <p:spPr>
          <a:xfrm>
            <a:off x="4168943" y="1147703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A52486-A57F-E0BF-4965-7BD7ED7D4A39}"/>
              </a:ext>
            </a:extLst>
          </p:cNvPr>
          <p:cNvSpPr/>
          <p:nvPr/>
        </p:nvSpPr>
        <p:spPr>
          <a:xfrm>
            <a:off x="3957012" y="1083408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584925-8F61-13EA-FE7F-9FA8B3E0ADF5}"/>
              </a:ext>
            </a:extLst>
          </p:cNvPr>
          <p:cNvCxnSpPr>
            <a:cxnSpLocks/>
          </p:cNvCxnSpPr>
          <p:nvPr/>
        </p:nvCxnSpPr>
        <p:spPr>
          <a:xfrm>
            <a:off x="4548393" y="879676"/>
            <a:ext cx="0" cy="5069274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C742F5-CC93-0DB0-9E65-0484E2C6CC4A}"/>
              </a:ext>
            </a:extLst>
          </p:cNvPr>
          <p:cNvCxnSpPr>
            <a:cxnSpLocks/>
          </p:cNvCxnSpPr>
          <p:nvPr/>
        </p:nvCxnSpPr>
        <p:spPr>
          <a:xfrm>
            <a:off x="4842847" y="1144503"/>
            <a:ext cx="0" cy="4804447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01E0AE-A7B3-DBDF-2F80-94FB8BB44448}"/>
              </a:ext>
            </a:extLst>
          </p:cNvPr>
          <p:cNvCxnSpPr>
            <a:cxnSpLocks/>
          </p:cNvCxnSpPr>
          <p:nvPr/>
        </p:nvCxnSpPr>
        <p:spPr>
          <a:xfrm>
            <a:off x="4254381" y="1245982"/>
            <a:ext cx="0" cy="4702968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6D5BFA6-4BB4-059C-6154-22DC95B95B11}"/>
              </a:ext>
            </a:extLst>
          </p:cNvPr>
          <p:cNvCxnSpPr>
            <a:cxnSpLocks/>
          </p:cNvCxnSpPr>
          <p:nvPr/>
        </p:nvCxnSpPr>
        <p:spPr>
          <a:xfrm>
            <a:off x="5123579" y="1598951"/>
            <a:ext cx="0" cy="4349999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17A552-5749-3658-499A-477267B70C5D}"/>
              </a:ext>
            </a:extLst>
          </p:cNvPr>
          <p:cNvSpPr/>
          <p:nvPr/>
        </p:nvSpPr>
        <p:spPr>
          <a:xfrm>
            <a:off x="5039634" y="1499898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005BF9-DD04-75A8-5122-6C7BE29D840E}"/>
              </a:ext>
            </a:extLst>
          </p:cNvPr>
          <p:cNvCxnSpPr>
            <a:cxnSpLocks/>
          </p:cNvCxnSpPr>
          <p:nvPr/>
        </p:nvCxnSpPr>
        <p:spPr>
          <a:xfrm>
            <a:off x="4045719" y="1177348"/>
            <a:ext cx="2417" cy="4771602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9C49AA-2BA7-D8ED-E2DB-6A450BEF6D1D}"/>
              </a:ext>
            </a:extLst>
          </p:cNvPr>
          <p:cNvCxnSpPr>
            <a:cxnSpLocks/>
          </p:cNvCxnSpPr>
          <p:nvPr/>
        </p:nvCxnSpPr>
        <p:spPr>
          <a:xfrm>
            <a:off x="3974918" y="1898748"/>
            <a:ext cx="768" cy="4050202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6E95EE1-0811-A377-B35B-8A034AA47CFD}"/>
              </a:ext>
            </a:extLst>
          </p:cNvPr>
          <p:cNvSpPr/>
          <p:nvPr/>
        </p:nvSpPr>
        <p:spPr>
          <a:xfrm>
            <a:off x="3883037" y="1807308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D42BCD-F6B9-0FDE-8134-8A310272368F}"/>
              </a:ext>
            </a:extLst>
          </p:cNvPr>
          <p:cNvCxnSpPr>
            <a:cxnSpLocks/>
          </p:cNvCxnSpPr>
          <p:nvPr/>
        </p:nvCxnSpPr>
        <p:spPr>
          <a:xfrm>
            <a:off x="3899411" y="2081628"/>
            <a:ext cx="0" cy="3867322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1313B73-34E5-264E-5DD6-6A299F591080}"/>
              </a:ext>
            </a:extLst>
          </p:cNvPr>
          <p:cNvSpPr/>
          <p:nvPr/>
        </p:nvSpPr>
        <p:spPr>
          <a:xfrm>
            <a:off x="3809584" y="1977694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E92F4C-5A9D-B857-6139-113A872683B9}"/>
              </a:ext>
            </a:extLst>
          </p:cNvPr>
          <p:cNvSpPr/>
          <p:nvPr/>
        </p:nvSpPr>
        <p:spPr>
          <a:xfrm>
            <a:off x="3743937" y="2827800"/>
            <a:ext cx="182880" cy="18288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7717F6-2C9A-6BF3-DFDD-46C8E08DA2E2}"/>
              </a:ext>
            </a:extLst>
          </p:cNvPr>
          <p:cNvCxnSpPr>
            <a:cxnSpLocks/>
          </p:cNvCxnSpPr>
          <p:nvPr/>
        </p:nvCxnSpPr>
        <p:spPr>
          <a:xfrm flipH="1">
            <a:off x="3824574" y="2931734"/>
            <a:ext cx="0" cy="3017216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114097BA-A491-69FF-E4CE-3B726F01DF09}"/>
              </a:ext>
            </a:extLst>
          </p:cNvPr>
          <p:cNvSpPr/>
          <p:nvPr/>
        </p:nvSpPr>
        <p:spPr>
          <a:xfrm>
            <a:off x="5950262" y="749212"/>
            <a:ext cx="2143593" cy="659863"/>
          </a:xfrm>
          <a:prstGeom prst="borderCallout2">
            <a:avLst>
              <a:gd name="adj1" fmla="val 42603"/>
              <a:gd name="adj2" fmla="val -3088"/>
              <a:gd name="adj3" fmla="val 13897"/>
              <a:gd name="adj4" fmla="val -19814"/>
              <a:gd name="adj5" fmla="val 17839"/>
              <a:gd name="adj6" fmla="val -61352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Tungsten</a:t>
            </a:r>
            <a:r>
              <a:rPr lang="en-US" sz="1600" dirty="0">
                <a:solidFill>
                  <a:schemeClr val="tx1"/>
                </a:solidFill>
              </a:rPr>
              <a:t> is too brittle for airplane wings</a:t>
            </a:r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B92C0EB5-3DFF-0F46-34B5-175FC00C93FD}"/>
              </a:ext>
            </a:extLst>
          </p:cNvPr>
          <p:cNvSpPr/>
          <p:nvPr/>
        </p:nvSpPr>
        <p:spPr>
          <a:xfrm>
            <a:off x="5950262" y="1758723"/>
            <a:ext cx="2143593" cy="401852"/>
          </a:xfrm>
          <a:prstGeom prst="borderCallout2">
            <a:avLst>
              <a:gd name="adj1" fmla="val 16885"/>
              <a:gd name="adj2" fmla="val -5536"/>
              <a:gd name="adj3" fmla="val -119230"/>
              <a:gd name="adj4" fmla="val -19114"/>
              <a:gd name="adj5" fmla="val -148175"/>
              <a:gd name="adj6" fmla="val -42821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Rhenium</a:t>
            </a:r>
            <a:r>
              <a:rPr lang="en-US" sz="1600" dirty="0">
                <a:solidFill>
                  <a:schemeClr val="tx1"/>
                </a:solidFill>
              </a:rPr>
              <a:t> is very rare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F8EB7AF6-6AF1-9780-1605-E0C6A60D5B1E}"/>
              </a:ext>
            </a:extLst>
          </p:cNvPr>
          <p:cNvSpPr/>
          <p:nvPr/>
        </p:nvSpPr>
        <p:spPr>
          <a:xfrm>
            <a:off x="1675628" y="652072"/>
            <a:ext cx="1646010" cy="847827"/>
          </a:xfrm>
          <a:prstGeom prst="borderCallout2">
            <a:avLst>
              <a:gd name="adj1" fmla="val 39981"/>
              <a:gd name="adj2" fmla="val 105092"/>
              <a:gd name="adj3" fmla="val 34298"/>
              <a:gd name="adj4" fmla="val 127593"/>
              <a:gd name="adj5" fmla="val 58301"/>
              <a:gd name="adj6" fmla="val 143219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Rutherfordium</a:t>
            </a:r>
            <a:r>
              <a:rPr lang="en-US" sz="1600" dirty="0">
                <a:solidFill>
                  <a:schemeClr val="tx1"/>
                </a:solidFill>
              </a:rPr>
              <a:t> has a half-life of 48 </a:t>
            </a:r>
            <a:r>
              <a:rPr lang="en-US" sz="1600" i="1" dirty="0">
                <a:solidFill>
                  <a:schemeClr val="tx1"/>
                </a:solidFill>
              </a:rPr>
              <a:t>minutes</a:t>
            </a:r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83F542BF-D529-C0B1-4668-39129DFBB80E}"/>
              </a:ext>
            </a:extLst>
          </p:cNvPr>
          <p:cNvSpPr/>
          <p:nvPr/>
        </p:nvSpPr>
        <p:spPr>
          <a:xfrm>
            <a:off x="1675628" y="1738587"/>
            <a:ext cx="1646010" cy="661094"/>
          </a:xfrm>
          <a:prstGeom prst="borderCallout2">
            <a:avLst>
              <a:gd name="adj1" fmla="val 19648"/>
              <a:gd name="adj2" fmla="val 106003"/>
              <a:gd name="adj3" fmla="val -9594"/>
              <a:gd name="adj4" fmla="val 135334"/>
              <a:gd name="adj5" fmla="val -72629"/>
              <a:gd name="adj6" fmla="val 156114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Tantalum</a:t>
            </a:r>
            <a:r>
              <a:rPr lang="en-US" sz="1600" dirty="0">
                <a:solidFill>
                  <a:schemeClr val="tx1"/>
                </a:solidFill>
              </a:rPr>
              <a:t> is 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conflict resource</a:t>
            </a:r>
          </a:p>
        </p:txBody>
      </p:sp>
      <p:sp>
        <p:nvSpPr>
          <p:cNvPr id="18" name="Callout: Bent Line 17">
            <a:extLst>
              <a:ext uri="{FF2B5EF4-FFF2-40B4-BE49-F238E27FC236}">
                <a16:creationId xmlns:a16="http://schemas.microsoft.com/office/drawing/2014/main" id="{C1A8D74E-08BF-4BF8-8187-BA1125B727CB}"/>
              </a:ext>
            </a:extLst>
          </p:cNvPr>
          <p:cNvSpPr/>
          <p:nvPr/>
        </p:nvSpPr>
        <p:spPr>
          <a:xfrm>
            <a:off x="5950262" y="2408701"/>
            <a:ext cx="2143593" cy="401852"/>
          </a:xfrm>
          <a:prstGeom prst="borderCallout2">
            <a:avLst>
              <a:gd name="adj1" fmla="val 22480"/>
              <a:gd name="adj2" fmla="val -4137"/>
              <a:gd name="adj3" fmla="val -106174"/>
              <a:gd name="adj4" fmla="val -14918"/>
              <a:gd name="adj5" fmla="val -200399"/>
              <a:gd name="adj6" fmla="val -37227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Osmium</a:t>
            </a:r>
            <a:r>
              <a:rPr lang="en-US" sz="1600" dirty="0">
                <a:solidFill>
                  <a:schemeClr val="tx1"/>
                </a:solidFill>
              </a:rPr>
              <a:t> is </a:t>
            </a:r>
            <a:r>
              <a:rPr lang="en-US" sz="1600" i="1" dirty="0">
                <a:solidFill>
                  <a:schemeClr val="tx1"/>
                </a:solidFill>
              </a:rPr>
              <a:t>ultra</a:t>
            </a:r>
            <a:r>
              <a:rPr lang="en-US" sz="1600" dirty="0">
                <a:solidFill>
                  <a:schemeClr val="tx1"/>
                </a:solidFill>
              </a:rPr>
              <a:t> rare</a:t>
            </a:r>
          </a:p>
        </p:txBody>
      </p:sp>
      <p:sp>
        <p:nvSpPr>
          <p:cNvPr id="19" name="Callout: Bent Line 18">
            <a:extLst>
              <a:ext uri="{FF2B5EF4-FFF2-40B4-BE49-F238E27FC236}">
                <a16:creationId xmlns:a16="http://schemas.microsoft.com/office/drawing/2014/main" id="{8C3096AD-F738-1933-F371-98D72B49FBC5}"/>
              </a:ext>
            </a:extLst>
          </p:cNvPr>
          <p:cNvSpPr/>
          <p:nvPr/>
        </p:nvSpPr>
        <p:spPr>
          <a:xfrm>
            <a:off x="5343057" y="3099068"/>
            <a:ext cx="2750798" cy="659863"/>
          </a:xfrm>
          <a:prstGeom prst="borderCallout2">
            <a:avLst>
              <a:gd name="adj1" fmla="val -8511"/>
              <a:gd name="adj2" fmla="val 6003"/>
              <a:gd name="adj3" fmla="val -132628"/>
              <a:gd name="adj4" fmla="val -16667"/>
              <a:gd name="adj5" fmla="val -176392"/>
              <a:gd name="adj6" fmla="val -47106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Hafnium</a:t>
            </a:r>
            <a:r>
              <a:rPr lang="en-US" sz="1600" dirty="0">
                <a:solidFill>
                  <a:schemeClr val="tx1"/>
                </a:solidFill>
              </a:rPr>
              <a:t> spontaneously combusts when exposed to air</a:t>
            </a:r>
          </a:p>
        </p:txBody>
      </p:sp>
      <p:sp>
        <p:nvSpPr>
          <p:cNvPr id="21" name="Callout: Bent Line 20">
            <a:extLst>
              <a:ext uri="{FF2B5EF4-FFF2-40B4-BE49-F238E27FC236}">
                <a16:creationId xmlns:a16="http://schemas.microsoft.com/office/drawing/2014/main" id="{E24F5E36-FB97-0B77-5459-677A6C90E18C}"/>
              </a:ext>
            </a:extLst>
          </p:cNvPr>
          <p:cNvSpPr/>
          <p:nvPr/>
        </p:nvSpPr>
        <p:spPr>
          <a:xfrm>
            <a:off x="822427" y="2767905"/>
            <a:ext cx="2499211" cy="1211984"/>
          </a:xfrm>
          <a:prstGeom prst="borderCallout2">
            <a:avLst>
              <a:gd name="adj1" fmla="val 9753"/>
              <a:gd name="adj2" fmla="val 102404"/>
              <a:gd name="adj3" fmla="val -19489"/>
              <a:gd name="adj4" fmla="val 106844"/>
              <a:gd name="adj5" fmla="val -54695"/>
              <a:gd name="adj6" fmla="val 121626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Zirconium</a:t>
            </a:r>
            <a:r>
              <a:rPr lang="en-US" sz="1600" dirty="0">
                <a:solidFill>
                  <a:schemeClr val="tx1"/>
                </a:solidFill>
              </a:rPr>
              <a:t> reacts with water at high temperatures </a:t>
            </a:r>
            <a:r>
              <a:rPr lang="en-US" sz="1600" dirty="0">
                <a:solidFill>
                  <a:srgbClr val="FF0000"/>
                </a:solidFill>
              </a:rPr>
              <a:t>At Mach 3 airplane skin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temperatures reach 900 °C</a:t>
            </a:r>
          </a:p>
        </p:txBody>
      </p:sp>
      <p:sp>
        <p:nvSpPr>
          <p:cNvPr id="22" name="Callout: Bent Line 21">
            <a:extLst>
              <a:ext uri="{FF2B5EF4-FFF2-40B4-BE49-F238E27FC236}">
                <a16:creationId xmlns:a16="http://schemas.microsoft.com/office/drawing/2014/main" id="{9235EBA9-4E1B-1C8F-A242-C20FE09F7C35}"/>
              </a:ext>
            </a:extLst>
          </p:cNvPr>
          <p:cNvSpPr/>
          <p:nvPr/>
        </p:nvSpPr>
        <p:spPr>
          <a:xfrm>
            <a:off x="5343057" y="4160656"/>
            <a:ext cx="2750798" cy="659863"/>
          </a:xfrm>
          <a:prstGeom prst="borderCallout2">
            <a:avLst>
              <a:gd name="adj1" fmla="val -8511"/>
              <a:gd name="adj2" fmla="val 6003"/>
              <a:gd name="adj3" fmla="val -148530"/>
              <a:gd name="adj4" fmla="val -24569"/>
              <a:gd name="adj5" fmla="val -183207"/>
              <a:gd name="adj6" fmla="val -51466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Titanium</a:t>
            </a:r>
            <a:r>
              <a:rPr lang="en-US" sz="1600" dirty="0">
                <a:solidFill>
                  <a:schemeClr val="tx1"/>
                </a:solidFill>
              </a:rPr>
              <a:t> has excellent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</a:rPr>
              <a:t>ductility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u="sng" dirty="0">
                <a:solidFill>
                  <a:schemeClr val="tx1"/>
                </a:solidFill>
              </a:rPr>
              <a:t>strength</a:t>
            </a:r>
            <a:r>
              <a:rPr lang="en-US" sz="160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2E9D20-C68C-7B9D-8127-8FD3ADB39F6E}"/>
              </a:ext>
            </a:extLst>
          </p:cNvPr>
          <p:cNvSpPr txBox="1"/>
          <p:nvPr/>
        </p:nvSpPr>
        <p:spPr>
          <a:xfrm>
            <a:off x="1003555" y="4820519"/>
            <a:ext cx="2207642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What material should we use to build a</a:t>
            </a:r>
          </a:p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supersonic airplane?</a:t>
            </a:r>
          </a:p>
        </p:txBody>
      </p:sp>
    </p:spTree>
    <p:extLst>
      <p:ext uri="{BB962C8B-B14F-4D97-AF65-F5344CB8AC3E}">
        <p14:creationId xmlns:p14="http://schemas.microsoft.com/office/powerpoint/2010/main" val="280143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29" grpId="0" animBg="1"/>
      <p:bldP spid="33" grpId="0" animBg="1"/>
      <p:bldP spid="36" grpId="0" animBg="1"/>
      <p:bldP spid="38" grpId="0" animBg="1"/>
      <p:bldP spid="3" grpId="0" animBg="1"/>
      <p:bldP spid="4" grpId="0" animBg="1"/>
      <p:bldP spid="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37516-9C04-1822-850A-E32B4767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C9267-AA01-CDA5-DF30-C15BD78651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633"/>
            <a:ext cx="9144000" cy="60627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F42344-785A-DAF4-9737-0A1AD9DD89CA}"/>
              </a:ext>
            </a:extLst>
          </p:cNvPr>
          <p:cNvSpPr/>
          <p:nvPr/>
        </p:nvSpPr>
        <p:spPr>
          <a:xfrm>
            <a:off x="1983581" y="3864769"/>
            <a:ext cx="230981" cy="1092994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292983-B282-9916-489A-7BA337AFA281}"/>
              </a:ext>
            </a:extLst>
          </p:cNvPr>
          <p:cNvSpPr/>
          <p:nvPr/>
        </p:nvSpPr>
        <p:spPr>
          <a:xfrm>
            <a:off x="2486025" y="3864769"/>
            <a:ext cx="230981" cy="1092994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04056-5377-401D-16C1-EE21F5A189C1}"/>
              </a:ext>
            </a:extLst>
          </p:cNvPr>
          <p:cNvSpPr/>
          <p:nvPr/>
        </p:nvSpPr>
        <p:spPr>
          <a:xfrm>
            <a:off x="3357563" y="3864769"/>
            <a:ext cx="230981" cy="1092994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1AF805-A83E-6831-3698-C8186E700DC4}"/>
              </a:ext>
            </a:extLst>
          </p:cNvPr>
          <p:cNvSpPr/>
          <p:nvPr/>
        </p:nvSpPr>
        <p:spPr>
          <a:xfrm>
            <a:off x="978691" y="3467100"/>
            <a:ext cx="230981" cy="162163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B33AAB2-70F6-6EE9-E787-CD4BB7EF0367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088868" y="5088732"/>
            <a:ext cx="5314" cy="860218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777F15-2D82-9D01-0AD6-6C645E4E9C3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99071" y="4957763"/>
            <a:ext cx="1" cy="991187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AAB956-0641-C05A-1274-06F8AA173B2D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601515" y="4957763"/>
            <a:ext cx="1" cy="991187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52D78-67ED-534B-057A-1707923CADFA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473053" y="4957763"/>
            <a:ext cx="1" cy="991187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llout: Bent Line 24">
            <a:extLst>
              <a:ext uri="{FF2B5EF4-FFF2-40B4-BE49-F238E27FC236}">
                <a16:creationId xmlns:a16="http://schemas.microsoft.com/office/drawing/2014/main" id="{5E8D3B28-3D4A-327A-D4E4-71EA7669F383}"/>
              </a:ext>
            </a:extLst>
          </p:cNvPr>
          <p:cNvSpPr/>
          <p:nvPr/>
        </p:nvSpPr>
        <p:spPr>
          <a:xfrm>
            <a:off x="1522490" y="1095300"/>
            <a:ext cx="2262526" cy="1018313"/>
          </a:xfrm>
          <a:prstGeom prst="borderCallout2">
            <a:avLst>
              <a:gd name="adj1" fmla="val 28071"/>
              <a:gd name="adj2" fmla="val -3088"/>
              <a:gd name="adj3" fmla="val 56352"/>
              <a:gd name="adj4" fmla="val -13434"/>
              <a:gd name="adj5" fmla="val 221563"/>
              <a:gd name="adj6" fmla="val -18644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Beryllium</a:t>
            </a:r>
            <a:r>
              <a:rPr lang="en-US" sz="1600" dirty="0">
                <a:solidFill>
                  <a:schemeClr val="tx1"/>
                </a:solidFill>
              </a:rPr>
              <a:t> is 50% stronger than steel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Liquid-fuel rockets use nozzles of pure beryllium</a:t>
            </a:r>
          </a:p>
        </p:txBody>
      </p:sp>
      <p:sp>
        <p:nvSpPr>
          <p:cNvPr id="26" name="Callout: Bent Line 25">
            <a:extLst>
              <a:ext uri="{FF2B5EF4-FFF2-40B4-BE49-F238E27FC236}">
                <a16:creationId xmlns:a16="http://schemas.microsoft.com/office/drawing/2014/main" id="{05BAA0D1-3CF8-356C-5EAE-4C84084636AE}"/>
              </a:ext>
            </a:extLst>
          </p:cNvPr>
          <p:cNvSpPr/>
          <p:nvPr/>
        </p:nvSpPr>
        <p:spPr>
          <a:xfrm>
            <a:off x="2214562" y="2410688"/>
            <a:ext cx="2357438" cy="795920"/>
          </a:xfrm>
          <a:prstGeom prst="borderCallout2">
            <a:avLst>
              <a:gd name="adj1" fmla="val 45021"/>
              <a:gd name="adj2" fmla="val -3406"/>
              <a:gd name="adj3" fmla="val 83185"/>
              <a:gd name="adj4" fmla="val -17344"/>
              <a:gd name="adj5" fmla="val 179967"/>
              <a:gd name="adj6" fmla="val -6118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Europium</a:t>
            </a:r>
            <a:r>
              <a:rPr lang="en-US" sz="1600" dirty="0">
                <a:solidFill>
                  <a:schemeClr val="tx1"/>
                </a:solidFill>
              </a:rPr>
              <a:t> is used to identify counterfeit Euros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1A8768F-1151-830E-BEA9-F5E41A98C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83" y="948878"/>
            <a:ext cx="2804367" cy="1461810"/>
          </a:xfrm>
          <a:prstGeom prst="rect">
            <a:avLst/>
          </a:prstGeom>
        </p:spPr>
      </p:pic>
      <p:sp>
        <p:nvSpPr>
          <p:cNvPr id="34" name="Callout: Bent Line 33">
            <a:extLst>
              <a:ext uri="{FF2B5EF4-FFF2-40B4-BE49-F238E27FC236}">
                <a16:creationId xmlns:a16="http://schemas.microsoft.com/office/drawing/2014/main" id="{68099D30-6666-075B-84C2-B885A45A495F}"/>
              </a:ext>
            </a:extLst>
          </p:cNvPr>
          <p:cNvSpPr/>
          <p:nvPr/>
        </p:nvSpPr>
        <p:spPr>
          <a:xfrm>
            <a:off x="4376739" y="3395009"/>
            <a:ext cx="1724258" cy="795920"/>
          </a:xfrm>
          <a:prstGeom prst="borderCallout2">
            <a:avLst>
              <a:gd name="adj1" fmla="val 45021"/>
              <a:gd name="adj2" fmla="val -3406"/>
              <a:gd name="adj3" fmla="val 19150"/>
              <a:gd name="adj4" fmla="val -62491"/>
              <a:gd name="adj5" fmla="val 72615"/>
              <a:gd name="adj6" fmla="val -92063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Ytterbium</a:t>
            </a:r>
            <a:r>
              <a:rPr lang="en-US" sz="1600" dirty="0">
                <a:solidFill>
                  <a:schemeClr val="tx1"/>
                </a:solidFill>
              </a:rPr>
              <a:t> is used to make </a:t>
            </a:r>
            <a:r>
              <a:rPr lang="en-US" sz="1600" i="1" dirty="0">
                <a:solidFill>
                  <a:schemeClr val="tx1"/>
                </a:solidFill>
              </a:rPr>
              <a:t>flexible</a:t>
            </a:r>
            <a:r>
              <a:rPr lang="en-US" sz="1600" dirty="0">
                <a:solidFill>
                  <a:schemeClr val="tx1"/>
                </a:solidFill>
              </a:rPr>
              <a:t> (fiber) </a:t>
            </a:r>
            <a:r>
              <a:rPr lang="en-US" sz="1600" u="sng" dirty="0">
                <a:solidFill>
                  <a:schemeClr val="tx1"/>
                </a:solidFill>
              </a:rPr>
              <a:t>lasers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7943CB7-DA83-710B-F4D3-94D718F49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937" y="2582987"/>
            <a:ext cx="2340869" cy="1588011"/>
          </a:xfrm>
          <a:prstGeom prst="rect">
            <a:avLst/>
          </a:prstGeom>
        </p:spPr>
      </p:pic>
      <p:sp>
        <p:nvSpPr>
          <p:cNvPr id="41" name="Callout: Bent Line 40">
            <a:extLst>
              <a:ext uri="{FF2B5EF4-FFF2-40B4-BE49-F238E27FC236}">
                <a16:creationId xmlns:a16="http://schemas.microsoft.com/office/drawing/2014/main" id="{1D6F9226-3508-B960-F674-811C3C71EFAC}"/>
              </a:ext>
            </a:extLst>
          </p:cNvPr>
          <p:cNvSpPr/>
          <p:nvPr/>
        </p:nvSpPr>
        <p:spPr>
          <a:xfrm>
            <a:off x="4376739" y="4559803"/>
            <a:ext cx="1724258" cy="795920"/>
          </a:xfrm>
          <a:prstGeom prst="borderCallout2">
            <a:avLst>
              <a:gd name="adj1" fmla="val 45021"/>
              <a:gd name="adj2" fmla="val -4710"/>
              <a:gd name="adj3" fmla="val -17576"/>
              <a:gd name="adj4" fmla="val -32498"/>
              <a:gd name="adj5" fmla="val 2930"/>
              <a:gd name="adj6" fmla="val -43813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Einsteinium</a:t>
            </a:r>
            <a:r>
              <a:rPr lang="en-US" sz="1600" dirty="0">
                <a:solidFill>
                  <a:schemeClr val="tx1"/>
                </a:solidFill>
              </a:rPr>
              <a:t> produces 1000W of heat per gram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8F425F7-AAAD-9EC0-8DAD-38033C1AE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266" y="4559019"/>
            <a:ext cx="1201185" cy="177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3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25" grpId="0" animBg="1"/>
      <p:bldP spid="26" grpId="0" animBg="1"/>
      <p:bldP spid="34" grpId="0" animBg="1"/>
      <p:bldP spid="4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How Energetic is Einsteinium?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FD772-4A3A-CCE3-53D6-4845A05CF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266" y="4559019"/>
            <a:ext cx="1201185" cy="17708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C6801F-AD4C-1836-62A0-58C14D58D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5" y="1950358"/>
            <a:ext cx="3911525" cy="2200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7A82F-8F0A-A72E-18EC-DA03C1807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126" y="1956211"/>
            <a:ext cx="3901117" cy="21943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3AC54C-9F0C-8108-7E47-BAD37947B3A1}"/>
              </a:ext>
            </a:extLst>
          </p:cNvPr>
          <p:cNvSpPr txBox="1"/>
          <p:nvPr/>
        </p:nvSpPr>
        <p:spPr>
          <a:xfrm>
            <a:off x="4376739" y="4551524"/>
            <a:ext cx="1724258" cy="83099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6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Einsteinium</a:t>
            </a:r>
            <a:r>
              <a:rPr lang="en-US" b="0" dirty="0">
                <a:solidFill>
                  <a:schemeClr val="tx1"/>
                </a:solidFill>
              </a:rPr>
              <a:t> produces 1000W of heat per 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ECC1E-021F-87D6-A678-E6158F9639DB}"/>
              </a:ext>
            </a:extLst>
          </p:cNvPr>
          <p:cNvSpPr txBox="1"/>
          <p:nvPr/>
        </p:nvSpPr>
        <p:spPr>
          <a:xfrm>
            <a:off x="1872158" y="1508275"/>
            <a:ext cx="167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5 oz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61581-3205-A155-A117-9211C3115701}"/>
              </a:ext>
            </a:extLst>
          </p:cNvPr>
          <p:cNvSpPr txBox="1"/>
          <p:nvPr/>
        </p:nvSpPr>
        <p:spPr>
          <a:xfrm>
            <a:off x="6066235" y="1508275"/>
            <a:ext cx="167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190 hp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128814-DCB5-9FFE-8005-F47E299B9748}"/>
                  </a:ext>
                </a:extLst>
              </p:cNvPr>
              <p:cNvSpPr txBox="1"/>
              <p:nvPr/>
            </p:nvSpPr>
            <p:spPr>
              <a:xfrm>
                <a:off x="628650" y="4687226"/>
                <a:ext cx="3363485" cy="574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28.35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𝑜𝑧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𝑘𝑊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141.7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128814-DCB5-9FFE-8005-F47E299B9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687226"/>
                <a:ext cx="3363485" cy="5745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2477F4-FF41-430C-CBF2-2E1AB04D1793}"/>
                  </a:ext>
                </a:extLst>
              </p:cNvPr>
              <p:cNvSpPr txBox="1"/>
              <p:nvPr/>
            </p:nvSpPr>
            <p:spPr>
              <a:xfrm>
                <a:off x="720886" y="5535486"/>
                <a:ext cx="3179012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141.7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𝑘𝑊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1.34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=190.02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2477F4-FF41-430C-CBF2-2E1AB04D1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86" y="5535486"/>
                <a:ext cx="3179012" cy="525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327A204-4C5E-E21B-37E9-AEC80745FD54}"/>
              </a:ext>
            </a:extLst>
          </p:cNvPr>
          <p:cNvSpPr/>
          <p:nvPr/>
        </p:nvSpPr>
        <p:spPr>
          <a:xfrm>
            <a:off x="2488367" y="1566472"/>
            <a:ext cx="464695" cy="2548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A3D88-09B1-7C48-531B-E308CB789E07}"/>
              </a:ext>
            </a:extLst>
          </p:cNvPr>
          <p:cNvSpPr/>
          <p:nvPr/>
        </p:nvSpPr>
        <p:spPr>
          <a:xfrm>
            <a:off x="628650" y="4672236"/>
            <a:ext cx="464695" cy="2548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01793B-5B57-BA97-D3D2-D98BAE8188E3}"/>
              </a:ext>
            </a:extLst>
          </p:cNvPr>
          <p:cNvSpPr/>
          <p:nvPr/>
        </p:nvSpPr>
        <p:spPr>
          <a:xfrm>
            <a:off x="2883732" y="5701005"/>
            <a:ext cx="1016165" cy="2548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D4317-036F-0C00-EF65-0DDB0D1763EB}"/>
              </a:ext>
            </a:extLst>
          </p:cNvPr>
          <p:cNvSpPr/>
          <p:nvPr/>
        </p:nvSpPr>
        <p:spPr>
          <a:xfrm>
            <a:off x="6397601" y="1566472"/>
            <a:ext cx="1016165" cy="2548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7183769-914D-4CE7-E8DA-896038078CAC}"/>
              </a:ext>
            </a:extLst>
          </p:cNvPr>
          <p:cNvCxnSpPr>
            <a:cxnSpLocks/>
            <a:stCxn id="12" idx="1"/>
            <a:endCxn id="13" idx="1"/>
          </p:cNvCxnSpPr>
          <p:nvPr/>
        </p:nvCxnSpPr>
        <p:spPr>
          <a:xfrm rot="10800000" flipV="1">
            <a:off x="628651" y="1693889"/>
            <a:ext cx="1859717" cy="3105764"/>
          </a:xfrm>
          <a:prstGeom prst="bentConnector3">
            <a:avLst>
              <a:gd name="adj1" fmla="val 112292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929521D-21BD-20E3-0025-33447A05A51D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3899897" y="1693889"/>
            <a:ext cx="2497704" cy="4134533"/>
          </a:xfrm>
          <a:prstGeom prst="bentConnector3">
            <a:avLst>
              <a:gd name="adj1" fmla="val 18492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99CDAB9-C4BE-2CE7-64C8-8255BF4A12E1}"/>
              </a:ext>
            </a:extLst>
          </p:cNvPr>
          <p:cNvSpPr/>
          <p:nvPr/>
        </p:nvSpPr>
        <p:spPr>
          <a:xfrm>
            <a:off x="5310817" y="4852461"/>
            <a:ext cx="670258" cy="2548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B97855-6AB0-AFAD-795B-CFD294F82F80}"/>
              </a:ext>
            </a:extLst>
          </p:cNvPr>
          <p:cNvSpPr/>
          <p:nvPr/>
        </p:nvSpPr>
        <p:spPr>
          <a:xfrm>
            <a:off x="2226038" y="4672235"/>
            <a:ext cx="547141" cy="2548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D650717-BB58-50FD-1AE7-BC824CDDA9B7}"/>
              </a:ext>
            </a:extLst>
          </p:cNvPr>
          <p:cNvCxnSpPr>
            <a:cxnSpLocks/>
            <a:stCxn id="24" idx="3"/>
            <a:endCxn id="25" idx="0"/>
          </p:cNvCxnSpPr>
          <p:nvPr/>
        </p:nvCxnSpPr>
        <p:spPr>
          <a:xfrm flipH="1" flipV="1">
            <a:off x="2499609" y="4672235"/>
            <a:ext cx="3481466" cy="307643"/>
          </a:xfrm>
          <a:prstGeom prst="bentConnector4">
            <a:avLst>
              <a:gd name="adj1" fmla="val -6566"/>
              <a:gd name="adj2" fmla="val 17430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8D9D61-E24F-D312-C310-4B946DF939DD}"/>
              </a:ext>
            </a:extLst>
          </p:cNvPr>
          <p:cNvSpPr txBox="1"/>
          <p:nvPr/>
        </p:nvSpPr>
        <p:spPr>
          <a:xfrm>
            <a:off x="7055812" y="3719289"/>
            <a:ext cx="1765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2019 Mazda Miata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2DFA4F-665C-497D-FC3E-1958C155084E}"/>
              </a:ext>
            </a:extLst>
          </p:cNvPr>
          <p:cNvSpPr txBox="1"/>
          <p:nvPr/>
        </p:nvSpPr>
        <p:spPr>
          <a:xfrm>
            <a:off x="4491801" y="5501523"/>
            <a:ext cx="16380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Five pounds </a:t>
            </a:r>
            <a:r>
              <a:rPr lang="en-US" sz="1400" dirty="0">
                <a:solidFill>
                  <a:srgbClr val="FF0000"/>
                </a:solidFill>
              </a:rPr>
              <a:t>of Einsteinium would power a Miata </a:t>
            </a:r>
            <a:r>
              <a:rPr lang="en-US" sz="1400" i="1" dirty="0">
                <a:solidFill>
                  <a:srgbClr val="FF0000"/>
                </a:solidFill>
              </a:rPr>
              <a:t>continuously</a:t>
            </a:r>
            <a:r>
              <a:rPr lang="en-US" sz="1400" dirty="0">
                <a:solidFill>
                  <a:srgbClr val="FF0000"/>
                </a:solidFill>
              </a:rPr>
              <a:t> for a </a:t>
            </a:r>
            <a:r>
              <a:rPr lang="en-US" sz="1400" b="1" dirty="0">
                <a:solidFill>
                  <a:srgbClr val="FF0000"/>
                </a:solidFill>
              </a:rPr>
              <a:t>whole year!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1F1E15-030C-0404-7E29-5337156AF67B}"/>
              </a:ext>
            </a:extLst>
          </p:cNvPr>
          <p:cNvSpPr txBox="1"/>
          <p:nvPr/>
        </p:nvSpPr>
        <p:spPr>
          <a:xfrm>
            <a:off x="7882116" y="5501523"/>
            <a:ext cx="10235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vs. </a:t>
            </a:r>
            <a:r>
              <a:rPr lang="en-US" sz="1400" b="1" dirty="0">
                <a:solidFill>
                  <a:srgbClr val="FF0000"/>
                </a:solidFill>
              </a:rPr>
              <a:t>2,835 pounds</a:t>
            </a:r>
            <a:r>
              <a:rPr lang="en-US" sz="1400" dirty="0">
                <a:solidFill>
                  <a:srgbClr val="FF0000"/>
                </a:solidFill>
              </a:rPr>
              <a:t> of gasoline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01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24" grpId="0" animBg="1"/>
      <p:bldP spid="25" grpId="0" animBg="1"/>
      <p:bldP spid="2" grpId="0"/>
      <p:bldP spid="16" grpId="0"/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DATA.GOV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18A00-9036-59A2-8537-C885D15B2EA4}"/>
              </a:ext>
            </a:extLst>
          </p:cNvPr>
          <p:cNvSpPr txBox="1"/>
          <p:nvPr/>
        </p:nvSpPr>
        <p:spPr>
          <a:xfrm>
            <a:off x="2286000" y="13368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https://catalog.data.gov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C665AF-2314-4EB7-2A2A-0D2318708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970" y="1918659"/>
            <a:ext cx="5542059" cy="45742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EBB0270-39B5-ED75-068C-49C1DC747872}"/>
              </a:ext>
            </a:extLst>
          </p:cNvPr>
          <p:cNvSpPr/>
          <p:nvPr/>
        </p:nvSpPr>
        <p:spPr>
          <a:xfrm>
            <a:off x="3415276" y="2825646"/>
            <a:ext cx="3165406" cy="2248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82E65-9947-BABB-C2A2-D60569403896}"/>
              </a:ext>
            </a:extLst>
          </p:cNvPr>
          <p:cNvSpPr/>
          <p:nvPr/>
        </p:nvSpPr>
        <p:spPr>
          <a:xfrm>
            <a:off x="1948738" y="2372192"/>
            <a:ext cx="412213" cy="2248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7ABB5EF-B618-9350-2EED-809611EC2295}"/>
              </a:ext>
            </a:extLst>
          </p:cNvPr>
          <p:cNvCxnSpPr/>
          <p:nvPr/>
        </p:nvCxnSpPr>
        <p:spPr>
          <a:xfrm>
            <a:off x="2383436" y="2495862"/>
            <a:ext cx="1031840" cy="449705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46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 animBg="1"/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Amazon Open Data 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825698-9985-35F2-1BB9-7E192CE1E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90" y="2008526"/>
            <a:ext cx="7742420" cy="40749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318A00-9036-59A2-8537-C885D15B2EA4}"/>
              </a:ext>
            </a:extLst>
          </p:cNvPr>
          <p:cNvSpPr txBox="1"/>
          <p:nvPr/>
        </p:nvSpPr>
        <p:spPr>
          <a:xfrm>
            <a:off x="2286000" y="128436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https://registry.opendata.aws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B74902-0A31-3294-22CE-BBB41599CFDC}"/>
              </a:ext>
            </a:extLst>
          </p:cNvPr>
          <p:cNvSpPr/>
          <p:nvPr/>
        </p:nvSpPr>
        <p:spPr>
          <a:xfrm>
            <a:off x="700790" y="4557010"/>
            <a:ext cx="3009276" cy="2248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2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Kaggle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18A00-9036-59A2-8537-C885D15B2EA4}"/>
              </a:ext>
            </a:extLst>
          </p:cNvPr>
          <p:cNvSpPr txBox="1"/>
          <p:nvPr/>
        </p:nvSpPr>
        <p:spPr>
          <a:xfrm>
            <a:off x="2106118" y="1284367"/>
            <a:ext cx="4931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https://www.kaggle.com/datasets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62644F-32A4-0EEA-AABD-C23F76985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226" y="1865746"/>
            <a:ext cx="6383548" cy="4777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9D2FEB-056E-7827-5D20-11D679D281E5}"/>
              </a:ext>
            </a:extLst>
          </p:cNvPr>
          <p:cNvSpPr/>
          <p:nvPr/>
        </p:nvSpPr>
        <p:spPr>
          <a:xfrm>
            <a:off x="3227899" y="3492708"/>
            <a:ext cx="1568953" cy="2248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0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1A747-62C9-F4BF-9368-3C4E38F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4B24-94A3-3B19-06C3-6F1BA303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8B607-BCD5-6915-3BD5-2494427AD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Not all </a:t>
            </a:r>
            <a:r>
              <a:rPr lang="en-US" sz="2400" b="1" dirty="0">
                <a:solidFill>
                  <a:srgbClr val="00B050"/>
                </a:solidFill>
              </a:rPr>
              <a:t>valuable</a:t>
            </a:r>
            <a:r>
              <a:rPr lang="en-US" sz="2400" dirty="0"/>
              <a:t> available online data sources are readily packaged as CSV or JSON files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Some potentially instrumental data sources exist purely as </a:t>
            </a:r>
            <a:r>
              <a:rPr lang="en-US" sz="2400" b="1" dirty="0">
                <a:solidFill>
                  <a:srgbClr val="0070C0"/>
                </a:solidFill>
              </a:rPr>
              <a:t>static HTML </a:t>
            </a:r>
            <a:r>
              <a:rPr lang="en-US" sz="2400" dirty="0"/>
              <a:t>web pages on the </a:t>
            </a:r>
            <a:r>
              <a:rPr lang="en-US" sz="2400" u="sng" dirty="0"/>
              <a:t>public</a:t>
            </a:r>
            <a:r>
              <a:rPr lang="en-US" sz="2400" dirty="0"/>
              <a:t> Internet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Newer and more complicated web pages may be </a:t>
            </a:r>
            <a:r>
              <a:rPr lang="en-US" sz="2400" b="1" dirty="0">
                <a:solidFill>
                  <a:srgbClr val="FF0000"/>
                </a:solidFill>
              </a:rPr>
              <a:t>dynamically rendered </a:t>
            </a:r>
            <a:r>
              <a:rPr lang="en-US" sz="2400" dirty="0"/>
              <a:t>using </a:t>
            </a:r>
            <a:r>
              <a:rPr lang="en-US" sz="2400" b="1" dirty="0"/>
              <a:t>JavaScript</a:t>
            </a:r>
            <a:r>
              <a:rPr lang="en-US" sz="2400" dirty="0"/>
              <a:t> libraries such as AJAX, React, and Node.js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need a way for our Python script </a:t>
            </a:r>
            <a:r>
              <a:rPr lang="en-US" sz="2400" i="1" dirty="0"/>
              <a:t>to pretend to be a web browser</a:t>
            </a:r>
            <a:r>
              <a:rPr lang="en-US" sz="2400" dirty="0"/>
              <a:t>, visit a website, and </a:t>
            </a:r>
            <a:r>
              <a:rPr lang="en-US" sz="2400" b="1" dirty="0">
                <a:solidFill>
                  <a:srgbClr val="7030A0"/>
                </a:solidFill>
              </a:rPr>
              <a:t>mimic a human</a:t>
            </a:r>
            <a:r>
              <a:rPr lang="en-US" sz="2400" dirty="0"/>
              <a:t> manually surfing the site’s data-centric webpages while extracting crucial information from the returned 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034AC-1B27-CEB2-9F92-08386AC10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9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A51AD-0DAE-717E-0358-28EC2592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211D-3520-6084-BA43-91111253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933A-108E-997E-8886-9A7782A9E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u="sng" dirty="0"/>
              <a:t>free &amp; open-source</a:t>
            </a:r>
            <a:r>
              <a:rPr lang="en-US" sz="2400" dirty="0"/>
              <a:t> library </a:t>
            </a:r>
            <a:r>
              <a:rPr lang="en-US" sz="2400" b="1" dirty="0">
                <a:solidFill>
                  <a:srgbClr val="7030A0"/>
                </a:solidFill>
              </a:rPr>
              <a:t>Selenium</a:t>
            </a:r>
            <a:r>
              <a:rPr lang="en-US" sz="2400" dirty="0"/>
              <a:t> allows your Python script to </a:t>
            </a:r>
            <a:r>
              <a:rPr lang="en-US" sz="2400" i="1" dirty="0"/>
              <a:t>programmatically</a:t>
            </a:r>
            <a:r>
              <a:rPr lang="en-US" sz="2400" dirty="0"/>
              <a:t> drive web browsers to extract the HTML that is rendered by the target website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7030A0"/>
                </a:solidFill>
              </a:rPr>
              <a:t>Selenium</a:t>
            </a:r>
            <a:r>
              <a:rPr lang="en-US" sz="2400" dirty="0"/>
              <a:t> library is a tool for automating web browser interactions, commonly used for </a:t>
            </a:r>
            <a:r>
              <a:rPr lang="en-US" sz="2400" b="1" dirty="0">
                <a:solidFill>
                  <a:srgbClr val="00B050"/>
                </a:solidFill>
              </a:rPr>
              <a:t>testing web applications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Selenium supports </a:t>
            </a:r>
            <a:r>
              <a:rPr lang="en-US" sz="2400" b="1" dirty="0">
                <a:solidFill>
                  <a:srgbClr val="0070C0"/>
                </a:solidFill>
              </a:rPr>
              <a:t>major browsers</a:t>
            </a:r>
            <a:r>
              <a:rPr lang="en-US" sz="2400" dirty="0"/>
              <a:t> (Chrome, Firefox, Safari, etc.) and works across different operating systems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Selenium </a:t>
            </a:r>
            <a:r>
              <a:rPr lang="en-US" sz="2400" b="1" dirty="0">
                <a:solidFill>
                  <a:srgbClr val="FF0000"/>
                </a:solidFill>
              </a:rPr>
              <a:t>mimics web page interaction</a:t>
            </a:r>
            <a:r>
              <a:rPr lang="en-US" sz="2400" dirty="0"/>
              <a:t> &amp; parsing, which includes allowing navigation, form submission, and </a:t>
            </a:r>
            <a:r>
              <a:rPr lang="en-US" sz="2400" b="1" dirty="0">
                <a:solidFill>
                  <a:srgbClr val="7030A0"/>
                </a:solidFill>
              </a:rPr>
              <a:t>page content extraction</a:t>
            </a:r>
            <a:r>
              <a:rPr lang="en-US" sz="2400" dirty="0"/>
              <a:t> (e.g., text, attributes) by interacting with the underlying HTML document object model </a:t>
            </a:r>
            <a:r>
              <a:rPr lang="en-US" sz="2400" b="1" dirty="0"/>
              <a:t>(DOM)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B088C-2724-D72B-202E-B5B338F1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6659D-A3FC-2CB6-BDEC-A7F84EA88F24}"/>
              </a:ext>
            </a:extLst>
          </p:cNvPr>
          <p:cNvSpPr txBox="1"/>
          <p:nvPr/>
        </p:nvSpPr>
        <p:spPr>
          <a:xfrm>
            <a:off x="2286000" y="13213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https://www.selenium.dev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5F5BB-133D-9977-1D52-09CFA293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1E7A-0A17-A04C-B0FE-8FE720F0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D7C3-C2C6-3229-AD0D-B84E4F83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8195E-A2D4-3B42-D136-7052C5AFB127}"/>
              </a:ext>
            </a:extLst>
          </p:cNvPr>
          <p:cNvSpPr txBox="1"/>
          <p:nvPr/>
        </p:nvSpPr>
        <p:spPr>
          <a:xfrm>
            <a:off x="2286000" y="13213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https://www.selenium.dev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AB8E9D-B6DF-3444-BAC9-4244ABBA3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63" y="1812614"/>
            <a:ext cx="6809874" cy="47905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11444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D1A9-7E9A-FDCE-F970-F2B338D0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630E-7FFC-0991-DAF8-84441E72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4DA1E-BD4B-DA9A-7C89-4ED13B7E8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Once </a:t>
            </a:r>
            <a:r>
              <a:rPr lang="en-US" sz="2400" b="1" dirty="0">
                <a:solidFill>
                  <a:srgbClr val="7030A0"/>
                </a:solidFill>
              </a:rPr>
              <a:t>Selenium</a:t>
            </a:r>
            <a:r>
              <a:rPr lang="en-US" sz="2400" dirty="0"/>
              <a:t> obtains (from the driven web browser) the fully rendered HTML web page, including content that was </a:t>
            </a:r>
            <a:r>
              <a:rPr lang="en-US" sz="2400" b="1" dirty="0">
                <a:solidFill>
                  <a:srgbClr val="FF0000"/>
                </a:solidFill>
              </a:rPr>
              <a:t>rendered dynamically via JavaScript</a:t>
            </a:r>
            <a:r>
              <a:rPr lang="en-US" sz="2400" dirty="0"/>
              <a:t>, we can then </a:t>
            </a:r>
            <a:r>
              <a:rPr lang="en-US" sz="2400" b="1" dirty="0"/>
              <a:t>parse</a:t>
            </a:r>
            <a:r>
              <a:rPr lang="en-US" sz="2400" dirty="0"/>
              <a:t> the returned HTML tags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Web pages can be interpreted as a </a:t>
            </a:r>
            <a:r>
              <a:rPr lang="en-US" sz="2400" b="1" dirty="0">
                <a:solidFill>
                  <a:srgbClr val="00B050"/>
                </a:solidFill>
              </a:rPr>
              <a:t>document object model (DOM)</a:t>
            </a:r>
            <a:r>
              <a:rPr lang="en-US" sz="2400" dirty="0"/>
              <a:t>, giving us a </a:t>
            </a:r>
            <a:r>
              <a:rPr lang="en-US" sz="2400" i="1" dirty="0"/>
              <a:t>structured</a:t>
            </a:r>
            <a:r>
              <a:rPr lang="en-US" sz="2400" dirty="0"/>
              <a:t> way to extract content wrapped in HTML tags such as: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&lt;table&gt; to identify the start of the </a:t>
            </a:r>
            <a:r>
              <a:rPr lang="en-US" sz="2000" b="1" dirty="0"/>
              <a:t>table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&lt;th&gt; to identify a table column </a:t>
            </a:r>
            <a:r>
              <a:rPr lang="en-US" sz="2000" b="1" dirty="0"/>
              <a:t>header</a:t>
            </a:r>
            <a:r>
              <a:rPr lang="en-US" sz="2000" dirty="0"/>
              <a:t> within a table</a:t>
            </a:r>
            <a:endParaRPr lang="en-US" sz="2000" b="1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&lt;tr&gt; to identify the start of a table </a:t>
            </a:r>
            <a:r>
              <a:rPr lang="en-US" sz="2000" b="1" dirty="0"/>
              <a:t>row</a:t>
            </a:r>
            <a:r>
              <a:rPr lang="en-US" sz="2000" dirty="0"/>
              <a:t> within a table</a:t>
            </a:r>
            <a:endParaRPr lang="en-US" sz="2000" b="1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&lt;td&gt; to identify table </a:t>
            </a:r>
            <a:r>
              <a:rPr lang="en-US" sz="2000" b="1" dirty="0"/>
              <a:t>data</a:t>
            </a:r>
            <a:r>
              <a:rPr lang="en-US" sz="2000" dirty="0"/>
              <a:t> (a “column”) within a table row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B4A54-6369-63E9-6991-63328FE3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9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1157-6E21-38E7-B1F7-F127195F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367B-87FA-B1C6-8304-C94E8F28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864F-2B4B-3C7E-B2F2-C01E5C280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Python package </a:t>
            </a:r>
            <a:r>
              <a:rPr lang="en-US" sz="2400" b="1" dirty="0">
                <a:solidFill>
                  <a:srgbClr val="7030A0"/>
                </a:solidFill>
              </a:rPr>
              <a:t>Beautiful Soup </a:t>
            </a:r>
            <a:r>
              <a:rPr lang="en-US" sz="2400" dirty="0"/>
              <a:t>provides an object-oriented approach to enumerating the </a:t>
            </a:r>
            <a:r>
              <a:rPr lang="en-US" sz="2400" b="1" dirty="0">
                <a:solidFill>
                  <a:srgbClr val="00B050"/>
                </a:solidFill>
              </a:rPr>
              <a:t>DOM</a:t>
            </a:r>
            <a:r>
              <a:rPr lang="en-US" sz="2400" dirty="0"/>
              <a:t> that  represents the hierarchical HTML tags in a parsed web page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Flexible and Tolerant: It can handle poorly formatted or </a:t>
            </a:r>
            <a:r>
              <a:rPr lang="en-US" sz="2000" b="1" dirty="0">
                <a:solidFill>
                  <a:srgbClr val="FF0000"/>
                </a:solidFill>
              </a:rPr>
              <a:t>broken markup (e.g., missing tags)</a:t>
            </a:r>
            <a:r>
              <a:rPr lang="en-US" sz="2000" dirty="0"/>
              <a:t>, making it ideal for scraping real-world web pages that aren’t always well-structured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Simple Navigation &amp; Search: It provides intuitive methods to </a:t>
            </a:r>
            <a:r>
              <a:rPr lang="en-US" sz="2000" b="1" dirty="0"/>
              <a:t>search for tags</a:t>
            </a:r>
            <a:r>
              <a:rPr lang="en-US" sz="2000" dirty="0"/>
              <a:t>, attributes, and text using tag names, CSS selectors, or regular expressions—great for quickly locating specific content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Beautiful Soup automatically converts incoming documents to </a:t>
            </a:r>
            <a:r>
              <a:rPr lang="en-US" sz="2400" b="1" dirty="0">
                <a:solidFill>
                  <a:srgbClr val="0070C0"/>
                </a:solidFill>
              </a:rPr>
              <a:t>Unicode</a:t>
            </a:r>
            <a:r>
              <a:rPr lang="en-US" sz="2400" dirty="0"/>
              <a:t> and outgoing documents to </a:t>
            </a:r>
            <a:r>
              <a:rPr lang="en-US" sz="2400" b="1" dirty="0">
                <a:solidFill>
                  <a:srgbClr val="0070C0"/>
                </a:solidFill>
              </a:rPr>
              <a:t>UTF-8</a:t>
            </a:r>
            <a:r>
              <a:rPr lang="en-US" sz="2400" dirty="0"/>
              <a:t>. You don't have to think about encodings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63699-1EBD-0D91-4E60-D72C3C89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2685D-6B07-5567-190F-788C0999A8E2}"/>
              </a:ext>
            </a:extLst>
          </p:cNvPr>
          <p:cNvSpPr txBox="1"/>
          <p:nvPr/>
        </p:nvSpPr>
        <p:spPr>
          <a:xfrm>
            <a:off x="2001253" y="1321357"/>
            <a:ext cx="5141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https://www.crummy.com/software/BeautifulSoup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7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8088-5642-3F84-C163-7835F86A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843D-88BE-27F3-D81A-2E3F198B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0FA01-8140-DBDD-C78E-2771EF03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52765-BC42-8D79-B790-5EE688EABE9E}"/>
              </a:ext>
            </a:extLst>
          </p:cNvPr>
          <p:cNvSpPr txBox="1"/>
          <p:nvPr/>
        </p:nvSpPr>
        <p:spPr>
          <a:xfrm>
            <a:off x="2001253" y="1321357"/>
            <a:ext cx="5141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https://www.crummy.com/software/BeautifulSoup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2F27A0-9E9A-8567-7729-9A0D7F691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94" y="1797121"/>
            <a:ext cx="8005011" cy="3805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551638-8436-43EF-FEC3-5A6B68295E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3317" y="3429000"/>
            <a:ext cx="2406336" cy="31683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69E9C5E-B4E9-6797-8251-314E202D15A9}"/>
              </a:ext>
            </a:extLst>
          </p:cNvPr>
          <p:cNvSpPr/>
          <p:nvPr/>
        </p:nvSpPr>
        <p:spPr>
          <a:xfrm>
            <a:off x="964406" y="2843213"/>
            <a:ext cx="3671888" cy="154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5858D-7853-C5F3-C792-BF703E8E2513}"/>
              </a:ext>
            </a:extLst>
          </p:cNvPr>
          <p:cNvSpPr txBox="1"/>
          <p:nvPr/>
        </p:nvSpPr>
        <p:spPr>
          <a:xfrm>
            <a:off x="5177589" y="5794656"/>
            <a:ext cx="225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Sung by </a:t>
            </a:r>
            <a:r>
              <a:rPr lang="en-US" b="1" dirty="0">
                <a:solidFill>
                  <a:srgbClr val="7030A0"/>
                </a:solidFill>
              </a:rPr>
              <a:t>Mock Turtle</a:t>
            </a:r>
          </a:p>
        </p:txBody>
      </p:sp>
    </p:spTree>
    <p:extLst>
      <p:ext uri="{BB962C8B-B14F-4D97-AF65-F5344CB8AC3E}">
        <p14:creationId xmlns:p14="http://schemas.microsoft.com/office/powerpoint/2010/main" val="404343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F69BD-36A0-38C3-B94E-8C2A6C9F4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C060-2A1D-8446-151E-EBA435E6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267CA-D06F-1AE6-F303-7A60D9E42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Your scientist needs you to list the </a:t>
            </a:r>
            <a:r>
              <a:rPr lang="en-US" sz="2400" b="1" dirty="0">
                <a:solidFill>
                  <a:srgbClr val="00B050"/>
                </a:solidFill>
              </a:rPr>
              <a:t>top 10 elements</a:t>
            </a:r>
            <a:r>
              <a:rPr lang="en-US" sz="2400" dirty="0"/>
              <a:t> with the highest </a:t>
            </a:r>
            <a:r>
              <a:rPr lang="en-US" sz="2400" b="1" dirty="0">
                <a:solidFill>
                  <a:srgbClr val="FF0000"/>
                </a:solidFill>
              </a:rPr>
              <a:t>electrical conductivity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Unfortunately, there is no readily available (free and open-source) </a:t>
            </a:r>
            <a:r>
              <a:rPr lang="en-US" sz="2400" b="1" dirty="0">
                <a:solidFill>
                  <a:srgbClr val="0070C0"/>
                </a:solidFill>
              </a:rPr>
              <a:t>periodic table of the elements </a:t>
            </a:r>
            <a:r>
              <a:rPr lang="en-US" sz="2400" dirty="0"/>
              <a:t>containing this information that is conveniently packaged in CSV or JSON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 have found a </a:t>
            </a:r>
            <a:r>
              <a:rPr lang="en-US" sz="2400" b="1" dirty="0"/>
              <a:t>public Internet web page</a:t>
            </a:r>
            <a:r>
              <a:rPr lang="en-US" sz="2400" dirty="0"/>
              <a:t> that contains the information you need, but that data is rendered dynamically using JavaScript (</a:t>
            </a:r>
            <a:r>
              <a:rPr lang="en-US" sz="2400" i="1" dirty="0"/>
              <a:t>not</a:t>
            </a:r>
            <a:r>
              <a:rPr lang="en-US" sz="2400" dirty="0"/>
              <a:t> as a static web page)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By using </a:t>
            </a:r>
            <a:r>
              <a:rPr lang="en-US" sz="2400" b="1" dirty="0">
                <a:solidFill>
                  <a:srgbClr val="7030A0"/>
                </a:solidFill>
              </a:rPr>
              <a:t>Selenium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7030A0"/>
                </a:solidFill>
              </a:rPr>
              <a:t>Beautiful Soup</a:t>
            </a:r>
            <a:r>
              <a:rPr lang="en-US" sz="2400" dirty="0"/>
              <a:t>, you should be able to </a:t>
            </a:r>
            <a:r>
              <a:rPr lang="en-US" sz="2400" b="1" dirty="0"/>
              <a:t>parse</a:t>
            </a:r>
            <a:r>
              <a:rPr lang="en-US" sz="2400" dirty="0"/>
              <a:t> the element data on that web page and then sort it by electrical conductivity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72198-6592-895D-71AD-8E8550CC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9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883E-992C-097D-F2C5-25D48947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277D-F349-3E4F-0A41-7BA26B0B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04DFE-9725-6703-0923-C1C6DABB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C4A5C-665C-90C7-4CA0-B4E55F8980BA}"/>
              </a:ext>
            </a:extLst>
          </p:cNvPr>
          <p:cNvSpPr txBox="1"/>
          <p:nvPr/>
        </p:nvSpPr>
        <p:spPr>
          <a:xfrm>
            <a:off x="1314952" y="1321357"/>
            <a:ext cx="6514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Electrical Conductivity of all the elements in the Periodic Table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5D4A9-3738-8D25-9D7D-B641B6DD1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368" y="1894014"/>
            <a:ext cx="6171265" cy="45988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7E9DE1-4C3C-B858-80FB-625E0A8B9AAB}"/>
              </a:ext>
            </a:extLst>
          </p:cNvPr>
          <p:cNvSpPr/>
          <p:nvPr/>
        </p:nvSpPr>
        <p:spPr>
          <a:xfrm>
            <a:off x="1676400" y="5249801"/>
            <a:ext cx="4781550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4C0B-2926-861B-0DEA-AD6BEFCC727D}"/>
              </a:ext>
            </a:extLst>
          </p:cNvPr>
          <p:cNvSpPr txBox="1"/>
          <p:nvPr/>
        </p:nvSpPr>
        <p:spPr>
          <a:xfrm>
            <a:off x="5646287" y="2505670"/>
            <a:ext cx="3144787" cy="92333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We will extract this data </a:t>
            </a:r>
            <a:r>
              <a:rPr lang="en-US" u="sng" dirty="0">
                <a:solidFill>
                  <a:srgbClr val="7030A0"/>
                </a:solidFill>
              </a:rPr>
              <a:t>directly</a:t>
            </a:r>
            <a:r>
              <a:rPr lang="en-US" dirty="0">
                <a:solidFill>
                  <a:srgbClr val="7030A0"/>
                </a:solidFill>
              </a:rPr>
              <a:t> from the web page and use it for our data analysis!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7AB2F-B9A9-78C6-BB77-DC0A5F65DAB6}"/>
              </a:ext>
            </a:extLst>
          </p:cNvPr>
          <p:cNvSpPr txBox="1"/>
          <p:nvPr/>
        </p:nvSpPr>
        <p:spPr>
          <a:xfrm>
            <a:off x="6617368" y="4243981"/>
            <a:ext cx="2173706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Siemens per meter</a:t>
            </a:r>
          </a:p>
        </p:txBody>
      </p:sp>
    </p:spTree>
    <p:extLst>
      <p:ext uri="{BB962C8B-B14F-4D97-AF65-F5344CB8AC3E}">
        <p14:creationId xmlns:p14="http://schemas.microsoft.com/office/powerpoint/2010/main" val="60818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C2B56-8B50-909B-B4E3-7218C98E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0732-C5D2-615C-6A29-A3A4B860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Web Scraping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44EAC-AE87-9E8A-1609-0A90864E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42C11-5FB4-7D3B-D831-1F27D06CCD90}"/>
              </a:ext>
            </a:extLst>
          </p:cNvPr>
          <p:cNvSpPr txBox="1">
            <a:spLocks/>
          </p:cNvSpPr>
          <p:nvPr/>
        </p:nvSpPr>
        <p:spPr>
          <a:xfrm>
            <a:off x="537410" y="2032349"/>
            <a:ext cx="681790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Start</a:t>
            </a:r>
          </a:p>
          <a:p>
            <a:pPr algn="ctr"/>
            <a:r>
              <a:rPr lang="en-US" sz="1600" dirty="0"/>
              <a:t>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36037-6873-9325-649C-05AF567ABC21}"/>
              </a:ext>
            </a:extLst>
          </p:cNvPr>
          <p:cNvSpPr txBox="1">
            <a:spLocks/>
          </p:cNvSpPr>
          <p:nvPr/>
        </p:nvSpPr>
        <p:spPr>
          <a:xfrm>
            <a:off x="1548063" y="1909012"/>
            <a:ext cx="1130968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Selenium WebDriver Setup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CCA2A-D9DA-4415-4396-ED20AB2AABA9}"/>
              </a:ext>
            </a:extLst>
          </p:cNvPr>
          <p:cNvSpPr txBox="1">
            <a:spLocks/>
          </p:cNvSpPr>
          <p:nvPr/>
        </p:nvSpPr>
        <p:spPr>
          <a:xfrm>
            <a:off x="3007894" y="1908335"/>
            <a:ext cx="1532021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driver.get</a:t>
            </a:r>
            <a:r>
              <a:rPr lang="en-US" sz="1600" b="1" dirty="0"/>
              <a:t>(</a:t>
            </a:r>
            <a:r>
              <a:rPr lang="en-US" sz="1600" b="1" dirty="0" err="1"/>
              <a:t>url</a:t>
            </a:r>
            <a:r>
              <a:rPr lang="en-US" sz="1600" b="1" dirty="0"/>
              <a:t>)</a:t>
            </a:r>
          </a:p>
          <a:p>
            <a:pPr algn="ctr"/>
            <a:r>
              <a:rPr lang="en-US" sz="1600" dirty="0"/>
              <a:t>Launches Chrome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28C5B2-9ED6-15A3-0BDB-8A81C206E5AB}"/>
              </a:ext>
            </a:extLst>
          </p:cNvPr>
          <p:cNvSpPr txBox="1">
            <a:spLocks/>
          </p:cNvSpPr>
          <p:nvPr/>
        </p:nvSpPr>
        <p:spPr>
          <a:xfrm>
            <a:off x="4868778" y="2032123"/>
            <a:ext cx="1532021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WebDriverWait for </a:t>
            </a:r>
            <a:r>
              <a:rPr lang="en-US" sz="1600" b="1" dirty="0"/>
              <a:t>&lt;table&gt;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47C85-0B8D-BFB9-A58C-37BF236CCFAD}"/>
              </a:ext>
            </a:extLst>
          </p:cNvPr>
          <p:cNvSpPr txBox="1">
            <a:spLocks/>
          </p:cNvSpPr>
          <p:nvPr/>
        </p:nvSpPr>
        <p:spPr>
          <a:xfrm>
            <a:off x="6729662" y="1908335"/>
            <a:ext cx="1876928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BeautifulSoup builds DOM from </a:t>
            </a:r>
            <a:r>
              <a:rPr lang="en-US" sz="1600" b="1" dirty="0" err="1"/>
              <a:t>driver.page_source</a:t>
            </a:r>
            <a:endParaRPr lang="en-US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EA5E5D-AACF-D582-F65A-00296E12E600}"/>
              </a:ext>
            </a:extLst>
          </p:cNvPr>
          <p:cNvSpPr txBox="1"/>
          <p:nvPr/>
        </p:nvSpPr>
        <p:spPr>
          <a:xfrm>
            <a:off x="537410" y="3362205"/>
            <a:ext cx="1604211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BeautifulSoup scans for </a:t>
            </a:r>
            <a:r>
              <a:rPr lang="en-US" sz="1600" b="1" dirty="0"/>
              <a:t>&lt;table&gt;, &lt;th&gt;, &lt;tr&gt;, &lt;td&gt;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EAB740-7886-54B3-8B4B-F6759F95C50E}"/>
              </a:ext>
            </a:extLst>
          </p:cNvPr>
          <p:cNvSpPr txBox="1"/>
          <p:nvPr/>
        </p:nvSpPr>
        <p:spPr>
          <a:xfrm>
            <a:off x="4847390" y="3362205"/>
            <a:ext cx="1604211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Pandas creates </a:t>
            </a:r>
            <a:r>
              <a:rPr lang="en-US" sz="1600" b="1" dirty="0"/>
              <a:t>dataframe</a:t>
            </a:r>
            <a:r>
              <a:rPr lang="en-US" sz="1600" dirty="0"/>
              <a:t> using the headers and table rows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B5B3F9-A445-5388-84E6-74E4699F1CC2}"/>
              </a:ext>
            </a:extLst>
          </p:cNvPr>
          <p:cNvSpPr txBox="1"/>
          <p:nvPr/>
        </p:nvSpPr>
        <p:spPr>
          <a:xfrm>
            <a:off x="2692400" y="3485316"/>
            <a:ext cx="1604211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BeautifulSoup returns content as Python </a:t>
            </a:r>
            <a:r>
              <a:rPr lang="en-US" sz="1600" b="1" dirty="0"/>
              <a:t>lists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F9F36-6E3E-5A27-91AE-303B0FB5202D}"/>
              </a:ext>
            </a:extLst>
          </p:cNvPr>
          <p:cNvSpPr txBox="1"/>
          <p:nvPr/>
        </p:nvSpPr>
        <p:spPr>
          <a:xfrm>
            <a:off x="7002379" y="3362991"/>
            <a:ext cx="1604211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Pandas converts the </a:t>
            </a:r>
            <a:r>
              <a:rPr lang="en-US" sz="1600" b="1" dirty="0"/>
              <a:t>electrical conductivity</a:t>
            </a:r>
            <a:r>
              <a:rPr lang="en-US" sz="1600" dirty="0"/>
              <a:t> to a </a:t>
            </a:r>
            <a:r>
              <a:rPr lang="en-US" sz="1600" i="1" dirty="0"/>
              <a:t>numeric</a:t>
            </a:r>
            <a:r>
              <a:rPr lang="en-US" sz="1600" dirty="0"/>
              <a:t> column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192E23-6453-EEF7-86C9-3CB15C6CC2E9}"/>
              </a:ext>
            </a:extLst>
          </p:cNvPr>
          <p:cNvSpPr txBox="1"/>
          <p:nvPr/>
        </p:nvSpPr>
        <p:spPr>
          <a:xfrm>
            <a:off x="537410" y="5184729"/>
            <a:ext cx="1748591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Pandas removes any rows </a:t>
            </a:r>
            <a:r>
              <a:rPr lang="en-US" sz="1600" b="1" dirty="0"/>
              <a:t>missing</a:t>
            </a:r>
            <a:r>
              <a:rPr lang="en-US" sz="1600" dirty="0"/>
              <a:t> a value for electrical conductivity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D82B70-4CBF-913D-6154-466D1AD2A7CC}"/>
              </a:ext>
            </a:extLst>
          </p:cNvPr>
          <p:cNvSpPr txBox="1"/>
          <p:nvPr/>
        </p:nvSpPr>
        <p:spPr>
          <a:xfrm>
            <a:off x="2700991" y="5061619"/>
            <a:ext cx="1869340" cy="13234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Pandas </a:t>
            </a:r>
            <a:r>
              <a:rPr lang="en-US" sz="1600" b="1" dirty="0"/>
              <a:t>sorts</a:t>
            </a:r>
            <a:r>
              <a:rPr lang="en-US" sz="1600" dirty="0"/>
              <a:t> the rows in </a:t>
            </a:r>
            <a:r>
              <a:rPr lang="en-US" sz="1600" i="1" dirty="0"/>
              <a:t>decreasing</a:t>
            </a:r>
            <a:r>
              <a:rPr lang="en-US" sz="1600" dirty="0"/>
              <a:t> conductivity and then takes the </a:t>
            </a:r>
            <a:r>
              <a:rPr lang="en-US" sz="1600" b="1" dirty="0"/>
              <a:t>top 10 rows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E61499-581E-3A81-0F3B-7191228F71E1}"/>
              </a:ext>
            </a:extLst>
          </p:cNvPr>
          <p:cNvSpPr txBox="1"/>
          <p:nvPr/>
        </p:nvSpPr>
        <p:spPr>
          <a:xfrm>
            <a:off x="4985321" y="5184729"/>
            <a:ext cx="1869340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Pandas adds a column to store the </a:t>
            </a:r>
            <a:r>
              <a:rPr lang="en-US" sz="1600" b="1" dirty="0"/>
              <a:t>ordinal ranking</a:t>
            </a:r>
            <a:r>
              <a:rPr lang="en-US" sz="1600" dirty="0"/>
              <a:t> of each remaining row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422CBD-746F-260E-3828-6DC3ED85DEB4}"/>
              </a:ext>
            </a:extLst>
          </p:cNvPr>
          <p:cNvSpPr txBox="1"/>
          <p:nvPr/>
        </p:nvSpPr>
        <p:spPr>
          <a:xfrm>
            <a:off x="7269651" y="5307840"/>
            <a:ext cx="1336939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Pandas displays the </a:t>
            </a:r>
            <a:r>
              <a:rPr lang="en-US" sz="1600" b="1" dirty="0"/>
              <a:t>dataframe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EAF7857-3B98-DDCC-F35B-3FD7C9734C8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1219200" y="2324511"/>
            <a:ext cx="328863" cy="22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94F651A-33A8-3FF1-9AC2-AAD97AB87BF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679031" y="2323834"/>
            <a:ext cx="328863" cy="6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A8BDF2A-412B-7955-DD49-F52ED854FC22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539915" y="2323834"/>
            <a:ext cx="328863" cy="67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5C7896B-A327-B7A0-09A7-EB5634E28A80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400799" y="2323834"/>
            <a:ext cx="328863" cy="67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2B97481-DCFD-72AB-1028-115D27ABF194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141621" y="3900814"/>
            <a:ext cx="550779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AC660FD-87C7-F74F-F515-0B7F3657C883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 flipV="1">
            <a:off x="4296611" y="3900814"/>
            <a:ext cx="550779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94421A53-B231-0240-EB97-81C1BDF92B00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6451601" y="3900814"/>
            <a:ext cx="550778" cy="7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432CA998-772B-910A-41F6-FD6570A8C83D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2286001" y="5723338"/>
            <a:ext cx="414990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F0114B6-4100-4A2E-5136-714842663D8F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570331" y="5723338"/>
            <a:ext cx="414990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36D30224-A39F-E1B0-4904-652A5AED771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854661" y="5723338"/>
            <a:ext cx="414990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85979411-F43D-3378-CD43-D81F8C96FD76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4192385" y="-113537"/>
            <a:ext cx="622873" cy="63286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97EAC8BF-22DA-6ADE-5DD7-750944F9D9A4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4235836" y="1616080"/>
            <a:ext cx="744520" cy="6392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53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Extending Python via the </a:t>
            </a:r>
            <a:r>
              <a:rPr lang="en-US" sz="3200" b="1" dirty="0">
                <a:latin typeface="+mn-lt"/>
              </a:rPr>
              <a:t>pandas</a:t>
            </a:r>
            <a:r>
              <a:rPr lang="en-US" sz="3200" dirty="0">
                <a:latin typeface="+mn-lt"/>
              </a:rPr>
              <a:t> Package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9A0CD-CF09-3108-3BE4-9FAFEF5C4089}"/>
              </a:ext>
            </a:extLst>
          </p:cNvPr>
          <p:cNvSpPr txBox="1"/>
          <p:nvPr/>
        </p:nvSpPr>
        <p:spPr>
          <a:xfrm>
            <a:off x="3155057" y="1506023"/>
            <a:ext cx="283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https://pandas.pydata.org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C42E9E-FBC4-1D1D-1567-A150B76FB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680" y="2156322"/>
            <a:ext cx="6710638" cy="35428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60035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Extending Python via the </a:t>
            </a:r>
            <a:r>
              <a:rPr lang="en-US" sz="3200" b="1" dirty="0">
                <a:latin typeface="+mn-lt"/>
              </a:rPr>
              <a:t>pandas</a:t>
            </a:r>
            <a:r>
              <a:rPr lang="en-US" sz="3200" dirty="0">
                <a:latin typeface="+mn-lt"/>
              </a:rPr>
              <a:t> Package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59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35758D-1ABC-E576-8D88-61176B47B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57" y="1888511"/>
            <a:ext cx="3377333" cy="44321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D51BE2-AAFD-A8CC-4779-8D2B729C1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607" y="1888511"/>
            <a:ext cx="3536136" cy="44312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29D05A-7144-D413-408F-16FC1E176383}"/>
              </a:ext>
            </a:extLst>
          </p:cNvPr>
          <p:cNvSpPr txBox="1"/>
          <p:nvPr/>
        </p:nvSpPr>
        <p:spPr>
          <a:xfrm>
            <a:off x="2297335" y="1321357"/>
            <a:ext cx="4549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Pandas is 100% Open Source and Free of Cost</a:t>
            </a:r>
          </a:p>
        </p:txBody>
      </p:sp>
    </p:spTree>
    <p:extLst>
      <p:ext uri="{BB962C8B-B14F-4D97-AF65-F5344CB8AC3E}">
        <p14:creationId xmlns:p14="http://schemas.microsoft.com/office/powerpoint/2010/main" val="25103688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5C38-9F0A-742A-69DF-DEB9A358E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51D3-2303-1552-1755-2011D7FCC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Lab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A17B-E786-6310-45D4-7E888B9EA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This lab has </a:t>
            </a:r>
            <a:r>
              <a:rPr lang="en-US" sz="2400" b="1" dirty="0"/>
              <a:t>two</a:t>
            </a:r>
            <a:r>
              <a:rPr lang="en-US" sz="2400" dirty="0"/>
              <a:t> slightly different Python scripts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 will only </a:t>
            </a:r>
            <a:r>
              <a:rPr lang="en-US" sz="2400" b="1" dirty="0">
                <a:solidFill>
                  <a:srgbClr val="00B050"/>
                </a:solidFill>
              </a:rPr>
              <a:t>run one</a:t>
            </a:r>
            <a:r>
              <a:rPr lang="en-US" sz="2400" dirty="0"/>
              <a:t>, based on your Operating System (Windows or macOS) </a:t>
            </a:r>
            <a:r>
              <a:rPr lang="en-US" sz="2400" b="1" dirty="0">
                <a:solidFill>
                  <a:srgbClr val="FF0000"/>
                </a:solidFill>
              </a:rPr>
              <a:t>and</a:t>
            </a:r>
            <a:r>
              <a:rPr lang="en-US" sz="2400" dirty="0"/>
              <a:t> your installed web browser (Google Chrome or Apple Safari)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Don’t worry if you are unable to run this lab on your workstation/laptop – </a:t>
            </a:r>
            <a:r>
              <a:rPr lang="en-US" sz="2400" b="1" dirty="0">
                <a:solidFill>
                  <a:srgbClr val="7030A0"/>
                </a:solidFill>
              </a:rPr>
              <a:t>it is not crucial</a:t>
            </a:r>
            <a:r>
              <a:rPr lang="en-US" sz="2400" dirty="0"/>
              <a:t> for this workshop</a:t>
            </a:r>
            <a:endParaRPr lang="en-US" sz="2400" b="1" dirty="0">
              <a:solidFill>
                <a:srgbClr val="7030A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But interns at all US National Labs are often required to </a:t>
            </a:r>
            <a:r>
              <a:rPr lang="en-US" sz="2400" b="1" dirty="0">
                <a:solidFill>
                  <a:srgbClr val="0070C0"/>
                </a:solidFill>
              </a:rPr>
              <a:t>obtain data from both internal and public websites</a:t>
            </a:r>
            <a:r>
              <a:rPr lang="en-US" sz="2400" dirty="0"/>
              <a:t> that may exist solely as static or dynamic web pages, not just formatted data like CSV/JSON or SQL databases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8E5EE-4AE8-1C33-1967-4F9C35C8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7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866C-C29C-02E9-2A69-BB8DF81E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553D-D74F-1B29-0257-956A5FE7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Lab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3F73-B870-3C89-351B-B1612DBD7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you are running </a:t>
            </a:r>
            <a:r>
              <a:rPr lang="en-US" sz="2400" b="1" dirty="0">
                <a:solidFill>
                  <a:srgbClr val="00B050"/>
                </a:solidFill>
              </a:rPr>
              <a:t>Microsoft Windows</a:t>
            </a:r>
            <a:r>
              <a:rPr lang="en-US" sz="2400" dirty="0"/>
              <a:t>, there is no special additional setup required to run this lab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you are running on </a:t>
            </a:r>
            <a:r>
              <a:rPr lang="en-US" sz="2400" b="1" dirty="0">
                <a:solidFill>
                  <a:srgbClr val="FF0000"/>
                </a:solidFill>
              </a:rPr>
              <a:t>macOS</a:t>
            </a:r>
            <a:r>
              <a:rPr lang="en-US" sz="2400" dirty="0"/>
              <a:t>, open an </a:t>
            </a:r>
            <a:r>
              <a:rPr lang="en-US" sz="2400" b="1" dirty="0">
                <a:solidFill>
                  <a:srgbClr val="7030A0"/>
                </a:solidFill>
              </a:rPr>
              <a:t>iTerm2 shell session </a:t>
            </a:r>
            <a:r>
              <a:rPr lang="en-US" sz="2400" dirty="0"/>
              <a:t>and execute this command: </a:t>
            </a:r>
            <a:r>
              <a:rPr lang="en-US" sz="2400" b="1" dirty="0" err="1"/>
              <a:t>safaridriver</a:t>
            </a:r>
            <a:r>
              <a:rPr lang="en-US" sz="2400" b="1" dirty="0"/>
              <a:t> --enable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B5D6A-E83F-4B55-B485-D1766982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659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246D-E8E4-7E09-ADB4-0C10B623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D35E-5E55-4AD3-F608-E8E8594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electrical_conductivity_mswin_chrome.py</a:t>
            </a:r>
            <a:endParaRPr lang="en-US" sz="32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6C98B-07F1-056C-9372-135DF1DA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4729EE-4498-AFF4-956B-9FCCB8E35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33" y="1690689"/>
            <a:ext cx="6733333" cy="398095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2250CE-D1D0-7288-4C1A-C96CD1A123DF}"/>
              </a:ext>
            </a:extLst>
          </p:cNvPr>
          <p:cNvGrpSpPr/>
          <p:nvPr/>
        </p:nvGrpSpPr>
        <p:grpSpPr>
          <a:xfrm>
            <a:off x="5682866" y="1848378"/>
            <a:ext cx="1076632" cy="369332"/>
            <a:chOff x="4968362" y="2079211"/>
            <a:chExt cx="1076632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76015E0-D52F-AB4C-0EEC-31F98D1012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CABA65-2005-08A8-76E9-58E3CF14C34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6F672C0-0261-4E96-D9CF-F8ACD6B08375}"/>
              </a:ext>
            </a:extLst>
          </p:cNvPr>
          <p:cNvGrpSpPr/>
          <p:nvPr/>
        </p:nvGrpSpPr>
        <p:grpSpPr>
          <a:xfrm>
            <a:off x="4137047" y="2543346"/>
            <a:ext cx="1076632" cy="369332"/>
            <a:chOff x="4704120" y="2356972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47FD18C-E243-B8E8-D29F-8C5FD4FF2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75F55E-4B71-C014-9E21-809F6F21B33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29EBA9-1906-E40C-E8CB-A3D47D7490CD}"/>
              </a:ext>
            </a:extLst>
          </p:cNvPr>
          <p:cNvGrpSpPr/>
          <p:nvPr/>
        </p:nvGrpSpPr>
        <p:grpSpPr>
          <a:xfrm>
            <a:off x="6376040" y="2989276"/>
            <a:ext cx="1068643" cy="369332"/>
            <a:chOff x="3647644" y="4910075"/>
            <a:chExt cx="1068643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96A605-8977-6636-6D1B-3C0206DEF11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1350F76-1448-1B6A-570C-78391A7BF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2597C1-D669-F078-1A55-AAD931FC2629}"/>
              </a:ext>
            </a:extLst>
          </p:cNvPr>
          <p:cNvGrpSpPr/>
          <p:nvPr/>
        </p:nvGrpSpPr>
        <p:grpSpPr>
          <a:xfrm>
            <a:off x="4618526" y="4608206"/>
            <a:ext cx="1064340" cy="369332"/>
            <a:chOff x="3647644" y="5421073"/>
            <a:chExt cx="1064340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3185A4-5CDA-D1FA-D780-AE805D0B3C5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71952EA-B379-6532-0E6D-3DEEFFD39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A8AE55-4C63-6A5C-23F9-84978AA2A698}"/>
              </a:ext>
            </a:extLst>
          </p:cNvPr>
          <p:cNvGrpSpPr/>
          <p:nvPr/>
        </p:nvGrpSpPr>
        <p:grpSpPr>
          <a:xfrm>
            <a:off x="7856571" y="5052230"/>
            <a:ext cx="1068643" cy="369332"/>
            <a:chOff x="3647644" y="5359159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D3C26E-EE74-3F72-42F5-55D0AD297AA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C132D7F-EFD4-3812-211E-183F481902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D11B5DA-8077-25BE-0043-CCF124B98B4D}"/>
              </a:ext>
            </a:extLst>
          </p:cNvPr>
          <p:cNvSpPr txBox="1"/>
          <p:nvPr/>
        </p:nvSpPr>
        <p:spPr>
          <a:xfrm>
            <a:off x="5682866" y="4519960"/>
            <a:ext cx="171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We could set additional options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7CA095-5245-34B6-63C1-3F9AABF3B23A}"/>
              </a:ext>
            </a:extLst>
          </p:cNvPr>
          <p:cNvSpPr/>
          <p:nvPr/>
        </p:nvSpPr>
        <p:spPr>
          <a:xfrm>
            <a:off x="3147595" y="5124222"/>
            <a:ext cx="2945063" cy="21930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0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9F6D-6EE2-3570-41B0-84250F2C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6F7820-5863-A756-AAEF-6E2CCE3EAC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1" y="1690689"/>
            <a:ext cx="8341895" cy="41951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444EB5-32DF-56F3-CCD0-85971D2C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electrical_conductivity_mswin_chrome.py</a:t>
            </a:r>
            <a:endParaRPr lang="en-US" sz="32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49A16-24C0-E8BF-DA0E-DC27EC6A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63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0654EF-F43B-B0BE-79C3-706976FD65F6}"/>
              </a:ext>
            </a:extLst>
          </p:cNvPr>
          <p:cNvGrpSpPr/>
          <p:nvPr/>
        </p:nvGrpSpPr>
        <p:grpSpPr>
          <a:xfrm>
            <a:off x="2105474" y="1650904"/>
            <a:ext cx="1076632" cy="369332"/>
            <a:chOff x="4968362" y="2079211"/>
            <a:chExt cx="1076632" cy="36933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CB20404-3137-9801-745D-BF73F9610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3729FE-C914-BED7-429A-1A9774C7EEF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5C1B52-D303-A2F8-1596-47F94DEF4D8C}"/>
              </a:ext>
            </a:extLst>
          </p:cNvPr>
          <p:cNvGrpSpPr/>
          <p:nvPr/>
        </p:nvGrpSpPr>
        <p:grpSpPr>
          <a:xfrm>
            <a:off x="1792521" y="2036278"/>
            <a:ext cx="1076632" cy="369332"/>
            <a:chOff x="4704120" y="2356972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550F894-2792-F681-729F-D2C6E69FF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D3873D-F22F-06F8-75A0-0A2BB9AACEF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DF05BC-FD40-76F3-5B2F-36F3B4456179}"/>
              </a:ext>
            </a:extLst>
          </p:cNvPr>
          <p:cNvGrpSpPr/>
          <p:nvPr/>
        </p:nvGrpSpPr>
        <p:grpSpPr>
          <a:xfrm>
            <a:off x="7527706" y="2622857"/>
            <a:ext cx="1068643" cy="369332"/>
            <a:chOff x="3647644" y="4910075"/>
            <a:chExt cx="1068643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A75F2F-020D-061B-E873-F4853704474C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A592F53-2BA8-BA4A-F8C0-5955B7501E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939313-2FCD-099A-EA39-90DF0F8AA743}"/>
              </a:ext>
            </a:extLst>
          </p:cNvPr>
          <p:cNvSpPr txBox="1"/>
          <p:nvPr/>
        </p:nvSpPr>
        <p:spPr>
          <a:xfrm>
            <a:off x="2990377" y="2862363"/>
            <a:ext cx="2258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EC = expected condition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7D8E433-E511-67ED-8A78-FD4DA79DC17C}"/>
              </a:ext>
            </a:extLst>
          </p:cNvPr>
          <p:cNvGrpSpPr/>
          <p:nvPr/>
        </p:nvGrpSpPr>
        <p:grpSpPr>
          <a:xfrm>
            <a:off x="4992113" y="3210226"/>
            <a:ext cx="1064340" cy="369332"/>
            <a:chOff x="3647644" y="5421073"/>
            <a:chExt cx="1064340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313647-D979-6F34-4AB0-D1BE84500F1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D83564E-371C-61A0-D327-78A812BDBB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F0FAB36-422F-904B-2121-964B7F9F10F4}"/>
              </a:ext>
            </a:extLst>
          </p:cNvPr>
          <p:cNvSpPr/>
          <p:nvPr/>
        </p:nvSpPr>
        <p:spPr>
          <a:xfrm>
            <a:off x="3769895" y="3272589"/>
            <a:ext cx="1082842" cy="2245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0747DF-BC62-1607-8171-E9817ED03072}"/>
              </a:ext>
            </a:extLst>
          </p:cNvPr>
          <p:cNvSpPr/>
          <p:nvPr/>
        </p:nvSpPr>
        <p:spPr>
          <a:xfrm>
            <a:off x="2171595" y="3280328"/>
            <a:ext cx="1458924" cy="2245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A53BC-9963-20C5-B469-9A22A2BFCC89}"/>
              </a:ext>
            </a:extLst>
          </p:cNvPr>
          <p:cNvGrpSpPr/>
          <p:nvPr/>
        </p:nvGrpSpPr>
        <p:grpSpPr>
          <a:xfrm>
            <a:off x="1612153" y="3396633"/>
            <a:ext cx="1068643" cy="369332"/>
            <a:chOff x="3647644" y="5359159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FE1B25-41CC-9E20-A579-8FE245068B4B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D92633A-6D79-A9E1-D48A-AFB0F2FA82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8B2EA4-F866-D7C4-3CA6-1D7D9D7ABAE1}"/>
              </a:ext>
            </a:extLst>
          </p:cNvPr>
          <p:cNvGrpSpPr/>
          <p:nvPr/>
        </p:nvGrpSpPr>
        <p:grpSpPr>
          <a:xfrm>
            <a:off x="2735992" y="4166321"/>
            <a:ext cx="1076632" cy="369332"/>
            <a:chOff x="2157212" y="5356391"/>
            <a:chExt cx="1076632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C6E5D4-3CE4-F656-750E-3E10FB28DA3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D2C192C-FF5D-8BC1-2078-9617F555C3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67072A-2F4C-F3FD-6583-F9ED319AF84D}"/>
              </a:ext>
            </a:extLst>
          </p:cNvPr>
          <p:cNvGrpSpPr/>
          <p:nvPr/>
        </p:nvGrpSpPr>
        <p:grpSpPr>
          <a:xfrm>
            <a:off x="6031481" y="4755317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6DB7F8-0275-E091-99F5-A0BFCEDED80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63A3599-6502-CD82-E424-763729D42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61C9C87-2195-EB82-0799-37830220FE8B}"/>
              </a:ext>
            </a:extLst>
          </p:cNvPr>
          <p:cNvGrpSpPr/>
          <p:nvPr/>
        </p:nvGrpSpPr>
        <p:grpSpPr>
          <a:xfrm>
            <a:off x="7262971" y="4939983"/>
            <a:ext cx="1076632" cy="369332"/>
            <a:chOff x="2157212" y="5356391"/>
            <a:chExt cx="1076632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B17FFE7-DE9B-4CE6-3D91-9F25EA0DA83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015E6F9-49E2-5830-8C66-348BDB556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7DE9EC-0545-BED0-A6BF-56A23D0C7F61}"/>
              </a:ext>
            </a:extLst>
          </p:cNvPr>
          <p:cNvGrpSpPr/>
          <p:nvPr/>
        </p:nvGrpSpPr>
        <p:grpSpPr>
          <a:xfrm>
            <a:off x="2636813" y="3972889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E8EEFAF-37D3-23A7-C8C1-C75B23A6083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46E10E9-DBCA-3219-682D-7F0C22F11E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8929B2-23EE-9E18-AF90-732E1A4E061A}"/>
              </a:ext>
            </a:extLst>
          </p:cNvPr>
          <p:cNvGrpSpPr/>
          <p:nvPr/>
        </p:nvGrpSpPr>
        <p:grpSpPr>
          <a:xfrm>
            <a:off x="3769895" y="5517442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A8F4A8E-0D67-91A4-44D3-47C4B12AEFB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D5D0553-BCAD-237E-B927-85E2ED979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6337F0A-5CAD-A3DC-34F3-CCA29CEFAA5C}"/>
              </a:ext>
            </a:extLst>
          </p:cNvPr>
          <p:cNvSpPr/>
          <p:nvPr/>
        </p:nvSpPr>
        <p:spPr>
          <a:xfrm>
            <a:off x="3326811" y="4854771"/>
            <a:ext cx="2549811" cy="1795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C17D84-963C-D392-EBED-346905896722}"/>
              </a:ext>
            </a:extLst>
          </p:cNvPr>
          <p:cNvSpPr/>
          <p:nvPr/>
        </p:nvSpPr>
        <p:spPr>
          <a:xfrm>
            <a:off x="1378455" y="4847491"/>
            <a:ext cx="1853695" cy="1795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A1682E-645A-72D3-15A1-55CB011EE758}"/>
              </a:ext>
            </a:extLst>
          </p:cNvPr>
          <p:cNvSpPr txBox="1"/>
          <p:nvPr/>
        </p:nvSpPr>
        <p:spPr>
          <a:xfrm>
            <a:off x="5683343" y="4446652"/>
            <a:ext cx="2312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A Python List comprehension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DDC4B1-5CDF-FBCD-09F2-355960A3E4D1}"/>
              </a:ext>
            </a:extLst>
          </p:cNvPr>
          <p:cNvSpPr/>
          <p:nvPr/>
        </p:nvSpPr>
        <p:spPr>
          <a:xfrm>
            <a:off x="5555662" y="5045294"/>
            <a:ext cx="1526176" cy="1795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239D1A-7A5D-51A7-4552-6E68E07E0423}"/>
              </a:ext>
            </a:extLst>
          </p:cNvPr>
          <p:cNvSpPr/>
          <p:nvPr/>
        </p:nvSpPr>
        <p:spPr>
          <a:xfrm>
            <a:off x="3128622" y="5045294"/>
            <a:ext cx="2272182" cy="1795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713611-5D73-B730-FA2B-7D7593BDCD63}"/>
              </a:ext>
            </a:extLst>
          </p:cNvPr>
          <p:cNvSpPr/>
          <p:nvPr/>
        </p:nvSpPr>
        <p:spPr>
          <a:xfrm>
            <a:off x="1213242" y="5045294"/>
            <a:ext cx="1853695" cy="1795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895FB8-3483-190F-9721-378FF95C62F8}"/>
              </a:ext>
            </a:extLst>
          </p:cNvPr>
          <p:cNvSpPr txBox="1"/>
          <p:nvPr/>
        </p:nvSpPr>
        <p:spPr>
          <a:xfrm>
            <a:off x="5683342" y="5289823"/>
            <a:ext cx="284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A </a:t>
            </a:r>
            <a:r>
              <a:rPr lang="en-US" sz="1400" b="1" dirty="0">
                <a:solidFill>
                  <a:srgbClr val="FFFF00"/>
                </a:solidFill>
              </a:rPr>
              <a:t>nested </a:t>
            </a:r>
            <a:r>
              <a:rPr lang="en-US" sz="1400" dirty="0">
                <a:solidFill>
                  <a:srgbClr val="FFFF00"/>
                </a:solidFill>
              </a:rPr>
              <a:t>Python List comprehension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4FAE7E-ECC8-A430-60F2-63771B77D77E}"/>
              </a:ext>
            </a:extLst>
          </p:cNvPr>
          <p:cNvSpPr/>
          <p:nvPr/>
        </p:nvSpPr>
        <p:spPr>
          <a:xfrm>
            <a:off x="6667500" y="2695232"/>
            <a:ext cx="569119" cy="2245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2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19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/>
      <p:bldP spid="4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F641-EFF1-3FD9-0209-82936EEF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8871-0577-9E69-2E3A-1D41E265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electrical_conductivity_mswin_chrome.py</a:t>
            </a:r>
            <a:endParaRPr lang="en-US" sz="32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289C2-BF84-94C5-E235-21CA0F32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BAFA7-8CAA-11E9-BFA9-AA6BD324A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426" y="1492990"/>
            <a:ext cx="6657143" cy="51714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60E6983-832E-F311-3BF0-3A1CC57E332A}"/>
              </a:ext>
            </a:extLst>
          </p:cNvPr>
          <p:cNvGrpSpPr/>
          <p:nvPr/>
        </p:nvGrpSpPr>
        <p:grpSpPr>
          <a:xfrm>
            <a:off x="7041672" y="1714752"/>
            <a:ext cx="1076632" cy="369332"/>
            <a:chOff x="4968362" y="2079211"/>
            <a:chExt cx="1076632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7CC331E-B745-6A48-A59E-54D964FC82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6AA8F4-18A0-F93F-68E5-732F025F774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D17AA0-B50B-734D-4B47-C5ED4ACB4731}"/>
              </a:ext>
            </a:extLst>
          </p:cNvPr>
          <p:cNvGrpSpPr/>
          <p:nvPr/>
        </p:nvGrpSpPr>
        <p:grpSpPr>
          <a:xfrm>
            <a:off x="7438713" y="2627079"/>
            <a:ext cx="1076632" cy="369332"/>
            <a:chOff x="4704120" y="2356972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AE22DB-A3DE-9010-2B33-785340B142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19EBE2-E547-9788-6D0A-34F85FC7526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15F01E-368A-B742-33A0-68D4F79AC60C}"/>
              </a:ext>
            </a:extLst>
          </p:cNvPr>
          <p:cNvGrpSpPr/>
          <p:nvPr/>
        </p:nvGrpSpPr>
        <p:grpSpPr>
          <a:xfrm>
            <a:off x="7119391" y="3539407"/>
            <a:ext cx="1068643" cy="369332"/>
            <a:chOff x="3647644" y="4910075"/>
            <a:chExt cx="1068643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988B99-9775-C678-2980-A20D426A7BE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D766905-E7B3-EE03-D47B-E3918EB05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B4D379-8EF8-0E06-1CB2-7506C96908E8}"/>
              </a:ext>
            </a:extLst>
          </p:cNvPr>
          <p:cNvGrpSpPr/>
          <p:nvPr/>
        </p:nvGrpSpPr>
        <p:grpSpPr>
          <a:xfrm>
            <a:off x="2306003" y="3792180"/>
            <a:ext cx="1064340" cy="369332"/>
            <a:chOff x="3647644" y="5421073"/>
            <a:chExt cx="1064340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F64FDF4-6DA0-CDC0-4912-0405564F17F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03EBC58-2FB5-FCAF-D728-C720732CC6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6B4CF3-A75C-7679-7F3D-66EAF1601E50}"/>
              </a:ext>
            </a:extLst>
          </p:cNvPr>
          <p:cNvGrpSpPr/>
          <p:nvPr/>
        </p:nvGrpSpPr>
        <p:grpSpPr>
          <a:xfrm>
            <a:off x="3655215" y="4921222"/>
            <a:ext cx="1068643" cy="369332"/>
            <a:chOff x="3647644" y="5359159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446282-644F-0624-55CD-FBB04FF38FA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308380E-E572-3BEF-D66E-51418DE817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88AC196-00C3-266D-7924-71A5E5B20446}"/>
              </a:ext>
            </a:extLst>
          </p:cNvPr>
          <p:cNvGrpSpPr/>
          <p:nvPr/>
        </p:nvGrpSpPr>
        <p:grpSpPr>
          <a:xfrm>
            <a:off x="6549134" y="5611764"/>
            <a:ext cx="1076632" cy="369332"/>
            <a:chOff x="2157212" y="5356391"/>
            <a:chExt cx="1076632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801622-47C2-5439-2226-70394CFEBA8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372F6A6-0B02-0865-150D-4ACA9043D8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16D84A-7701-BC23-9CC8-CE6C40D6881C}"/>
              </a:ext>
            </a:extLst>
          </p:cNvPr>
          <p:cNvGrpSpPr/>
          <p:nvPr/>
        </p:nvGrpSpPr>
        <p:grpSpPr>
          <a:xfrm>
            <a:off x="4936902" y="6283121"/>
            <a:ext cx="1076632" cy="369332"/>
            <a:chOff x="2157212" y="5356391"/>
            <a:chExt cx="1076632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E5BC57-88D7-1CFD-14CA-5C7402E109C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BE97A49-8715-5C61-131E-583ACFFEB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607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8C48-6E94-9E09-0837-94020C8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DDF1-52CA-3870-2E66-B3D34106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your version of the script!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BBFC2-FB50-6F8A-D97D-519CBCD1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B4AD3-FBD3-61A0-82EB-306672C8E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592" y="1690689"/>
            <a:ext cx="5934815" cy="27733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0E13F9-4A89-C762-21B9-D2BE238D8AE8}"/>
              </a:ext>
            </a:extLst>
          </p:cNvPr>
          <p:cNvSpPr/>
          <p:nvPr/>
        </p:nvSpPr>
        <p:spPr>
          <a:xfrm>
            <a:off x="1812758" y="2951747"/>
            <a:ext cx="5638800" cy="27271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5268FB-E344-8FFC-F3BC-3A9B391959CB}"/>
              </a:ext>
            </a:extLst>
          </p:cNvPr>
          <p:cNvGrpSpPr/>
          <p:nvPr/>
        </p:nvGrpSpPr>
        <p:grpSpPr>
          <a:xfrm>
            <a:off x="3373042" y="1791523"/>
            <a:ext cx="2714937" cy="1200329"/>
            <a:chOff x="3373042" y="1791523"/>
            <a:chExt cx="2714937" cy="120032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596F07-B33D-CBD6-B8E4-B093FD31C7D2}"/>
                </a:ext>
              </a:extLst>
            </p:cNvPr>
            <p:cNvSpPr txBox="1"/>
            <p:nvPr/>
          </p:nvSpPr>
          <p:spPr>
            <a:xfrm>
              <a:off x="3801979" y="2191632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</a:rPr>
                <a:t>Top 4 make sense…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775BE6-0930-1A98-9A55-A7BF6B3570C1}"/>
                </a:ext>
              </a:extLst>
            </p:cNvPr>
            <p:cNvSpPr txBox="1"/>
            <p:nvPr/>
          </p:nvSpPr>
          <p:spPr>
            <a:xfrm>
              <a:off x="3373042" y="1791523"/>
              <a:ext cx="27672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solidFill>
                    <a:srgbClr val="FFFF00"/>
                  </a:solidFill>
                </a:rPr>
                <a:t>}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ED056D8-A215-7DA0-76E0-638F40D3638D}"/>
              </a:ext>
            </a:extLst>
          </p:cNvPr>
          <p:cNvSpPr txBox="1"/>
          <p:nvPr/>
        </p:nvSpPr>
        <p:spPr>
          <a:xfrm>
            <a:off x="3914274" y="3305659"/>
            <a:ext cx="23020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Chalky white </a:t>
            </a:r>
            <a:r>
              <a:rPr lang="en-US" sz="1600" b="1" dirty="0">
                <a:solidFill>
                  <a:srgbClr val="FFFF00"/>
                </a:solidFill>
              </a:rPr>
              <a:t>bones</a:t>
            </a:r>
            <a:r>
              <a:rPr lang="en-US" sz="1600" dirty="0">
                <a:solidFill>
                  <a:srgbClr val="FFFF00"/>
                </a:solidFill>
              </a:rPr>
              <a:t> are made from Calcium!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</a:rPr>
              <a:t>Do bones conduct electricity?</a:t>
            </a:r>
          </a:p>
        </p:txBody>
      </p:sp>
    </p:spTree>
    <p:extLst>
      <p:ext uri="{BB962C8B-B14F-4D97-AF65-F5344CB8AC3E}">
        <p14:creationId xmlns:p14="http://schemas.microsoft.com/office/powerpoint/2010/main" val="370287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EB28-DDC9-D4B9-BE96-60B53F96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BF98-30D1-E467-3B42-74564AB8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your version of the script!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A9152-DF4C-7013-58F2-9F63BEB9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E9CF3-699A-5656-0E90-A47B63878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592" y="1690689"/>
            <a:ext cx="5934815" cy="27733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9FA3C2-9AF0-3D37-75F8-0D833744FDD5}"/>
              </a:ext>
            </a:extLst>
          </p:cNvPr>
          <p:cNvSpPr/>
          <p:nvPr/>
        </p:nvSpPr>
        <p:spPr>
          <a:xfrm>
            <a:off x="1812758" y="2951747"/>
            <a:ext cx="5638800" cy="27271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70F197-CAEA-95D8-B5F1-61512B959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840" y="2697900"/>
            <a:ext cx="5086871" cy="35323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1914BF-D3EC-EC16-1C94-87920B49EC7B}"/>
              </a:ext>
            </a:extLst>
          </p:cNvPr>
          <p:cNvSpPr/>
          <p:nvPr/>
        </p:nvSpPr>
        <p:spPr>
          <a:xfrm>
            <a:off x="4491789" y="4327715"/>
            <a:ext cx="2855161" cy="1578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8A8995-81BA-4F3A-A0CA-F1279E3BD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06" y="1468581"/>
            <a:ext cx="4388492" cy="46322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Consider Wolfram Mathematica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1E51F0-1AA7-4870-91F5-E8DAAC7C312F}"/>
              </a:ext>
            </a:extLst>
          </p:cNvPr>
          <p:cNvSpPr/>
          <p:nvPr/>
        </p:nvSpPr>
        <p:spPr>
          <a:xfrm>
            <a:off x="732805" y="4501440"/>
            <a:ext cx="3692569" cy="2022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28612-4414-C316-ACC6-8F969FEEC9DD}"/>
              </a:ext>
            </a:extLst>
          </p:cNvPr>
          <p:cNvSpPr txBox="1"/>
          <p:nvPr/>
        </p:nvSpPr>
        <p:spPr>
          <a:xfrm>
            <a:off x="5171454" y="1499938"/>
            <a:ext cx="38142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One line of code to query, sort, and nicely display the same data!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Mathematica provides instant access to the online </a:t>
            </a:r>
            <a:r>
              <a:rPr lang="en-US" dirty="0">
                <a:solidFill>
                  <a:srgbClr val="7030A0"/>
                </a:solidFill>
                <a:hlinkClick r:id="rId3"/>
              </a:rPr>
              <a:t>Wolfram Data Repository</a:t>
            </a:r>
            <a:r>
              <a:rPr lang="en-US" dirty="0">
                <a:solidFill>
                  <a:srgbClr val="7030A0"/>
                </a:solidFill>
              </a:rPr>
              <a:t>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A $90 Raspberry Pi 5 with 4GB of RAM (</a:t>
            </a:r>
            <a:r>
              <a:rPr lang="en-US" dirty="0">
                <a:solidFill>
                  <a:srgbClr val="7030A0"/>
                </a:solidFill>
                <a:hlinkClick r:id="rId4"/>
              </a:rPr>
              <a:t>Adafruit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>
                <a:solidFill>
                  <a:srgbClr val="7030A0"/>
                </a:solidFill>
                <a:hlinkClick r:id="rId5"/>
              </a:rPr>
              <a:t>Amazon</a:t>
            </a:r>
            <a:r>
              <a:rPr lang="en-US" dirty="0">
                <a:solidFill>
                  <a:srgbClr val="7030A0"/>
                </a:solidFill>
              </a:rPr>
              <a:t>) comes with a </a:t>
            </a:r>
            <a:r>
              <a:rPr lang="en-US" b="1" dirty="0">
                <a:solidFill>
                  <a:srgbClr val="7030A0"/>
                </a:solidFill>
              </a:rPr>
              <a:t>fully licensed </a:t>
            </a:r>
            <a:r>
              <a:rPr lang="en-US" dirty="0">
                <a:solidFill>
                  <a:srgbClr val="7030A0"/>
                </a:solidFill>
              </a:rPr>
              <a:t>version of Mathematica, for </a:t>
            </a:r>
            <a:r>
              <a:rPr lang="en-US" i="1" dirty="0">
                <a:solidFill>
                  <a:srgbClr val="7030A0"/>
                </a:solidFill>
              </a:rPr>
              <a:t>free</a:t>
            </a:r>
            <a:r>
              <a:rPr lang="en-US" dirty="0">
                <a:solidFill>
                  <a:srgbClr val="7030A0"/>
                </a:solidFill>
              </a:rPr>
              <a:t>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D92143-6952-0518-AFC5-572F4DC84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680" y="4279254"/>
            <a:ext cx="2779798" cy="18048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379D8AC-45EF-0AB0-6F05-9E9A9D3962CB}"/>
              </a:ext>
            </a:extLst>
          </p:cNvPr>
          <p:cNvSpPr/>
          <p:nvPr/>
        </p:nvSpPr>
        <p:spPr>
          <a:xfrm>
            <a:off x="785813" y="1509713"/>
            <a:ext cx="4286250" cy="126682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4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7F3E2-C1D3-658A-CE2A-40029796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84D4-76C0-1073-11C9-3956A2DB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Consider Wolfram Mathematica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18255-133C-AD76-DBAE-0B608118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51518F-D15A-4517-662E-BBC296E0F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1978358"/>
            <a:ext cx="8293768" cy="411150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2E5FB2-8F05-4949-B476-5062CFD1D28C}"/>
              </a:ext>
            </a:extLst>
          </p:cNvPr>
          <p:cNvSpPr txBox="1"/>
          <p:nvPr/>
        </p:nvSpPr>
        <p:spPr>
          <a:xfrm>
            <a:off x="2286000" y="13425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https://datarepository.wolframcloud.com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761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CFE5-A6B4-C9EC-D9E2-38E5C051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A656B-29D2-F101-2A69-CAEBE248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Consider Wolfram Mathematica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2A4AD-52CD-5361-38BF-5C70D04D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65999-A20B-F685-27E1-8CA893746D8D}"/>
              </a:ext>
            </a:extLst>
          </p:cNvPr>
          <p:cNvSpPr txBox="1"/>
          <p:nvPr/>
        </p:nvSpPr>
        <p:spPr>
          <a:xfrm>
            <a:off x="2286000" y="13425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https://datarepository.wolframcloud.com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4210A-EA89-7A94-6D1C-C3F1E06B3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31" y="1969226"/>
            <a:ext cx="5630537" cy="42960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28CC05-F4B5-6088-9D9C-02BB7F6B9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558" y="3565783"/>
            <a:ext cx="5839327" cy="176281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05C9B5-8208-5155-8F1F-4DE81F3A2448}"/>
              </a:ext>
            </a:extLst>
          </p:cNvPr>
          <p:cNvSpPr/>
          <p:nvPr/>
        </p:nvSpPr>
        <p:spPr>
          <a:xfrm>
            <a:off x="5301916" y="3978442"/>
            <a:ext cx="1451810" cy="12593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B72D1-E0D1-2B94-F55D-6448F36AD948}"/>
              </a:ext>
            </a:extLst>
          </p:cNvPr>
          <p:cNvSpPr txBox="1"/>
          <p:nvPr/>
        </p:nvSpPr>
        <p:spPr>
          <a:xfrm>
            <a:off x="216567" y="2791326"/>
            <a:ext cx="14357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Thousands of </a:t>
            </a:r>
            <a:r>
              <a:rPr lang="en-US" sz="1400" b="1" dirty="0"/>
              <a:t>highly curated </a:t>
            </a:r>
            <a:r>
              <a:rPr lang="en-US" sz="1400" dirty="0"/>
              <a:t>datasets are instantly available inside Mathematica.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No web scraping or CSV/JSON parsing required!</a:t>
            </a:r>
          </a:p>
        </p:txBody>
      </p:sp>
    </p:spTree>
    <p:extLst>
      <p:ext uri="{BB962C8B-B14F-4D97-AF65-F5344CB8AC3E}">
        <p14:creationId xmlns:p14="http://schemas.microsoft.com/office/powerpoint/2010/main" val="335984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071F-5496-E269-6803-3E30C32A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A1B0-F9B5-105A-FEB4-8E1D1EB0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Consider Wolfram Mathematica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55AE7-EDD4-51F3-861A-0B9E2BE5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C2A2C-879A-30DA-7A02-6C91A9D4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07" y="1370417"/>
            <a:ext cx="6313187" cy="5285823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FC29E66-6B6B-B440-C0E7-94FABF29D207}"/>
              </a:ext>
            </a:extLst>
          </p:cNvPr>
          <p:cNvSpPr/>
          <p:nvPr/>
        </p:nvSpPr>
        <p:spPr>
          <a:xfrm>
            <a:off x="6167144" y="2839842"/>
            <a:ext cx="2567205" cy="1490757"/>
          </a:xfrm>
          <a:prstGeom prst="wedgeRoundRectCallout">
            <a:avLst>
              <a:gd name="adj1" fmla="val -72298"/>
              <a:gd name="adj2" fmla="val 2334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Draw the decay chain for unstable isotopes having a mass number between 100 and 102 inclusive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BAA23E-F6A9-F8D9-3858-0F50996E6CDF}"/>
              </a:ext>
            </a:extLst>
          </p:cNvPr>
          <p:cNvSpPr/>
          <p:nvPr/>
        </p:nvSpPr>
        <p:spPr>
          <a:xfrm>
            <a:off x="1415406" y="1622143"/>
            <a:ext cx="1620402" cy="2267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1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36722-B86E-45AA-EAD6-947B7CC3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F3BE-7E3F-48EE-683C-E5D7336C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Consider Wolfram Mathematica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ADD24-6507-FFC7-3026-3E448027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BB5D9E-BE12-4CD6-00D8-6D72EF4F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476" y="1468581"/>
            <a:ext cx="6451048" cy="510534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4CBA40-5B41-C646-F64C-6F19A63C9A38}"/>
              </a:ext>
            </a:extLst>
          </p:cNvPr>
          <p:cNvSpPr/>
          <p:nvPr/>
        </p:nvSpPr>
        <p:spPr>
          <a:xfrm>
            <a:off x="6341821" y="5368799"/>
            <a:ext cx="2289657" cy="9875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Our JSON file only had the isotopes in the </a:t>
            </a:r>
            <a:r>
              <a:rPr lang="en-US" b="1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purple boxes</a:t>
            </a:r>
            <a:endParaRPr lang="en-US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2DB331-B1B2-AB08-5BE7-CA9D1D198987}"/>
              </a:ext>
            </a:extLst>
          </p:cNvPr>
          <p:cNvSpPr/>
          <p:nvPr/>
        </p:nvSpPr>
        <p:spPr>
          <a:xfrm>
            <a:off x="1543507" y="2348179"/>
            <a:ext cx="475488" cy="223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8E882E-06FE-82CA-3224-A2A99A8CF6E5}"/>
              </a:ext>
            </a:extLst>
          </p:cNvPr>
          <p:cNvSpPr/>
          <p:nvPr/>
        </p:nvSpPr>
        <p:spPr>
          <a:xfrm>
            <a:off x="6220206" y="4927367"/>
            <a:ext cx="912114" cy="223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CE4B8AF-68AD-0F46-D084-6427E24F649D}"/>
              </a:ext>
            </a:extLst>
          </p:cNvPr>
          <p:cNvCxnSpPr>
            <a:stCxn id="10" idx="3"/>
            <a:endCxn id="9" idx="1"/>
          </p:cNvCxnSpPr>
          <p:nvPr/>
        </p:nvCxnSpPr>
        <p:spPr>
          <a:xfrm flipH="1" flipV="1">
            <a:off x="1543507" y="2460108"/>
            <a:ext cx="5588813" cy="2579188"/>
          </a:xfrm>
          <a:prstGeom prst="bentConnector5">
            <a:avLst>
              <a:gd name="adj1" fmla="val -4090"/>
              <a:gd name="adj2" fmla="val 145581"/>
              <a:gd name="adj3" fmla="val 108017"/>
            </a:avLst>
          </a:prstGeom>
          <a:ln w="3810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DF993-061B-8CD1-91CB-5DF92FA857FA}"/>
              </a:ext>
            </a:extLst>
          </p:cNvPr>
          <p:cNvSpPr/>
          <p:nvPr/>
        </p:nvSpPr>
        <p:spPr>
          <a:xfrm>
            <a:off x="6144126" y="1981200"/>
            <a:ext cx="1564106" cy="6497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F91F8C-02EF-C8D5-3C12-57800A2E90C7}"/>
              </a:ext>
            </a:extLst>
          </p:cNvPr>
          <p:cNvSpPr/>
          <p:nvPr/>
        </p:nvSpPr>
        <p:spPr>
          <a:xfrm>
            <a:off x="6144126" y="2630905"/>
            <a:ext cx="1564106" cy="6497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38F623-9E3B-815B-9F7C-1F00EED6E1B7}"/>
              </a:ext>
            </a:extLst>
          </p:cNvPr>
          <p:cNvSpPr/>
          <p:nvPr/>
        </p:nvSpPr>
        <p:spPr>
          <a:xfrm>
            <a:off x="6144126" y="3280610"/>
            <a:ext cx="1564106" cy="6497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A108D-9A85-9BAD-E3E8-229FBC418BC8}"/>
              </a:ext>
            </a:extLst>
          </p:cNvPr>
          <p:cNvSpPr/>
          <p:nvPr/>
        </p:nvSpPr>
        <p:spPr>
          <a:xfrm>
            <a:off x="6144126" y="3930315"/>
            <a:ext cx="1564106" cy="6497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456711-713C-5E46-59E1-3FB8416E8EA8}"/>
              </a:ext>
            </a:extLst>
          </p:cNvPr>
          <p:cNvSpPr/>
          <p:nvPr/>
        </p:nvSpPr>
        <p:spPr>
          <a:xfrm>
            <a:off x="6144126" y="4580020"/>
            <a:ext cx="1564106" cy="6497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366AF9-EA33-BB89-9F42-11D02A10CAF9}"/>
              </a:ext>
            </a:extLst>
          </p:cNvPr>
          <p:cNvSpPr/>
          <p:nvPr/>
        </p:nvSpPr>
        <p:spPr>
          <a:xfrm>
            <a:off x="4580020" y="4580019"/>
            <a:ext cx="1564106" cy="6497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0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Balancing Ionic Equations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4379913" cy="1077913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/>
              <a:t>Can we write a program to balance ionic equations?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724" y="1527629"/>
            <a:ext cx="2787860" cy="20854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724" y="4051803"/>
            <a:ext cx="2787860" cy="2090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21" y="2902857"/>
            <a:ext cx="3709370" cy="278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5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Balancing Ionic Equations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73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979" y="2226314"/>
            <a:ext cx="4040875" cy="35458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62" y="2226314"/>
            <a:ext cx="4445417" cy="33834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20597017">
            <a:off x="765938" y="3361829"/>
            <a:ext cx="7331989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Yikes - and this is not even ionic!</a:t>
            </a:r>
          </a:p>
        </p:txBody>
      </p:sp>
    </p:spTree>
    <p:extLst>
      <p:ext uri="{BB962C8B-B14F-4D97-AF65-F5344CB8AC3E}">
        <p14:creationId xmlns:p14="http://schemas.microsoft.com/office/powerpoint/2010/main" val="160273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How Hard Can It Be?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48ADB9-DDE6-9DD9-8FF0-26030B4A0F8E}"/>
                  </a:ext>
                </a:extLst>
              </p:cNvPr>
              <p:cNvSpPr/>
              <p:nvPr/>
            </p:nvSpPr>
            <p:spPr>
              <a:xfrm>
                <a:off x="1538445" y="2175429"/>
                <a:ext cx="606710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48ADB9-DDE6-9DD9-8FF0-26030B4A0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445" y="2175429"/>
                <a:ext cx="6067109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7154DE2-F04A-139F-BE17-881F7FEB5B87}"/>
              </a:ext>
            </a:extLst>
          </p:cNvPr>
          <p:cNvSpPr txBox="1"/>
          <p:nvPr/>
        </p:nvSpPr>
        <p:spPr>
          <a:xfrm>
            <a:off x="2655132" y="3335311"/>
            <a:ext cx="3833736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Please Balance This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56910-0265-F2FF-F296-E8E70FF05BF0}"/>
              </a:ext>
            </a:extLst>
          </p:cNvPr>
          <p:cNvSpPr txBox="1"/>
          <p:nvPr/>
        </p:nvSpPr>
        <p:spPr>
          <a:xfrm>
            <a:off x="2943997" y="4289532"/>
            <a:ext cx="3256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Diphosphorus Tetraiodide reaction is fundamental to </a:t>
            </a:r>
            <a:r>
              <a:rPr lang="en-US" b="1" dirty="0"/>
              <a:t>respiration</a:t>
            </a:r>
          </a:p>
        </p:txBody>
      </p:sp>
    </p:spTree>
    <p:extLst>
      <p:ext uri="{BB962C8B-B14F-4D97-AF65-F5344CB8AC3E}">
        <p14:creationId xmlns:p14="http://schemas.microsoft.com/office/powerpoint/2010/main" val="406330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Chemistry is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1825625"/>
                <a:ext cx="8007349" cy="484089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Consider a chemical formula as an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optimization</a:t>
                </a:r>
                <a:r>
                  <a:rPr lang="en-US" sz="2400" dirty="0"/>
                  <a:t> problem: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800" b="1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Develop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objective function </a:t>
                </a:r>
                <a:r>
                  <a:rPr lang="en-US" sz="2400" dirty="0"/>
                  <a:t>and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constraints</a:t>
                </a:r>
                <a:r>
                  <a:rPr lang="en-US" sz="2400" dirty="0"/>
                  <a:t>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 algn="ctr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sz="2400" dirty="0"/>
                  <a:t>due to Principle of Atom Conservation (</a:t>
                </a:r>
                <a:r>
                  <a:rPr lang="en-US" sz="2400" b="1" dirty="0"/>
                  <a:t>POAC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1825625"/>
                <a:ext cx="8007349" cy="4840898"/>
              </a:xfrm>
              <a:blipFill>
                <a:blip r:embed="rId3"/>
                <a:stretch>
                  <a:fillRect l="-1066" t="-1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446EBB-EDD3-C0ED-0F59-DE4216AFB5BD}"/>
                  </a:ext>
                </a:extLst>
              </p:cNvPr>
              <p:cNvSpPr txBox="1"/>
              <p:nvPr/>
            </p:nvSpPr>
            <p:spPr>
              <a:xfrm>
                <a:off x="6457950" y="4824664"/>
                <a:ext cx="12923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446EBB-EDD3-C0ED-0F59-DE4216AFB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4824664"/>
                <a:ext cx="1292341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69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Encoding a Chemical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19" y="1825625"/>
            <a:ext cx="8007349" cy="484089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can encode a chemical reaction using a system of </a:t>
            </a:r>
            <a:r>
              <a:rPr lang="en-US" sz="2400" b="1" dirty="0"/>
              <a:t>linear</a:t>
            </a:r>
            <a:r>
              <a:rPr lang="en-US" sz="2400" dirty="0"/>
              <a:t> equations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There will be one </a:t>
            </a:r>
            <a:r>
              <a:rPr lang="en-US" sz="2000" b="1" dirty="0">
                <a:solidFill>
                  <a:srgbClr val="00B050"/>
                </a:solidFill>
              </a:rPr>
              <a:t>unknown</a:t>
            </a:r>
            <a:r>
              <a:rPr lang="en-US" sz="2000" dirty="0"/>
              <a:t> for every </a:t>
            </a:r>
            <a:r>
              <a:rPr lang="en-US" sz="2000" b="1" dirty="0">
                <a:solidFill>
                  <a:srgbClr val="FF0000"/>
                </a:solidFill>
              </a:rPr>
              <a:t>molecule</a:t>
            </a:r>
            <a:r>
              <a:rPr lang="en-US" sz="2000" dirty="0"/>
              <a:t> (or charged ion)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There will be one </a:t>
            </a:r>
            <a:r>
              <a:rPr lang="en-US" sz="2000" b="1" dirty="0">
                <a:solidFill>
                  <a:srgbClr val="0070C0"/>
                </a:solidFill>
              </a:rPr>
              <a:t>equation</a:t>
            </a:r>
            <a:r>
              <a:rPr lang="en-US" sz="2000" dirty="0"/>
              <a:t> for every </a:t>
            </a:r>
            <a:r>
              <a:rPr lang="en-US" sz="2000" b="1" dirty="0">
                <a:solidFill>
                  <a:srgbClr val="FF0000"/>
                </a:solidFill>
              </a:rPr>
              <a:t>element</a:t>
            </a:r>
            <a:r>
              <a:rPr lang="en-US" sz="2000" dirty="0"/>
              <a:t> (atom)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We </a:t>
            </a:r>
            <a:r>
              <a:rPr lang="en-US" sz="2000" i="1" dirty="0"/>
              <a:t>may</a:t>
            </a:r>
            <a:r>
              <a:rPr lang="en-US" sz="2000" dirty="0"/>
              <a:t> need one more equation to encode the </a:t>
            </a:r>
            <a:r>
              <a:rPr lang="en-US" sz="2000" b="1" dirty="0">
                <a:solidFill>
                  <a:srgbClr val="7030A0"/>
                </a:solidFill>
              </a:rPr>
              <a:t>ionic charges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/>
              <a:t>integer</a:t>
            </a:r>
            <a:r>
              <a:rPr lang="en-US" sz="2400" dirty="0"/>
              <a:t> program solver will emit the coefficients for each term in the chemical equation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We are looking for the optimal (</a:t>
            </a:r>
            <a:r>
              <a:rPr lang="en-US" sz="2000" u="sng" dirty="0"/>
              <a:t>minimal</a:t>
            </a:r>
            <a:r>
              <a:rPr lang="en-US" sz="2000" dirty="0"/>
              <a:t>) solution to the system of equations due to </a:t>
            </a:r>
            <a:r>
              <a:rPr lang="en-US" sz="2000" b="1" dirty="0"/>
              <a:t>POAC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solutions must be </a:t>
            </a:r>
            <a:r>
              <a:rPr lang="en-US" sz="2000" b="1" dirty="0"/>
              <a:t>positive integer values </a:t>
            </a:r>
            <a:r>
              <a:rPr lang="en-US" sz="2000" dirty="0"/>
              <a:t>because elements combine in whole numbers, and we do not write any reactants or products with a zero coefficient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45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2140415"/>
                <a:ext cx="8007349" cy="3960578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2140415"/>
                <a:ext cx="8007349" cy="396057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Chemistry is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07AB23-D4CD-73EC-2C0D-3A3440670961}"/>
                  </a:ext>
                </a:extLst>
              </p:cNvPr>
              <p:cNvSpPr txBox="1"/>
              <p:nvPr/>
            </p:nvSpPr>
            <p:spPr>
              <a:xfrm>
                <a:off x="1340812" y="1429130"/>
                <a:ext cx="656730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1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07AB23-D4CD-73EC-2C0D-3A3440670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12" y="1429130"/>
                <a:ext cx="6567306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08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697D-C20A-C570-9D37-BDB56A43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B4724-741D-0333-E622-48CC4C431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019" y="2140415"/>
                <a:ext cx="8007349" cy="3960578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B4724-741D-0333-E622-48CC4C431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2140415"/>
                <a:ext cx="8007349" cy="396057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397E80-FDDC-E6E3-4876-08149A38D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Chemistry is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5F247-56BE-8186-0AA3-F42DD0F7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52930C7-CB82-2167-2044-CA80CE5189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17789" y="4060877"/>
              <a:ext cx="6508422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5421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542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Manganese (Mn)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Oxygen (O)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8542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Hydrogen (H)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charges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52930C7-CB82-2167-2044-CA80CE5189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17789" y="4060877"/>
              <a:ext cx="6508422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5421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542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7" t="-1333" r="-100375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Manganese (Mn)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7" t="-100000" r="-100375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Oxygen (O)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7" t="-202667" r="-100375" b="-1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Hydrogen (H)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7" t="-302667" r="-100375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 balance</a:t>
                          </a:r>
                          <a:r>
                            <a:rPr lang="en-US" baseline="0" dirty="0"/>
                            <a:t> the charges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6CEC44-39D0-FF9E-ABEA-A8CBB9F90837}"/>
              </a:ext>
            </a:extLst>
          </p:cNvPr>
          <p:cNvCxnSpPr/>
          <p:nvPr/>
        </p:nvCxnSpPr>
        <p:spPr>
          <a:xfrm flipH="1">
            <a:off x="1640114" y="2564504"/>
            <a:ext cx="341086" cy="206828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D08628-1291-2E86-6CED-FD181AC217B2}"/>
              </a:ext>
            </a:extLst>
          </p:cNvPr>
          <p:cNvCxnSpPr/>
          <p:nvPr/>
        </p:nvCxnSpPr>
        <p:spPr>
          <a:xfrm flipH="1">
            <a:off x="3664857" y="2361304"/>
            <a:ext cx="2184401" cy="319314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255B6D-C112-A883-CE6A-AEE30120CAF1}"/>
                  </a:ext>
                </a:extLst>
              </p:cNvPr>
              <p:cNvSpPr txBox="1"/>
              <p:nvPr/>
            </p:nvSpPr>
            <p:spPr>
              <a:xfrm>
                <a:off x="1340812" y="1429130"/>
                <a:ext cx="656730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1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255B6D-C112-A883-CE6A-AEE30120C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12" y="1429130"/>
                <a:ext cx="6567306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89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Chemistry is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have transformed solving a chemical equation into a solving a </a:t>
            </a:r>
            <a:r>
              <a:rPr lang="en-US" sz="2400" b="1" dirty="0">
                <a:solidFill>
                  <a:srgbClr val="00B050"/>
                </a:solidFill>
              </a:rPr>
              <a:t>linear optimization </a:t>
            </a:r>
            <a:r>
              <a:rPr lang="en-US" sz="2400" dirty="0"/>
              <a:t>problem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Simplex</a:t>
            </a:r>
            <a:r>
              <a:rPr lang="en-US" sz="2000" dirty="0"/>
              <a:t> method is a known good approach to solve linear programming problems in reasonable time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However, managing </a:t>
            </a:r>
            <a:r>
              <a:rPr lang="en-US" sz="2000" b="1" dirty="0">
                <a:solidFill>
                  <a:srgbClr val="0070C0"/>
                </a:solidFill>
              </a:rPr>
              <a:t>slack variables </a:t>
            </a:r>
            <a:r>
              <a:rPr lang="en-US" sz="2000" dirty="0"/>
              <a:t>and the </a:t>
            </a:r>
            <a:r>
              <a:rPr lang="en-US" sz="2000" b="1" dirty="0">
                <a:solidFill>
                  <a:srgbClr val="0070C0"/>
                </a:solidFill>
              </a:rPr>
              <a:t>tableau</a:t>
            </a:r>
            <a:r>
              <a:rPr lang="en-US" sz="2000" dirty="0"/>
              <a:t> algorithm can be intimidating for novice programmers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Instead, we will utilize a Python Linear Program library (</a:t>
            </a:r>
            <a:r>
              <a:rPr lang="en-US" sz="2400" b="1" dirty="0"/>
              <a:t>PuLP</a:t>
            </a:r>
            <a:r>
              <a:rPr lang="en-US" sz="2400" dirty="0"/>
              <a:t>) to quickly find the optimal solution over the </a:t>
            </a:r>
            <a:r>
              <a:rPr lang="en-US" sz="2400" b="1" dirty="0"/>
              <a:t>integers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79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03209A-553A-36B3-7E37-80E940BF0FD8}"/>
              </a:ext>
            </a:extLst>
          </p:cNvPr>
          <p:cNvGrpSpPr/>
          <p:nvPr/>
        </p:nvGrpSpPr>
        <p:grpSpPr>
          <a:xfrm>
            <a:off x="1653768" y="4963041"/>
            <a:ext cx="5836464" cy="1705690"/>
            <a:chOff x="2005325" y="4963041"/>
            <a:chExt cx="5836464" cy="17056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A34631-FF9F-356E-9EA4-4F5C7AC2E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5325" y="4963041"/>
              <a:ext cx="2275850" cy="170569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924FAFF-80D9-D89B-655D-C0278ED53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5914" y="4963041"/>
              <a:ext cx="3045875" cy="1705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508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Chemistry is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424EEB-8526-FCB1-14C2-3B0CF0819F7E}"/>
              </a:ext>
            </a:extLst>
          </p:cNvPr>
          <p:cNvSpPr txBox="1"/>
          <p:nvPr/>
        </p:nvSpPr>
        <p:spPr>
          <a:xfrm>
            <a:off x="1965815" y="1321357"/>
            <a:ext cx="5212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https://ergo-code.github.io/HiGHS/dev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EAA7F-B15C-4D4A-4C1E-29AE98BA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3" y="1855682"/>
            <a:ext cx="7463955" cy="43125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66628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2753B-F316-1ADB-85A6-FDDDCDED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C88051-DEE8-DD78-46BF-2D20D12B3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82" y="2165320"/>
            <a:ext cx="7975236" cy="2523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7F3B36-C33F-1D43-5085-32BE9DE1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balance_eqn1.py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EC4D2-8F08-C5F7-9895-C2CAC4E8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0B02-8A25-C34C-0AEB-23FE5A5F0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263" y="1615910"/>
            <a:ext cx="4507473" cy="31929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5B1829B-FFC0-0CF4-083E-97B465C02E88}"/>
              </a:ext>
            </a:extLst>
          </p:cNvPr>
          <p:cNvGrpSpPr/>
          <p:nvPr/>
        </p:nvGrpSpPr>
        <p:grpSpPr>
          <a:xfrm>
            <a:off x="6164129" y="2949797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F9FAECC-C648-74F0-EB46-C41965BF69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EF400A-BD48-95EF-B864-FC6F648F4C7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55B4D0-72E3-203C-3344-96885DFAE01C}"/>
              </a:ext>
            </a:extLst>
          </p:cNvPr>
          <p:cNvGrpSpPr/>
          <p:nvPr/>
        </p:nvGrpSpPr>
        <p:grpSpPr>
          <a:xfrm>
            <a:off x="8091508" y="3451467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2CD35DA-945A-A43C-B87E-7FE5A315D7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706810-A78F-A99E-A387-4A46348C486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34B264A-3E04-15B1-799D-B9DA68D91EC5}"/>
              </a:ext>
            </a:extLst>
          </p:cNvPr>
          <p:cNvSpPr txBox="1"/>
          <p:nvPr/>
        </p:nvSpPr>
        <p:spPr>
          <a:xfrm>
            <a:off x="2526806" y="5163760"/>
            <a:ext cx="409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One </a:t>
            </a:r>
            <a:r>
              <a:rPr lang="en-US" b="1" dirty="0">
                <a:solidFill>
                  <a:srgbClr val="7030A0"/>
                </a:solidFill>
              </a:rPr>
              <a:t>decision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variable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i="1" dirty="0">
                <a:solidFill>
                  <a:srgbClr val="7030A0"/>
                </a:solidFill>
              </a:rPr>
              <a:t>for each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u="sng" dirty="0">
                <a:solidFill>
                  <a:srgbClr val="7030A0"/>
                </a:solidFill>
              </a:rPr>
              <a:t>molecule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06DD48-AC99-A864-802A-D1FA6C1BE33A}"/>
              </a:ext>
            </a:extLst>
          </p:cNvPr>
          <p:cNvSpPr/>
          <p:nvPr/>
        </p:nvSpPr>
        <p:spPr>
          <a:xfrm>
            <a:off x="1403684" y="2984068"/>
            <a:ext cx="499555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E8985-FE94-99E9-6BD1-7F878AE6EDB5}"/>
              </a:ext>
            </a:extLst>
          </p:cNvPr>
          <p:cNvSpPr/>
          <p:nvPr/>
        </p:nvSpPr>
        <p:spPr>
          <a:xfrm>
            <a:off x="628650" y="3515999"/>
            <a:ext cx="325855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4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1B6D-55EF-1876-9F4B-F161248E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58EBC3-18B5-96AB-F29E-89D217B99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141" y="2165319"/>
            <a:ext cx="6863718" cy="23264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914C42-6BDD-6CCA-E772-8AEF78F8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balance_eqn1.py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48EF0-3EAF-C8B0-D865-99E76747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0F435E-3A4D-8A35-47ED-CEBD47B81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263" y="1615910"/>
            <a:ext cx="4507473" cy="31929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9594255-B39D-8AFB-6C5D-7ACD4288767E}"/>
              </a:ext>
            </a:extLst>
          </p:cNvPr>
          <p:cNvGrpSpPr/>
          <p:nvPr/>
        </p:nvGrpSpPr>
        <p:grpSpPr>
          <a:xfrm>
            <a:off x="6971052" y="2179593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0056C59-44AB-A56E-A0AE-78A2A29602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8041D3-A0EB-EBF0-5ABE-3A21BEBC862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05C4E5-B627-3C41-3E49-EE256860B7E8}"/>
              </a:ext>
            </a:extLst>
          </p:cNvPr>
          <p:cNvGrpSpPr/>
          <p:nvPr/>
        </p:nvGrpSpPr>
        <p:grpSpPr>
          <a:xfrm>
            <a:off x="4571999" y="2481006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768BD33-DFF7-F075-4C5A-10A2B8DD4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77F8DB-3AF6-5580-C833-4DE43617A79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7185F2-E53F-3C79-3C37-53F126DB33BC}"/>
              </a:ext>
            </a:extLst>
          </p:cNvPr>
          <p:cNvGrpSpPr/>
          <p:nvPr/>
        </p:nvGrpSpPr>
        <p:grpSpPr>
          <a:xfrm>
            <a:off x="6952328" y="3103855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A9CA89-46AA-462E-A9D7-0F131DD75F5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2FB77DA-27AF-65E7-2DE9-6D8828EA6C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16E8316-BC41-EF47-DFFE-456B7712C5B8}"/>
              </a:ext>
            </a:extLst>
          </p:cNvPr>
          <p:cNvSpPr/>
          <p:nvPr/>
        </p:nvSpPr>
        <p:spPr>
          <a:xfrm>
            <a:off x="1828800" y="3152274"/>
            <a:ext cx="360947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AEFA09-87A9-B1C7-522E-78B0FF9EAD73}"/>
              </a:ext>
            </a:extLst>
          </p:cNvPr>
          <p:cNvGrpSpPr/>
          <p:nvPr/>
        </p:nvGrpSpPr>
        <p:grpSpPr>
          <a:xfrm>
            <a:off x="7910227" y="3736955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1D7051-C9B0-FF7D-8F6D-A3279C558D6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A4BC19C-F12D-0751-A52B-F44EA565CE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A3262F6-1180-FA90-7331-71F436B58758}"/>
              </a:ext>
            </a:extLst>
          </p:cNvPr>
          <p:cNvSpPr/>
          <p:nvPr/>
        </p:nvSpPr>
        <p:spPr>
          <a:xfrm>
            <a:off x="4571999" y="3759924"/>
            <a:ext cx="930443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5DF24032-EF06-9ECE-ED1F-403609543D8B}"/>
              </a:ext>
            </a:extLst>
          </p:cNvPr>
          <p:cNvSpPr/>
          <p:nvPr/>
        </p:nvSpPr>
        <p:spPr>
          <a:xfrm>
            <a:off x="5557837" y="1601956"/>
            <a:ext cx="238125" cy="15064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F8469-F851-BAE5-1D58-FD10974656F9}"/>
              </a:ext>
            </a:extLst>
          </p:cNvPr>
          <p:cNvSpPr txBox="1"/>
          <p:nvPr/>
        </p:nvSpPr>
        <p:spPr>
          <a:xfrm>
            <a:off x="1897023" y="5163760"/>
            <a:ext cx="534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One </a:t>
            </a:r>
            <a:r>
              <a:rPr lang="en-US" b="1" dirty="0">
                <a:solidFill>
                  <a:srgbClr val="7030A0"/>
                </a:solidFill>
              </a:rPr>
              <a:t>constraint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i="1" dirty="0">
                <a:solidFill>
                  <a:srgbClr val="7030A0"/>
                </a:solidFill>
              </a:rPr>
              <a:t>for each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u="sng" dirty="0">
                <a:solidFill>
                  <a:srgbClr val="7030A0"/>
                </a:solidFill>
              </a:rPr>
              <a:t>atom</a:t>
            </a:r>
            <a:r>
              <a:rPr lang="en-US" dirty="0">
                <a:solidFill>
                  <a:srgbClr val="7030A0"/>
                </a:solidFill>
              </a:rPr>
              <a:t> (and charges if required)</a:t>
            </a:r>
            <a:endParaRPr lang="en-US" u="sng" dirty="0">
              <a:solidFill>
                <a:srgbClr val="7030A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083FE8-0FF1-12F5-A868-B5A072A0B9DF}"/>
              </a:ext>
            </a:extLst>
          </p:cNvPr>
          <p:cNvSpPr/>
          <p:nvPr/>
        </p:nvSpPr>
        <p:spPr>
          <a:xfrm>
            <a:off x="5429855" y="2228526"/>
            <a:ext cx="1299808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A2CE4B-409A-E43B-52C5-0CE372BEF2D4}"/>
              </a:ext>
            </a:extLst>
          </p:cNvPr>
          <p:cNvSpPr/>
          <p:nvPr/>
        </p:nvSpPr>
        <p:spPr>
          <a:xfrm>
            <a:off x="3745831" y="3138126"/>
            <a:ext cx="360947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603CF7-6FC4-B59F-FADB-98A437DAFC11}"/>
              </a:ext>
            </a:extLst>
          </p:cNvPr>
          <p:cNvSpPr txBox="1"/>
          <p:nvPr/>
        </p:nvSpPr>
        <p:spPr>
          <a:xfrm>
            <a:off x="1744524" y="5710020"/>
            <a:ext cx="5654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Reactants</a:t>
            </a:r>
            <a:r>
              <a:rPr lang="en-US" dirty="0">
                <a:solidFill>
                  <a:srgbClr val="7030A0"/>
                </a:solidFill>
              </a:rPr>
              <a:t> on the </a:t>
            </a:r>
            <a:r>
              <a:rPr lang="en-US" b="1" dirty="0">
                <a:solidFill>
                  <a:srgbClr val="7030A0"/>
                </a:solidFill>
              </a:rPr>
              <a:t>left-hand</a:t>
            </a:r>
            <a:r>
              <a:rPr lang="en-US" dirty="0">
                <a:solidFill>
                  <a:srgbClr val="7030A0"/>
                </a:solidFill>
              </a:rPr>
              <a:t> side of the double equal sign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Products</a:t>
            </a:r>
            <a:r>
              <a:rPr lang="en-US" dirty="0">
                <a:solidFill>
                  <a:srgbClr val="7030A0"/>
                </a:solidFill>
              </a:rPr>
              <a:t> on the </a:t>
            </a:r>
            <a:r>
              <a:rPr lang="en-US" b="1" dirty="0">
                <a:solidFill>
                  <a:srgbClr val="7030A0"/>
                </a:solidFill>
              </a:rPr>
              <a:t>right-hand</a:t>
            </a:r>
            <a:r>
              <a:rPr lang="en-US" dirty="0">
                <a:solidFill>
                  <a:srgbClr val="7030A0"/>
                </a:solidFill>
              </a:rPr>
              <a:t> side of the double equal sign</a:t>
            </a:r>
          </a:p>
        </p:txBody>
      </p:sp>
    </p:spTree>
    <p:extLst>
      <p:ext uri="{BB962C8B-B14F-4D97-AF65-F5344CB8AC3E}">
        <p14:creationId xmlns:p14="http://schemas.microsoft.com/office/powerpoint/2010/main" val="424986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22" grpId="0" animBg="1"/>
      <p:bldP spid="23" grpId="0"/>
      <p:bldP spid="24" grpId="0" animBg="1"/>
      <p:bldP spid="25" grpId="0" animBg="1"/>
      <p:bldP spid="2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CABA-037A-3A18-B63E-1BCDE892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E117C85-0D33-5099-B514-259D80D9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77" y="2159595"/>
            <a:ext cx="6843446" cy="2973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AF835-D8F4-662F-611E-59EF01A22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balance_eqn1.py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A614B-0ADF-F88C-4A80-9AB64A1B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A34750-AA3A-246A-C53D-D74F5105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263" y="1615910"/>
            <a:ext cx="4507473" cy="31929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19E2C43-0D34-E4AA-2F04-79DAB65072A5}"/>
              </a:ext>
            </a:extLst>
          </p:cNvPr>
          <p:cNvGrpSpPr/>
          <p:nvPr/>
        </p:nvGrpSpPr>
        <p:grpSpPr>
          <a:xfrm>
            <a:off x="5865846" y="2270325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A9331FF-64A8-5ABE-C7DD-244CFC491E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246A4C-4436-1195-FFD6-57E41BF5B9C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1324F9-30B0-55E6-8E89-0401C53453F4}"/>
              </a:ext>
            </a:extLst>
          </p:cNvPr>
          <p:cNvGrpSpPr/>
          <p:nvPr/>
        </p:nvGrpSpPr>
        <p:grpSpPr>
          <a:xfrm>
            <a:off x="2750963" y="2542739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CBF6EAD-1414-EB0E-A962-40E1482C1D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02648-3671-EBCD-BF2F-5BD0EF1A18B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804CF2-1240-6B2E-7956-44C803215BCF}"/>
              </a:ext>
            </a:extLst>
          </p:cNvPr>
          <p:cNvGrpSpPr/>
          <p:nvPr/>
        </p:nvGrpSpPr>
        <p:grpSpPr>
          <a:xfrm>
            <a:off x="5109646" y="3175964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4C3D6B-29AE-D1A2-B81E-F66402B4DFE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5DCC330-4713-0D38-36C4-540B2E9876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6A3F461-BC60-2CCD-6942-7879241E9640}"/>
              </a:ext>
            </a:extLst>
          </p:cNvPr>
          <p:cNvSpPr/>
          <p:nvPr/>
        </p:nvSpPr>
        <p:spPr>
          <a:xfrm>
            <a:off x="3246845" y="3210235"/>
            <a:ext cx="693174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4CAB13-8B87-A45D-0B57-D6FCF5DA2D1B}"/>
              </a:ext>
            </a:extLst>
          </p:cNvPr>
          <p:cNvGrpSpPr/>
          <p:nvPr/>
        </p:nvGrpSpPr>
        <p:grpSpPr>
          <a:xfrm>
            <a:off x="5494680" y="3796382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ACB773-49C9-D56D-2512-D716D2BA5C0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ADEDF4E-A1B6-9E46-2359-F0D61A169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4992172-B565-B550-7B4A-205E1CF58B68}"/>
              </a:ext>
            </a:extLst>
          </p:cNvPr>
          <p:cNvSpPr/>
          <p:nvPr/>
        </p:nvSpPr>
        <p:spPr>
          <a:xfrm>
            <a:off x="3009576" y="3843458"/>
            <a:ext cx="1795035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30B34B-6DB1-EF3F-440A-00B8A59572BD}"/>
              </a:ext>
            </a:extLst>
          </p:cNvPr>
          <p:cNvSpPr/>
          <p:nvPr/>
        </p:nvSpPr>
        <p:spPr>
          <a:xfrm>
            <a:off x="3635867" y="2304888"/>
            <a:ext cx="2075121" cy="30078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92FB9D-6F38-F229-30E5-E12D74967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569" y="5347276"/>
            <a:ext cx="4740859" cy="12535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44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2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47236-823B-4A04-C4ED-267996CF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22E2FCC-154A-03F0-C56E-956E44F05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59" y="2146558"/>
            <a:ext cx="3247619" cy="3980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05F34F-8D06-89FF-3F2C-9A92F166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balance_eqn1.py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63B24-F554-B2C9-32E8-AB8C9D68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E2E37-4688-BFAD-A453-835E3C2A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263" y="1615910"/>
            <a:ext cx="4507473" cy="31929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369BCE6-8B36-2BD2-9F91-0F43AC3BF1CD}"/>
              </a:ext>
            </a:extLst>
          </p:cNvPr>
          <p:cNvGrpSpPr>
            <a:grpSpLocks/>
          </p:cNvGrpSpPr>
          <p:nvPr/>
        </p:nvGrpSpPr>
        <p:grpSpPr>
          <a:xfrm>
            <a:off x="1844441" y="2320178"/>
            <a:ext cx="1076632" cy="369332"/>
            <a:chOff x="4968362" y="2079211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EC4DEBC-6325-DDF9-AC03-B8EF88CB2B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2CC14A-121E-6B4B-98D3-D43A52242D14}"/>
                </a:ext>
              </a:extLst>
            </p:cNvPr>
            <p:cNvSpPr txBox="1">
              <a:spLocks/>
            </p:cNvSpPr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D523C24-6A7D-6075-C226-36C80329965F}"/>
              </a:ext>
            </a:extLst>
          </p:cNvPr>
          <p:cNvGrpSpPr>
            <a:grpSpLocks/>
          </p:cNvGrpSpPr>
          <p:nvPr/>
        </p:nvGrpSpPr>
        <p:grpSpPr>
          <a:xfrm>
            <a:off x="3956831" y="2552816"/>
            <a:ext cx="1076632" cy="369332"/>
            <a:chOff x="4704120" y="2356972"/>
            <a:chExt cx="1076632" cy="369332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4AFFC9C-81FD-DCBF-AE0B-EFAF1932DD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51C4F95-8054-F3FE-D48E-215CD64DDEAA}"/>
                </a:ext>
              </a:extLst>
            </p:cNvPr>
            <p:cNvSpPr txBox="1">
              <a:spLocks/>
            </p:cNvSpPr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FDA10BB-05A4-D6AB-277F-864D1DE89407}"/>
              </a:ext>
            </a:extLst>
          </p:cNvPr>
          <p:cNvGrpSpPr>
            <a:grpSpLocks/>
          </p:cNvGrpSpPr>
          <p:nvPr/>
        </p:nvGrpSpPr>
        <p:grpSpPr>
          <a:xfrm>
            <a:off x="1964590" y="2791779"/>
            <a:ext cx="1068643" cy="369332"/>
            <a:chOff x="3647644" y="4910075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DDE9180-F343-D9BF-AF76-F6045CA817E0}"/>
                </a:ext>
              </a:extLst>
            </p:cNvPr>
            <p:cNvSpPr txBox="1">
              <a:spLocks/>
            </p:cNvSpPr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6EDEBEE-68E2-A206-4490-4EEE1608FF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77A80C-29E7-2CD5-E0DF-875E63A3AF92}"/>
              </a:ext>
            </a:extLst>
          </p:cNvPr>
          <p:cNvGrpSpPr>
            <a:grpSpLocks/>
          </p:cNvGrpSpPr>
          <p:nvPr/>
        </p:nvGrpSpPr>
        <p:grpSpPr>
          <a:xfrm>
            <a:off x="2456328" y="5093756"/>
            <a:ext cx="1064340" cy="369332"/>
            <a:chOff x="3647644" y="5421073"/>
            <a:chExt cx="1064340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1219E3-E7C9-66D8-AA99-9D55452B93A8}"/>
                </a:ext>
              </a:extLst>
            </p:cNvPr>
            <p:cNvSpPr txBox="1">
              <a:spLocks/>
            </p:cNvSpPr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5F6BE31-7334-FFFA-BBF6-9619740B3E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3CB238-99DD-59E0-8D8D-DCA8A78FF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014" y="2922148"/>
            <a:ext cx="1649636" cy="15542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9624CCF-BC89-0AA0-D574-CA051BB1735A}"/>
                  </a:ext>
                </a:extLst>
              </p:cNvPr>
              <p:cNvSpPr/>
              <p:nvPr/>
            </p:nvSpPr>
            <p:spPr>
              <a:xfrm>
                <a:off x="4408268" y="4693646"/>
                <a:ext cx="4507127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HN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OH</m:t>
                            </m:r>
                          </m:e>
                        </m:d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9624CCF-BC89-0AA0-D574-CA051BB173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268" y="4693646"/>
                <a:ext cx="450712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DF2D82E-7CEA-6138-FEC2-D08F22EB3AE2}"/>
              </a:ext>
            </a:extLst>
          </p:cNvPr>
          <p:cNvGrpSpPr/>
          <p:nvPr/>
        </p:nvGrpSpPr>
        <p:grpSpPr>
          <a:xfrm>
            <a:off x="7367287" y="2953284"/>
            <a:ext cx="1068643" cy="369332"/>
            <a:chOff x="3647644" y="5359159"/>
            <a:chExt cx="1068643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1D1BC0-FEFB-A3CC-6819-A243C9F698E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98CD503-9061-8C27-6AB5-EF1D34F85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026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516E-FB56-4A52-C46C-F78B3C8C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EAEB87-2375-20E5-94C8-F88CE1D0BB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520" y="2114439"/>
            <a:ext cx="5965193" cy="43784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E8EC99A-8AA0-10A4-44A3-ACE2CE62F864}"/>
                  </a:ext>
                </a:extLst>
              </p:cNvPr>
              <p:cNvSpPr/>
              <p:nvPr/>
            </p:nvSpPr>
            <p:spPr>
              <a:xfrm>
                <a:off x="1734930" y="1571743"/>
                <a:ext cx="56741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E8EC99A-8AA0-10A4-44A3-ACE2CE62F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30" y="1571743"/>
                <a:ext cx="56741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B69CF70-DCE1-E4DF-0736-976B1317F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balance_eqn2.py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A8C7C-75DE-77A2-E7A3-D25F10DB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C464BE-1E2E-6881-A65D-017E233E9E58}"/>
              </a:ext>
            </a:extLst>
          </p:cNvPr>
          <p:cNvGrpSpPr/>
          <p:nvPr/>
        </p:nvGrpSpPr>
        <p:grpSpPr>
          <a:xfrm>
            <a:off x="7608216" y="2387155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548A86B-615C-D439-AC1C-D1254B753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4E0549-A477-253D-9695-783B8815DCA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4C6B72-9C11-855A-D034-F80043AAC746}"/>
              </a:ext>
            </a:extLst>
          </p:cNvPr>
          <p:cNvGrpSpPr/>
          <p:nvPr/>
        </p:nvGrpSpPr>
        <p:grpSpPr>
          <a:xfrm>
            <a:off x="4130650" y="3332866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7122DD6-FCD4-4500-7314-7F5AD82934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445279-BE8C-CA3E-8A45-93F3DDED361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2883F0-C906-0E6C-4E6E-F4FC0CF00D7F}"/>
              </a:ext>
            </a:extLst>
          </p:cNvPr>
          <p:cNvGrpSpPr/>
          <p:nvPr/>
        </p:nvGrpSpPr>
        <p:grpSpPr>
          <a:xfrm>
            <a:off x="6005229" y="3866063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6E7557-AA00-F096-BC39-5D2A382E77F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63C4A07-F7CC-EDE5-FAD5-D5C7014970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1CADC3-8221-2639-4A7C-EDF00EE78E99}"/>
              </a:ext>
            </a:extLst>
          </p:cNvPr>
          <p:cNvGrpSpPr/>
          <p:nvPr/>
        </p:nvGrpSpPr>
        <p:grpSpPr>
          <a:xfrm>
            <a:off x="5023580" y="5714325"/>
            <a:ext cx="1064340" cy="369332"/>
            <a:chOff x="3647644" y="5421073"/>
            <a:chExt cx="1064340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8283A6-E197-8BF1-1F5F-D5C70BAF9B5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3C21A45-B15D-AF51-C3BC-BA44853ED1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373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38F1-7DBE-36E3-9EB9-FCB291379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2E62-7576-E1D7-05E3-23A57C0E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balance_eqn2.py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09612-9BAE-B402-D969-678FC618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399DAA-863B-2876-2105-1994F517E107}"/>
                  </a:ext>
                </a:extLst>
              </p:cNvPr>
              <p:cNvSpPr/>
              <p:nvPr/>
            </p:nvSpPr>
            <p:spPr>
              <a:xfrm>
                <a:off x="1734930" y="1571743"/>
                <a:ext cx="56741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399DAA-863B-2876-2105-1994F517E1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30" y="1571743"/>
                <a:ext cx="56741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ED8E3F3-9447-A133-F74F-9521017FA6EC}"/>
                  </a:ext>
                </a:extLst>
              </p:cNvPr>
              <p:cNvSpPr/>
              <p:nvPr/>
            </p:nvSpPr>
            <p:spPr>
              <a:xfrm>
                <a:off x="2672201" y="4550907"/>
                <a:ext cx="379959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ED8E3F3-9447-A133-F74F-9521017FA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201" y="4550907"/>
                <a:ext cx="379959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35EA9BD-2396-95A8-846B-72F2D77A4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845" y="2360266"/>
            <a:ext cx="1858310" cy="195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3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F5F70-1476-653A-E71E-689F29B5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3D75C3-87CF-21EC-DF67-367A5ABF1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53" y="2333293"/>
            <a:ext cx="7614894" cy="38346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31C311-18DD-E7B7-DC6F-1560DA6B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balance_eqn3.py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B9027-A779-41D6-848E-5145ABAB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023AB7-C88A-0A24-10D5-2E0C06607F84}"/>
                  </a:ext>
                </a:extLst>
              </p:cNvPr>
              <p:cNvSpPr/>
              <p:nvPr/>
            </p:nvSpPr>
            <p:spPr>
              <a:xfrm>
                <a:off x="704236" y="1529288"/>
                <a:ext cx="7735529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023AB7-C88A-0A24-10D5-2E0C06607F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36" y="1529288"/>
                <a:ext cx="773552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6752F7E-C55E-B7B9-DE6C-F9AAF83E562E}"/>
              </a:ext>
            </a:extLst>
          </p:cNvPr>
          <p:cNvGrpSpPr/>
          <p:nvPr/>
        </p:nvGrpSpPr>
        <p:grpSpPr>
          <a:xfrm>
            <a:off x="8067368" y="2779431"/>
            <a:ext cx="1076632" cy="369332"/>
            <a:chOff x="4968362" y="2079211"/>
            <a:chExt cx="1076632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A64D95D-9A03-6BFF-D8EA-67B583982B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12A0E8-24E3-C672-68B8-4C65F7CEEB0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7D1444C-5324-118A-2547-0DF7FD4578D9}"/>
              </a:ext>
            </a:extLst>
          </p:cNvPr>
          <p:cNvGrpSpPr/>
          <p:nvPr/>
        </p:nvGrpSpPr>
        <p:grpSpPr>
          <a:xfrm>
            <a:off x="5530463" y="5774503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1D291FB-6B26-E6A9-96DF-DC978B4A5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F98C18-3E1A-F2FA-A108-93CEA66387E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AFD0381-F906-A307-7914-DFDE91B08F6D}"/>
              </a:ext>
            </a:extLst>
          </p:cNvPr>
          <p:cNvSpPr/>
          <p:nvPr/>
        </p:nvSpPr>
        <p:spPr>
          <a:xfrm>
            <a:off x="3758111" y="5810941"/>
            <a:ext cx="1772352" cy="300789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Curved Down 13">
            <a:extLst>
              <a:ext uri="{FF2B5EF4-FFF2-40B4-BE49-F238E27FC236}">
                <a16:creationId xmlns:a16="http://schemas.microsoft.com/office/drawing/2014/main" id="{479EBD76-5CFA-DA95-E9B1-C7B9451A8F72}"/>
              </a:ext>
            </a:extLst>
          </p:cNvPr>
          <p:cNvSpPr/>
          <p:nvPr/>
        </p:nvSpPr>
        <p:spPr>
          <a:xfrm>
            <a:off x="1058027" y="1376364"/>
            <a:ext cx="916029" cy="22824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8DB091A2-F45F-4E1B-4128-F59DD954E56C}"/>
              </a:ext>
            </a:extLst>
          </p:cNvPr>
          <p:cNvSpPr/>
          <p:nvPr/>
        </p:nvSpPr>
        <p:spPr>
          <a:xfrm>
            <a:off x="3870659" y="1376364"/>
            <a:ext cx="581025" cy="22824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51CD35F1-F411-96D5-4136-29B31691240F}"/>
              </a:ext>
            </a:extLst>
          </p:cNvPr>
          <p:cNvSpPr/>
          <p:nvPr/>
        </p:nvSpPr>
        <p:spPr>
          <a:xfrm>
            <a:off x="5046996" y="1381128"/>
            <a:ext cx="808372" cy="22824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2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animBg="1"/>
      <p:bldP spid="1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C8BE-ABF7-A33A-0480-F4422EE5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6FB54D-596F-2410-1048-CA694F4119A8}"/>
                  </a:ext>
                </a:extLst>
              </p:cNvPr>
              <p:cNvSpPr/>
              <p:nvPr/>
            </p:nvSpPr>
            <p:spPr>
              <a:xfrm>
                <a:off x="1715697" y="4951019"/>
                <a:ext cx="5712606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6FB54D-596F-2410-1048-CA694F411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697" y="4951019"/>
                <a:ext cx="5712606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1843430-4BBF-A280-083E-F75D01DA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balance_eqn3.py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28B52-92A5-3C52-8D83-EEBDC91C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05CB38-E450-B555-34AD-AF4A077FEDFB}"/>
                  </a:ext>
                </a:extLst>
              </p:cNvPr>
              <p:cNvSpPr/>
              <p:nvPr/>
            </p:nvSpPr>
            <p:spPr>
              <a:xfrm>
                <a:off x="704236" y="1529288"/>
                <a:ext cx="7735529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05CB38-E450-B555-34AD-AF4A077FE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36" y="1529288"/>
                <a:ext cx="773552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B716BC1-8FB6-C244-FD5F-8BAA66CEA453}"/>
              </a:ext>
            </a:extLst>
          </p:cNvPr>
          <p:cNvGrpSpPr/>
          <p:nvPr/>
        </p:nvGrpSpPr>
        <p:grpSpPr>
          <a:xfrm>
            <a:off x="5530463" y="2358086"/>
            <a:ext cx="1076632" cy="369332"/>
            <a:chOff x="4968362" y="2079211"/>
            <a:chExt cx="1076632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9007748-E5F1-39E4-5B1D-555A89FF5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4E576E-424E-4408-B9D2-F8FBB3F28A8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67966DA-349B-8701-07CC-7DB7926E11D1}"/>
              </a:ext>
            </a:extLst>
          </p:cNvPr>
          <p:cNvGrpSpPr/>
          <p:nvPr/>
        </p:nvGrpSpPr>
        <p:grpSpPr>
          <a:xfrm>
            <a:off x="7271031" y="4951019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1B36AA8-A3F6-4AA3-8231-BAE4386581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AC73B1-74F9-BDCD-C7A0-F7974A4F333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530BBDE-4B44-2AB7-ADD3-79B3DC257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537" y="2328092"/>
            <a:ext cx="1710926" cy="24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5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balance_eqn4.py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D6B4F9-5622-202E-BF54-2A25C0DD9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01" y="2912430"/>
            <a:ext cx="5856233" cy="1297344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39B1FB-7AA8-BAEB-86FF-51A2026B2DDF}"/>
                  </a:ext>
                </a:extLst>
              </p:cNvPr>
              <p:cNvSpPr/>
              <p:nvPr/>
            </p:nvSpPr>
            <p:spPr>
              <a:xfrm>
                <a:off x="884901" y="1574402"/>
                <a:ext cx="7366819" cy="619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39B1FB-7AA8-BAEB-86FF-51A2026B2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01" y="1574402"/>
                <a:ext cx="7366819" cy="619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99B7D0-0EDF-65BA-D142-3A8D7E41F5AE}"/>
                  </a:ext>
                </a:extLst>
              </p:cNvPr>
              <p:cNvSpPr/>
              <p:nvPr/>
            </p:nvSpPr>
            <p:spPr>
              <a:xfrm>
                <a:off x="453511" y="2093960"/>
                <a:ext cx="8229601" cy="619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99B7D0-0EDF-65BA-D142-3A8D7E41F5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11" y="2093960"/>
                <a:ext cx="8229601" cy="619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F9E03FA4-807B-C278-EEA9-6EEA7392570D}"/>
              </a:ext>
            </a:extLst>
          </p:cNvPr>
          <p:cNvSpPr/>
          <p:nvPr/>
        </p:nvSpPr>
        <p:spPr>
          <a:xfrm>
            <a:off x="1373981" y="2124075"/>
            <a:ext cx="529770" cy="42624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D8470F-2CED-81FD-FF71-85A07BCB09D7}"/>
              </a:ext>
            </a:extLst>
          </p:cNvPr>
          <p:cNvSpPr/>
          <p:nvPr/>
        </p:nvSpPr>
        <p:spPr>
          <a:xfrm>
            <a:off x="2539160" y="3179619"/>
            <a:ext cx="737120" cy="28856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AEC6743-11AA-EBF6-D0BD-2F5B3454D9C8}"/>
              </a:ext>
            </a:extLst>
          </p:cNvPr>
          <p:cNvCxnSpPr>
            <a:cxnSpLocks/>
            <a:stCxn id="39" idx="2"/>
            <a:endCxn id="40" idx="1"/>
          </p:cNvCxnSpPr>
          <p:nvPr/>
        </p:nvCxnSpPr>
        <p:spPr>
          <a:xfrm rot="16200000" flipH="1">
            <a:off x="1702223" y="2486962"/>
            <a:ext cx="773581" cy="90029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71BFE9A-D1F5-9E68-F5D7-153359597FE3}"/>
              </a:ext>
            </a:extLst>
          </p:cNvPr>
          <p:cNvCxnSpPr>
            <a:cxnSpLocks/>
            <a:stCxn id="39" idx="2"/>
            <a:endCxn id="43" idx="1"/>
          </p:cNvCxnSpPr>
          <p:nvPr/>
        </p:nvCxnSpPr>
        <p:spPr>
          <a:xfrm rot="16200000" flipH="1">
            <a:off x="1335795" y="2853390"/>
            <a:ext cx="1518274" cy="912132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C594CC3-F2F8-4C7C-2B60-FDEC30420F37}"/>
              </a:ext>
            </a:extLst>
          </p:cNvPr>
          <p:cNvSpPr/>
          <p:nvPr/>
        </p:nvSpPr>
        <p:spPr>
          <a:xfrm>
            <a:off x="2550998" y="3924312"/>
            <a:ext cx="834550" cy="28856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DD7FCF-B672-0387-4B62-40AFCFF05670}"/>
              </a:ext>
            </a:extLst>
          </p:cNvPr>
          <p:cNvGrpSpPr/>
          <p:nvPr/>
        </p:nvGrpSpPr>
        <p:grpSpPr>
          <a:xfrm>
            <a:off x="7455517" y="3139233"/>
            <a:ext cx="1076632" cy="369332"/>
            <a:chOff x="4968362" y="2079211"/>
            <a:chExt cx="1076632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28F90E1-D6FA-25CA-F2EA-4942B68C20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0F9B7F-7707-9B51-8EBD-5F2D1968E19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E9BBB9-7482-9BC8-2E56-0701800FECDD}"/>
              </a:ext>
            </a:extLst>
          </p:cNvPr>
          <p:cNvGrpSpPr/>
          <p:nvPr/>
        </p:nvGrpSpPr>
        <p:grpSpPr>
          <a:xfrm>
            <a:off x="6917201" y="3883926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F8414F-CB73-02CE-047F-E6CA612253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53CE18-6BFE-353C-F3B7-BBBE335C7CF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920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9" grpId="0" animBg="1"/>
      <p:bldP spid="40" grpId="0" animBg="1"/>
      <p:bldP spid="4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E36E-CC75-173E-D118-403C5293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C815-AE4C-B55E-BA62-9A7C0829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balance_eqn4.py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90DF5-BDFC-4BB1-4FB4-74A863BA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22486-405F-04EA-F35E-E770409AF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01" y="2912430"/>
            <a:ext cx="5856233" cy="1297344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5CFD8B-55A1-9075-681A-4569B732621E}"/>
                  </a:ext>
                </a:extLst>
              </p:cNvPr>
              <p:cNvSpPr/>
              <p:nvPr/>
            </p:nvSpPr>
            <p:spPr>
              <a:xfrm>
                <a:off x="884901" y="1574402"/>
                <a:ext cx="7366819" cy="619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5CFD8B-55A1-9075-681A-4569B7326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01" y="1574402"/>
                <a:ext cx="7366819" cy="619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85CF00-C58A-9AE6-8A71-AEA06D073899}"/>
                  </a:ext>
                </a:extLst>
              </p:cNvPr>
              <p:cNvSpPr/>
              <p:nvPr/>
            </p:nvSpPr>
            <p:spPr>
              <a:xfrm>
                <a:off x="453511" y="2093960"/>
                <a:ext cx="8229601" cy="619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85CF00-C58A-9AE6-8A71-AEA06D073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11" y="2093960"/>
                <a:ext cx="8229601" cy="619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EDEFC8B-3AF2-144A-052A-F839127CA5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640"/>
          <a:stretch/>
        </p:blipFill>
        <p:spPr>
          <a:xfrm>
            <a:off x="7346958" y="4144833"/>
            <a:ext cx="904762" cy="14687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6417F3-7252-3078-1577-162759AA3B44}"/>
                  </a:ext>
                </a:extLst>
              </p:cNvPr>
              <p:cNvSpPr txBox="1"/>
              <p:nvPr/>
            </p:nvSpPr>
            <p:spPr>
              <a:xfrm>
                <a:off x="663315" y="5771916"/>
                <a:ext cx="7817370" cy="619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Cr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6417F3-7252-3078-1577-162759AA3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5" y="5771916"/>
                <a:ext cx="7817370" cy="619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6C4F9546-DDC4-AB43-5A36-2B047CC85B68}"/>
              </a:ext>
            </a:extLst>
          </p:cNvPr>
          <p:cNvSpPr/>
          <p:nvPr/>
        </p:nvSpPr>
        <p:spPr>
          <a:xfrm>
            <a:off x="1373981" y="2124075"/>
            <a:ext cx="529770" cy="42624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2EF096-6D54-ED66-1F5D-F3181C3FE7AB}"/>
              </a:ext>
            </a:extLst>
          </p:cNvPr>
          <p:cNvSpPr/>
          <p:nvPr/>
        </p:nvSpPr>
        <p:spPr>
          <a:xfrm>
            <a:off x="2539160" y="3179619"/>
            <a:ext cx="737120" cy="28856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F939BF1-9CBD-C9F2-685C-DE06217AC0CB}"/>
              </a:ext>
            </a:extLst>
          </p:cNvPr>
          <p:cNvCxnSpPr>
            <a:cxnSpLocks/>
            <a:stCxn id="39" idx="2"/>
            <a:endCxn id="40" idx="1"/>
          </p:cNvCxnSpPr>
          <p:nvPr/>
        </p:nvCxnSpPr>
        <p:spPr>
          <a:xfrm rot="16200000" flipH="1">
            <a:off x="1702223" y="2486962"/>
            <a:ext cx="773581" cy="90029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4F4E251-8A85-7B48-525D-CAE8E8ABEA3D}"/>
              </a:ext>
            </a:extLst>
          </p:cNvPr>
          <p:cNvCxnSpPr>
            <a:cxnSpLocks/>
            <a:stCxn id="39" idx="2"/>
            <a:endCxn id="43" idx="1"/>
          </p:cNvCxnSpPr>
          <p:nvPr/>
        </p:nvCxnSpPr>
        <p:spPr>
          <a:xfrm rot="16200000" flipH="1">
            <a:off x="1335795" y="2853390"/>
            <a:ext cx="1518274" cy="912132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0C0234F-B707-3232-1159-1FD42A27E94A}"/>
              </a:ext>
            </a:extLst>
          </p:cNvPr>
          <p:cNvSpPr/>
          <p:nvPr/>
        </p:nvSpPr>
        <p:spPr>
          <a:xfrm>
            <a:off x="2550998" y="3924312"/>
            <a:ext cx="834550" cy="28856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0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balance_eqn5.py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D855AFA-8787-5823-AE94-DABFC78BC280}"/>
                  </a:ext>
                </a:extLst>
              </p:cNvPr>
              <p:cNvSpPr/>
              <p:nvPr/>
            </p:nvSpPr>
            <p:spPr>
              <a:xfrm>
                <a:off x="1538445" y="1538347"/>
                <a:ext cx="6067109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smtClean="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 b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 b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 b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</m:t>
                          </m:r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 b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 b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Fe</m:t>
                          </m:r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en-US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D855AFA-8787-5823-AE94-DABFC78BC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445" y="1538347"/>
                <a:ext cx="606710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39826F-3707-56DC-E801-CB43C025C9CB}"/>
                  </a:ext>
                </a:extLst>
              </p:cNvPr>
              <p:cNvSpPr/>
              <p:nvPr/>
            </p:nvSpPr>
            <p:spPr>
              <a:xfrm>
                <a:off x="409584" y="4875299"/>
                <a:ext cx="72709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</a:rPr>
                        <m:t>Mn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Fe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Fe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39826F-3707-56DC-E801-CB43C025C9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875299"/>
                <a:ext cx="7270955" cy="461665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DF12013-1D10-FCBB-E3E7-4FB5EAF4C2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430"/>
          <a:stretch/>
        </p:blipFill>
        <p:spPr>
          <a:xfrm>
            <a:off x="7774143" y="4413301"/>
            <a:ext cx="866667" cy="15042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96CE3D-742F-8EE3-7504-950A70A6E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717" y="2487400"/>
            <a:ext cx="7260566" cy="1392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64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balance_eqn6.py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1EDEDA-97E2-D2E2-4C50-ED1D99918C05}"/>
                  </a:ext>
                </a:extLst>
              </p:cNvPr>
              <p:cNvSpPr/>
              <p:nvPr/>
            </p:nvSpPr>
            <p:spPr>
              <a:xfrm>
                <a:off x="936523" y="5718638"/>
                <a:ext cx="72709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128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1EDEDA-97E2-D2E2-4C50-ED1D99918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23" y="5718638"/>
                <a:ext cx="7270955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BE2BCED-06D1-FAE8-4CCB-D8B492FE79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257"/>
          <a:stretch/>
        </p:blipFill>
        <p:spPr>
          <a:xfrm>
            <a:off x="7219617" y="4200378"/>
            <a:ext cx="980952" cy="12457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73F241C-B98D-1567-7343-C9E5DA24BE93}"/>
              </a:ext>
            </a:extLst>
          </p:cNvPr>
          <p:cNvSpPr/>
          <p:nvPr/>
        </p:nvSpPr>
        <p:spPr>
          <a:xfrm>
            <a:off x="7219617" y="4659712"/>
            <a:ext cx="980952" cy="26196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32E79-E7FC-6570-A801-D93AC8BE045B}"/>
              </a:ext>
            </a:extLst>
          </p:cNvPr>
          <p:cNvSpPr/>
          <p:nvPr/>
        </p:nvSpPr>
        <p:spPr>
          <a:xfrm>
            <a:off x="3655212" y="5718639"/>
            <a:ext cx="1097763" cy="46166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FC2F7C8-2F20-E863-8792-6673636A8564}"/>
              </a:ext>
            </a:extLst>
          </p:cNvPr>
          <p:cNvCxnSpPr>
            <a:cxnSpLocks/>
            <a:stCxn id="8" idx="1"/>
            <a:endCxn id="9" idx="0"/>
          </p:cNvCxnSpPr>
          <p:nvPr/>
        </p:nvCxnSpPr>
        <p:spPr>
          <a:xfrm rot="10800000" flipV="1">
            <a:off x="4204095" y="4790697"/>
            <a:ext cx="3015523" cy="927942"/>
          </a:xfrm>
          <a:prstGeom prst="bentConnector2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D46E92A-3267-63F7-2688-7E53044AE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551" y="2741019"/>
            <a:ext cx="6196894" cy="1075494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1FFF34E-154F-A0B2-F381-8E4A64695791}"/>
                  </a:ext>
                </a:extLst>
              </p:cNvPr>
              <p:cNvSpPr/>
              <p:nvPr/>
            </p:nvSpPr>
            <p:spPr>
              <a:xfrm>
                <a:off x="1381342" y="2003565"/>
                <a:ext cx="6381317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1FFF34E-154F-A0B2-F381-8E4A646957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2" y="2003565"/>
                <a:ext cx="6381317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E0484AF-F52B-6E14-AD52-989447911A14}"/>
                  </a:ext>
                </a:extLst>
              </p:cNvPr>
              <p:cNvSpPr/>
              <p:nvPr/>
            </p:nvSpPr>
            <p:spPr>
              <a:xfrm>
                <a:off x="1381341" y="1400629"/>
                <a:ext cx="6381317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E0484AF-F52B-6E14-AD52-989447911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1" y="1400629"/>
                <a:ext cx="6381317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DB8B37F-A5C2-80F1-7CC9-3A75A1B53571}"/>
              </a:ext>
            </a:extLst>
          </p:cNvPr>
          <p:cNvSpPr txBox="1"/>
          <p:nvPr/>
        </p:nvSpPr>
        <p:spPr>
          <a:xfrm>
            <a:off x="266671" y="4221596"/>
            <a:ext cx="3768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Diphosphorus Tetraiodide reaction is fundamental to </a:t>
            </a:r>
            <a:r>
              <a:rPr lang="en-US" b="1" dirty="0"/>
              <a:t>respiration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B0E66-D8CE-992B-EFC0-375EB8907BC2}"/>
              </a:ext>
            </a:extLst>
          </p:cNvPr>
          <p:cNvSpPr txBox="1"/>
          <p:nvPr/>
        </p:nvSpPr>
        <p:spPr>
          <a:xfrm>
            <a:off x="433138" y="5028387"/>
            <a:ext cx="343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Respiration</a:t>
            </a:r>
            <a:r>
              <a:rPr lang="en-US" dirty="0">
                <a:solidFill>
                  <a:srgbClr val="7030A0"/>
                </a:solidFill>
              </a:rPr>
              <a:t> requires </a:t>
            </a:r>
            <a:r>
              <a:rPr lang="en-US" i="1" dirty="0">
                <a:solidFill>
                  <a:srgbClr val="7030A0"/>
                </a:solidFill>
              </a:rPr>
              <a:t>much</a:t>
            </a:r>
            <a:r>
              <a:rPr lang="en-US" dirty="0">
                <a:solidFill>
                  <a:srgbClr val="7030A0"/>
                </a:solidFill>
              </a:rPr>
              <a:t> water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55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4" grpId="0"/>
      <p:bldP spid="3" grpId="0"/>
      <p:bldP spid="5" grpId="0"/>
      <p:bldP spid="1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BD42-4098-1800-3EA8-B54E882D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E83E-FF42-5555-50F3-30F5CB17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Chemistry is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96C2F-B8CE-7E73-00FF-7973A6FA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6BC7FB-ED35-94C8-B200-B13F8E3F6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1863044"/>
            <a:ext cx="6019800" cy="44933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E7CA3A-E148-0474-31A5-0EA6ED4AFC7F}"/>
              </a:ext>
            </a:extLst>
          </p:cNvPr>
          <p:cNvSpPr txBox="1"/>
          <p:nvPr/>
        </p:nvSpPr>
        <p:spPr>
          <a:xfrm>
            <a:off x="2286000" y="12839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https://www.webqc.org/balance.php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880E0-9E70-030D-C7B5-7263472BCE40}"/>
              </a:ext>
            </a:extLst>
          </p:cNvPr>
          <p:cNvSpPr txBox="1"/>
          <p:nvPr/>
        </p:nvSpPr>
        <p:spPr>
          <a:xfrm>
            <a:off x="5863388" y="3777916"/>
            <a:ext cx="2245895" cy="1077218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The backend processor for this web page uses the exact approach we have covered in this lab!</a:t>
            </a:r>
          </a:p>
        </p:txBody>
      </p:sp>
    </p:spTree>
    <p:extLst>
      <p:ext uri="{BB962C8B-B14F-4D97-AF65-F5344CB8AC3E}">
        <p14:creationId xmlns:p14="http://schemas.microsoft.com/office/powerpoint/2010/main" val="37670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25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Numpy can easily load, parse, and save comma-separated value (</a:t>
            </a:r>
            <a:r>
              <a:rPr lang="en-US" sz="2400" dirty="0">
                <a:solidFill>
                  <a:srgbClr val="FF0000"/>
                </a:solidFill>
              </a:rPr>
              <a:t>CSV</a:t>
            </a:r>
            <a:r>
              <a:rPr lang="en-US" sz="2400" dirty="0"/>
              <a:t>) data files and treats them as </a:t>
            </a:r>
            <a:r>
              <a:rPr lang="en-US" sz="2400" b="1" dirty="0"/>
              <a:t>arrays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dictionary</a:t>
            </a:r>
            <a:r>
              <a:rPr lang="en-US" sz="2400" dirty="0"/>
              <a:t> in Python stores a series of </a:t>
            </a:r>
            <a:r>
              <a:rPr lang="en-US" sz="2400" b="1" dirty="0"/>
              <a:t>key-value pa</a:t>
            </a:r>
            <a:r>
              <a:rPr lang="en-US" sz="2400" dirty="0"/>
              <a:t>irs, with the key and the value separated by a </a:t>
            </a:r>
            <a:r>
              <a:rPr lang="en-US" sz="2400" dirty="0">
                <a:solidFill>
                  <a:srgbClr val="7030A0"/>
                </a:solidFill>
              </a:rPr>
              <a:t>colon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Dictionary keys can be any </a:t>
            </a:r>
            <a:r>
              <a:rPr lang="en-US" sz="2000" i="1" dirty="0"/>
              <a:t>immutable</a:t>
            </a:r>
            <a:r>
              <a:rPr lang="en-US" sz="2000" dirty="0"/>
              <a:t> type (int, float, str, tuples) while values can be any type, including </a:t>
            </a:r>
            <a:r>
              <a:rPr lang="en-US" sz="2000" b="1" dirty="0"/>
              <a:t>another</a:t>
            </a:r>
            <a:r>
              <a:rPr lang="en-US" sz="2000" dirty="0"/>
              <a:t> dictionary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A JavaScript Object Notation (</a:t>
            </a:r>
            <a:r>
              <a:rPr lang="en-US" sz="2000" dirty="0">
                <a:solidFill>
                  <a:srgbClr val="FF0000"/>
                </a:solidFill>
              </a:rPr>
              <a:t>JSON</a:t>
            </a:r>
            <a:r>
              <a:rPr lang="en-US" sz="2000" dirty="0"/>
              <a:t>) file follows the same </a:t>
            </a:r>
            <a:r>
              <a:rPr lang="en-US" sz="2000" b="1" dirty="0"/>
              <a:t>syntax</a:t>
            </a:r>
            <a:r>
              <a:rPr lang="en-US" sz="2000" dirty="0"/>
              <a:t> as a Python Dictionary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can encode a chemical equation as a </a:t>
            </a:r>
            <a:r>
              <a:rPr lang="en-US" sz="2400" b="1" dirty="0">
                <a:solidFill>
                  <a:srgbClr val="7030A0"/>
                </a:solidFill>
              </a:rPr>
              <a:t>linear program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There is an unknown for every molecule and an equation for every atom (and if applicable, one equation for charge)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We can solve </a:t>
            </a:r>
            <a:r>
              <a:rPr lang="en-US" sz="2000" b="1" dirty="0">
                <a:solidFill>
                  <a:srgbClr val="FF0000"/>
                </a:solidFill>
              </a:rPr>
              <a:t>integer optimization </a:t>
            </a:r>
            <a:r>
              <a:rPr lang="en-US" sz="2000" dirty="0"/>
              <a:t>problems using the </a:t>
            </a:r>
            <a:r>
              <a:rPr lang="en-US" sz="2000" b="1" dirty="0">
                <a:solidFill>
                  <a:srgbClr val="0070C0"/>
                </a:solidFill>
              </a:rPr>
              <a:t>PuLP</a:t>
            </a:r>
            <a:r>
              <a:rPr lang="en-US" sz="2000" dirty="0"/>
              <a:t> module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7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7C4-7DE6-4E7A-C6B2-5ABB65AA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FF2F9-4030-DA6C-06CA-A0EE555C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r>
              <a:rPr lang="en-US" sz="2400" dirty="0"/>
              <a:t>Create a Python file called </a:t>
            </a:r>
            <a:r>
              <a:rPr lang="en-US" sz="2400" b="1" dirty="0"/>
              <a:t>octane_combustion.py</a:t>
            </a:r>
          </a:p>
          <a:p>
            <a:r>
              <a:rPr lang="en-US" sz="2400" dirty="0"/>
              <a:t>Using the code in the stoichiometry examples as a model, write new code that balances the chemical reaction representing the combustion of unleaded automobile gasoline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FDF3A-2C6D-91EB-88A5-0196BBE6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0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6739</TotalTime>
  <Words>4070</Words>
  <Application>Microsoft Office PowerPoint</Application>
  <PresentationFormat>On-screen Show (4:3)</PresentationFormat>
  <Paragraphs>664</Paragraphs>
  <Slides>95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3" baseType="lpstr">
      <vt:lpstr>Arial</vt:lpstr>
      <vt:lpstr>Book Antiqua</vt:lpstr>
      <vt:lpstr>Calibri</vt:lpstr>
      <vt:lpstr>Calibri Light</vt:lpstr>
      <vt:lpstr>Cambria Math</vt:lpstr>
      <vt:lpstr>Linux Libertine</vt:lpstr>
      <vt:lpstr>Wingdings</vt:lpstr>
      <vt:lpstr>Office Theme</vt:lpstr>
      <vt:lpstr>PowerPoint Presentation</vt:lpstr>
      <vt:lpstr>Session 25  – Goals</vt:lpstr>
      <vt:lpstr>Identify an Unknown Element</vt:lpstr>
      <vt:lpstr>Open gas.csv</vt:lpstr>
      <vt:lpstr>Method of Least Squares</vt:lpstr>
      <vt:lpstr>Open identify_element.py</vt:lpstr>
      <vt:lpstr>View identify_element.py</vt:lpstr>
      <vt:lpstr>View identify_element.py</vt:lpstr>
      <vt:lpstr>Run identify_element.py</vt:lpstr>
      <vt:lpstr>PowerPoint Presentation</vt:lpstr>
      <vt:lpstr>Run identify_element.py</vt:lpstr>
      <vt:lpstr>Method of Least Squares</vt:lpstr>
      <vt:lpstr>Method of Least Squares</vt:lpstr>
      <vt:lpstr>Method of Least Squares</vt:lpstr>
      <vt:lpstr>Method of Least Squares</vt:lpstr>
      <vt:lpstr>Method of Least Squares</vt:lpstr>
      <vt:lpstr>Method of Least Squares</vt:lpstr>
      <vt:lpstr>Isotopes</vt:lpstr>
      <vt:lpstr>Python Dictionaries and JSON Data Files</vt:lpstr>
      <vt:lpstr>Python Dictionaries and JSON Data Files</vt:lpstr>
      <vt:lpstr>The Periodic Table (circa 2021)</vt:lpstr>
      <vt:lpstr>Open write_json.py</vt:lpstr>
      <vt:lpstr>View write_json.py</vt:lpstr>
      <vt:lpstr>Run write_json.py</vt:lpstr>
      <vt:lpstr>Open uranium_isotopes.json</vt:lpstr>
      <vt:lpstr>Open read_json.py</vt:lpstr>
      <vt:lpstr>View read_json.py</vt:lpstr>
      <vt:lpstr>Run read_json.py</vt:lpstr>
      <vt:lpstr>Elements By Country of Discovery</vt:lpstr>
      <vt:lpstr>One Element</vt:lpstr>
      <vt:lpstr>"It's not what you look at that matters, it's what you see." Henry David Thoreau (1846)</vt:lpstr>
      <vt:lpstr>Liquid Range</vt:lpstr>
      <vt:lpstr>The Periodic Table (circa 2021)</vt:lpstr>
      <vt:lpstr>The Periodic Table (circa 2021)</vt:lpstr>
      <vt:lpstr>The Periodic Table as JSON</vt:lpstr>
      <vt:lpstr>PowerPoint Presentation</vt:lpstr>
      <vt:lpstr>Open plot_liquid_range.py</vt:lpstr>
      <vt:lpstr>View plot_liquid_range.py</vt:lpstr>
      <vt:lpstr>View plot_liquid_range.py</vt:lpstr>
      <vt:lpstr>Run plot_liquid_range.py</vt:lpstr>
      <vt:lpstr>PowerPoint Presentation</vt:lpstr>
      <vt:lpstr>PowerPoint Presentation</vt:lpstr>
      <vt:lpstr>PowerPoint Presentation</vt:lpstr>
      <vt:lpstr>PowerPoint Presentation</vt:lpstr>
      <vt:lpstr>How Energetic is Einsteinium?</vt:lpstr>
      <vt:lpstr>DATA.GOV</vt:lpstr>
      <vt:lpstr>Amazon Open Data Sets</vt:lpstr>
      <vt:lpstr>Kaggle</vt:lpstr>
      <vt:lpstr>Web Scraping</vt:lpstr>
      <vt:lpstr>Web Scraping</vt:lpstr>
      <vt:lpstr>Web Scraping</vt:lpstr>
      <vt:lpstr>Web Scraping</vt:lpstr>
      <vt:lpstr>Web Scraping</vt:lpstr>
      <vt:lpstr>Web Scraping</vt:lpstr>
      <vt:lpstr>Web Scraping</vt:lpstr>
      <vt:lpstr>Web Scraping</vt:lpstr>
      <vt:lpstr>Web Scraping</vt:lpstr>
      <vt:lpstr>Extending Python via the pandas Package</vt:lpstr>
      <vt:lpstr>Extending Python via the pandas Package</vt:lpstr>
      <vt:lpstr>Lab Setup</vt:lpstr>
      <vt:lpstr>Lab Setup</vt:lpstr>
      <vt:lpstr>Open electrical_conductivity_mswin_chrome.py</vt:lpstr>
      <vt:lpstr>View electrical_conductivity_mswin_chrome.py</vt:lpstr>
      <vt:lpstr>View electrical_conductivity_mswin_chrome.py</vt:lpstr>
      <vt:lpstr>Run your version of the script!</vt:lpstr>
      <vt:lpstr>Run your version of the script!</vt:lpstr>
      <vt:lpstr>Consider Wolfram Mathematica</vt:lpstr>
      <vt:lpstr>Consider Wolfram Mathematica</vt:lpstr>
      <vt:lpstr>Consider Wolfram Mathematica</vt:lpstr>
      <vt:lpstr>Consider Wolfram Mathematica</vt:lpstr>
      <vt:lpstr>Consider Wolfram Mathematica</vt:lpstr>
      <vt:lpstr>Balancing Ionic Equations</vt:lpstr>
      <vt:lpstr>Balancing Ionic Equations</vt:lpstr>
      <vt:lpstr>How Hard Can It Be?</vt:lpstr>
      <vt:lpstr>Chemistry is Optimization</vt:lpstr>
      <vt:lpstr>Encoding a Chemical Equation</vt:lpstr>
      <vt:lpstr>Chemistry is Optimization</vt:lpstr>
      <vt:lpstr>Chemistry is Optimization</vt:lpstr>
      <vt:lpstr>Chemistry is Optimization</vt:lpstr>
      <vt:lpstr>Chemistry is Optimization</vt:lpstr>
      <vt:lpstr>Open balance_eqn1.py</vt:lpstr>
      <vt:lpstr>View balance_eqn1.py</vt:lpstr>
      <vt:lpstr>View balance_eqn1.py</vt:lpstr>
      <vt:lpstr>Run balance_eqn1.py</vt:lpstr>
      <vt:lpstr>Open balance_eqn2.py</vt:lpstr>
      <vt:lpstr>Run balance_eqn2.py</vt:lpstr>
      <vt:lpstr>Open balance_eqn3.py</vt:lpstr>
      <vt:lpstr>Run balance_eqn3.py</vt:lpstr>
      <vt:lpstr>Open balance_eqn4.py</vt:lpstr>
      <vt:lpstr>Run balance_eqn4.py</vt:lpstr>
      <vt:lpstr>Run balance_eqn5.py</vt:lpstr>
      <vt:lpstr>Run balance_eqn6.py</vt:lpstr>
      <vt:lpstr>Chemistry is Optimization</vt:lpstr>
      <vt:lpstr>Session 25 – Now You Know…</vt:lpstr>
      <vt:lpstr>TASK 25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1024</cp:revision>
  <cp:lastPrinted>2015-06-01T00:45:11Z</cp:lastPrinted>
  <dcterms:created xsi:type="dcterms:W3CDTF">2014-09-21T17:58:26Z</dcterms:created>
  <dcterms:modified xsi:type="dcterms:W3CDTF">2026-03-26T03:16:49Z</dcterms:modified>
</cp:coreProperties>
</file>