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7"/>
  </p:notesMasterIdLst>
  <p:handoutMasterIdLst>
    <p:handoutMasterId r:id="rId48"/>
  </p:handoutMasterIdLst>
  <p:sldIdLst>
    <p:sldId id="1220" r:id="rId2"/>
    <p:sldId id="972" r:id="rId3"/>
    <p:sldId id="975" r:id="rId4"/>
    <p:sldId id="1366" r:id="rId5"/>
    <p:sldId id="374" r:id="rId6"/>
    <p:sldId id="376" r:id="rId7"/>
    <p:sldId id="1371" r:id="rId8"/>
    <p:sldId id="1372" r:id="rId9"/>
    <p:sldId id="1374" r:id="rId10"/>
    <p:sldId id="1375" r:id="rId11"/>
    <p:sldId id="1373" r:id="rId12"/>
    <p:sldId id="1376" r:id="rId13"/>
    <p:sldId id="1377" r:id="rId14"/>
    <p:sldId id="1367" r:id="rId15"/>
    <p:sldId id="1378" r:id="rId16"/>
    <p:sldId id="1379" r:id="rId17"/>
    <p:sldId id="1380" r:id="rId18"/>
    <p:sldId id="1381" r:id="rId19"/>
    <p:sldId id="1382" r:id="rId20"/>
    <p:sldId id="1368" r:id="rId21"/>
    <p:sldId id="1369" r:id="rId22"/>
    <p:sldId id="1383" r:id="rId23"/>
    <p:sldId id="1384" r:id="rId24"/>
    <p:sldId id="1386" r:id="rId25"/>
    <p:sldId id="1387" r:id="rId26"/>
    <p:sldId id="1388" r:id="rId27"/>
    <p:sldId id="1385" r:id="rId28"/>
    <p:sldId id="1389" r:id="rId29"/>
    <p:sldId id="1057" r:id="rId30"/>
    <p:sldId id="1071" r:id="rId31"/>
    <p:sldId id="1390" r:id="rId32"/>
    <p:sldId id="1392" r:id="rId33"/>
    <p:sldId id="1391" r:id="rId34"/>
    <p:sldId id="1394" r:id="rId35"/>
    <p:sldId id="1396" r:id="rId36"/>
    <p:sldId id="1395" r:id="rId37"/>
    <p:sldId id="1397" r:id="rId38"/>
    <p:sldId id="1398" r:id="rId39"/>
    <p:sldId id="1399" r:id="rId40"/>
    <p:sldId id="1400" r:id="rId41"/>
    <p:sldId id="1401" r:id="rId42"/>
    <p:sldId id="1402" r:id="rId43"/>
    <p:sldId id="1403" r:id="rId44"/>
    <p:sldId id="1393" r:id="rId45"/>
    <p:sldId id="1365" r:id="rId46"/>
  </p:sldIdLst>
  <p:sldSz cx="9144000" cy="6858000" type="screen4x3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758A"/>
    <a:srgbClr val="D090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31E7D9-E8FD-4908-95BB-3604F3CA9764}" v="1" dt="2020-05-29T19:25:52.3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356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564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ersach, David" userId="14a9feb0-85a7-4da4-be8a-c1e22b637acc" providerId="ADAL" clId="{6231E7D9-E8FD-4908-95BB-3604F3CA9764}"/>
    <pc:docChg chg="custSel delSld modSld">
      <pc:chgData name="Biersach, David" userId="14a9feb0-85a7-4da4-be8a-c1e22b637acc" providerId="ADAL" clId="{6231E7D9-E8FD-4908-95BB-3604F3CA9764}" dt="2020-05-29T19:25:56.584" v="2" actId="2696"/>
      <pc:docMkLst>
        <pc:docMk/>
      </pc:docMkLst>
      <pc:sldChg chg="del">
        <pc:chgData name="Biersach, David" userId="14a9feb0-85a7-4da4-be8a-c1e22b637acc" providerId="ADAL" clId="{6231E7D9-E8FD-4908-95BB-3604F3CA9764}" dt="2020-05-29T19:25:56.584" v="2" actId="2696"/>
        <pc:sldMkLst>
          <pc:docMk/>
          <pc:sldMk cId="1150352350" sldId="278"/>
        </pc:sldMkLst>
      </pc:sldChg>
      <pc:sldChg chg="modSp">
        <pc:chgData name="Biersach, David" userId="14a9feb0-85a7-4da4-be8a-c1e22b637acc" providerId="ADAL" clId="{6231E7D9-E8FD-4908-95BB-3604F3CA9764}" dt="2020-05-29T19:25:52.552" v="0" actId="27636"/>
        <pc:sldMkLst>
          <pc:docMk/>
          <pc:sldMk cId="206124625" sldId="464"/>
        </pc:sldMkLst>
        <pc:spChg chg="mod">
          <ac:chgData name="Biersach, David" userId="14a9feb0-85a7-4da4-be8a-c1e22b637acc" providerId="ADAL" clId="{6231E7D9-E8FD-4908-95BB-3604F3CA9764}" dt="2020-05-29T19:25:52.552" v="0" actId="27636"/>
          <ac:spMkLst>
            <pc:docMk/>
            <pc:sldMk cId="206124625" sldId="464"/>
            <ac:spMk id="3" creationId="{00000000-0000-0000-0000-000000000000}"/>
          </ac:spMkLst>
        </pc:spChg>
      </pc:sldChg>
      <pc:sldChg chg="modSp">
        <pc:chgData name="Biersach, David" userId="14a9feb0-85a7-4da4-be8a-c1e22b637acc" providerId="ADAL" clId="{6231E7D9-E8FD-4908-95BB-3604F3CA9764}" dt="2020-05-29T19:25:52.649" v="1" actId="27636"/>
        <pc:sldMkLst>
          <pc:docMk/>
          <pc:sldMk cId="320308749" sldId="465"/>
        </pc:sldMkLst>
        <pc:spChg chg="mod">
          <ac:chgData name="Biersach, David" userId="14a9feb0-85a7-4da4-be8a-c1e22b637acc" providerId="ADAL" clId="{6231E7D9-E8FD-4908-95BB-3604F3CA9764}" dt="2020-05-29T19:25:52.649" v="1" actId="27636"/>
          <ac:spMkLst>
            <pc:docMk/>
            <pc:sldMk cId="320308749" sldId="465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A241AC98-512A-4A35-865E-757B6C1F07A2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825528D0-251A-41BC-8967-C65EDA3B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95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3854CEE7-15DE-41D9-8CA2-D1E137B1D850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69988"/>
            <a:ext cx="4213225" cy="3160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638" tIns="46319" rIns="92638" bIns="4631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505662"/>
            <a:ext cx="5661660" cy="3687031"/>
          </a:xfrm>
          <a:prstGeom prst="rect">
            <a:avLst/>
          </a:prstGeom>
        </p:spPr>
        <p:txBody>
          <a:bodyPr vert="horz" lIns="92638" tIns="46319" rIns="92638" bIns="4631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76317BBA-0BC6-419B-B826-088209688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92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EB2C-244D-4423-AD97-018ED6478B87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6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32E-48CB-4EEB-A6B6-DEC7AD7CC976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6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E52C-3A57-458E-95F6-96B2FA9D1DD4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5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C747-A48A-4FF2-8EE4-3E95ECD1C2A8}" type="datetime1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2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758-AB7F-463D-B638-E1729B95E126}" type="datetime1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3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8C77-7DD0-4738-BF52-D0EC9F78A76E}" type="datetime1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1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70CF-13D9-4E1D-A74F-2CFE4953FCDB}" type="datetime1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7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C49B9-4E1C-4967-B9CF-0BF9FECBE837}" type="datetime1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9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38CBB-1F06-4333-9BBF-66628B15E581}" type="datetime1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8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1D1F-7576-4C60-B4EB-5115BC56CF40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9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D1398-4D56-44F9-BA35-34ACF3159A64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3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EC883-F03C-4CA3-AF62-BEF30EEA4F65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6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dbiersach@bnl.gov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hyperlink" Target="https://docs.python.org/3/library/pprint.html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D8D1F-051C-48C7-91AB-482302FE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472228" y="2572099"/>
            <a:ext cx="20423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Dave Biersach</a:t>
            </a:r>
          </a:p>
          <a:p>
            <a:pPr algn="ctr"/>
            <a:r>
              <a:rPr lang="en-US" dirty="0">
                <a:hlinkClick r:id="rId2"/>
              </a:rPr>
              <a:t>dbiersach@bnl.gov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BD1FE5-8CB5-4983-AA2B-0B6C1209F452}"/>
              </a:ext>
            </a:extLst>
          </p:cNvPr>
          <p:cNvSpPr txBox="1"/>
          <p:nvPr/>
        </p:nvSpPr>
        <p:spPr>
          <a:xfrm>
            <a:off x="6208139" y="1078065"/>
            <a:ext cx="25705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Foundations of</a:t>
            </a:r>
          </a:p>
          <a:p>
            <a:pPr algn="ctr"/>
            <a:r>
              <a:rPr lang="en-US" sz="2000" b="1" dirty="0"/>
              <a:t>Scientific Computing</a:t>
            </a:r>
          </a:p>
          <a:p>
            <a:pPr algn="ctr"/>
            <a:r>
              <a:rPr lang="en-US" sz="2000" dirty="0"/>
              <a:t>(SciComp 101)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6F49F3-90CB-4580-B6E1-688074D23599}"/>
              </a:ext>
            </a:extLst>
          </p:cNvPr>
          <p:cNvSpPr txBox="1"/>
          <p:nvPr/>
        </p:nvSpPr>
        <p:spPr>
          <a:xfrm>
            <a:off x="6422434" y="4355451"/>
            <a:ext cx="21419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Session 03</a:t>
            </a:r>
          </a:p>
          <a:p>
            <a:pPr algn="ctr"/>
            <a:r>
              <a:rPr lang="en-US" dirty="0"/>
              <a:t>Python Container Types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02A7DBD-F029-4698-9BC7-351B592322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97021" y="1006861"/>
            <a:ext cx="3572378" cy="87188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CCD3142-EDAA-8E9E-DF9C-D35BB409C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51" y="2681046"/>
            <a:ext cx="5635719" cy="317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701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Session </a:t>
            </a:r>
            <a:r>
              <a:rPr lang="en-US" sz="3200" b="1" dirty="0">
                <a:latin typeface="+mn-lt"/>
              </a:rPr>
              <a:t>03</a:t>
            </a:r>
            <a:r>
              <a:rPr lang="en-US" sz="3200" dirty="0">
                <a:latin typeface="+mn-lt"/>
              </a:rPr>
              <a:t> –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2E0DF-EA1E-2B29-FBAA-C77F1DA8F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Use the </a:t>
            </a:r>
            <a:r>
              <a:rPr lang="en-US" sz="2400" u="sng" dirty="0"/>
              <a:t>five</a:t>
            </a:r>
            <a:r>
              <a:rPr lang="en-US" sz="2400" dirty="0"/>
              <a:t> Python built-in container types: </a:t>
            </a:r>
            <a:r>
              <a:rPr lang="en-US" sz="2400" b="1" dirty="0">
                <a:solidFill>
                  <a:srgbClr val="0070C0"/>
                </a:solidFill>
              </a:rPr>
              <a:t>list, tuple, set, string, dictionary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Perform standard </a:t>
            </a:r>
            <a:r>
              <a:rPr lang="en-US" sz="2400" b="1" dirty="0">
                <a:solidFill>
                  <a:srgbClr val="FF0000"/>
                </a:solidFill>
              </a:rPr>
              <a:t>CRUD</a:t>
            </a:r>
            <a:r>
              <a:rPr lang="en-US" sz="2400" dirty="0"/>
              <a:t> actions (create, read, update, delete) on items in those five container types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Differentiate </a:t>
            </a:r>
            <a:r>
              <a:rPr lang="en-US" sz="2400" b="1" dirty="0">
                <a:solidFill>
                  <a:srgbClr val="7030A0"/>
                </a:solidFill>
              </a:rPr>
              <a:t>mutable</a:t>
            </a:r>
            <a:r>
              <a:rPr lang="en-US" sz="2400" dirty="0"/>
              <a:t> vs. </a:t>
            </a:r>
            <a:r>
              <a:rPr lang="en-US" sz="2400" b="1" dirty="0">
                <a:solidFill>
                  <a:srgbClr val="7030A0"/>
                </a:solidFill>
              </a:rPr>
              <a:t>immutable</a:t>
            </a:r>
            <a:r>
              <a:rPr lang="en-US" sz="2400" dirty="0"/>
              <a:t> containers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Compare and contrast lists, strings, tuples, and sets in terms of </a:t>
            </a:r>
            <a:r>
              <a:rPr lang="en-US" sz="2400" b="1" dirty="0">
                <a:solidFill>
                  <a:srgbClr val="00B050"/>
                </a:solidFill>
              </a:rPr>
              <a:t>when to use each type of container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Use the Python “pretty printer” </a:t>
            </a:r>
            <a:r>
              <a:rPr lang="en-US" sz="2400" b="1" dirty="0"/>
              <a:t>(pprint)</a:t>
            </a:r>
            <a:r>
              <a:rPr lang="en-US" sz="2400" dirty="0"/>
              <a:t> to display dictionaries where the keys are sorted alphabetically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76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Python’s </a:t>
            </a:r>
            <a:r>
              <a:rPr lang="en-US" sz="3200" b="1" dirty="0">
                <a:latin typeface="+mn-lt"/>
              </a:rPr>
              <a:t>Built-in</a:t>
            </a:r>
            <a:r>
              <a:rPr lang="en-US" sz="3200" dirty="0">
                <a:latin typeface="+mn-lt"/>
              </a:rPr>
              <a:t> Data 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1323228-EFD4-891C-852F-2C4EF8857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480" y="1318681"/>
            <a:ext cx="5886450" cy="513397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F377A65-858E-B4BB-54DF-E03E971301CA}"/>
              </a:ext>
            </a:extLst>
          </p:cNvPr>
          <p:cNvSpPr/>
          <p:nvPr/>
        </p:nvSpPr>
        <p:spPr>
          <a:xfrm>
            <a:off x="3797980" y="3552670"/>
            <a:ext cx="1264444" cy="6520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E2DDD5-943C-0F3E-B9E9-409BDECB7C8B}"/>
              </a:ext>
            </a:extLst>
          </p:cNvPr>
          <p:cNvSpPr/>
          <p:nvPr/>
        </p:nvSpPr>
        <p:spPr>
          <a:xfrm>
            <a:off x="3797980" y="4244717"/>
            <a:ext cx="1264444" cy="6520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D6F855-A062-B886-BD3A-6FE336A3412F}"/>
              </a:ext>
            </a:extLst>
          </p:cNvPr>
          <p:cNvSpPr/>
          <p:nvPr/>
        </p:nvSpPr>
        <p:spPr>
          <a:xfrm>
            <a:off x="5480470" y="4239720"/>
            <a:ext cx="1264444" cy="6520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E588F4-6604-655F-879E-6A66CA4CE3DC}"/>
              </a:ext>
            </a:extLst>
          </p:cNvPr>
          <p:cNvSpPr/>
          <p:nvPr/>
        </p:nvSpPr>
        <p:spPr>
          <a:xfrm>
            <a:off x="5480470" y="4928472"/>
            <a:ext cx="1264444" cy="6520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ABB892-C600-EEC0-8565-29719A533A51}"/>
              </a:ext>
            </a:extLst>
          </p:cNvPr>
          <p:cNvSpPr/>
          <p:nvPr/>
        </p:nvSpPr>
        <p:spPr>
          <a:xfrm>
            <a:off x="5480470" y="5624719"/>
            <a:ext cx="1264444" cy="6520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E50C11-28D4-6A3C-674C-2D760383C305}"/>
              </a:ext>
            </a:extLst>
          </p:cNvPr>
          <p:cNvSpPr txBox="1"/>
          <p:nvPr/>
        </p:nvSpPr>
        <p:spPr>
          <a:xfrm>
            <a:off x="487184" y="4984231"/>
            <a:ext cx="20986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But you can use </a:t>
            </a:r>
            <a:r>
              <a:rPr lang="en-US" b="1" dirty="0">
                <a:solidFill>
                  <a:srgbClr val="FF0000"/>
                </a:solidFill>
              </a:rPr>
              <a:t>enumerate()</a:t>
            </a:r>
            <a:r>
              <a:rPr lang="en-US" dirty="0">
                <a:solidFill>
                  <a:srgbClr val="FF0000"/>
                </a:solidFill>
              </a:rPr>
              <a:t> with all of these data types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3FF15C-4BBC-17B6-438B-932EC96C0D57}"/>
              </a:ext>
            </a:extLst>
          </p:cNvPr>
          <p:cNvSpPr txBox="1"/>
          <p:nvPr/>
        </p:nvSpPr>
        <p:spPr>
          <a:xfrm>
            <a:off x="6961334" y="4343423"/>
            <a:ext cx="11551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5588B"/>
                </a:solidFill>
              </a:rPr>
              <a:t>Only</a:t>
            </a:r>
          </a:p>
          <a:p>
            <a:pPr algn="ctr"/>
            <a:r>
              <a:rPr lang="en-US" b="1" dirty="0">
                <a:solidFill>
                  <a:srgbClr val="45588B"/>
                </a:solidFill>
              </a:rPr>
              <a:t>sequence</a:t>
            </a:r>
            <a:r>
              <a:rPr lang="en-US" dirty="0">
                <a:solidFill>
                  <a:srgbClr val="45588B"/>
                </a:solidFill>
              </a:rPr>
              <a:t> types support </a:t>
            </a:r>
            <a:r>
              <a:rPr lang="en-US" b="1" dirty="0">
                <a:solidFill>
                  <a:srgbClr val="45588B"/>
                </a:solidFill>
              </a:rPr>
              <a:t>indexed [] </a:t>
            </a:r>
            <a:r>
              <a:rPr lang="en-US" dirty="0">
                <a:solidFill>
                  <a:srgbClr val="45588B"/>
                </a:solidFill>
              </a:rPr>
              <a:t>access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C03EBF-2815-46DC-BC37-09583409AC28}"/>
              </a:ext>
            </a:extLst>
          </p:cNvPr>
          <p:cNvSpPr/>
          <p:nvPr/>
        </p:nvSpPr>
        <p:spPr>
          <a:xfrm>
            <a:off x="5276541" y="4137285"/>
            <a:ext cx="3013023" cy="2241029"/>
          </a:xfrm>
          <a:prstGeom prst="rect">
            <a:avLst/>
          </a:prstGeom>
          <a:noFill/>
          <a:ln w="28575">
            <a:solidFill>
              <a:srgbClr val="45588B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845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/>
      <p:bldP spid="10" grpId="0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F8AF7-0C17-C95D-76A3-B209D9E73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DFFE1-2417-FC80-C0DB-733798244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Python </a:t>
            </a:r>
            <a:r>
              <a:rPr lang="en-US" sz="3200" b="1" dirty="0">
                <a:latin typeface="+mn-lt"/>
              </a:rPr>
              <a:t>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4818-F74D-B7AE-A51D-86074565B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67249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Python </a:t>
            </a:r>
            <a:r>
              <a:rPr lang="en-US" sz="2400" b="1" dirty="0">
                <a:solidFill>
                  <a:srgbClr val="0070C0"/>
                </a:solidFill>
              </a:rPr>
              <a:t>Lists</a:t>
            </a:r>
            <a:r>
              <a:rPr lang="en-US" sz="2400" dirty="0"/>
              <a:t> are ordered and </a:t>
            </a:r>
            <a:r>
              <a:rPr lang="en-US" sz="2400" u="sng" dirty="0"/>
              <a:t>indexable</a:t>
            </a:r>
            <a:r>
              <a:rPr lang="en-US" sz="2400" dirty="0"/>
              <a:t> - items keep their position, and you can access or slice them with a[0], a[-1], a[2:5], etc.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Lists are </a:t>
            </a:r>
            <a:r>
              <a:rPr lang="en-US" sz="2400" b="1" dirty="0">
                <a:solidFill>
                  <a:srgbClr val="FF0000"/>
                </a:solidFill>
              </a:rPr>
              <a:t>mutable</a:t>
            </a:r>
            <a:r>
              <a:rPr lang="en-US" sz="2400" dirty="0"/>
              <a:t> - You can </a:t>
            </a:r>
            <a:r>
              <a:rPr lang="en-US" sz="2400" i="1" dirty="0"/>
              <a:t>change</a:t>
            </a:r>
            <a:r>
              <a:rPr lang="en-US" sz="2400" dirty="0"/>
              <a:t> items in place: a[1] = 10, or replace slices: a[2:4] = [7, 8, 9]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Lists can be </a:t>
            </a:r>
            <a:r>
              <a:rPr lang="en-US" sz="2400" b="1" dirty="0">
                <a:solidFill>
                  <a:srgbClr val="7030A0"/>
                </a:solidFill>
              </a:rPr>
              <a:t>heterogeneous</a:t>
            </a:r>
            <a:r>
              <a:rPr lang="en-US" sz="2400" dirty="0"/>
              <a:t> - A single list can contain integers, strings, floats, etc., including other lists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CRUD operations are simple and expressive - </a:t>
            </a:r>
            <a:r>
              <a:rPr lang="en-US" sz="2400" b="1" dirty="0"/>
              <a:t>Create</a:t>
            </a:r>
            <a:r>
              <a:rPr lang="en-US" sz="2400" dirty="0"/>
              <a:t> ([] or list()), </a:t>
            </a:r>
            <a:r>
              <a:rPr lang="en-US" sz="2400" b="1" dirty="0"/>
              <a:t>Read</a:t>
            </a:r>
            <a:r>
              <a:rPr lang="en-US" sz="2400" dirty="0"/>
              <a:t> (a[i]), </a:t>
            </a:r>
            <a:r>
              <a:rPr lang="en-US" sz="2400" b="1" dirty="0"/>
              <a:t>Update</a:t>
            </a:r>
            <a:r>
              <a:rPr lang="en-US" sz="2400" dirty="0"/>
              <a:t> (a[i]=...), </a:t>
            </a:r>
            <a:r>
              <a:rPr lang="en-US" sz="2400" b="1" dirty="0"/>
              <a:t>Delete</a:t>
            </a:r>
            <a:r>
              <a:rPr lang="en-US" sz="2400" dirty="0"/>
              <a:t> (del a[i]), plus </a:t>
            </a:r>
            <a:r>
              <a:rPr lang="en-US" sz="2400" i="1" dirty="0"/>
              <a:t>helpers</a:t>
            </a:r>
            <a:r>
              <a:rPr lang="en-US" sz="2400" dirty="0"/>
              <a:t> like .append(), .insert(), .pop(), .remove()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Lists are dynamic and </a:t>
            </a:r>
            <a:r>
              <a:rPr lang="en-US" sz="2400" b="1" dirty="0">
                <a:solidFill>
                  <a:srgbClr val="00B050"/>
                </a:solidFill>
              </a:rPr>
              <a:t>grow/shrink</a:t>
            </a:r>
            <a:r>
              <a:rPr lang="en-US" sz="2400" dirty="0"/>
              <a:t> efficiently - You don’t pre-declare size; append() and extend() operations are </a:t>
            </a:r>
            <a:r>
              <a:rPr lang="en-US" sz="2400" i="1" dirty="0"/>
              <a:t>fast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340F1-9BA6-5E25-B236-EFB6104E9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673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Index</a:t>
            </a:r>
            <a:r>
              <a:rPr lang="en-US" sz="3200" dirty="0">
                <a:latin typeface="+mn-lt"/>
              </a:rPr>
              <a:t> Number versus Item </a:t>
            </a:r>
            <a:r>
              <a:rPr lang="en-US" sz="3200" b="1" dirty="0">
                <a:latin typeface="+mn-lt"/>
              </a:rPr>
              <a:t>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</a:t>
            </a:fld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964" y="1738986"/>
            <a:ext cx="3693871" cy="24808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1E98A0-61EA-EFD8-3FB3-B7A89CE3D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5426" y="2605190"/>
            <a:ext cx="3162569" cy="3229325"/>
          </a:xfrm>
          <a:prstGeom prst="rect">
            <a:avLst/>
          </a:prstGeom>
        </p:spPr>
      </p:pic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E00EF04C-1274-1D04-1848-41B05DFC20B1}"/>
              </a:ext>
            </a:extLst>
          </p:cNvPr>
          <p:cNvSpPr/>
          <p:nvPr/>
        </p:nvSpPr>
        <p:spPr>
          <a:xfrm>
            <a:off x="3320321" y="4569163"/>
            <a:ext cx="1827532" cy="582107"/>
          </a:xfrm>
          <a:prstGeom prst="wedgeRoundRectCallout">
            <a:avLst>
              <a:gd name="adj1" fmla="val 117952"/>
              <a:gd name="adj2" fmla="val -184715"/>
              <a:gd name="adj3" fmla="val 1666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list_name</a:t>
            </a:r>
            <a:r>
              <a:rPr lang="en-US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3878728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019" y="1825625"/>
            <a:ext cx="3701073" cy="244939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A farmer needs a fence 100m long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He wants 2m between each fence post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How many posts does he need?</a:t>
            </a:r>
            <a:endParaRPr lang="en-US" sz="2000" dirty="0"/>
          </a:p>
          <a:p>
            <a:pPr lvl="1">
              <a:spcBef>
                <a:spcPts val="0"/>
              </a:spcBef>
              <a:spcAft>
                <a:spcPts val="1200"/>
              </a:spcAft>
            </a:pPr>
            <a:endParaRPr lang="en-US" sz="20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The Bane of All Programmers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9596" y="1802199"/>
            <a:ext cx="3466759" cy="260006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888" y="4507280"/>
            <a:ext cx="8600000" cy="189523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082119" y="1542773"/>
            <a:ext cx="4979763" cy="3337571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This problem is why we all agree to always use ZERO as the </a:t>
            </a:r>
            <a:r>
              <a:rPr lang="en-US" sz="2800" b="1" i="1" dirty="0">
                <a:solidFill>
                  <a:schemeClr val="tx1"/>
                </a:solidFill>
              </a:rPr>
              <a:t>first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u="sng" dirty="0">
                <a:solidFill>
                  <a:schemeClr val="tx1"/>
                </a:solidFill>
              </a:rPr>
              <a:t>index</a:t>
            </a:r>
            <a:r>
              <a:rPr lang="en-US" sz="2800" b="1" dirty="0">
                <a:solidFill>
                  <a:schemeClr val="tx1"/>
                </a:solidFill>
              </a:rPr>
              <a:t> value in a collection.</a:t>
            </a:r>
          </a:p>
          <a:p>
            <a:pPr algn="ctr"/>
            <a:endParaRPr lang="en-US" sz="2800" b="1" dirty="0">
              <a:solidFill>
                <a:schemeClr val="tx1"/>
              </a:solidFill>
            </a:endParaRPr>
          </a:p>
          <a:p>
            <a:pPr algn="ctr"/>
            <a:r>
              <a:rPr lang="en-US" sz="2800" b="1" dirty="0">
                <a:solidFill>
                  <a:schemeClr val="tx1"/>
                </a:solidFill>
              </a:rPr>
              <a:t>Remember…</a:t>
            </a:r>
          </a:p>
          <a:p>
            <a:pPr algn="ctr"/>
            <a:r>
              <a:rPr lang="en-US" sz="2800" b="1" dirty="0">
                <a:solidFill>
                  <a:srgbClr val="00B050"/>
                </a:solidFill>
              </a:rPr>
              <a:t>ZERO is a THING!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6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895600" y="5951220"/>
            <a:ext cx="5120640" cy="1728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735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A870A-AB60-B5C5-2BC3-1C235A98A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DBF7C-97EE-43D2-E38C-C06B0719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then </a:t>
            </a:r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python_lists.py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56A9BF-199D-F20B-9F84-E2A311D2F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28B8ED-E990-582C-1896-7DBD16CE2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809" y="1690689"/>
            <a:ext cx="4952381" cy="20952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334A72-98F6-B2DA-EBC1-355E49654041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DF3A1F8-7A92-5D5B-F34A-65611FCF4A5A}"/>
              </a:ext>
            </a:extLst>
          </p:cNvPr>
          <p:cNvGrpSpPr/>
          <p:nvPr/>
        </p:nvGrpSpPr>
        <p:grpSpPr>
          <a:xfrm>
            <a:off x="4888781" y="2553642"/>
            <a:ext cx="1076632" cy="369332"/>
            <a:chOff x="4968362" y="2079211"/>
            <a:chExt cx="1076632" cy="369332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BE4F11D-1C97-9EFC-E686-F9FD6052B5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2738615-FF50-7EA8-6F0A-B7F304E74E5B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4D46EA9-BE15-EE94-D9C1-4ED8B2FA8701}"/>
              </a:ext>
            </a:extLst>
          </p:cNvPr>
          <p:cNvGrpSpPr/>
          <p:nvPr/>
        </p:nvGrpSpPr>
        <p:grpSpPr>
          <a:xfrm>
            <a:off x="3902187" y="2791481"/>
            <a:ext cx="1076632" cy="369332"/>
            <a:chOff x="4704120" y="2356972"/>
            <a:chExt cx="1076632" cy="369332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306BDEB-7B1E-4DB6-4AF4-87268840BA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B67B81A-155F-133E-26F8-2DBB27B10C22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9904179-D33E-C6C3-6D3F-975BD6EE2D65}"/>
              </a:ext>
            </a:extLst>
          </p:cNvPr>
          <p:cNvGrpSpPr/>
          <p:nvPr/>
        </p:nvGrpSpPr>
        <p:grpSpPr>
          <a:xfrm>
            <a:off x="6932779" y="3008231"/>
            <a:ext cx="1068643" cy="369332"/>
            <a:chOff x="3647644" y="4910075"/>
            <a:chExt cx="1068643" cy="36933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D4977BE-3F53-AC39-C7F8-3BB229EA51E4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E9EBB030-2541-B3FE-4C98-B345D0C7CB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8BC331A-4FEB-34E5-173D-4576B477033C}"/>
              </a:ext>
            </a:extLst>
          </p:cNvPr>
          <p:cNvGrpSpPr/>
          <p:nvPr/>
        </p:nvGrpSpPr>
        <p:grpSpPr>
          <a:xfrm>
            <a:off x="3212377" y="3260376"/>
            <a:ext cx="1064340" cy="369332"/>
            <a:chOff x="3647644" y="5421073"/>
            <a:chExt cx="1064340" cy="36933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6446529-801D-6770-E339-8B3D0FACA85C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55B84F10-DBB6-9971-A009-8F2165CCC0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6BCB2B5C-36CD-CA2E-5753-ED669449A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877" y="4425182"/>
            <a:ext cx="4986246" cy="102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758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F1A20-6286-6845-F388-C3BC8A43E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60A1DE2-200F-A645-E94B-776AEC3F957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11" y="1466315"/>
            <a:ext cx="5019048" cy="34761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960CBE-2476-C0C4-4FFE-BB45076292E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2641" y="4549061"/>
            <a:ext cx="4063928" cy="2063614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2B0C27-134C-DDBB-560B-8AFC38A4C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then </a:t>
            </a:r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python_lists.py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877454-52AB-78D5-0452-0A0F52661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C40A3C-EADE-DB3F-1148-EDD12B81E7B4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84F3884-AB0C-3548-9DC5-17F16611652E}"/>
              </a:ext>
            </a:extLst>
          </p:cNvPr>
          <p:cNvGrpSpPr/>
          <p:nvPr/>
        </p:nvGrpSpPr>
        <p:grpSpPr>
          <a:xfrm>
            <a:off x="1886381" y="1848011"/>
            <a:ext cx="1076632" cy="369332"/>
            <a:chOff x="4968362" y="2079211"/>
            <a:chExt cx="1076632" cy="369332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09A73E0-F421-6148-0868-116CF3F4DE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CAF0303-A64F-8D83-2992-01967DD6CAF2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27D869E-44EB-63B2-183E-308E5D415FC6}"/>
              </a:ext>
            </a:extLst>
          </p:cNvPr>
          <p:cNvGrpSpPr/>
          <p:nvPr/>
        </p:nvGrpSpPr>
        <p:grpSpPr>
          <a:xfrm>
            <a:off x="1722213" y="2306080"/>
            <a:ext cx="1076632" cy="369332"/>
            <a:chOff x="4704120" y="2356972"/>
            <a:chExt cx="1076632" cy="369332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4D6522D5-0A02-AC89-CF6C-28B1A18F1F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F699F3A-A35E-D3B0-B338-82DA7A15AB7E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DA65AB6-A165-920D-8462-0BB3E7FAD6AA}"/>
              </a:ext>
            </a:extLst>
          </p:cNvPr>
          <p:cNvGrpSpPr/>
          <p:nvPr/>
        </p:nvGrpSpPr>
        <p:grpSpPr>
          <a:xfrm>
            <a:off x="2408788" y="3465708"/>
            <a:ext cx="1068643" cy="369332"/>
            <a:chOff x="3647644" y="4910075"/>
            <a:chExt cx="1068643" cy="36933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7A41F67-99CB-DA2C-8088-38A857558132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A157164-8616-6816-CB78-DAFC192AE2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2E2194E-1190-DC30-B1C7-262ADDC275D0}"/>
              </a:ext>
            </a:extLst>
          </p:cNvPr>
          <p:cNvGrpSpPr/>
          <p:nvPr/>
        </p:nvGrpSpPr>
        <p:grpSpPr>
          <a:xfrm>
            <a:off x="2144871" y="3921722"/>
            <a:ext cx="1064340" cy="369332"/>
            <a:chOff x="3647644" y="5421073"/>
            <a:chExt cx="1064340" cy="36933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D49D38C-B112-4474-EC73-CAB0A709AA06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86228568-4435-9D5D-23D5-9505113825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E92BBAF-2844-034C-9476-3D46CA1D357E}"/>
              </a:ext>
            </a:extLst>
          </p:cNvPr>
          <p:cNvGrpSpPr/>
          <p:nvPr/>
        </p:nvGrpSpPr>
        <p:grpSpPr>
          <a:xfrm>
            <a:off x="5363185" y="4132170"/>
            <a:ext cx="1068643" cy="369332"/>
            <a:chOff x="3647644" y="5359159"/>
            <a:chExt cx="1068643" cy="36933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88EB055-EA7E-4C72-661D-06908600848E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2561C56-4653-F3A3-F10A-B8478F1F27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13222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BE184-3F82-2A7A-5143-AEDF8CBC1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88BDC-A2A6-9AB5-6341-CF4B27A78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Python </a:t>
            </a:r>
            <a:r>
              <a:rPr lang="en-US" sz="3200" b="1" dirty="0">
                <a:latin typeface="+mn-lt"/>
              </a:rPr>
              <a:t>Slicing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5732E-DB98-E0B7-342D-51C0E1FD5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67249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If </a:t>
            </a:r>
            <a:r>
              <a:rPr lang="en-US" sz="2400" b="1" dirty="0"/>
              <a:t>zero</a:t>
            </a:r>
            <a:r>
              <a:rPr lang="en-US" sz="2400" dirty="0"/>
              <a:t> </a:t>
            </a:r>
            <a:r>
              <a:rPr lang="en-US" sz="2400" i="1" dirty="0"/>
              <a:t>colons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0070C0"/>
                </a:solidFill>
              </a:rPr>
              <a:t>a[i]</a:t>
            </a:r>
            <a:r>
              <a:rPr lang="en-US" sz="2400" dirty="0"/>
              <a:t> - return the single item at index </a:t>
            </a:r>
            <a:r>
              <a:rPr lang="en-US" sz="2400" b="1" dirty="0">
                <a:solidFill>
                  <a:srgbClr val="0070C0"/>
                </a:solidFill>
              </a:rPr>
              <a:t>i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If </a:t>
            </a:r>
            <a:r>
              <a:rPr lang="en-US" sz="2400" b="1" dirty="0">
                <a:solidFill>
                  <a:srgbClr val="7030A0"/>
                </a:solidFill>
              </a:rPr>
              <a:t>one number</a:t>
            </a:r>
            <a:r>
              <a:rPr lang="en-US" sz="2400" dirty="0"/>
              <a:t> to the </a:t>
            </a:r>
            <a:r>
              <a:rPr lang="en-US" sz="2400" b="1" dirty="0">
                <a:solidFill>
                  <a:srgbClr val="FF0000"/>
                </a:solidFill>
              </a:rPr>
              <a:t>left</a:t>
            </a:r>
            <a:r>
              <a:rPr lang="en-US" sz="2400" dirty="0"/>
              <a:t> of </a:t>
            </a:r>
            <a:r>
              <a:rPr lang="en-US" sz="2400" b="1" dirty="0"/>
              <a:t>one</a:t>
            </a:r>
            <a:r>
              <a:rPr lang="en-US" sz="2400" dirty="0"/>
              <a:t> </a:t>
            </a:r>
            <a:r>
              <a:rPr lang="en-US" sz="2400" i="1" dirty="0"/>
              <a:t>colon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0070C0"/>
                </a:solidFill>
              </a:rPr>
              <a:t>a[i:]</a:t>
            </a:r>
            <a:r>
              <a:rPr lang="en-US" sz="2400" dirty="0"/>
              <a:t> – return the item at index </a:t>
            </a:r>
            <a:r>
              <a:rPr lang="en-US" sz="2400" b="1" dirty="0">
                <a:solidFill>
                  <a:srgbClr val="0070C0"/>
                </a:solidFill>
              </a:rPr>
              <a:t>i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00B050"/>
                </a:solidFill>
              </a:rPr>
              <a:t>all</a:t>
            </a:r>
            <a:r>
              <a:rPr lang="en-US" sz="2400" dirty="0"/>
              <a:t> </a:t>
            </a:r>
            <a:r>
              <a:rPr lang="en-US" sz="2400" u="sng" dirty="0"/>
              <a:t>remaining</a:t>
            </a:r>
            <a:r>
              <a:rPr lang="en-US" sz="2400" dirty="0"/>
              <a:t> items</a:t>
            </a:r>
            <a:endParaRPr lang="en-US" sz="2400" b="1" dirty="0">
              <a:solidFill>
                <a:srgbClr val="0070C0"/>
              </a:solidFill>
            </a:endParaRP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If </a:t>
            </a:r>
            <a:r>
              <a:rPr lang="en-US" sz="2400" b="1" dirty="0">
                <a:solidFill>
                  <a:srgbClr val="7030A0"/>
                </a:solidFill>
              </a:rPr>
              <a:t>one number </a:t>
            </a:r>
            <a:r>
              <a:rPr lang="en-US" sz="2400" dirty="0"/>
              <a:t>to the </a:t>
            </a:r>
            <a:r>
              <a:rPr lang="en-US" sz="2400" b="1" dirty="0">
                <a:solidFill>
                  <a:srgbClr val="FF0000"/>
                </a:solidFill>
              </a:rPr>
              <a:t>right</a:t>
            </a:r>
            <a:r>
              <a:rPr lang="en-US" sz="2400" dirty="0"/>
              <a:t> of </a:t>
            </a:r>
            <a:r>
              <a:rPr lang="en-US" sz="2400" b="1" dirty="0"/>
              <a:t>one</a:t>
            </a:r>
            <a:r>
              <a:rPr lang="en-US" sz="2400" dirty="0"/>
              <a:t> </a:t>
            </a:r>
            <a:r>
              <a:rPr lang="en-US" sz="2400" i="1" dirty="0"/>
              <a:t>colon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0070C0"/>
                </a:solidFill>
              </a:rPr>
              <a:t>a[:i] </a:t>
            </a:r>
            <a:r>
              <a:rPr lang="en-US" sz="2400" dirty="0"/>
              <a:t>– return </a:t>
            </a:r>
            <a:r>
              <a:rPr lang="en-US" sz="2400" b="1" dirty="0">
                <a:solidFill>
                  <a:srgbClr val="00B050"/>
                </a:solidFill>
              </a:rPr>
              <a:t>all</a:t>
            </a:r>
            <a:r>
              <a:rPr lang="en-US" sz="2400" dirty="0"/>
              <a:t> items </a:t>
            </a:r>
            <a:r>
              <a:rPr lang="en-US" sz="2400" u="sng" dirty="0"/>
              <a:t>before</a:t>
            </a:r>
            <a:r>
              <a:rPr lang="en-US" sz="2400" dirty="0"/>
              <a:t> but not </a:t>
            </a:r>
            <a:r>
              <a:rPr lang="en-US" sz="2400" i="1" dirty="0"/>
              <a:t>including</a:t>
            </a:r>
            <a:r>
              <a:rPr lang="en-US" sz="2400" dirty="0"/>
              <a:t> the item at index </a:t>
            </a:r>
            <a:r>
              <a:rPr lang="en-US" sz="2400" b="1" dirty="0">
                <a:solidFill>
                  <a:srgbClr val="0070C0"/>
                </a:solidFill>
              </a:rPr>
              <a:t>i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If </a:t>
            </a:r>
            <a:r>
              <a:rPr lang="en-US" sz="2400" b="1" dirty="0">
                <a:solidFill>
                  <a:srgbClr val="7030A0"/>
                </a:solidFill>
              </a:rPr>
              <a:t>two numbers </a:t>
            </a:r>
            <a:r>
              <a:rPr lang="en-US" sz="2400" dirty="0"/>
              <a:t>and </a:t>
            </a:r>
            <a:r>
              <a:rPr lang="en-US" sz="2400" b="1" dirty="0"/>
              <a:t>one</a:t>
            </a:r>
            <a:r>
              <a:rPr lang="en-US" sz="2400" dirty="0"/>
              <a:t> colon, </a:t>
            </a:r>
            <a:r>
              <a:rPr lang="en-US" sz="2400" b="1" dirty="0">
                <a:solidFill>
                  <a:srgbClr val="0070C0"/>
                </a:solidFill>
              </a:rPr>
              <a:t>a[</a:t>
            </a:r>
            <a:r>
              <a:rPr lang="en-US" sz="2400" b="1" dirty="0" err="1">
                <a:solidFill>
                  <a:srgbClr val="0070C0"/>
                </a:solidFill>
              </a:rPr>
              <a:t>i:j</a:t>
            </a:r>
            <a:r>
              <a:rPr lang="en-US" sz="2400" b="1" dirty="0">
                <a:solidFill>
                  <a:srgbClr val="0070C0"/>
                </a:solidFill>
              </a:rPr>
              <a:t>]</a:t>
            </a:r>
            <a:r>
              <a:rPr lang="en-US" sz="2400" dirty="0"/>
              <a:t> - return </a:t>
            </a:r>
            <a:r>
              <a:rPr lang="en-US" sz="2400" b="1" dirty="0"/>
              <a:t>all</a:t>
            </a:r>
            <a:r>
              <a:rPr lang="en-US" sz="2400" dirty="0"/>
              <a:t> items starting at index </a:t>
            </a:r>
            <a:r>
              <a:rPr lang="en-US" sz="2400" b="1" dirty="0">
                <a:solidFill>
                  <a:srgbClr val="0070C0"/>
                </a:solidFill>
              </a:rPr>
              <a:t>i</a:t>
            </a:r>
            <a:r>
              <a:rPr lang="en-US" sz="2400" dirty="0"/>
              <a:t>, but</a:t>
            </a:r>
            <a:r>
              <a:rPr lang="en-US" sz="2400" i="1" dirty="0"/>
              <a:t> not including </a:t>
            </a:r>
            <a:r>
              <a:rPr lang="en-US" sz="2400" dirty="0"/>
              <a:t>the item at index </a:t>
            </a:r>
            <a:r>
              <a:rPr lang="en-US" sz="2400" b="1" dirty="0">
                <a:solidFill>
                  <a:srgbClr val="0070C0"/>
                </a:solidFill>
              </a:rPr>
              <a:t>j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If </a:t>
            </a:r>
            <a:r>
              <a:rPr lang="en-US" sz="2400" b="1" dirty="0">
                <a:solidFill>
                  <a:srgbClr val="7030A0"/>
                </a:solidFill>
              </a:rPr>
              <a:t>three numbers </a:t>
            </a:r>
            <a:r>
              <a:rPr lang="en-US" sz="2400" dirty="0"/>
              <a:t>and </a:t>
            </a:r>
            <a:r>
              <a:rPr lang="en-US" sz="2400" b="1" dirty="0"/>
              <a:t>two</a:t>
            </a:r>
            <a:r>
              <a:rPr lang="en-US" sz="2400" dirty="0"/>
              <a:t> colons, </a:t>
            </a:r>
            <a:r>
              <a:rPr lang="en-US" sz="2400" b="1" dirty="0">
                <a:solidFill>
                  <a:srgbClr val="0070C0"/>
                </a:solidFill>
              </a:rPr>
              <a:t>a[</a:t>
            </a:r>
            <a:r>
              <a:rPr lang="en-US" sz="2400" b="1" dirty="0" err="1">
                <a:solidFill>
                  <a:srgbClr val="0070C0"/>
                </a:solidFill>
              </a:rPr>
              <a:t>i:j:k</a:t>
            </a:r>
            <a:r>
              <a:rPr lang="en-US" sz="2400" b="1" dirty="0">
                <a:solidFill>
                  <a:srgbClr val="0070C0"/>
                </a:solidFill>
              </a:rPr>
              <a:t>]</a:t>
            </a:r>
            <a:r>
              <a:rPr lang="en-US" sz="2400" dirty="0"/>
              <a:t> – return </a:t>
            </a:r>
            <a:r>
              <a:rPr lang="en-US" sz="2400" b="1" dirty="0"/>
              <a:t>all</a:t>
            </a:r>
            <a:r>
              <a:rPr lang="en-US" sz="2400" dirty="0"/>
              <a:t> items starting at index </a:t>
            </a:r>
            <a:r>
              <a:rPr lang="en-US" sz="2400" b="1" dirty="0">
                <a:solidFill>
                  <a:srgbClr val="0070C0"/>
                </a:solidFill>
              </a:rPr>
              <a:t>i</a:t>
            </a:r>
            <a:r>
              <a:rPr lang="en-US" sz="2400" dirty="0"/>
              <a:t>, but</a:t>
            </a:r>
            <a:r>
              <a:rPr lang="en-US" sz="2400" i="1" dirty="0"/>
              <a:t> not including </a:t>
            </a:r>
            <a:r>
              <a:rPr lang="en-US" sz="2400" dirty="0"/>
              <a:t>the item at index </a:t>
            </a:r>
            <a:r>
              <a:rPr lang="en-US" sz="2400" b="1" dirty="0">
                <a:solidFill>
                  <a:srgbClr val="0070C0"/>
                </a:solidFill>
              </a:rPr>
              <a:t>j</a:t>
            </a:r>
            <a:r>
              <a:rPr lang="en-US" sz="2400" dirty="0"/>
              <a:t>,   with </a:t>
            </a:r>
            <a:r>
              <a:rPr lang="en-US" sz="2400" b="1" dirty="0">
                <a:solidFill>
                  <a:srgbClr val="00B050"/>
                </a:solidFill>
              </a:rPr>
              <a:t>step</a:t>
            </a:r>
            <a:r>
              <a:rPr lang="en-US" sz="2400" dirty="0"/>
              <a:t> size (stride) of </a:t>
            </a:r>
            <a:r>
              <a:rPr lang="en-US" sz="2400" b="1" dirty="0">
                <a:solidFill>
                  <a:srgbClr val="0070C0"/>
                </a:solidFill>
              </a:rPr>
              <a:t>k</a:t>
            </a:r>
            <a:r>
              <a:rPr lang="en-US" sz="2400" dirty="0"/>
              <a:t> items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1EAE41-FCA0-FC5B-DD64-FC386095C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361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66FA1-BE0F-92F5-CAB7-F8D3C6889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51583-1345-236F-FD9C-8D0B91BB6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Python </a:t>
            </a:r>
            <a:r>
              <a:rPr lang="en-US" sz="3200" b="1" dirty="0">
                <a:latin typeface="+mn-lt"/>
              </a:rPr>
              <a:t>Slicing Syntax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B0FC0-DE0C-A1CB-024D-BE6758129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F7E338-5F00-6D55-D5AB-36F687EEC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552" y="1581224"/>
            <a:ext cx="4566895" cy="488459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004E8FD-C3A6-CE4F-F43F-D785E7576A59}"/>
              </a:ext>
            </a:extLst>
          </p:cNvPr>
          <p:cNvGrpSpPr/>
          <p:nvPr/>
        </p:nvGrpSpPr>
        <p:grpSpPr>
          <a:xfrm>
            <a:off x="5153473" y="2396862"/>
            <a:ext cx="1076632" cy="369332"/>
            <a:chOff x="4968362" y="2079211"/>
            <a:chExt cx="1076632" cy="369332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C4D3ADA-66D0-CDA3-C5E2-49F885E177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9ECC3B-8E16-4A71-159D-550D8BF9DA73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7C50820-433D-1F79-C996-957C6EC53C4F}"/>
              </a:ext>
            </a:extLst>
          </p:cNvPr>
          <p:cNvGrpSpPr/>
          <p:nvPr/>
        </p:nvGrpSpPr>
        <p:grpSpPr>
          <a:xfrm>
            <a:off x="5307422" y="3252355"/>
            <a:ext cx="1076632" cy="369332"/>
            <a:chOff x="4704120" y="2356972"/>
            <a:chExt cx="1076632" cy="369332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CC5975B-C341-7224-EDA4-6BF3679C23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478685F-A352-FCE2-5CDF-99DE64A11F3A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82B87FB-41F4-C938-849B-66BFA9068AB4}"/>
              </a:ext>
            </a:extLst>
          </p:cNvPr>
          <p:cNvGrpSpPr/>
          <p:nvPr/>
        </p:nvGrpSpPr>
        <p:grpSpPr>
          <a:xfrm>
            <a:off x="6528159" y="4115870"/>
            <a:ext cx="1068643" cy="369332"/>
            <a:chOff x="3647644" y="4910075"/>
            <a:chExt cx="1068643" cy="36933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22B7BC1-361A-DFBF-D8BA-E5B87853DF43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26625C0-2230-80E7-EFAA-B995A393B9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0901451-53F7-A6F4-8F48-B3E7784B56C4}"/>
              </a:ext>
            </a:extLst>
          </p:cNvPr>
          <p:cNvGrpSpPr/>
          <p:nvPr/>
        </p:nvGrpSpPr>
        <p:grpSpPr>
          <a:xfrm>
            <a:off x="6804577" y="4413463"/>
            <a:ext cx="1064340" cy="369332"/>
            <a:chOff x="3647644" y="5421073"/>
            <a:chExt cx="1064340" cy="3693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604E2DA-9904-6322-AA94-15E7C4E791DC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07BA91AD-6D31-D99E-A0A6-5B5D96CE16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09C28EB-A10F-F51B-02AA-5BD95BC60956}"/>
              </a:ext>
            </a:extLst>
          </p:cNvPr>
          <p:cNvGrpSpPr/>
          <p:nvPr/>
        </p:nvGrpSpPr>
        <p:grpSpPr>
          <a:xfrm>
            <a:off x="5483852" y="4979633"/>
            <a:ext cx="1068643" cy="369332"/>
            <a:chOff x="3647644" y="5359159"/>
            <a:chExt cx="1068643" cy="3693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8FFB662-1A2B-8559-D16B-0C4671093513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74367E1-1F92-ABD1-0C2B-8621D1F621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BBCB703-F0CD-5C97-AA4B-CC617B88D18D}"/>
              </a:ext>
            </a:extLst>
          </p:cNvPr>
          <p:cNvGrpSpPr/>
          <p:nvPr/>
        </p:nvGrpSpPr>
        <p:grpSpPr>
          <a:xfrm>
            <a:off x="5410145" y="5816336"/>
            <a:ext cx="1076632" cy="369332"/>
            <a:chOff x="2157212" y="5356391"/>
            <a:chExt cx="1076632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E464F3C-48A1-2FA1-62F5-D38814694755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40F17036-2C1A-EA3C-0A27-16D3784416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78661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D4B73-03B8-50DC-4A06-3803127E4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D2EEBB-8518-7161-CAFD-E5CFF38FDC6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637" y="2110562"/>
            <a:ext cx="4000357" cy="31466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C0B2BB-EB27-EF8A-C4BA-560382FB5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then </a:t>
            </a:r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python_lists.py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230EED-D18D-0CB6-43D1-ACBBA8263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C84768-F084-7B74-BB15-7F0B761DB1B0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74513DB-CFD0-081D-18F7-F5F197728821}"/>
              </a:ext>
            </a:extLst>
          </p:cNvPr>
          <p:cNvGrpSpPr/>
          <p:nvPr/>
        </p:nvGrpSpPr>
        <p:grpSpPr>
          <a:xfrm>
            <a:off x="3178560" y="2293696"/>
            <a:ext cx="1076632" cy="369332"/>
            <a:chOff x="4968362" y="2079211"/>
            <a:chExt cx="1076632" cy="369332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F66C291-5A1C-3ABE-B1A6-1923ACAA9B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60EAFB4-4214-8272-1759-F50D20CD9D05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4612F99-0B89-522A-E2A5-8F789EE651D8}"/>
              </a:ext>
            </a:extLst>
          </p:cNvPr>
          <p:cNvGrpSpPr/>
          <p:nvPr/>
        </p:nvGrpSpPr>
        <p:grpSpPr>
          <a:xfrm>
            <a:off x="2906127" y="3486755"/>
            <a:ext cx="1076632" cy="369332"/>
            <a:chOff x="4704120" y="2356972"/>
            <a:chExt cx="1076632" cy="369332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85771B59-7584-AB9F-AC4F-726F566F2F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B2A7D20-5FCD-BABD-6031-2445038FDE05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8BE749B-4FA2-72B4-07A3-DA5E5557E24F}"/>
              </a:ext>
            </a:extLst>
          </p:cNvPr>
          <p:cNvGrpSpPr/>
          <p:nvPr/>
        </p:nvGrpSpPr>
        <p:grpSpPr>
          <a:xfrm>
            <a:off x="2807621" y="3732520"/>
            <a:ext cx="1068643" cy="369332"/>
            <a:chOff x="3647644" y="4910075"/>
            <a:chExt cx="1068643" cy="36933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CB33072-E9C5-39BB-328B-B5C1D5F2AE08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509AA864-EBCA-0E66-D209-62CC6F2DA1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ADA4BCD-776E-D20C-93D2-258BF3442FFC}"/>
              </a:ext>
            </a:extLst>
          </p:cNvPr>
          <p:cNvGrpSpPr/>
          <p:nvPr/>
        </p:nvGrpSpPr>
        <p:grpSpPr>
          <a:xfrm>
            <a:off x="2788254" y="3969680"/>
            <a:ext cx="1064340" cy="369332"/>
            <a:chOff x="3647644" y="5421073"/>
            <a:chExt cx="1064340" cy="36933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35B295A-387B-FBF6-D711-C545A52AB179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F8C780DD-951E-BDB8-73BC-5953365DE7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C315119-2F33-855C-5182-B2CBEEF852FC}"/>
              </a:ext>
            </a:extLst>
          </p:cNvPr>
          <p:cNvGrpSpPr/>
          <p:nvPr/>
        </p:nvGrpSpPr>
        <p:grpSpPr>
          <a:xfrm>
            <a:off x="2867537" y="4202501"/>
            <a:ext cx="1068643" cy="369332"/>
            <a:chOff x="3647644" y="5359159"/>
            <a:chExt cx="1068643" cy="36933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86A69B0-96E2-9158-9F89-B89D1B69C77C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B3FFD1F-08B8-6DD4-7D51-F9CF047A36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969C0EBC-15BA-866F-5496-95C0E2909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658" y="2587464"/>
            <a:ext cx="4226797" cy="2462943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07E48AB7-70CC-BD93-6B17-46959DB01961}"/>
              </a:ext>
            </a:extLst>
          </p:cNvPr>
          <p:cNvGrpSpPr/>
          <p:nvPr/>
        </p:nvGrpSpPr>
        <p:grpSpPr>
          <a:xfrm>
            <a:off x="3093754" y="4434686"/>
            <a:ext cx="1076632" cy="369332"/>
            <a:chOff x="2157212" y="5356391"/>
            <a:chExt cx="1076632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AB4C5CC-6523-43BD-6C6C-F040358A440D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51EEB8E-50D7-3950-1B1D-9A6C30792F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EC5327D-099A-860C-35EA-DCD283D4BCFE}"/>
              </a:ext>
            </a:extLst>
          </p:cNvPr>
          <p:cNvGrpSpPr/>
          <p:nvPr/>
        </p:nvGrpSpPr>
        <p:grpSpPr>
          <a:xfrm>
            <a:off x="3024220" y="4670142"/>
            <a:ext cx="1076632" cy="369332"/>
            <a:chOff x="2157212" y="5356391"/>
            <a:chExt cx="1076632" cy="36933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EEF57A1-120D-AA02-3D44-FEA49D7C25DD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9044C3A-0363-2E5A-6E66-7F7A5E7A7C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4264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0EAA2-5AFF-2B26-03B4-41942D9FC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5FDC65-1F5D-72A5-B654-2A506C11084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425" y="1620537"/>
            <a:ext cx="6407149" cy="12297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1BB388-8897-4CF5-C47C-AACF9AE64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then </a:t>
            </a:r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python_lists.py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79EAEC-069E-B5E2-6330-A43BA81BA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9A9432-3DB0-FAEC-F31A-92C263DDBEC1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6841585-BDEF-C5E8-AF11-45E7C266EFE2}"/>
              </a:ext>
            </a:extLst>
          </p:cNvPr>
          <p:cNvGrpSpPr/>
          <p:nvPr/>
        </p:nvGrpSpPr>
        <p:grpSpPr>
          <a:xfrm>
            <a:off x="5628653" y="1904671"/>
            <a:ext cx="1076632" cy="369332"/>
            <a:chOff x="4968362" y="2079211"/>
            <a:chExt cx="1076632" cy="369332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E3BFCAB-25A5-930B-D012-F82952966C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49B9ED2-AB30-5A86-7738-1C1083F37ACD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A8DA7B8-2937-4960-47C5-423BDE8D4458}"/>
              </a:ext>
            </a:extLst>
          </p:cNvPr>
          <p:cNvGrpSpPr/>
          <p:nvPr/>
        </p:nvGrpSpPr>
        <p:grpSpPr>
          <a:xfrm>
            <a:off x="3854141" y="2179034"/>
            <a:ext cx="1076632" cy="369332"/>
            <a:chOff x="4704120" y="2356972"/>
            <a:chExt cx="1076632" cy="369332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42222D39-2D87-BB34-9CEC-67B01B9DF6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328B353-BD5A-BDB1-0B57-B17839415E1E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41DF6501-4E02-CC7C-56FF-E1A3BBAE2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677" y="3459396"/>
            <a:ext cx="5833275" cy="812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332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1FEC2-C8A2-AD3B-D0A8-B63A8D8C4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3628B0E-DC49-3B8A-E617-17D3CE721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910" y="1690689"/>
            <a:ext cx="5276268" cy="19597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9A5A0A-AC8F-CE1D-3551-23A1884C9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then </a:t>
            </a:r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python_lists.py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DAF6AA-43A8-212D-1A22-2F82480CC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216530-34B5-F84E-4B3D-921CB3229C89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7DB0EA7-4555-A7C9-E957-152598741D91}"/>
              </a:ext>
            </a:extLst>
          </p:cNvPr>
          <p:cNvGrpSpPr/>
          <p:nvPr/>
        </p:nvGrpSpPr>
        <p:grpSpPr>
          <a:xfrm>
            <a:off x="5381318" y="1950105"/>
            <a:ext cx="1076632" cy="369332"/>
            <a:chOff x="4968362" y="2079211"/>
            <a:chExt cx="1076632" cy="369332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09C630B-A315-CE77-1CDD-918C366CD1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0197680-FF8D-22BC-F49D-B29CD9AAE80C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BE98DA9-9FE3-F98B-9472-B941FEDD43CF}"/>
              </a:ext>
            </a:extLst>
          </p:cNvPr>
          <p:cNvGrpSpPr/>
          <p:nvPr/>
        </p:nvGrpSpPr>
        <p:grpSpPr>
          <a:xfrm>
            <a:off x="4843002" y="2231075"/>
            <a:ext cx="1076632" cy="369332"/>
            <a:chOff x="4704120" y="2356972"/>
            <a:chExt cx="1076632" cy="369332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BFE28115-79DC-953C-C537-FB655F606A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A6AA82B-3ECD-1281-8DFB-33C4A9FBFB7A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33BE50A4-EAD6-8A91-0536-AF8528DAE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3068" y="3835112"/>
            <a:ext cx="3397864" cy="26119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9304CA71-1F65-D277-6E16-C4A20B8F77BA}"/>
              </a:ext>
            </a:extLst>
          </p:cNvPr>
          <p:cNvGrpSpPr/>
          <p:nvPr/>
        </p:nvGrpSpPr>
        <p:grpSpPr>
          <a:xfrm>
            <a:off x="3576063" y="2511953"/>
            <a:ext cx="1068643" cy="369332"/>
            <a:chOff x="3647644" y="4910075"/>
            <a:chExt cx="1068643" cy="36933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5F92C2A-137E-A895-BEAC-6257133C090C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0D53031-E834-38CE-648B-519FA5EA71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27950DB-29AF-9A5F-04E7-6DDDA6820F7D}"/>
              </a:ext>
            </a:extLst>
          </p:cNvPr>
          <p:cNvGrpSpPr/>
          <p:nvPr/>
        </p:nvGrpSpPr>
        <p:grpSpPr>
          <a:xfrm>
            <a:off x="6433753" y="2801497"/>
            <a:ext cx="1064340" cy="369332"/>
            <a:chOff x="3647644" y="5421073"/>
            <a:chExt cx="1064340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CE4A1CD-C93A-07E3-E211-842551535B9A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3129C534-C613-1C12-52D3-11F3C44824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E40F2BB-F623-21A0-0410-A1615C1E74A6}"/>
              </a:ext>
            </a:extLst>
          </p:cNvPr>
          <p:cNvGrpSpPr/>
          <p:nvPr/>
        </p:nvGrpSpPr>
        <p:grpSpPr>
          <a:xfrm>
            <a:off x="5348640" y="3059668"/>
            <a:ext cx="1068643" cy="369332"/>
            <a:chOff x="3647644" y="5359159"/>
            <a:chExt cx="1068643" cy="36933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3C0FBDC-9A4A-32A6-235E-1D16C8515A61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0AF39DF-A529-FD09-C7DE-052AF5BB65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72306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D2EE7-4B79-D941-2F2D-53B45B228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844D9-D901-E240-CC08-4A7DDA8F7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Python </a:t>
            </a:r>
            <a:r>
              <a:rPr lang="en-US" sz="3200" b="1" dirty="0">
                <a:latin typeface="+mn-lt"/>
              </a:rPr>
              <a:t>Tuples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CEED3-BD2D-749A-0362-CA3E9A748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A </a:t>
            </a:r>
            <a:r>
              <a:rPr lang="en-US" sz="2400" b="1" dirty="0">
                <a:solidFill>
                  <a:srgbClr val="0070C0"/>
                </a:solidFill>
              </a:rPr>
              <a:t>tuple</a:t>
            </a:r>
            <a:r>
              <a:rPr lang="en-US" sz="2400" dirty="0"/>
              <a:t> is like a Python list in that it is a container of items and supports the </a:t>
            </a:r>
            <a:r>
              <a:rPr lang="en-US" sz="2400" b="1" dirty="0"/>
              <a:t>[] index operation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However, tuples are </a:t>
            </a:r>
            <a:r>
              <a:rPr lang="en-US" sz="2400" b="1" dirty="0">
                <a:solidFill>
                  <a:srgbClr val="FF0000"/>
                </a:solidFill>
              </a:rPr>
              <a:t>immutable</a:t>
            </a:r>
            <a:r>
              <a:rPr lang="en-US" sz="2400" dirty="0"/>
              <a:t>: they </a:t>
            </a:r>
            <a:r>
              <a:rPr lang="en-US" sz="2400" i="1" dirty="0"/>
              <a:t>cannot be changed</a:t>
            </a:r>
            <a:r>
              <a:rPr lang="en-US" sz="2400" dirty="0"/>
              <a:t> in any fashion after they are created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No item values can be changed, no new items can be inserted or appended, no existing items can be deleted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To change an existing tuple, you must </a:t>
            </a:r>
            <a:r>
              <a:rPr lang="en-US" sz="2400" b="1" dirty="0">
                <a:solidFill>
                  <a:srgbClr val="7030A0"/>
                </a:solidFill>
              </a:rPr>
              <a:t>create a new tuple </a:t>
            </a:r>
            <a:r>
              <a:rPr lang="en-US" sz="2400" dirty="0"/>
              <a:t>based on that existing tuple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Python tuples are denoted using </a:t>
            </a:r>
            <a:r>
              <a:rPr lang="en-US" sz="2400" b="1" dirty="0">
                <a:solidFill>
                  <a:srgbClr val="00B050"/>
                </a:solidFill>
              </a:rPr>
              <a:t>parentheses ()</a:t>
            </a:r>
            <a:r>
              <a:rPr lang="en-US" sz="2400" dirty="0"/>
              <a:t>,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dirty="0"/>
              <a:t>whereas lists are denoted using </a:t>
            </a:r>
            <a:r>
              <a:rPr lang="en-US" sz="2400" b="1" dirty="0"/>
              <a:t>square brackets []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An </a:t>
            </a:r>
            <a:r>
              <a:rPr lang="en-US" sz="2400" b="1" dirty="0">
                <a:solidFill>
                  <a:srgbClr val="FF0000"/>
                </a:solidFill>
              </a:rPr>
              <a:t>empty</a:t>
            </a:r>
            <a:r>
              <a:rPr lang="en-US" sz="2400" dirty="0"/>
              <a:t> tuple would be declared as </a:t>
            </a:r>
            <a:r>
              <a:rPr lang="en-US" sz="2400" b="1" dirty="0"/>
              <a:t>()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63F934-1D08-6BA7-CB1B-6D1AAF04B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547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5279C-DB7C-DFFE-50AF-7A1FA3D8C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2F0F6A6-7C1A-4614-284D-BA2A26C4E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39" y="1412757"/>
            <a:ext cx="5942857" cy="3695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4EB6A2-5DF7-60E9-5E6B-210E059E2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then </a:t>
            </a:r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python_tuples.py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B9FFE5-873E-0C4F-F351-37F36830F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0FFC07-A4EE-DA8E-4332-A7B867C94B04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4A71389-3F34-EED3-C211-B352BC9F01E2}"/>
              </a:ext>
            </a:extLst>
          </p:cNvPr>
          <p:cNvGrpSpPr/>
          <p:nvPr/>
        </p:nvGrpSpPr>
        <p:grpSpPr>
          <a:xfrm>
            <a:off x="2554651" y="2266803"/>
            <a:ext cx="1076632" cy="369332"/>
            <a:chOff x="4968362" y="2079211"/>
            <a:chExt cx="1076632" cy="369332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5CF326E-1A2C-CCD6-971F-A16C9B216E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A623083-AA48-C2D2-B6D3-0B5C4F7E9A8A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8BC2760-50D9-B526-7EE9-431C10955123}"/>
              </a:ext>
            </a:extLst>
          </p:cNvPr>
          <p:cNvGrpSpPr/>
          <p:nvPr/>
        </p:nvGrpSpPr>
        <p:grpSpPr>
          <a:xfrm>
            <a:off x="2938895" y="2505528"/>
            <a:ext cx="1076632" cy="369332"/>
            <a:chOff x="4704120" y="2356972"/>
            <a:chExt cx="1076632" cy="369332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CA272388-B39A-0FC9-3F26-907DC18133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CA1A20F-7EB7-4093-94C9-39C44B1161FF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0789470-5F6E-C314-B30C-19C2DADDA666}"/>
              </a:ext>
            </a:extLst>
          </p:cNvPr>
          <p:cNvGrpSpPr/>
          <p:nvPr/>
        </p:nvGrpSpPr>
        <p:grpSpPr>
          <a:xfrm>
            <a:off x="3909333" y="3405454"/>
            <a:ext cx="1068643" cy="369332"/>
            <a:chOff x="3647644" y="4910075"/>
            <a:chExt cx="1068643" cy="36933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9F4070D-97A0-0EB3-AEFE-636A6E417B9D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E9BB0A81-2308-2BAD-6805-5C845069D5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19D8D1B5-93B8-ACCA-30B7-58CDBF219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7825" y="5004852"/>
            <a:ext cx="4134102" cy="1636805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14CEE3B-4AE4-B24A-0571-9EBC22D5AEA5}"/>
              </a:ext>
            </a:extLst>
          </p:cNvPr>
          <p:cNvGrpSpPr/>
          <p:nvPr/>
        </p:nvGrpSpPr>
        <p:grpSpPr>
          <a:xfrm>
            <a:off x="4572000" y="3889700"/>
            <a:ext cx="1064340" cy="369332"/>
            <a:chOff x="3647644" y="5421073"/>
            <a:chExt cx="1064340" cy="36933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BAA6BF3-FACB-84CE-DC9D-CF98C5823149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9206553-64FB-E600-7CFC-098112A562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13E70E0-57A8-6846-7F06-7745527C4D71}"/>
              </a:ext>
            </a:extLst>
          </p:cNvPr>
          <p:cNvGrpSpPr/>
          <p:nvPr/>
        </p:nvGrpSpPr>
        <p:grpSpPr>
          <a:xfrm>
            <a:off x="4134696" y="4555701"/>
            <a:ext cx="1068643" cy="369332"/>
            <a:chOff x="3647644" y="5359159"/>
            <a:chExt cx="1068643" cy="36933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4355ECA-9565-6F0D-D51A-BC1D163ABADF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CA47819-6DC8-C35D-2CA7-1C90DDF7DB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60541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2B222-EDBC-2ECF-F56E-13A177A09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354157-8EBA-2055-2727-C124DA33D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098" y="1504487"/>
            <a:ext cx="5171429" cy="46190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446CAD-5707-7831-A115-E374D8ADE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then </a:t>
            </a:r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python_tuples.py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B976CF-282B-31AD-DAC4-86A89850B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C5B3F4-7D1D-9D94-ADBA-BFECBC16273C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15D129B-9D37-59F4-9053-D5332AA01C03}"/>
              </a:ext>
            </a:extLst>
          </p:cNvPr>
          <p:cNvGrpSpPr/>
          <p:nvPr/>
        </p:nvGrpSpPr>
        <p:grpSpPr>
          <a:xfrm>
            <a:off x="1888843" y="1924663"/>
            <a:ext cx="1076632" cy="369332"/>
            <a:chOff x="4968362" y="2079211"/>
            <a:chExt cx="1076632" cy="369332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276FDA8-7C38-332F-F948-BB006C6CDE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9CC3453-9455-0CE8-C646-4D483ADDAF3F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C08DBD9-1622-1924-1E2F-AB1CC032F826}"/>
              </a:ext>
            </a:extLst>
          </p:cNvPr>
          <p:cNvGrpSpPr/>
          <p:nvPr/>
        </p:nvGrpSpPr>
        <p:grpSpPr>
          <a:xfrm>
            <a:off x="2046689" y="2148752"/>
            <a:ext cx="1076632" cy="369332"/>
            <a:chOff x="4704120" y="2356972"/>
            <a:chExt cx="1076632" cy="369332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573F849-30CE-5E8B-AC14-C9B8D670AA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C8A6AEF-F9E2-95B4-89BF-D3CAC975CEC1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50EED88-A061-11D1-57F3-C268EC0BE62F}"/>
              </a:ext>
            </a:extLst>
          </p:cNvPr>
          <p:cNvGrpSpPr/>
          <p:nvPr/>
        </p:nvGrpSpPr>
        <p:grpSpPr>
          <a:xfrm>
            <a:off x="2183143" y="3065898"/>
            <a:ext cx="1068643" cy="369332"/>
            <a:chOff x="3647644" y="4910075"/>
            <a:chExt cx="1068643" cy="36933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31076CA-005E-81C8-EE7A-8B0FB79CF3EB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5AAE75F6-640D-E11E-1309-24D751A62D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9AF0B90-3422-087C-F8F0-87A370030B9F}"/>
              </a:ext>
            </a:extLst>
          </p:cNvPr>
          <p:cNvGrpSpPr/>
          <p:nvPr/>
        </p:nvGrpSpPr>
        <p:grpSpPr>
          <a:xfrm>
            <a:off x="2183143" y="4441107"/>
            <a:ext cx="1064340" cy="369332"/>
            <a:chOff x="3647644" y="5421073"/>
            <a:chExt cx="1064340" cy="36933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7A320CC-AF85-076D-E900-5607E0EBE807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C430AEB2-DE09-EC7A-23AE-29D4A305C5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6150815D-A82B-ED83-595C-364A15D6F7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005" y="4810439"/>
            <a:ext cx="5426906" cy="1545912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A0DBCEC-1DAB-A14A-09A2-2F1A0E1ADA1D}"/>
              </a:ext>
            </a:extLst>
          </p:cNvPr>
          <p:cNvGrpSpPr/>
          <p:nvPr/>
        </p:nvGrpSpPr>
        <p:grpSpPr>
          <a:xfrm>
            <a:off x="1773809" y="5353513"/>
            <a:ext cx="1068643" cy="369332"/>
            <a:chOff x="3647644" y="5359159"/>
            <a:chExt cx="1068643" cy="36933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906248A-DD3F-6D8F-2598-F6C4043D1963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67DD07F-5C73-721E-FFAC-F07DA4A166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71007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4EC8B-EB80-47C9-B324-968BFA06B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58A1D6D-EE44-F8E8-540C-758C069EE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901" y="1516564"/>
            <a:ext cx="5323809" cy="34571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1833794-E090-9E94-4616-81B6DBD78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7024" y="5207681"/>
            <a:ext cx="4877562" cy="10949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0B0537-B570-9E88-778F-712B48D4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then </a:t>
            </a:r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python_tuples.py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5B8DC9-8D96-F047-8A62-28A3F3A42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7196BE-5EA4-33B1-004C-1494344ECA74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8A6A6DB-DAAC-59E2-BC97-CA7F536D6AEB}"/>
              </a:ext>
            </a:extLst>
          </p:cNvPr>
          <p:cNvGrpSpPr/>
          <p:nvPr/>
        </p:nvGrpSpPr>
        <p:grpSpPr>
          <a:xfrm>
            <a:off x="4203741" y="2148752"/>
            <a:ext cx="1076632" cy="369332"/>
            <a:chOff x="4968362" y="2079211"/>
            <a:chExt cx="1076632" cy="369332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99E52F3-78C7-ACA4-1CC1-A5C3BA3382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B9EE529-5435-1C48-914B-AD920FD3EF01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97FC482-D3D7-8D8F-F30C-AA627A34FA12}"/>
              </a:ext>
            </a:extLst>
          </p:cNvPr>
          <p:cNvGrpSpPr/>
          <p:nvPr/>
        </p:nvGrpSpPr>
        <p:grpSpPr>
          <a:xfrm>
            <a:off x="4012012" y="3284230"/>
            <a:ext cx="1076632" cy="369332"/>
            <a:chOff x="4704120" y="2356972"/>
            <a:chExt cx="1076632" cy="369332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12722AF5-6084-0872-3C76-8222216286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D258CB1-3079-7A70-1DFA-F21CBD4F9DD9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14567DA-385F-A2A3-7177-C70D33EA4F4C}"/>
              </a:ext>
            </a:extLst>
          </p:cNvPr>
          <p:cNvGrpSpPr/>
          <p:nvPr/>
        </p:nvGrpSpPr>
        <p:grpSpPr>
          <a:xfrm>
            <a:off x="7100054" y="3967532"/>
            <a:ext cx="1068643" cy="369332"/>
            <a:chOff x="3647644" y="4910075"/>
            <a:chExt cx="1068643" cy="36933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8F89F6C-0574-CB77-3F08-4A570B191424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9681F147-84EF-18AD-006E-355CFEF675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19974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9FE1C-C0A6-9F11-20EC-C1F126BF2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0176E8-D8E4-78B2-ED31-183336E80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041" y="1383181"/>
            <a:ext cx="5028571" cy="41714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5F0905-AAEC-20CD-A7D9-3DC8EE173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861" y="1779784"/>
            <a:ext cx="3753731" cy="1233865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FC4B055-F0A9-93D7-FDE8-F41543358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then </a:t>
            </a:r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python_tuples.py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68B1A7-8925-DC08-6DB7-7A7890CAF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DBD5E4-68D3-A1FD-1CAB-9CA44FAF3EAA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999CB42-922D-F037-5029-20CF6C66DC8A}"/>
              </a:ext>
            </a:extLst>
          </p:cNvPr>
          <p:cNvGrpSpPr/>
          <p:nvPr/>
        </p:nvGrpSpPr>
        <p:grpSpPr>
          <a:xfrm>
            <a:off x="2260694" y="1779784"/>
            <a:ext cx="1076632" cy="369332"/>
            <a:chOff x="4968362" y="2079211"/>
            <a:chExt cx="1076632" cy="369332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806161F-C846-1A8D-6F66-C7C2334E72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B9C63DF-62AD-5CA5-BE38-0FE9CF117603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4F8E3AB-20F0-56B4-266A-57F5C2823E32}"/>
              </a:ext>
            </a:extLst>
          </p:cNvPr>
          <p:cNvGrpSpPr/>
          <p:nvPr/>
        </p:nvGrpSpPr>
        <p:grpSpPr>
          <a:xfrm>
            <a:off x="2627847" y="2471730"/>
            <a:ext cx="1076632" cy="369332"/>
            <a:chOff x="4704120" y="2356972"/>
            <a:chExt cx="1076632" cy="369332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13AC66E-CA7E-173A-A113-F83AF48D19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FCD9AAA-12EF-071B-89FB-AAEA0AAEBABB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DA9B276-C6EF-8445-B8AC-CA09FE2709DF}"/>
              </a:ext>
            </a:extLst>
          </p:cNvPr>
          <p:cNvGrpSpPr/>
          <p:nvPr/>
        </p:nvGrpSpPr>
        <p:grpSpPr>
          <a:xfrm>
            <a:off x="3891588" y="3162378"/>
            <a:ext cx="1068643" cy="369332"/>
            <a:chOff x="3647644" y="4910075"/>
            <a:chExt cx="1068643" cy="36933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8343AFA-9177-68D4-6F89-3F815A9A5100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D917CFFC-8F98-259D-FD45-590A2C2E61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99E5371-5B14-3380-42B0-76B2F4868D5B}"/>
              </a:ext>
            </a:extLst>
          </p:cNvPr>
          <p:cNvGrpSpPr/>
          <p:nvPr/>
        </p:nvGrpSpPr>
        <p:grpSpPr>
          <a:xfrm>
            <a:off x="4019767" y="3396916"/>
            <a:ext cx="1064340" cy="369332"/>
            <a:chOff x="3647644" y="5421073"/>
            <a:chExt cx="1064340" cy="36933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1C3E289-6306-74C5-5DA1-4A57C1C5B665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FC2B559-DF5D-1E7F-C9F0-048BEA6F72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2D5D10E1-1FD8-F3D3-E423-DC05092535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5861" y="5115214"/>
            <a:ext cx="3428571" cy="561905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01026E45-155F-7D19-A9CD-7A4E4B874361}"/>
              </a:ext>
            </a:extLst>
          </p:cNvPr>
          <p:cNvGrpSpPr/>
          <p:nvPr/>
        </p:nvGrpSpPr>
        <p:grpSpPr>
          <a:xfrm>
            <a:off x="4126783" y="4763534"/>
            <a:ext cx="1068643" cy="369332"/>
            <a:chOff x="3647644" y="5359159"/>
            <a:chExt cx="1068643" cy="3693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BCD0ED3-F6A7-6E95-0D67-A02FE20F2181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461CC6C-BD38-9FE5-ED37-BD1E147263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97286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7AC60-CB14-7BC3-E7DD-1D0866951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1EFA356-3D37-40C1-4C99-BE23F50E6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62" y="1525521"/>
            <a:ext cx="5483486" cy="23082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BA58B5-CE28-EF2B-2FDE-98A9F03F2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then </a:t>
            </a:r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python_tuples.py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CEB844-26BA-EDB0-B47A-83CD2C46A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19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1AF6DB-4769-10EE-26CE-402DA6F03EDC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9A93FF4-A5D5-6E80-877E-E11DEA9DDA53}"/>
              </a:ext>
            </a:extLst>
          </p:cNvPr>
          <p:cNvGrpSpPr/>
          <p:nvPr/>
        </p:nvGrpSpPr>
        <p:grpSpPr>
          <a:xfrm>
            <a:off x="3889744" y="2045270"/>
            <a:ext cx="1076632" cy="369332"/>
            <a:chOff x="4968362" y="2079211"/>
            <a:chExt cx="1076632" cy="369332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50BF66A-4019-AE09-8AF3-EE402BEA6A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F70AC83-AAA3-393A-CA58-A59A88EB2B5D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C0CDE0D-F2EB-44D8-0D01-6A5FCC76B357}"/>
              </a:ext>
            </a:extLst>
          </p:cNvPr>
          <p:cNvGrpSpPr/>
          <p:nvPr/>
        </p:nvGrpSpPr>
        <p:grpSpPr>
          <a:xfrm>
            <a:off x="3285576" y="2329601"/>
            <a:ext cx="1076632" cy="369332"/>
            <a:chOff x="4704120" y="2356972"/>
            <a:chExt cx="1076632" cy="369332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DCBAF8A3-83FA-D02A-D44F-B4447D20D2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B1C14BF-03D7-395A-E73A-6FD9CD7FABEB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E6B50AC-FF43-1E1B-11CA-9EA5A05867BB}"/>
              </a:ext>
            </a:extLst>
          </p:cNvPr>
          <p:cNvGrpSpPr/>
          <p:nvPr/>
        </p:nvGrpSpPr>
        <p:grpSpPr>
          <a:xfrm>
            <a:off x="4904853" y="2890645"/>
            <a:ext cx="1068643" cy="369332"/>
            <a:chOff x="3647644" y="4910075"/>
            <a:chExt cx="1068643" cy="36933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F24E79C-3821-2462-6A16-B0DF1208D6EC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7736CDE9-DBE8-D4CF-2123-4799593321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BA1BCEC-0565-65E6-6DB1-B647896E6859}"/>
              </a:ext>
            </a:extLst>
          </p:cNvPr>
          <p:cNvGrpSpPr/>
          <p:nvPr/>
        </p:nvGrpSpPr>
        <p:grpSpPr>
          <a:xfrm>
            <a:off x="3717419" y="3180731"/>
            <a:ext cx="1064340" cy="369332"/>
            <a:chOff x="3647644" y="5421073"/>
            <a:chExt cx="1064340" cy="36933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7096A90-F6B5-DB1A-C0DC-827A302F353B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2454A9E-3C0B-288C-125C-083EE03F3C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58822E28-A1DA-6B50-489F-5DF88D313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301" y="3598024"/>
            <a:ext cx="3719080" cy="2710310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564632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13C4C-2D08-DCFD-5FC9-92217819F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90D02-783B-67AB-2D5B-A616F453E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Python </a:t>
            </a:r>
            <a:r>
              <a:rPr lang="en-US" sz="3200" b="1" dirty="0">
                <a:latin typeface="+mn-lt"/>
              </a:rPr>
              <a:t>Lists</a:t>
            </a:r>
            <a:r>
              <a:rPr lang="en-US" sz="3200" dirty="0">
                <a:latin typeface="+mn-lt"/>
              </a:rPr>
              <a:t> vs. </a:t>
            </a:r>
            <a:r>
              <a:rPr lang="en-US" sz="3200" b="1" dirty="0">
                <a:latin typeface="+mn-lt"/>
              </a:rPr>
              <a:t>Tuples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EB389-4322-91EF-51AE-36503E881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DC9B5D1-924E-7E05-D065-5ACDFE014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27" y="1899237"/>
            <a:ext cx="8443946" cy="366464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40197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78623-D777-E143-908A-EB7744746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0EB8C-CB9C-F038-38C9-8EBF151B8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Python </a:t>
            </a:r>
            <a:r>
              <a:rPr lang="en-US" sz="3200" b="1" dirty="0">
                <a:latin typeface="+mn-lt"/>
              </a:rPr>
              <a:t>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8BA61-B7E4-318E-5C37-06959DC14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A </a:t>
            </a:r>
            <a:r>
              <a:rPr lang="en-US" sz="2400" b="1" dirty="0">
                <a:solidFill>
                  <a:srgbClr val="0070C0"/>
                </a:solidFill>
              </a:rPr>
              <a:t>set</a:t>
            </a:r>
            <a:r>
              <a:rPr lang="en-US" sz="2400" dirty="0"/>
              <a:t> in Python is a special container of items that </a:t>
            </a:r>
            <a:r>
              <a:rPr lang="en-US" sz="2400" b="1" dirty="0">
                <a:solidFill>
                  <a:srgbClr val="FF0000"/>
                </a:solidFill>
              </a:rPr>
              <a:t>DOESN’T </a:t>
            </a:r>
            <a:r>
              <a:rPr lang="en-US" sz="2400" dirty="0"/>
              <a:t>support the </a:t>
            </a:r>
            <a:r>
              <a:rPr lang="en-US" sz="2400" b="1" dirty="0"/>
              <a:t>[] index operation </a:t>
            </a:r>
            <a:r>
              <a:rPr lang="en-US" sz="2400" dirty="0"/>
              <a:t>– items are not ordered (they don’t exist at a specific location within a set)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However, </a:t>
            </a:r>
            <a:r>
              <a:rPr lang="en-US" sz="2400" b="1" dirty="0">
                <a:solidFill>
                  <a:srgbClr val="00B050"/>
                </a:solidFill>
              </a:rPr>
              <a:t>a set can be iterated </a:t>
            </a:r>
            <a:r>
              <a:rPr lang="en-US" sz="2400" dirty="0"/>
              <a:t>using a </a:t>
            </a:r>
            <a:r>
              <a:rPr lang="en-US" sz="2400" b="1" dirty="0"/>
              <a:t>for loop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Sets are </a:t>
            </a:r>
            <a:r>
              <a:rPr lang="en-US" sz="2400" b="1" u="sng" dirty="0">
                <a:solidFill>
                  <a:srgbClr val="7030A0"/>
                </a:solidFill>
              </a:rPr>
              <a:t>mutable</a:t>
            </a:r>
            <a:r>
              <a:rPr lang="en-US" sz="2400" dirty="0"/>
              <a:t> to some degree: new </a:t>
            </a:r>
            <a:r>
              <a:rPr lang="en-US" sz="2400" i="1" dirty="0"/>
              <a:t>unique</a:t>
            </a:r>
            <a:r>
              <a:rPr lang="en-US" sz="2400" dirty="0"/>
              <a:t> items can be added to a set (</a:t>
            </a:r>
            <a:r>
              <a:rPr lang="en-US" sz="2400" b="1" dirty="0">
                <a:solidFill>
                  <a:srgbClr val="FF0000"/>
                </a:solidFill>
              </a:rPr>
              <a:t>duplicate values are automatically ignored)</a:t>
            </a:r>
            <a:r>
              <a:rPr lang="en-US" sz="2400" dirty="0"/>
              <a:t> and items can be deleted/removed/discarded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Sets support </a:t>
            </a:r>
            <a:r>
              <a:rPr lang="en-US" sz="2400" b="1" dirty="0"/>
              <a:t>union, intersection, and difference </a:t>
            </a:r>
            <a:r>
              <a:rPr lang="en-US" sz="2400" dirty="0"/>
              <a:t>operations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Python sets are denoted using </a:t>
            </a:r>
            <a:r>
              <a:rPr lang="en-US" sz="2400" b="1" dirty="0">
                <a:solidFill>
                  <a:srgbClr val="0070C0"/>
                </a:solidFill>
              </a:rPr>
              <a:t>curly braces</a:t>
            </a:r>
            <a:r>
              <a:rPr lang="en-US" sz="2400" dirty="0"/>
              <a:t>, but an empty set would be declared as </a:t>
            </a:r>
            <a:r>
              <a:rPr lang="en-US" sz="2400" b="1" dirty="0">
                <a:solidFill>
                  <a:srgbClr val="00B050"/>
                </a:solidFill>
              </a:rPr>
              <a:t>set()</a:t>
            </a:r>
            <a:r>
              <a:rPr lang="en-US" sz="2400" dirty="0"/>
              <a:t> rather than empty braces {}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95E67-D492-835B-6756-F77546AE2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210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8309C-BAE7-E5C9-B7A2-8A3E74998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707D6-5823-8F90-1E24-CFBF3276C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then </a:t>
            </a:r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python_sets.py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2C668A-BF5F-F4C9-2DF9-9732E53A3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08B224-998A-45F4-39A4-A240436D0FE7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D1089A-A538-EE52-6420-50245C3EF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143" y="1587956"/>
            <a:ext cx="6885714" cy="462857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4676FE60-739A-3F17-E8F5-EFFC674F32DE}"/>
              </a:ext>
            </a:extLst>
          </p:cNvPr>
          <p:cNvGrpSpPr/>
          <p:nvPr/>
        </p:nvGrpSpPr>
        <p:grpSpPr>
          <a:xfrm>
            <a:off x="3597390" y="2444989"/>
            <a:ext cx="1076632" cy="369332"/>
            <a:chOff x="4968362" y="2079211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5DE7C78-0884-C030-5896-75FA9ECAAD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94675E0-9E2D-F4FF-8629-ED521317FF61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6EE1591-6C06-EFBF-2846-CFE7CE126737}"/>
              </a:ext>
            </a:extLst>
          </p:cNvPr>
          <p:cNvGrpSpPr/>
          <p:nvPr/>
        </p:nvGrpSpPr>
        <p:grpSpPr>
          <a:xfrm>
            <a:off x="3590056" y="2676716"/>
            <a:ext cx="1076632" cy="369332"/>
            <a:chOff x="4704120" y="2356972"/>
            <a:chExt cx="1076632" cy="369332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C7EF895-1E17-3005-1FB7-AF7FD788C7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1F24248-1B99-9CEA-467F-05F6D35972BA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D388C38-3C4F-AACF-DA30-F82885F7F627}"/>
              </a:ext>
            </a:extLst>
          </p:cNvPr>
          <p:cNvGrpSpPr/>
          <p:nvPr/>
        </p:nvGrpSpPr>
        <p:grpSpPr>
          <a:xfrm>
            <a:off x="7383330" y="2907755"/>
            <a:ext cx="1068643" cy="369332"/>
            <a:chOff x="3647644" y="4910075"/>
            <a:chExt cx="1068643" cy="3693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A0E98A4-F20A-AE83-C8F3-40FCF6679DBB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0F4BB7A-1B15-C921-D4A3-9FD40385F3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A9C6EBE-8FF8-1E73-A681-910062A4D53D}"/>
              </a:ext>
            </a:extLst>
          </p:cNvPr>
          <p:cNvGrpSpPr/>
          <p:nvPr/>
        </p:nvGrpSpPr>
        <p:grpSpPr>
          <a:xfrm>
            <a:off x="2081413" y="4520735"/>
            <a:ext cx="1064340" cy="369332"/>
            <a:chOff x="3647644" y="5421073"/>
            <a:chExt cx="1064340" cy="3693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737953D-ACC6-DB28-422F-AC42E54AC842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1B6FA3F-B7E9-CBDC-1BED-FFB5A80CA1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8E6BD63-398C-1827-9305-4304464879C8}"/>
              </a:ext>
            </a:extLst>
          </p:cNvPr>
          <p:cNvGrpSpPr/>
          <p:nvPr/>
        </p:nvGrpSpPr>
        <p:grpSpPr>
          <a:xfrm>
            <a:off x="7981028" y="4745890"/>
            <a:ext cx="1068643" cy="369332"/>
            <a:chOff x="3647644" y="5359159"/>
            <a:chExt cx="1068643" cy="369332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8729599-0FCF-C3E1-9D64-77DFB9B905D6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68E87C41-3C7A-4E25-8CDB-9629FA79AC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E9E10CB-A27F-A938-5BB8-2611C4BEC9E5}"/>
              </a:ext>
            </a:extLst>
          </p:cNvPr>
          <p:cNvGrpSpPr/>
          <p:nvPr/>
        </p:nvGrpSpPr>
        <p:grpSpPr>
          <a:xfrm>
            <a:off x="3767293" y="5194804"/>
            <a:ext cx="1076632" cy="369332"/>
            <a:chOff x="2157212" y="5356391"/>
            <a:chExt cx="1076632" cy="369332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405757F-68B2-CC2A-AE75-C6C69C446F88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3B081F67-490C-F87A-9DEF-8A9768EBD5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91E8AF1-12C6-52FB-608F-D9A965740653}"/>
              </a:ext>
            </a:extLst>
          </p:cNvPr>
          <p:cNvGrpSpPr/>
          <p:nvPr/>
        </p:nvGrpSpPr>
        <p:grpSpPr>
          <a:xfrm>
            <a:off x="3783335" y="4959872"/>
            <a:ext cx="1076632" cy="369332"/>
            <a:chOff x="2157212" y="5356391"/>
            <a:chExt cx="1076632" cy="369332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6FB588E-544E-8DB1-17E7-C2E9F1CE9F16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B96035F3-DBB4-9F8A-DA15-AF48F8A0CF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0A620A5-DC19-E301-DC99-E1E84B0BA103}"/>
              </a:ext>
            </a:extLst>
          </p:cNvPr>
          <p:cNvGrpSpPr/>
          <p:nvPr/>
        </p:nvGrpSpPr>
        <p:grpSpPr>
          <a:xfrm>
            <a:off x="4458797" y="5658596"/>
            <a:ext cx="1076632" cy="369332"/>
            <a:chOff x="2157212" y="5356391"/>
            <a:chExt cx="1076632" cy="369332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51F847F-A78F-B721-15C1-9F3552C36E0F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2D1C45FC-7CBA-744B-B88F-CB3D5860F2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3C7094E1-383D-BCFF-29B3-8DE97149F482}"/>
              </a:ext>
            </a:extLst>
          </p:cNvPr>
          <p:cNvSpPr/>
          <p:nvPr/>
        </p:nvSpPr>
        <p:spPr>
          <a:xfrm>
            <a:off x="2847474" y="2983832"/>
            <a:ext cx="625642" cy="22458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6A203EF0-1EDA-0EAB-4B3B-8C0D6F22A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4322" y="2204709"/>
            <a:ext cx="4775357" cy="2229344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FA9AA51-4893-1BC1-B3CD-BF17109C538C}"/>
              </a:ext>
            </a:extLst>
          </p:cNvPr>
          <p:cNvCxnSpPr>
            <a:cxnSpLocks/>
          </p:cNvCxnSpPr>
          <p:nvPr/>
        </p:nvCxnSpPr>
        <p:spPr>
          <a:xfrm>
            <a:off x="5353922" y="3879729"/>
            <a:ext cx="330114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EB8B6AB-D507-A13C-BDD7-A36AC09361A0}"/>
              </a:ext>
            </a:extLst>
          </p:cNvPr>
          <p:cNvCxnSpPr>
            <a:cxnSpLocks/>
          </p:cNvCxnSpPr>
          <p:nvPr/>
        </p:nvCxnSpPr>
        <p:spPr>
          <a:xfrm flipH="1">
            <a:off x="3590056" y="3996618"/>
            <a:ext cx="1864260" cy="807993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263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F232B-7297-E1F3-4878-D02E82CB6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E9637-4DBD-161A-EF39-DAD6ED9DE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then </a:t>
            </a:r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python_sets.py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DC7D19-6B1C-E71A-DF68-656A1947E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CB6851-5D58-8BD1-0706-2554EA710F0B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F62BCB-8BBF-F338-320E-5CD00B6420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524" y="1690689"/>
            <a:ext cx="5980952" cy="391428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5E39943-8A23-3B45-E466-E6E50AD985F8}"/>
              </a:ext>
            </a:extLst>
          </p:cNvPr>
          <p:cNvGrpSpPr/>
          <p:nvPr/>
        </p:nvGrpSpPr>
        <p:grpSpPr>
          <a:xfrm>
            <a:off x="3011856" y="2996710"/>
            <a:ext cx="1076632" cy="369332"/>
            <a:chOff x="4968362" y="2079211"/>
            <a:chExt cx="1076632" cy="369332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191CB466-2D4B-CAA7-9196-1433EAA538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6A0EB93-81BA-95A2-BD7C-98F8DE629DBB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3227236-CFC9-CD60-C1A7-CD2FE15F66FE}"/>
              </a:ext>
            </a:extLst>
          </p:cNvPr>
          <p:cNvGrpSpPr/>
          <p:nvPr/>
        </p:nvGrpSpPr>
        <p:grpSpPr>
          <a:xfrm>
            <a:off x="5706932" y="3223407"/>
            <a:ext cx="1076632" cy="369332"/>
            <a:chOff x="4704120" y="2356972"/>
            <a:chExt cx="1076632" cy="369332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33FFE1D5-7E23-B21D-2E60-7A318E048A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8CCA91A-1793-5A33-43E5-F8F2FCA0F2F6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6C667C3-9D7A-FA75-C14A-35F0510C678C}"/>
              </a:ext>
            </a:extLst>
          </p:cNvPr>
          <p:cNvGrpSpPr/>
          <p:nvPr/>
        </p:nvGrpSpPr>
        <p:grpSpPr>
          <a:xfrm>
            <a:off x="6403190" y="3677862"/>
            <a:ext cx="1068643" cy="369332"/>
            <a:chOff x="3647644" y="4910075"/>
            <a:chExt cx="1068643" cy="36933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5032160-55B4-ED01-7ACD-5C5A4F9F47B0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75B86B3A-B346-2EE9-74FC-357AF6C4DE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448D463-7CCA-CECD-7C35-D900BAC9A753}"/>
              </a:ext>
            </a:extLst>
          </p:cNvPr>
          <p:cNvGrpSpPr/>
          <p:nvPr/>
        </p:nvGrpSpPr>
        <p:grpSpPr>
          <a:xfrm>
            <a:off x="6264910" y="4149199"/>
            <a:ext cx="1064340" cy="369332"/>
            <a:chOff x="3647644" y="5421073"/>
            <a:chExt cx="1064340" cy="36933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D8EA2D4-BE7D-BEC7-D55D-DA88612A7519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61F26F0A-B9C1-CAC2-FF25-511190C68F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8966F66-58AF-91F6-25E0-68640BB0D965}"/>
              </a:ext>
            </a:extLst>
          </p:cNvPr>
          <p:cNvGrpSpPr/>
          <p:nvPr/>
        </p:nvGrpSpPr>
        <p:grpSpPr>
          <a:xfrm>
            <a:off x="4162531" y="4607202"/>
            <a:ext cx="1068643" cy="369332"/>
            <a:chOff x="3647644" y="5359159"/>
            <a:chExt cx="1068643" cy="369332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7ABD897-9232-7047-209A-7876560EA2AD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D51716A7-7172-E085-A212-6011E2D1FE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786E3D1-5E8D-C2E8-4A46-B5B972D1F564}"/>
              </a:ext>
            </a:extLst>
          </p:cNvPr>
          <p:cNvGrpSpPr/>
          <p:nvPr/>
        </p:nvGrpSpPr>
        <p:grpSpPr>
          <a:xfrm>
            <a:off x="5514294" y="4833191"/>
            <a:ext cx="1076632" cy="369332"/>
            <a:chOff x="2157212" y="5356391"/>
            <a:chExt cx="1076632" cy="369332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C9E51AD-1E97-4EB0-1AD5-793E15EE2033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17271FC9-EF0B-7356-3828-08861ED6FB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1BBF8A1D-968A-2538-23F1-F1C42FA18853}"/>
              </a:ext>
            </a:extLst>
          </p:cNvPr>
          <p:cNvSpPr/>
          <p:nvPr/>
        </p:nvSpPr>
        <p:spPr>
          <a:xfrm>
            <a:off x="2398295" y="2358189"/>
            <a:ext cx="882316" cy="2807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C6978DD-6C1B-F318-89A4-52C487720770}"/>
              </a:ext>
            </a:extLst>
          </p:cNvPr>
          <p:cNvSpPr/>
          <p:nvPr/>
        </p:nvSpPr>
        <p:spPr>
          <a:xfrm>
            <a:off x="2047636" y="3764079"/>
            <a:ext cx="1190864" cy="22927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9072B54-9DF7-FE2E-75B3-3CE40FC64359}"/>
              </a:ext>
            </a:extLst>
          </p:cNvPr>
          <p:cNvSpPr/>
          <p:nvPr/>
        </p:nvSpPr>
        <p:spPr>
          <a:xfrm>
            <a:off x="2061326" y="4212687"/>
            <a:ext cx="1367674" cy="22927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40867195-E002-B385-44A2-D16EACA20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033" y="3163130"/>
            <a:ext cx="5403934" cy="1908576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ACC05CFE-03DD-60F1-10D6-48942A115D81}"/>
              </a:ext>
            </a:extLst>
          </p:cNvPr>
          <p:cNvSpPr txBox="1"/>
          <p:nvPr/>
        </p:nvSpPr>
        <p:spPr>
          <a:xfrm>
            <a:off x="4010356" y="4145855"/>
            <a:ext cx="30860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solidFill>
                  <a:srgbClr val="FFFF00"/>
                </a:solidFill>
              </a:rPr>
              <a:t>set.pop</a:t>
            </a:r>
            <a:r>
              <a:rPr lang="en-US" sz="1400" dirty="0">
                <a:solidFill>
                  <a:srgbClr val="FFFF00"/>
                </a:solidFill>
              </a:rPr>
              <a:t>() removes an </a:t>
            </a:r>
            <a:r>
              <a:rPr lang="en-US" sz="1400" i="1" dirty="0">
                <a:solidFill>
                  <a:srgbClr val="FFFF00"/>
                </a:solidFill>
              </a:rPr>
              <a:t>arbitrary</a:t>
            </a:r>
            <a:r>
              <a:rPr lang="en-US" sz="1400" dirty="0">
                <a:solidFill>
                  <a:srgbClr val="FFFF00"/>
                </a:solidFill>
              </a:rPr>
              <a:t> element, </a:t>
            </a:r>
            <a:r>
              <a:rPr lang="en-US" sz="1400" b="1" dirty="0">
                <a:solidFill>
                  <a:srgbClr val="FFFF00"/>
                </a:solidFill>
              </a:rPr>
              <a:t>not necessarily the first element</a:t>
            </a:r>
            <a:r>
              <a:rPr lang="en-US" sz="1400" dirty="0">
                <a:solidFill>
                  <a:srgbClr val="FFFF00"/>
                </a:solidFill>
              </a:rPr>
              <a:t>,</a:t>
            </a:r>
          </a:p>
          <a:p>
            <a:pPr algn="ctr"/>
            <a:r>
              <a:rPr lang="en-US" sz="1400" dirty="0">
                <a:solidFill>
                  <a:srgbClr val="FFFF00"/>
                </a:solidFill>
              </a:rPr>
              <a:t>in the set, as sets have NO order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FBDDB81-71DA-0B13-D2BA-9946E484B8FE}"/>
              </a:ext>
            </a:extLst>
          </p:cNvPr>
          <p:cNvCxnSpPr/>
          <p:nvPr/>
        </p:nvCxnSpPr>
        <p:spPr>
          <a:xfrm flipH="1">
            <a:off x="3505200" y="4518531"/>
            <a:ext cx="802105" cy="88671"/>
          </a:xfrm>
          <a:prstGeom prst="straightConnector1">
            <a:avLst/>
          </a:prstGeom>
          <a:ln w="28575">
            <a:solidFill>
              <a:srgbClr val="FFFF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0052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5" grpId="0" animBg="1"/>
      <p:bldP spid="56" grpId="0" animBg="1"/>
      <p:bldP spid="57" grpId="0" animBg="1"/>
      <p:bldP spid="5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76AE3-0A4E-3027-7484-B9D2ACBC0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2C17E-5AA5-4AED-DABF-F4029FC35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then </a:t>
            </a:r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python_sets.py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31A80F-C5D1-2B04-6320-768338450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A7490F-3943-754D-5433-019F35F2C389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636A4F-EEE9-225E-DC34-27B432FA0FB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714" y="1805190"/>
            <a:ext cx="4828571" cy="324761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3183CCB-83D9-0BE2-D569-3C8F597E6F04}"/>
              </a:ext>
            </a:extLst>
          </p:cNvPr>
          <p:cNvGrpSpPr/>
          <p:nvPr/>
        </p:nvGrpSpPr>
        <p:grpSpPr>
          <a:xfrm>
            <a:off x="3569955" y="2448205"/>
            <a:ext cx="1076632" cy="369332"/>
            <a:chOff x="4968362" y="2079211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1FCBF1F-6D37-7543-A6D1-F3B7CC18A6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41E91AC-2BFA-1D5D-99E8-46D9AA768691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49EAAB8-D62B-2A5E-83AF-1E239B1FF59E}"/>
              </a:ext>
            </a:extLst>
          </p:cNvPr>
          <p:cNvGrpSpPr/>
          <p:nvPr/>
        </p:nvGrpSpPr>
        <p:grpSpPr>
          <a:xfrm>
            <a:off x="6260847" y="2907290"/>
            <a:ext cx="1076632" cy="369332"/>
            <a:chOff x="4704120" y="2356972"/>
            <a:chExt cx="1076632" cy="369332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C47806E-3F08-A1AA-B4F0-2B0DBAB7A5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CA4B0A9-7591-2B14-8C5B-0093D04C184C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D8F874C-805A-D2DA-F01C-1479499E55AF}"/>
              </a:ext>
            </a:extLst>
          </p:cNvPr>
          <p:cNvGrpSpPr/>
          <p:nvPr/>
        </p:nvGrpSpPr>
        <p:grpSpPr>
          <a:xfrm>
            <a:off x="5803184" y="4048484"/>
            <a:ext cx="1068643" cy="369332"/>
            <a:chOff x="3647644" y="4910075"/>
            <a:chExt cx="1068643" cy="3693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A4BC2DC-466C-8C0F-2DBA-13C608828409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202D9627-0259-FEFE-0F58-2C819C8F98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6AB84AB-600E-5703-34EF-EF613715E26D}"/>
              </a:ext>
            </a:extLst>
          </p:cNvPr>
          <p:cNvGrpSpPr/>
          <p:nvPr/>
        </p:nvGrpSpPr>
        <p:grpSpPr>
          <a:xfrm>
            <a:off x="4436807" y="4288125"/>
            <a:ext cx="1064340" cy="369332"/>
            <a:chOff x="3647644" y="5421073"/>
            <a:chExt cx="1064340" cy="3693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53AD55E-4D7A-C975-168C-6F975202F978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D5E39424-4532-5912-3A01-023164F0A6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433B6019-E5F0-B861-AEEF-DF6E6CA34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2992" y="4694427"/>
            <a:ext cx="3737901" cy="1857957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EA86AD16-383D-8AD7-7AF1-0522DCA0AE18}"/>
              </a:ext>
            </a:extLst>
          </p:cNvPr>
          <p:cNvSpPr/>
          <p:nvPr/>
        </p:nvSpPr>
        <p:spPr>
          <a:xfrm>
            <a:off x="2574758" y="2774280"/>
            <a:ext cx="240631" cy="1857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7D91D4D-32B9-838C-8BFE-8F58CED59C87}"/>
              </a:ext>
            </a:extLst>
          </p:cNvPr>
          <p:cNvSpPr/>
          <p:nvPr/>
        </p:nvSpPr>
        <p:spPr>
          <a:xfrm>
            <a:off x="2574758" y="3226018"/>
            <a:ext cx="240631" cy="1857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BB6C233-CBBA-F6E7-A53B-C566DA935911}"/>
              </a:ext>
            </a:extLst>
          </p:cNvPr>
          <p:cNvSpPr/>
          <p:nvPr/>
        </p:nvSpPr>
        <p:spPr>
          <a:xfrm>
            <a:off x="4279170" y="5264131"/>
            <a:ext cx="240631" cy="1857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F0D7D95-BFF3-5C76-0D7E-F3441998343C}"/>
              </a:ext>
            </a:extLst>
          </p:cNvPr>
          <p:cNvSpPr/>
          <p:nvPr/>
        </p:nvSpPr>
        <p:spPr>
          <a:xfrm>
            <a:off x="4279170" y="5510086"/>
            <a:ext cx="240631" cy="1857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C383C1AE-8F2B-7F2F-9F15-DCDA74986376}"/>
              </a:ext>
            </a:extLst>
          </p:cNvPr>
          <p:cNvCxnSpPr>
            <a:stCxn id="39" idx="1"/>
            <a:endCxn id="37" idx="1"/>
          </p:cNvCxnSpPr>
          <p:nvPr/>
        </p:nvCxnSpPr>
        <p:spPr>
          <a:xfrm rot="10800000">
            <a:off x="2574758" y="2867150"/>
            <a:ext cx="1704412" cy="2489851"/>
          </a:xfrm>
          <a:prstGeom prst="bentConnector3">
            <a:avLst>
              <a:gd name="adj1" fmla="val 15859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06EBD6A7-51BC-2EF0-C190-8235C2F3CBE3}"/>
              </a:ext>
            </a:extLst>
          </p:cNvPr>
          <p:cNvCxnSpPr>
            <a:cxnSpLocks/>
            <a:stCxn id="41" idx="1"/>
            <a:endCxn id="38" idx="1"/>
          </p:cNvCxnSpPr>
          <p:nvPr/>
        </p:nvCxnSpPr>
        <p:spPr>
          <a:xfrm rot="10800000">
            <a:off x="2574758" y="3318887"/>
            <a:ext cx="1704412" cy="2284068"/>
          </a:xfrm>
          <a:prstGeom prst="bentConnector3">
            <a:avLst>
              <a:gd name="adj1" fmla="val 138825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9159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A9748-5EAF-07E4-6FC7-551763EA9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97AE8-B82B-679E-3297-774BBC6F5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then </a:t>
            </a:r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python_sets.py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F96BA2-4F44-14E4-C7AC-130414D3F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F6663B-340A-FEE4-D01C-F976A7B4023E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F36283-74E2-B5E5-2E50-E77D49048C1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238" y="1457571"/>
            <a:ext cx="5409524" cy="3942857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0312064B-7718-F44F-0255-24196083C5E6}"/>
              </a:ext>
            </a:extLst>
          </p:cNvPr>
          <p:cNvGrpSpPr/>
          <p:nvPr/>
        </p:nvGrpSpPr>
        <p:grpSpPr>
          <a:xfrm>
            <a:off x="4268733" y="1666626"/>
            <a:ext cx="1076632" cy="369332"/>
            <a:chOff x="4968362" y="2079211"/>
            <a:chExt cx="1076632" cy="369332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08F9BBA-0AA8-980F-8980-0DBF4FE7AA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944B931-6996-3D62-E647-A4CB5FA3C31F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35A4339-A07A-D124-3B13-C51075CD5770}"/>
              </a:ext>
            </a:extLst>
          </p:cNvPr>
          <p:cNvGrpSpPr/>
          <p:nvPr/>
        </p:nvGrpSpPr>
        <p:grpSpPr>
          <a:xfrm>
            <a:off x="3747365" y="1891277"/>
            <a:ext cx="1076632" cy="369332"/>
            <a:chOff x="4704120" y="2356972"/>
            <a:chExt cx="1076632" cy="369332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6B04843-AAFB-DF23-7109-332E993895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BCD9C7F-3B8D-9A8E-D8B3-16E48A0916AD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60E8619-A6E9-55CC-11C8-30B7AECA8AD5}"/>
              </a:ext>
            </a:extLst>
          </p:cNvPr>
          <p:cNvGrpSpPr/>
          <p:nvPr/>
        </p:nvGrpSpPr>
        <p:grpSpPr>
          <a:xfrm>
            <a:off x="5090066" y="2123950"/>
            <a:ext cx="1068643" cy="369332"/>
            <a:chOff x="3647644" y="4910075"/>
            <a:chExt cx="1068643" cy="36933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1CD10C8-100E-C10F-2B21-CEF61FD00A01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F8E10CC1-F486-23EC-BA6D-115808F759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F8B50FC-299B-6730-5C00-525C2B4F5EEE}"/>
              </a:ext>
            </a:extLst>
          </p:cNvPr>
          <p:cNvGrpSpPr/>
          <p:nvPr/>
        </p:nvGrpSpPr>
        <p:grpSpPr>
          <a:xfrm>
            <a:off x="5294324" y="3957688"/>
            <a:ext cx="1064340" cy="369332"/>
            <a:chOff x="3647644" y="5421073"/>
            <a:chExt cx="1064340" cy="36933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C8F3BAD-32DF-F479-5491-5A4758C8C438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F38B90BD-A231-B5C3-8ED6-2AAB47EBDD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AF778E8-C415-216E-3563-A1D59EC19441}"/>
              </a:ext>
            </a:extLst>
          </p:cNvPr>
          <p:cNvGrpSpPr/>
          <p:nvPr/>
        </p:nvGrpSpPr>
        <p:grpSpPr>
          <a:xfrm>
            <a:off x="5950932" y="4183772"/>
            <a:ext cx="1068643" cy="369332"/>
            <a:chOff x="3647644" y="5359159"/>
            <a:chExt cx="1068643" cy="36933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8B6F71C-E909-650F-5C3B-B17F593F31C2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C284614-888C-5D41-42F3-A4E609C36F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6A98065-D1C2-5FA3-DBD6-A962F5AC15EA}"/>
              </a:ext>
            </a:extLst>
          </p:cNvPr>
          <p:cNvGrpSpPr/>
          <p:nvPr/>
        </p:nvGrpSpPr>
        <p:grpSpPr>
          <a:xfrm>
            <a:off x="5740246" y="4629356"/>
            <a:ext cx="1076632" cy="369332"/>
            <a:chOff x="2157212" y="5356391"/>
            <a:chExt cx="1076632" cy="369332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2DA8049-7515-3DBB-C13A-860A210B264F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3FECF5E5-E78D-DAC5-22F3-8077D62104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C01C7FD-168D-AC4A-7AB5-6057F8FA2101}"/>
              </a:ext>
            </a:extLst>
          </p:cNvPr>
          <p:cNvGrpSpPr/>
          <p:nvPr/>
        </p:nvGrpSpPr>
        <p:grpSpPr>
          <a:xfrm>
            <a:off x="6716502" y="4854166"/>
            <a:ext cx="1076632" cy="369332"/>
            <a:chOff x="2157212" y="5356391"/>
            <a:chExt cx="1076632" cy="369332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4125BA0-4717-728A-7C03-DB64132B4481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9A1D84F7-FD96-8E27-57EF-08459D5231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B86D66F-A888-1D76-B395-A664DEBC4391}"/>
              </a:ext>
            </a:extLst>
          </p:cNvPr>
          <p:cNvGrpSpPr/>
          <p:nvPr/>
        </p:nvGrpSpPr>
        <p:grpSpPr>
          <a:xfrm>
            <a:off x="5724500" y="4392501"/>
            <a:ext cx="1076632" cy="369332"/>
            <a:chOff x="2157212" y="5356391"/>
            <a:chExt cx="1076632" cy="369332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3ED221B-D37A-F8ED-D4EB-4BC6B8696B69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40AC9903-7639-29A5-B810-49F6B40179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2" name="Picture 51">
            <a:extLst>
              <a:ext uri="{FF2B5EF4-FFF2-40B4-BE49-F238E27FC236}">
                <a16:creationId xmlns:a16="http://schemas.microsoft.com/office/drawing/2014/main" id="{8044243A-F2CD-B5EE-6B84-4599B3682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004" y="3582659"/>
            <a:ext cx="3951526" cy="2956254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73C312DE-96C7-9607-7E07-5BC38B4F21E3}"/>
              </a:ext>
            </a:extLst>
          </p:cNvPr>
          <p:cNvSpPr txBox="1"/>
          <p:nvPr/>
        </p:nvSpPr>
        <p:spPr>
          <a:xfrm>
            <a:off x="1927013" y="3941856"/>
            <a:ext cx="23483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FF00"/>
                </a:solidFill>
              </a:rPr>
              <a:t>Python sets are unordered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E7DCBF24-E180-34F3-C046-B3E3F05FAC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2038" y="5424086"/>
            <a:ext cx="3431824" cy="1056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462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60552-FFAF-901B-AA1C-0643B9F88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E2B6D-DEE2-1CDF-F9BA-022964109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then </a:t>
            </a:r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python_sets.py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DD5AA1-C5E1-05E5-7C20-D1B2F9E16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0B5AE1-BCE4-53C4-5A11-61F6BEF60CAA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395DAD5-B244-2D9C-84AC-459B76122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809" y="1803573"/>
            <a:ext cx="5352381" cy="1438095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33927627-EC4D-6E32-D1E4-C2D38537F079}"/>
              </a:ext>
            </a:extLst>
          </p:cNvPr>
          <p:cNvGrpSpPr/>
          <p:nvPr/>
        </p:nvGrpSpPr>
        <p:grpSpPr>
          <a:xfrm>
            <a:off x="5682863" y="2193393"/>
            <a:ext cx="1076632" cy="369332"/>
            <a:chOff x="4968362" y="2079211"/>
            <a:chExt cx="1076632" cy="369332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80ADC6E-E467-CD89-8972-CB234FD6A7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E072598-9B3A-2662-95D0-B28F423BEDAD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3D9AFB8-9C8B-D88F-9E89-F72E541A890E}"/>
              </a:ext>
            </a:extLst>
          </p:cNvPr>
          <p:cNvGrpSpPr/>
          <p:nvPr/>
        </p:nvGrpSpPr>
        <p:grpSpPr>
          <a:xfrm>
            <a:off x="6527527" y="2433314"/>
            <a:ext cx="1076632" cy="369332"/>
            <a:chOff x="4704120" y="2356972"/>
            <a:chExt cx="1076632" cy="36933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7E932B1-A6D7-FE38-5007-6ED31037B3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11C07C0-2A5C-C752-DAE1-7E591ED0A913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F5519DDA-0032-CBC0-0F42-DF40CF35C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214" y="3668974"/>
            <a:ext cx="4819569" cy="718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368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19D56-02F2-BAC8-5331-D0151FA71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2C1A9-6AEF-5BC5-CB7E-C9D9323EF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Python </a:t>
            </a:r>
            <a:r>
              <a:rPr lang="en-US" sz="3200" b="1" dirty="0">
                <a:latin typeface="+mn-lt"/>
              </a:rPr>
              <a:t>Tuples</a:t>
            </a:r>
            <a:r>
              <a:rPr lang="en-US" sz="3200" dirty="0">
                <a:latin typeface="+mn-lt"/>
              </a:rPr>
              <a:t> vs. </a:t>
            </a:r>
            <a:r>
              <a:rPr lang="en-US" sz="3200" b="1" dirty="0">
                <a:latin typeface="+mn-lt"/>
              </a:rPr>
              <a:t>Sets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E8D567-37EE-F10F-16C2-B6B17F599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D86EF8-CEB2-CA86-5240-3F3361DF3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18" y="1690689"/>
            <a:ext cx="8523564" cy="408515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300322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A8487-8B86-2744-F5D4-BCFB93AFB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8239F-B9C6-E573-C986-1A09B5151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Python </a:t>
            </a:r>
            <a:r>
              <a:rPr lang="en-US" sz="3200" b="1" dirty="0">
                <a:latin typeface="+mn-lt"/>
              </a:rPr>
              <a:t>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A36E1-2F1E-B0A1-98F8-60CA01692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530726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A </a:t>
            </a:r>
            <a:r>
              <a:rPr lang="en-US" sz="2400" b="1" dirty="0">
                <a:solidFill>
                  <a:srgbClr val="0070C0"/>
                </a:solidFill>
              </a:rPr>
              <a:t>string (str)</a:t>
            </a:r>
            <a:r>
              <a:rPr lang="en-US" sz="2400" dirty="0"/>
              <a:t> in Python behaves like a read-only </a:t>
            </a:r>
            <a:r>
              <a:rPr lang="en-US" sz="2400" b="1" dirty="0"/>
              <a:t>list</a:t>
            </a:r>
            <a:r>
              <a:rPr lang="en-US" sz="2400" dirty="0"/>
              <a:t> of characters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Strings are </a:t>
            </a:r>
            <a:r>
              <a:rPr lang="en-US" sz="2400" b="1" dirty="0">
                <a:solidFill>
                  <a:srgbClr val="7030A0"/>
                </a:solidFill>
              </a:rPr>
              <a:t>immutable</a:t>
            </a:r>
            <a:r>
              <a:rPr lang="en-US" sz="2400" dirty="0"/>
              <a:t> - once a string is created, it cannot be changed in place. Any “modification” (like .replace() or concatenation) creates </a:t>
            </a:r>
            <a:r>
              <a:rPr lang="en-US" sz="2400" b="1" dirty="0">
                <a:solidFill>
                  <a:srgbClr val="FF0000"/>
                </a:solidFill>
              </a:rPr>
              <a:t>a new string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Strings are </a:t>
            </a:r>
            <a:r>
              <a:rPr lang="en-US" sz="2400" b="1" i="1" dirty="0"/>
              <a:t>sequences</a:t>
            </a:r>
            <a:r>
              <a:rPr lang="en-US" sz="2400" dirty="0"/>
              <a:t> with </a:t>
            </a:r>
            <a:r>
              <a:rPr lang="en-US" sz="2400" b="1" dirty="0">
                <a:solidFill>
                  <a:srgbClr val="00B050"/>
                </a:solidFill>
              </a:rPr>
              <a:t>indexing and slicing</a:t>
            </a:r>
            <a:r>
              <a:rPr lang="en-US" sz="2400" dirty="0"/>
              <a:t>. You can access characters using zero-based indexing (s[0]) and slicing (s[1:4])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Strings use </a:t>
            </a:r>
            <a:r>
              <a:rPr lang="en-US" sz="2400" b="1" dirty="0"/>
              <a:t>Unicode</a:t>
            </a:r>
            <a:r>
              <a:rPr lang="en-US" sz="2400" dirty="0"/>
              <a:t>, not just ASCII. Python strings represent Unicode text (e.g., emojis, accented characters, non-Latin scripts). </a:t>
            </a:r>
            <a:r>
              <a:rPr lang="en-US" sz="2400" b="1" dirty="0">
                <a:solidFill>
                  <a:srgbClr val="00B050"/>
                </a:solidFill>
              </a:rPr>
              <a:t>Encoding</a:t>
            </a:r>
            <a:r>
              <a:rPr lang="en-US" sz="2400" dirty="0"/>
              <a:t> (e.g., UTF-8, UTF-16) matters when converting between </a:t>
            </a:r>
            <a:r>
              <a:rPr lang="en-US" sz="2400" b="1" dirty="0">
                <a:solidFill>
                  <a:srgbClr val="0070C0"/>
                </a:solidFill>
              </a:rPr>
              <a:t>str</a:t>
            </a:r>
            <a:r>
              <a:rPr lang="en-US" sz="2400" dirty="0"/>
              <a:t> (text) and </a:t>
            </a:r>
            <a:r>
              <a:rPr lang="en-US" sz="2400" b="1" dirty="0">
                <a:solidFill>
                  <a:srgbClr val="0070C0"/>
                </a:solidFill>
              </a:rPr>
              <a:t>bytes</a:t>
            </a:r>
            <a:r>
              <a:rPr lang="en-US" sz="2400" dirty="0"/>
              <a:t> (raw data)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569F6-10D4-22BE-ECF6-7A83A9FE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275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Reversing a String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7CD4BF-275E-A645-F57C-4941D2137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19" y="1636814"/>
            <a:ext cx="1907211" cy="413717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9E0AD94-C7CA-9972-D7D9-8E854A8E065D}"/>
              </a:ext>
            </a:extLst>
          </p:cNvPr>
          <p:cNvSpPr/>
          <p:nvPr/>
        </p:nvSpPr>
        <p:spPr>
          <a:xfrm>
            <a:off x="3122090" y="5852344"/>
            <a:ext cx="317090" cy="2654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EB632D-74EB-B5C5-166C-8B11DC06B482}"/>
              </a:ext>
            </a:extLst>
          </p:cNvPr>
          <p:cNvSpPr/>
          <p:nvPr/>
        </p:nvSpPr>
        <p:spPr>
          <a:xfrm>
            <a:off x="1077671" y="5471652"/>
            <a:ext cx="317090" cy="2654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ED4F395B-043D-9472-09A5-5D26BDBF898A}"/>
              </a:ext>
            </a:extLst>
          </p:cNvPr>
          <p:cNvCxnSpPr>
            <a:stCxn id="8" idx="2"/>
            <a:endCxn id="9" idx="1"/>
          </p:cNvCxnSpPr>
          <p:nvPr/>
        </p:nvCxnSpPr>
        <p:spPr>
          <a:xfrm rot="5400000" flipH="1">
            <a:off x="1922439" y="4759620"/>
            <a:ext cx="513427" cy="2202964"/>
          </a:xfrm>
          <a:prstGeom prst="bentConnector4">
            <a:avLst>
              <a:gd name="adj1" fmla="val -44524"/>
              <a:gd name="adj2" fmla="val 132152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DD0AD141-173F-342F-03D8-C3C873685657}"/>
              </a:ext>
            </a:extLst>
          </p:cNvPr>
          <p:cNvSpPr/>
          <p:nvPr/>
        </p:nvSpPr>
        <p:spPr>
          <a:xfrm>
            <a:off x="2031399" y="1968910"/>
            <a:ext cx="224914" cy="2654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4FB210-3C9A-9BF0-F40A-CEBE48237FFE}"/>
              </a:ext>
            </a:extLst>
          </p:cNvPr>
          <p:cNvSpPr/>
          <p:nvPr/>
        </p:nvSpPr>
        <p:spPr>
          <a:xfrm>
            <a:off x="2072470" y="5549900"/>
            <a:ext cx="180668" cy="1967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17373359-6F17-22F9-26CF-27C3EAE699B3}"/>
              </a:ext>
            </a:extLst>
          </p:cNvPr>
          <p:cNvCxnSpPr>
            <a:cxnSpLocks/>
          </p:cNvCxnSpPr>
          <p:nvPr/>
        </p:nvCxnSpPr>
        <p:spPr>
          <a:xfrm flipV="1">
            <a:off x="2253138" y="2057760"/>
            <a:ext cx="3175" cy="3546628"/>
          </a:xfrm>
          <a:prstGeom prst="bentConnector3">
            <a:avLst>
              <a:gd name="adj1" fmla="val 16358047"/>
            </a:avLst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D2E7FFD9-3928-C14A-C7E6-ADE71B038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232" y="5879720"/>
            <a:ext cx="2657143" cy="238095"/>
          </a:xfrm>
          <a:prstGeom prst="rect">
            <a:avLst/>
          </a:prstGeom>
        </p:spPr>
      </p:pic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964F2C02-904A-8935-7D2A-8575B2EB84F4}"/>
              </a:ext>
            </a:extLst>
          </p:cNvPr>
          <p:cNvSpPr/>
          <p:nvPr/>
        </p:nvSpPr>
        <p:spPr>
          <a:xfrm>
            <a:off x="3878459" y="4215007"/>
            <a:ext cx="3005160" cy="1256645"/>
          </a:xfrm>
          <a:prstGeom prst="wedgeRoundRectCallout">
            <a:avLst>
              <a:gd name="adj1" fmla="val -83808"/>
              <a:gd name="adj2" fmla="val -5236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We could try to </a:t>
            </a:r>
            <a:r>
              <a:rPr lang="en-US" dirty="0">
                <a:ln>
                  <a:solidFill>
                    <a:srgbClr val="FFFF00"/>
                  </a:solidFill>
                </a:ln>
                <a:solidFill>
                  <a:srgbClr val="FFFF00"/>
                </a:solidFill>
              </a:rPr>
              <a:t>swap</a:t>
            </a:r>
            <a:r>
              <a:rPr lang="en-US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each letter around the middle element, but that would require complicated code</a:t>
            </a:r>
            <a:endParaRPr lang="en-US" dirty="0">
              <a:ln>
                <a:solidFill>
                  <a:srgbClr val="FFFF00"/>
                </a:solidFill>
              </a:ln>
              <a:solidFill>
                <a:srgbClr val="FFFF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F0E1E9-3A36-6A74-88BF-C21DC3DABA0A}"/>
              </a:ext>
            </a:extLst>
          </p:cNvPr>
          <p:cNvSpPr txBox="1"/>
          <p:nvPr/>
        </p:nvSpPr>
        <p:spPr>
          <a:xfrm>
            <a:off x="2971800" y="1824594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7030A0"/>
                </a:solidFill>
                <a:latin typeface="Consolas" panose="020B0609020204030204" pitchFamily="49" charset="0"/>
              </a:rPr>
              <a:t>"Forever Young"</a:t>
            </a:r>
          </a:p>
        </p:txBody>
      </p:sp>
    </p:spTree>
    <p:extLst>
      <p:ext uri="{BB962C8B-B14F-4D97-AF65-F5344CB8AC3E}">
        <p14:creationId xmlns:p14="http://schemas.microsoft.com/office/powerpoint/2010/main" val="1082964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6FDD6-63CC-5A58-6555-6F06F244E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016EF-EE34-A4D6-2D7A-22F361AFD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b="1" dirty="0">
                <a:solidFill>
                  <a:srgbClr val="00B050"/>
                </a:solidFill>
                <a:latin typeface="+mn-lt"/>
              </a:rPr>
              <a:t> </a:t>
            </a:r>
            <a:r>
              <a:rPr lang="en-US" sz="3200" dirty="0">
                <a:latin typeface="+mn-lt"/>
              </a:rPr>
              <a:t>then</a:t>
            </a:r>
            <a:r>
              <a:rPr lang="en-US" sz="3200" b="1" dirty="0">
                <a:solidFill>
                  <a:srgbClr val="00B050"/>
                </a:solidFill>
                <a:latin typeface="+mn-lt"/>
              </a:rPr>
              <a:t> Run</a:t>
            </a:r>
            <a:r>
              <a:rPr lang="en-US" sz="3200" dirty="0">
                <a:latin typeface="+mn-lt"/>
              </a:rPr>
              <a:t> reverse_string.py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F02528-87F9-B8FC-9784-D0B04D16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30</a:t>
            </a:fld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409D066-D36C-36F8-412C-5D384E76CA27}"/>
              </a:ext>
            </a:extLst>
          </p:cNvPr>
          <p:cNvGrpSpPr/>
          <p:nvPr/>
        </p:nvGrpSpPr>
        <p:grpSpPr>
          <a:xfrm>
            <a:off x="729619" y="1636814"/>
            <a:ext cx="2761756" cy="4481001"/>
            <a:chOff x="729619" y="1636814"/>
            <a:chExt cx="2761756" cy="4481001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41E9CE96-7A3A-7E28-C8CD-72083863DC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9619" y="1636814"/>
              <a:ext cx="1907211" cy="4137179"/>
            </a:xfrm>
            <a:prstGeom prst="rect">
              <a:avLst/>
            </a:prstGeom>
          </p:spPr>
        </p:pic>
        <p:cxnSp>
          <p:nvCxnSpPr>
            <p:cNvPr id="46" name="Connector: Elbow 45">
              <a:extLst>
                <a:ext uri="{FF2B5EF4-FFF2-40B4-BE49-F238E27FC236}">
                  <a16:creationId xmlns:a16="http://schemas.microsoft.com/office/drawing/2014/main" id="{FE7D855B-5D83-0F47-19FD-00260CBE65FD}"/>
                </a:ext>
              </a:extLst>
            </p:cNvPr>
            <p:cNvCxnSpPr/>
            <p:nvPr/>
          </p:nvCxnSpPr>
          <p:spPr>
            <a:xfrm rot="5400000" flipH="1">
              <a:off x="1922439" y="4759620"/>
              <a:ext cx="513427" cy="2202964"/>
            </a:xfrm>
            <a:prstGeom prst="bentConnector4">
              <a:avLst>
                <a:gd name="adj1" fmla="val -44524"/>
                <a:gd name="adj2" fmla="val 132152"/>
              </a:avLst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: Elbow 46">
              <a:extLst>
                <a:ext uri="{FF2B5EF4-FFF2-40B4-BE49-F238E27FC236}">
                  <a16:creationId xmlns:a16="http://schemas.microsoft.com/office/drawing/2014/main" id="{4049EDC9-AC52-C401-0E49-816B1E0498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53138" y="2057760"/>
              <a:ext cx="3175" cy="3546628"/>
            </a:xfrm>
            <a:prstGeom prst="bentConnector3">
              <a:avLst>
                <a:gd name="adj1" fmla="val 16358047"/>
              </a:avLst>
            </a:prstGeom>
            <a:ln w="38100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9EDCE352-5555-9F7D-9398-478DD8EAE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4232" y="5879720"/>
              <a:ext cx="2657143" cy="238095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0BF43D1-EC33-542A-672D-E5B0226FF9D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7874" y="1673148"/>
            <a:ext cx="3980952" cy="11428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CF08D4-2E84-6FAD-F001-0FA1C86BF181}"/>
              </a:ext>
            </a:extLst>
          </p:cNvPr>
          <p:cNvSpPr txBox="1"/>
          <p:nvPr/>
        </p:nvSpPr>
        <p:spPr>
          <a:xfrm>
            <a:off x="7411452" y="393368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1BDFF94-22B5-7294-45C8-F664336B9D31}"/>
              </a:ext>
            </a:extLst>
          </p:cNvPr>
          <p:cNvGrpSpPr/>
          <p:nvPr/>
        </p:nvGrpSpPr>
        <p:grpSpPr>
          <a:xfrm>
            <a:off x="6593303" y="2083406"/>
            <a:ext cx="1076632" cy="369332"/>
            <a:chOff x="4968362" y="2079211"/>
            <a:chExt cx="1076632" cy="369332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DA55E10-9D8F-4FA5-9FB5-9E55B55665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68A08C0-07A3-F30E-7ECF-27E8BC12AAAB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2C56DEA-A8E5-9EDE-4C7F-E946EF79AC09}"/>
              </a:ext>
            </a:extLst>
          </p:cNvPr>
          <p:cNvGrpSpPr/>
          <p:nvPr/>
        </p:nvGrpSpPr>
        <p:grpSpPr>
          <a:xfrm>
            <a:off x="5500034" y="2324138"/>
            <a:ext cx="1076632" cy="369332"/>
            <a:chOff x="4704120" y="2356972"/>
            <a:chExt cx="1076632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30D05C2-7D5D-03BA-6795-65F00EB5F8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50D964F-5047-AA36-71A4-DD17874E6EC8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21072ABD-47E7-04FC-C91E-DB01D963BD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70697"/>
          <a:stretch>
            <a:fillRect/>
          </a:stretch>
        </p:blipFill>
        <p:spPr>
          <a:xfrm>
            <a:off x="5206968" y="5436379"/>
            <a:ext cx="1662763" cy="337614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4129175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950D2-932F-3A38-7FE2-F232A3604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E6C9D6A-18DE-DDE8-AC93-F8755333AC8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7874" y="1661531"/>
            <a:ext cx="3990476" cy="2295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487C49-5EC5-25DE-A968-CBEE85245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b="1" dirty="0">
                <a:solidFill>
                  <a:srgbClr val="00B050"/>
                </a:solidFill>
                <a:latin typeface="+mn-lt"/>
              </a:rPr>
              <a:t> </a:t>
            </a:r>
            <a:r>
              <a:rPr lang="en-US" sz="3200" dirty="0">
                <a:latin typeface="+mn-lt"/>
              </a:rPr>
              <a:t>then</a:t>
            </a:r>
            <a:r>
              <a:rPr lang="en-US" sz="3200" b="1" dirty="0">
                <a:solidFill>
                  <a:srgbClr val="00B050"/>
                </a:solidFill>
                <a:latin typeface="+mn-lt"/>
              </a:rPr>
              <a:t> Run</a:t>
            </a:r>
            <a:r>
              <a:rPr lang="en-US" sz="3200" dirty="0">
                <a:latin typeface="+mn-lt"/>
              </a:rPr>
              <a:t> reverse_string.py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C67149-E26F-10E4-161A-DAB225A3B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31</a:t>
            </a:fld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C9639EF-1CCA-D11F-4FFD-5C876F63CFEE}"/>
              </a:ext>
            </a:extLst>
          </p:cNvPr>
          <p:cNvGrpSpPr/>
          <p:nvPr/>
        </p:nvGrpSpPr>
        <p:grpSpPr>
          <a:xfrm>
            <a:off x="729619" y="1636814"/>
            <a:ext cx="2761756" cy="4481001"/>
            <a:chOff x="729619" y="1636814"/>
            <a:chExt cx="2761756" cy="4481001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397B6F1F-13AE-3D00-E00F-614EBD6CEB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9619" y="1636814"/>
              <a:ext cx="1907211" cy="4137179"/>
            </a:xfrm>
            <a:prstGeom prst="rect">
              <a:avLst/>
            </a:prstGeom>
          </p:spPr>
        </p:pic>
        <p:cxnSp>
          <p:nvCxnSpPr>
            <p:cNvPr id="46" name="Connector: Elbow 45">
              <a:extLst>
                <a:ext uri="{FF2B5EF4-FFF2-40B4-BE49-F238E27FC236}">
                  <a16:creationId xmlns:a16="http://schemas.microsoft.com/office/drawing/2014/main" id="{32B6CD30-BE8C-3F34-6B9B-3F2B00929B40}"/>
                </a:ext>
              </a:extLst>
            </p:cNvPr>
            <p:cNvCxnSpPr/>
            <p:nvPr/>
          </p:nvCxnSpPr>
          <p:spPr>
            <a:xfrm rot="5400000" flipH="1">
              <a:off x="1922439" y="4759620"/>
              <a:ext cx="513427" cy="2202964"/>
            </a:xfrm>
            <a:prstGeom prst="bentConnector4">
              <a:avLst>
                <a:gd name="adj1" fmla="val -44524"/>
                <a:gd name="adj2" fmla="val 132152"/>
              </a:avLst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: Elbow 46">
              <a:extLst>
                <a:ext uri="{FF2B5EF4-FFF2-40B4-BE49-F238E27FC236}">
                  <a16:creationId xmlns:a16="http://schemas.microsoft.com/office/drawing/2014/main" id="{1063FB70-0FF0-12C2-85A7-FD66B5E0EE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53138" y="2057760"/>
              <a:ext cx="3175" cy="3546628"/>
            </a:xfrm>
            <a:prstGeom prst="bentConnector3">
              <a:avLst>
                <a:gd name="adj1" fmla="val 16358047"/>
              </a:avLst>
            </a:prstGeom>
            <a:ln w="38100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40574DAF-228B-AA78-E7C2-86558732C4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4232" y="5879720"/>
              <a:ext cx="2657143" cy="238095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9863B4D-606D-5716-8C86-88A9707B7D20}"/>
              </a:ext>
            </a:extLst>
          </p:cNvPr>
          <p:cNvSpPr txBox="1"/>
          <p:nvPr/>
        </p:nvSpPr>
        <p:spPr>
          <a:xfrm>
            <a:off x="7411452" y="393368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A553722-98A2-1E7B-44B6-1B5A8346BD15}"/>
              </a:ext>
            </a:extLst>
          </p:cNvPr>
          <p:cNvGrpSpPr/>
          <p:nvPr/>
        </p:nvGrpSpPr>
        <p:grpSpPr>
          <a:xfrm>
            <a:off x="5325974" y="2762323"/>
            <a:ext cx="1076632" cy="369332"/>
            <a:chOff x="4968362" y="2079211"/>
            <a:chExt cx="1076632" cy="369332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F3734C2F-D260-DC29-7154-19F5CFAB54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52D29BA-5F51-9D64-24DE-0593C89D47AF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380BF31-099B-C20E-5A65-057B016F3A0D}"/>
              </a:ext>
            </a:extLst>
          </p:cNvPr>
          <p:cNvGrpSpPr/>
          <p:nvPr/>
        </p:nvGrpSpPr>
        <p:grpSpPr>
          <a:xfrm>
            <a:off x="8000092" y="2992394"/>
            <a:ext cx="1076632" cy="369332"/>
            <a:chOff x="4704120" y="2356972"/>
            <a:chExt cx="1076632" cy="369332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82FB08EE-4EA9-2A27-4647-D9B3FB9E53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3B5C709-706F-7C44-7012-9557A84DB638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51DFD21-E7F8-B0B6-DF51-F3D11B1670EB}"/>
              </a:ext>
            </a:extLst>
          </p:cNvPr>
          <p:cNvGrpSpPr/>
          <p:nvPr/>
        </p:nvGrpSpPr>
        <p:grpSpPr>
          <a:xfrm>
            <a:off x="6077279" y="3220179"/>
            <a:ext cx="1068643" cy="369332"/>
            <a:chOff x="3647644" y="4910075"/>
            <a:chExt cx="1068643" cy="369332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2DF92F5-1790-6B7E-DA02-1A6C97C2A688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EE128859-1074-F7CF-26C7-C6943E3748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063CD91-0394-1BF9-ED91-D01CCFB65BB8}"/>
              </a:ext>
            </a:extLst>
          </p:cNvPr>
          <p:cNvGrpSpPr/>
          <p:nvPr/>
        </p:nvGrpSpPr>
        <p:grpSpPr>
          <a:xfrm>
            <a:off x="5518129" y="3458462"/>
            <a:ext cx="1064340" cy="369332"/>
            <a:chOff x="3647644" y="5421073"/>
            <a:chExt cx="1064340" cy="369332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EB75B9D-064D-E19E-072E-345A54473795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5159EAA1-BF00-2E5A-9A3F-1031EC459E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9C73FFDA-0E4B-8A2B-BF82-22501FA71F6C}"/>
              </a:ext>
            </a:extLst>
          </p:cNvPr>
          <p:cNvSpPr txBox="1"/>
          <p:nvPr/>
        </p:nvSpPr>
        <p:spPr>
          <a:xfrm>
            <a:off x="4023370" y="4153314"/>
            <a:ext cx="3991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rgbClr val="7030A0"/>
                </a:solidFill>
              </a:rPr>
              <a:t>In Python, we </a:t>
            </a:r>
            <a:r>
              <a:rPr lang="en-US" b="1" dirty="0">
                <a:solidFill>
                  <a:srgbClr val="7030A0"/>
                </a:solidFill>
              </a:rPr>
              <a:t>concatenate</a:t>
            </a:r>
            <a:r>
              <a:rPr lang="en-US" dirty="0">
                <a:solidFill>
                  <a:srgbClr val="7030A0"/>
                </a:solidFill>
              </a:rPr>
              <a:t> (join) strings using the plus sign (addition) operator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0DA92F1-86E2-09F9-B92F-84E03731E309}"/>
              </a:ext>
            </a:extLst>
          </p:cNvPr>
          <p:cNvSpPr/>
          <p:nvPr/>
        </p:nvSpPr>
        <p:spPr>
          <a:xfrm>
            <a:off x="5995085" y="3061243"/>
            <a:ext cx="1058298" cy="224589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0FE878D-4855-41D0-E309-982CC12BC9E4}"/>
              </a:ext>
            </a:extLst>
          </p:cNvPr>
          <p:cNvSpPr/>
          <p:nvPr/>
        </p:nvSpPr>
        <p:spPr>
          <a:xfrm>
            <a:off x="7208163" y="3061243"/>
            <a:ext cx="230982" cy="224589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4DFA441-EF6A-37C4-2AFF-D2FFC0E2D432}"/>
              </a:ext>
            </a:extLst>
          </p:cNvPr>
          <p:cNvSpPr/>
          <p:nvPr/>
        </p:nvSpPr>
        <p:spPr>
          <a:xfrm>
            <a:off x="7588269" y="3061788"/>
            <a:ext cx="230982" cy="224589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5804A32-BF62-818C-7399-8ED1A4FFB6F2}"/>
              </a:ext>
            </a:extLst>
          </p:cNvPr>
          <p:cNvSpPr/>
          <p:nvPr/>
        </p:nvSpPr>
        <p:spPr>
          <a:xfrm>
            <a:off x="5221966" y="3290594"/>
            <a:ext cx="230982" cy="224589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6B6EF19E-9F6A-7F66-4F8C-35007D08E26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6556"/>
          <a:stretch>
            <a:fillRect/>
          </a:stretch>
        </p:blipFill>
        <p:spPr>
          <a:xfrm>
            <a:off x="5206968" y="5436379"/>
            <a:ext cx="1662763" cy="615757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4112786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9" grpId="0"/>
      <p:bldP spid="40" grpId="0" animBg="1"/>
      <p:bldP spid="41" grpId="0" animBg="1"/>
      <p:bldP spid="42" grpId="0" animBg="1"/>
      <p:bldP spid="4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A89D0-22A7-1C47-C1B8-13DD9ED48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E15D395-44B0-4895-2616-CDD18D53382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2636" y="1661531"/>
            <a:ext cx="3990476" cy="34476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EE83F6-A7DC-BC8D-32BA-00F923430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b="1" dirty="0">
                <a:solidFill>
                  <a:srgbClr val="00B050"/>
                </a:solidFill>
                <a:latin typeface="+mn-lt"/>
              </a:rPr>
              <a:t> </a:t>
            </a:r>
            <a:r>
              <a:rPr lang="en-US" sz="3200" dirty="0">
                <a:latin typeface="+mn-lt"/>
              </a:rPr>
              <a:t>then</a:t>
            </a:r>
            <a:r>
              <a:rPr lang="en-US" sz="3200" b="1" dirty="0">
                <a:solidFill>
                  <a:srgbClr val="00B050"/>
                </a:solidFill>
                <a:latin typeface="+mn-lt"/>
              </a:rPr>
              <a:t> Run</a:t>
            </a:r>
            <a:r>
              <a:rPr lang="en-US" sz="3200" dirty="0">
                <a:latin typeface="+mn-lt"/>
              </a:rPr>
              <a:t> reverse_string.py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270F28-07C3-53EF-1879-288014337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32</a:t>
            </a:fld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D1BA847-6CB7-B49B-7DA6-2F59044FA589}"/>
              </a:ext>
            </a:extLst>
          </p:cNvPr>
          <p:cNvGrpSpPr/>
          <p:nvPr/>
        </p:nvGrpSpPr>
        <p:grpSpPr>
          <a:xfrm>
            <a:off x="729619" y="1636814"/>
            <a:ext cx="2761756" cy="4481001"/>
            <a:chOff x="729619" y="1636814"/>
            <a:chExt cx="2761756" cy="4481001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302203C5-5C2E-5D4F-F19A-6DB35D8E3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9619" y="1636814"/>
              <a:ext cx="1907211" cy="4137179"/>
            </a:xfrm>
            <a:prstGeom prst="rect">
              <a:avLst/>
            </a:prstGeom>
          </p:spPr>
        </p:pic>
        <p:cxnSp>
          <p:nvCxnSpPr>
            <p:cNvPr id="46" name="Connector: Elbow 45">
              <a:extLst>
                <a:ext uri="{FF2B5EF4-FFF2-40B4-BE49-F238E27FC236}">
                  <a16:creationId xmlns:a16="http://schemas.microsoft.com/office/drawing/2014/main" id="{C8182335-EFE9-745A-C6A3-9018005490B8}"/>
                </a:ext>
              </a:extLst>
            </p:cNvPr>
            <p:cNvCxnSpPr/>
            <p:nvPr/>
          </p:nvCxnSpPr>
          <p:spPr>
            <a:xfrm rot="5400000" flipH="1">
              <a:off x="1922439" y="4759620"/>
              <a:ext cx="513427" cy="2202964"/>
            </a:xfrm>
            <a:prstGeom prst="bentConnector4">
              <a:avLst>
                <a:gd name="adj1" fmla="val -44524"/>
                <a:gd name="adj2" fmla="val 132152"/>
              </a:avLst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: Elbow 46">
              <a:extLst>
                <a:ext uri="{FF2B5EF4-FFF2-40B4-BE49-F238E27FC236}">
                  <a16:creationId xmlns:a16="http://schemas.microsoft.com/office/drawing/2014/main" id="{E6F94720-C9E1-9981-B846-358D569174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53138" y="2057760"/>
              <a:ext cx="3175" cy="3546628"/>
            </a:xfrm>
            <a:prstGeom prst="bentConnector3">
              <a:avLst>
                <a:gd name="adj1" fmla="val 16358047"/>
              </a:avLst>
            </a:prstGeom>
            <a:ln w="38100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B8A79D04-9CBA-56CA-298B-113845758E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4232" y="5879720"/>
              <a:ext cx="2657143" cy="238095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27926E5-7C39-1925-52FB-60C9CEA5B6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7874" y="1673148"/>
            <a:ext cx="3980952" cy="11428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29318B-B1A0-CA35-D757-2160D44CE48D}"/>
              </a:ext>
            </a:extLst>
          </p:cNvPr>
          <p:cNvSpPr txBox="1"/>
          <p:nvPr/>
        </p:nvSpPr>
        <p:spPr>
          <a:xfrm>
            <a:off x="7411452" y="393368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0415960-410A-7656-FD6E-FD881A7AA5A6}"/>
              </a:ext>
            </a:extLst>
          </p:cNvPr>
          <p:cNvGrpSpPr/>
          <p:nvPr/>
        </p:nvGrpSpPr>
        <p:grpSpPr>
          <a:xfrm>
            <a:off x="5382121" y="3895660"/>
            <a:ext cx="1076632" cy="369332"/>
            <a:chOff x="4968362" y="2079211"/>
            <a:chExt cx="1076632" cy="369332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4D85F25-F300-F0FF-3236-EE7D553990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5C64837-F9A2-D2DC-FB64-115EE28BD346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5D0B6AB-2741-51D3-2F21-87535E869569}"/>
              </a:ext>
            </a:extLst>
          </p:cNvPr>
          <p:cNvGrpSpPr/>
          <p:nvPr/>
        </p:nvGrpSpPr>
        <p:grpSpPr>
          <a:xfrm>
            <a:off x="5806431" y="4140828"/>
            <a:ext cx="1076632" cy="369332"/>
            <a:chOff x="4704120" y="2356972"/>
            <a:chExt cx="1076632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F85FF13-CF2B-0F32-E06F-D596026932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D9E49B2-FE5A-4DFF-D2A1-A56BC6A21793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9637199-D93F-D73C-B855-F8650EE109BE}"/>
              </a:ext>
            </a:extLst>
          </p:cNvPr>
          <p:cNvGrpSpPr/>
          <p:nvPr/>
        </p:nvGrpSpPr>
        <p:grpSpPr>
          <a:xfrm>
            <a:off x="6099062" y="4361674"/>
            <a:ext cx="1068643" cy="369332"/>
            <a:chOff x="3647644" y="4910075"/>
            <a:chExt cx="1068643" cy="36933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FF7583C-8F47-D56D-115C-349CE8A2DAE4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F09F62B-A1D2-4B18-82E9-C9BE382BAB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D6946E5-F990-C5CB-7B38-913138361720}"/>
              </a:ext>
            </a:extLst>
          </p:cNvPr>
          <p:cNvGrpSpPr/>
          <p:nvPr/>
        </p:nvGrpSpPr>
        <p:grpSpPr>
          <a:xfrm>
            <a:off x="5460706" y="4603826"/>
            <a:ext cx="1064340" cy="369332"/>
            <a:chOff x="3647644" y="5421073"/>
            <a:chExt cx="1064340" cy="3693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D733780-C171-31AB-6B82-1F6B8D539A27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58111BF2-B4CD-F4B3-A33A-7A7E2681D6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E15E6551-0FB6-A9AC-8171-BE7459B545F0}"/>
              </a:ext>
            </a:extLst>
          </p:cNvPr>
          <p:cNvSpPr txBox="1"/>
          <p:nvPr/>
        </p:nvSpPr>
        <p:spPr>
          <a:xfrm>
            <a:off x="3750928" y="1559036"/>
            <a:ext cx="4574844" cy="2339102"/>
          </a:xfrm>
          <a:prstGeom prst="rect">
            <a:avLst/>
          </a:prstGeom>
          <a:solidFill>
            <a:schemeClr val="bg1"/>
          </a:solidFill>
          <a:ln w="12700"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rgbClr val="7030A0"/>
                </a:solidFill>
              </a:rPr>
              <a:t>In Python, </a:t>
            </a:r>
            <a:r>
              <a:rPr lang="en-US" b="1" dirty="0">
                <a:solidFill>
                  <a:srgbClr val="7030A0"/>
                </a:solidFill>
              </a:rPr>
              <a:t>for</a:t>
            </a:r>
            <a:r>
              <a:rPr lang="en-US" dirty="0">
                <a:solidFill>
                  <a:srgbClr val="7030A0"/>
                </a:solidFill>
              </a:rPr>
              <a:t> loops can iterate through something that is </a:t>
            </a:r>
            <a:r>
              <a:rPr lang="en-US" b="1" dirty="0">
                <a:solidFill>
                  <a:srgbClr val="7030A0"/>
                </a:solidFill>
              </a:rPr>
              <a:t>iterable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</a:rPr>
              <a:t>Sequence: list, tuple, string (str), </a:t>
            </a:r>
            <a:r>
              <a:rPr lang="en-US" b="1" dirty="0">
                <a:solidFill>
                  <a:srgbClr val="7030A0"/>
                </a:solidFill>
              </a:rPr>
              <a:t>range()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</a:rPr>
              <a:t>Mappings: dictionary (</a:t>
            </a:r>
            <a:r>
              <a:rPr lang="en-US" dirty="0" err="1">
                <a:solidFill>
                  <a:srgbClr val="7030A0"/>
                </a:solidFill>
              </a:rPr>
              <a:t>dict</a:t>
            </a:r>
            <a:r>
              <a:rPr lang="en-US" dirty="0">
                <a:solidFill>
                  <a:srgbClr val="7030A0"/>
                </a:solidFill>
              </a:rPr>
              <a:t>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</a:rPr>
              <a:t>Files: iterates over lines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</a:rPr>
              <a:t>Generators: any object with __iter__() and __next__()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118CC6E-B706-B35D-701D-EFC060E688D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20152"/>
          <a:stretch>
            <a:fillRect/>
          </a:stretch>
        </p:blipFill>
        <p:spPr>
          <a:xfrm>
            <a:off x="5206968" y="5436379"/>
            <a:ext cx="1662763" cy="919972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1513543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C739D-EFC5-01ED-3A4C-F1B7C4185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18990C08-D6F4-1C80-85B8-48A7FA0E7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7874" y="1661531"/>
            <a:ext cx="3990476" cy="39428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DCBB9F-B3BC-3D81-8C4C-A601BFDC0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b="1" dirty="0">
                <a:solidFill>
                  <a:srgbClr val="00B050"/>
                </a:solidFill>
                <a:latin typeface="+mn-lt"/>
              </a:rPr>
              <a:t> </a:t>
            </a:r>
            <a:r>
              <a:rPr lang="en-US" sz="3200" dirty="0">
                <a:latin typeface="+mn-lt"/>
              </a:rPr>
              <a:t>then</a:t>
            </a:r>
            <a:r>
              <a:rPr lang="en-US" sz="3200" b="1" dirty="0">
                <a:solidFill>
                  <a:srgbClr val="00B050"/>
                </a:solidFill>
                <a:latin typeface="+mn-lt"/>
              </a:rPr>
              <a:t> Run</a:t>
            </a:r>
            <a:r>
              <a:rPr lang="en-US" sz="3200" dirty="0">
                <a:latin typeface="+mn-lt"/>
              </a:rPr>
              <a:t> reverse_string.py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BCA05-4F57-45CB-EE91-5C92969A2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33</a:t>
            </a:fld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77CA62A-8532-AD89-1EDF-BAAC22191E9E}"/>
              </a:ext>
            </a:extLst>
          </p:cNvPr>
          <p:cNvGrpSpPr/>
          <p:nvPr/>
        </p:nvGrpSpPr>
        <p:grpSpPr>
          <a:xfrm>
            <a:off x="729619" y="1636814"/>
            <a:ext cx="2761756" cy="4481001"/>
            <a:chOff x="729619" y="1636814"/>
            <a:chExt cx="2761756" cy="4481001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47A620FE-FBA9-DBBF-6524-D9F6053DF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9619" y="1636814"/>
              <a:ext cx="1907211" cy="4137179"/>
            </a:xfrm>
            <a:prstGeom prst="rect">
              <a:avLst/>
            </a:prstGeom>
          </p:spPr>
        </p:pic>
        <p:cxnSp>
          <p:nvCxnSpPr>
            <p:cNvPr id="46" name="Connector: Elbow 45">
              <a:extLst>
                <a:ext uri="{FF2B5EF4-FFF2-40B4-BE49-F238E27FC236}">
                  <a16:creationId xmlns:a16="http://schemas.microsoft.com/office/drawing/2014/main" id="{8D56AC9A-4F82-53B6-1D98-46AC48A0A8DB}"/>
                </a:ext>
              </a:extLst>
            </p:cNvPr>
            <p:cNvCxnSpPr/>
            <p:nvPr/>
          </p:nvCxnSpPr>
          <p:spPr>
            <a:xfrm rot="5400000" flipH="1">
              <a:off x="1922439" y="4759620"/>
              <a:ext cx="513427" cy="2202964"/>
            </a:xfrm>
            <a:prstGeom prst="bentConnector4">
              <a:avLst>
                <a:gd name="adj1" fmla="val -44524"/>
                <a:gd name="adj2" fmla="val 132152"/>
              </a:avLst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: Elbow 46">
              <a:extLst>
                <a:ext uri="{FF2B5EF4-FFF2-40B4-BE49-F238E27FC236}">
                  <a16:creationId xmlns:a16="http://schemas.microsoft.com/office/drawing/2014/main" id="{BED03361-DDD2-D2EC-C62A-BE45D8E165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53138" y="2057760"/>
              <a:ext cx="3175" cy="3546628"/>
            </a:xfrm>
            <a:prstGeom prst="bentConnector3">
              <a:avLst>
                <a:gd name="adj1" fmla="val 16358047"/>
              </a:avLst>
            </a:prstGeom>
            <a:ln w="38100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FAD6FBEE-8461-6F4A-7218-824794189C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4232" y="5879720"/>
              <a:ext cx="2657143" cy="238095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CFF6177-68D1-FC2D-7745-E84EE37B3E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7874" y="1673148"/>
            <a:ext cx="3980952" cy="11428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951C41-BE91-03DC-5035-AB0845747E01}"/>
              </a:ext>
            </a:extLst>
          </p:cNvPr>
          <p:cNvSpPr txBox="1"/>
          <p:nvPr/>
        </p:nvSpPr>
        <p:spPr>
          <a:xfrm>
            <a:off x="7411452" y="393368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5A7D285-F731-A76F-1356-A302B427DA8F}"/>
              </a:ext>
            </a:extLst>
          </p:cNvPr>
          <p:cNvGrpSpPr/>
          <p:nvPr/>
        </p:nvGrpSpPr>
        <p:grpSpPr>
          <a:xfrm>
            <a:off x="6104017" y="5051764"/>
            <a:ext cx="1076632" cy="369332"/>
            <a:chOff x="4968362" y="2079211"/>
            <a:chExt cx="1076632" cy="369332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FE9DFB6-DE17-D285-2F4C-8DBB16404B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A692C59-81BA-CC60-653F-49012762D048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7D85182-A174-5B69-2908-BFAA06360307}"/>
              </a:ext>
            </a:extLst>
          </p:cNvPr>
          <p:cNvSpPr txBox="1"/>
          <p:nvPr/>
        </p:nvSpPr>
        <p:spPr>
          <a:xfrm>
            <a:off x="3519112" y="2408393"/>
            <a:ext cx="5038476" cy="2539157"/>
          </a:xfrm>
          <a:prstGeom prst="rect">
            <a:avLst/>
          </a:prstGeom>
          <a:solidFill>
            <a:schemeClr val="bg1"/>
          </a:solidFill>
          <a:ln w="12700"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rgbClr val="7030A0"/>
                </a:solidFill>
              </a:rPr>
              <a:t>Slicing syntax: </a:t>
            </a:r>
            <a:r>
              <a:rPr lang="en-US" b="1" dirty="0">
                <a:solidFill>
                  <a:srgbClr val="7030A0"/>
                </a:solidFill>
              </a:rPr>
              <a:t>[start : stop : step]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</a:rPr>
              <a:t>If no value is given for the </a:t>
            </a:r>
            <a:r>
              <a:rPr lang="en-US" b="1" dirty="0">
                <a:solidFill>
                  <a:srgbClr val="7030A0"/>
                </a:solidFill>
              </a:rPr>
              <a:t>start</a:t>
            </a:r>
            <a:r>
              <a:rPr lang="en-US" dirty="0">
                <a:solidFill>
                  <a:srgbClr val="7030A0"/>
                </a:solidFill>
              </a:rPr>
              <a:t> index, the default value of </a:t>
            </a:r>
            <a:r>
              <a:rPr lang="en-US" b="1" dirty="0">
                <a:solidFill>
                  <a:srgbClr val="7030A0"/>
                </a:solidFill>
              </a:rPr>
              <a:t>0</a:t>
            </a:r>
            <a:r>
              <a:rPr lang="en-US" dirty="0">
                <a:solidFill>
                  <a:srgbClr val="7030A0"/>
                </a:solidFill>
              </a:rPr>
              <a:t> is assumed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</a:rPr>
              <a:t>If no value is given for the </a:t>
            </a:r>
            <a:r>
              <a:rPr lang="en-US" b="1" dirty="0">
                <a:solidFill>
                  <a:srgbClr val="7030A0"/>
                </a:solidFill>
              </a:rPr>
              <a:t>stop</a:t>
            </a:r>
            <a:r>
              <a:rPr lang="en-US" dirty="0">
                <a:solidFill>
                  <a:srgbClr val="7030A0"/>
                </a:solidFill>
              </a:rPr>
              <a:t> index, the default value is the index of the last accessible element in the list (</a:t>
            </a:r>
            <a:r>
              <a:rPr lang="en-US" b="1" dirty="0">
                <a:solidFill>
                  <a:srgbClr val="7030A0"/>
                </a:solidFill>
              </a:rPr>
              <a:t>len</a:t>
            </a:r>
            <a:r>
              <a:rPr lang="en-US" dirty="0">
                <a:solidFill>
                  <a:srgbClr val="7030A0"/>
                </a:solidFill>
              </a:rPr>
              <a:t>), and the stop value is </a:t>
            </a:r>
            <a:r>
              <a:rPr lang="en-US" i="1" dirty="0">
                <a:solidFill>
                  <a:srgbClr val="7030A0"/>
                </a:solidFill>
              </a:rPr>
              <a:t>exclusive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</a:rPr>
              <a:t>If no value is given for the </a:t>
            </a:r>
            <a:r>
              <a:rPr lang="en-US" b="1" dirty="0">
                <a:solidFill>
                  <a:srgbClr val="7030A0"/>
                </a:solidFill>
              </a:rPr>
              <a:t>step</a:t>
            </a:r>
            <a:r>
              <a:rPr lang="en-US" dirty="0">
                <a:solidFill>
                  <a:srgbClr val="7030A0"/>
                </a:solidFill>
              </a:rPr>
              <a:t> value, the default value of </a:t>
            </a:r>
            <a:r>
              <a:rPr lang="en-US" b="1" dirty="0">
                <a:solidFill>
                  <a:srgbClr val="7030A0"/>
                </a:solidFill>
              </a:rPr>
              <a:t>1</a:t>
            </a:r>
            <a:r>
              <a:rPr lang="en-US" dirty="0">
                <a:solidFill>
                  <a:srgbClr val="7030A0"/>
                </a:solidFill>
              </a:rPr>
              <a:t> is assumed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CBC8E54-453A-F741-8FCA-A581A67BF0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6968" y="5436379"/>
            <a:ext cx="1662763" cy="1152150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3597708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DA5EF-BB02-388E-6C5F-AAA1C35F2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4CC60-74F3-FEC5-14B1-28F27AF14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Python </a:t>
            </a:r>
            <a:r>
              <a:rPr lang="en-US" sz="3200" b="1" dirty="0">
                <a:latin typeface="+mn-lt"/>
              </a:rPr>
              <a:t>Dictionaries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6DD8C-2684-21EE-EF56-205FD9AC2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76768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Python </a:t>
            </a:r>
            <a:r>
              <a:rPr lang="en-US" sz="2400" b="1" dirty="0">
                <a:solidFill>
                  <a:srgbClr val="0070C0"/>
                </a:solidFill>
              </a:rPr>
              <a:t>dictionaries</a:t>
            </a:r>
            <a:r>
              <a:rPr lang="en-US" sz="2400" dirty="0"/>
              <a:t> store data as </a:t>
            </a:r>
            <a:r>
              <a:rPr lang="en-US" sz="2400" b="1" dirty="0">
                <a:solidFill>
                  <a:srgbClr val="FF0000"/>
                </a:solidFill>
              </a:rPr>
              <a:t>key-value </a:t>
            </a:r>
            <a:r>
              <a:rPr lang="en-US" sz="2400" b="1" i="1" dirty="0">
                <a:solidFill>
                  <a:srgbClr val="FF0000"/>
                </a:solidFill>
              </a:rPr>
              <a:t>pairs</a:t>
            </a: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You access dictionary values using </a:t>
            </a:r>
            <a:r>
              <a:rPr lang="en-US" sz="2400" b="1" dirty="0"/>
              <a:t>keys</a:t>
            </a:r>
            <a:r>
              <a:rPr lang="en-US" sz="2400" dirty="0"/>
              <a:t>, not index numbers. This makes dictionaries ideal when a name or label best identifies data, whereas lists are best when </a:t>
            </a:r>
            <a:r>
              <a:rPr lang="en-US" sz="2400" b="1" dirty="0"/>
              <a:t>order and position matter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Dictionaries are </a:t>
            </a:r>
            <a:r>
              <a:rPr lang="en-US" sz="2400" b="1" i="1" dirty="0">
                <a:solidFill>
                  <a:srgbClr val="7030A0"/>
                </a:solidFill>
              </a:rPr>
              <a:t>mutable</a:t>
            </a:r>
            <a:r>
              <a:rPr lang="en-US" sz="2400" dirty="0"/>
              <a:t>, meaning you can add, remove, or change key–value pairs after creation. Like lists, they grow and shrink dynamically—but unlike lists, dictionaries are </a:t>
            </a:r>
            <a:r>
              <a:rPr lang="en-US" sz="2400" b="1" u="sng" dirty="0">
                <a:solidFill>
                  <a:srgbClr val="FF0000"/>
                </a:solidFill>
              </a:rPr>
              <a:t>unordered</a:t>
            </a:r>
            <a:r>
              <a:rPr lang="en-US" sz="2400" dirty="0"/>
              <a:t> by design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Dictionaries support standard CRUD operations, including iteration. Dictionary lookups are </a:t>
            </a:r>
            <a:r>
              <a:rPr lang="en-US" sz="2400" b="1" dirty="0"/>
              <a:t>speedy, </a:t>
            </a:r>
            <a:r>
              <a:rPr lang="en-US" sz="2400" dirty="0"/>
              <a:t>making them more efficient than lists for searching </a:t>
            </a:r>
            <a:r>
              <a:rPr lang="en-US" sz="2400" i="1" dirty="0"/>
              <a:t>by identifier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AC859-2AE5-3F22-99B0-C0554ADB9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649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B7A66-C1F1-D878-AA08-6B42C267A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5B795-D61F-BF60-D461-CD373DCA7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The Python </a:t>
            </a:r>
            <a:r>
              <a:rPr lang="en-US" sz="3200" b="1" dirty="0">
                <a:latin typeface="+mn-lt"/>
              </a:rPr>
              <a:t>Data “pretty printer”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01EF38-E7EB-6DCC-0E50-8B304DED3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06FA6E-947E-4B31-0551-E45D7C4C15AC}"/>
              </a:ext>
            </a:extLst>
          </p:cNvPr>
          <p:cNvSpPr txBox="1"/>
          <p:nvPr/>
        </p:nvSpPr>
        <p:spPr>
          <a:xfrm>
            <a:off x="2286000" y="160001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https://docs.python.org/3/library/pprint.html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F24840-7C63-305C-3DFE-8B4A18F00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43" y="2395273"/>
            <a:ext cx="7885714" cy="38000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731400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48F24-1440-2D33-5DEC-20B1B0B6B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7EC6D-9AEA-DF97-CEA9-D40261207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python_dictionaries.py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3F808F-D0EE-B75B-D33A-94E3AAA49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EAC9A4-E920-B611-CEEE-5AC6378240E0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13935A-8286-34D8-C9E8-0D1F479B2C9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666" y="1518256"/>
            <a:ext cx="5466667" cy="4838095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E36194B-7E59-A08E-ADFE-CF38643FEF15}"/>
              </a:ext>
            </a:extLst>
          </p:cNvPr>
          <p:cNvGrpSpPr/>
          <p:nvPr/>
        </p:nvGrpSpPr>
        <p:grpSpPr>
          <a:xfrm>
            <a:off x="3838021" y="5339416"/>
            <a:ext cx="1076632" cy="369332"/>
            <a:chOff x="4968362" y="2079211"/>
            <a:chExt cx="1076632" cy="369332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5ED3B40-F995-2C5D-834D-27323CC78D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5F4A8BB-2A4F-D536-BD17-24641550B0D4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BFB9FC2-3A3E-0142-5A7E-810A761F7435}"/>
              </a:ext>
            </a:extLst>
          </p:cNvPr>
          <p:cNvGrpSpPr/>
          <p:nvPr/>
        </p:nvGrpSpPr>
        <p:grpSpPr>
          <a:xfrm>
            <a:off x="3941793" y="5562863"/>
            <a:ext cx="1076632" cy="369332"/>
            <a:chOff x="4704120" y="2356972"/>
            <a:chExt cx="1076632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851EE5A-16D5-C0FD-00DA-F7F37AC0CA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9E9B9FB-E9D9-DA03-8425-E16000528551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37110C2-D9CD-C7E0-BBF5-6E4AAF8382FB}"/>
              </a:ext>
            </a:extLst>
          </p:cNvPr>
          <p:cNvGrpSpPr/>
          <p:nvPr/>
        </p:nvGrpSpPr>
        <p:grpSpPr>
          <a:xfrm>
            <a:off x="4477632" y="5798090"/>
            <a:ext cx="1068643" cy="369332"/>
            <a:chOff x="3647644" y="4910075"/>
            <a:chExt cx="1068643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56471A5-C48D-2BBD-F0E1-24952038F66C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DBB88CD-930D-3615-FAEB-5101189AF4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596EB22A-AAD7-38CB-3647-FAC3043F0180}"/>
              </a:ext>
            </a:extLst>
          </p:cNvPr>
          <p:cNvSpPr/>
          <p:nvPr/>
        </p:nvSpPr>
        <p:spPr>
          <a:xfrm>
            <a:off x="2286000" y="1941095"/>
            <a:ext cx="2510589" cy="31282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810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6DCB1-4B1D-EEE7-1D07-6F150BB1B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17B0E4-0B95-F2BC-8B0E-49720FE60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488" y="1690689"/>
            <a:ext cx="6275023" cy="38180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1CC0F5-B47A-4B4B-283C-B0E62AEFA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python_dictionaries.py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1EFB2F-8E3D-350E-B5E3-BA4908A81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37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B72723-84B6-DAF7-8BD2-679987E21E38}"/>
              </a:ext>
            </a:extLst>
          </p:cNvPr>
          <p:cNvSpPr/>
          <p:nvPr/>
        </p:nvSpPr>
        <p:spPr>
          <a:xfrm>
            <a:off x="1483894" y="2967789"/>
            <a:ext cx="3072064" cy="2294022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FB43453-6A06-2B4F-0D08-E9BCA3ABC829}"/>
              </a:ext>
            </a:extLst>
          </p:cNvPr>
          <p:cNvGrpSpPr/>
          <p:nvPr/>
        </p:nvGrpSpPr>
        <p:grpSpPr>
          <a:xfrm>
            <a:off x="3994484" y="3372401"/>
            <a:ext cx="3449053" cy="1169551"/>
            <a:chOff x="3994484" y="3372401"/>
            <a:chExt cx="3449053" cy="116955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CC3D959-89F8-34A9-E706-1045BF9B95EA}"/>
                </a:ext>
              </a:extLst>
            </p:cNvPr>
            <p:cNvSpPr txBox="1"/>
            <p:nvPr/>
          </p:nvSpPr>
          <p:spPr>
            <a:xfrm>
              <a:off x="5101389" y="3372401"/>
              <a:ext cx="2342148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FF00"/>
                  </a:solidFill>
                </a:rPr>
                <a:t>The pretty-printer (pprint) alphabetizes the displayed keys and places each key-value pair on its own line for easy reading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694F7EF-B4A5-8845-87C8-2D54FEC3B343}"/>
                </a:ext>
              </a:extLst>
            </p:cNvPr>
            <p:cNvCxnSpPr>
              <a:stCxn id="16" idx="1"/>
            </p:cNvCxnSpPr>
            <p:nvPr/>
          </p:nvCxnSpPr>
          <p:spPr>
            <a:xfrm flipH="1" flipV="1">
              <a:off x="3994484" y="3957176"/>
              <a:ext cx="1106905" cy="1"/>
            </a:xfrm>
            <a:prstGeom prst="straightConnector1">
              <a:avLst/>
            </a:prstGeom>
            <a:ln w="1905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5EE2E3-7D19-7472-7953-72AA5465CE82}"/>
              </a:ext>
            </a:extLst>
          </p:cNvPr>
          <p:cNvGrpSpPr/>
          <p:nvPr/>
        </p:nvGrpSpPr>
        <p:grpSpPr>
          <a:xfrm>
            <a:off x="7574115" y="2043936"/>
            <a:ext cx="1076632" cy="369332"/>
            <a:chOff x="4968362" y="2079211"/>
            <a:chExt cx="1076632" cy="369332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92AF5CF-CD2C-F1DF-31BE-B551F38AF0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5D42767-075C-1F70-529F-F75D07682960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386992B-5DC6-46F7-F9D3-12B727EAE76A}"/>
              </a:ext>
            </a:extLst>
          </p:cNvPr>
          <p:cNvGrpSpPr/>
          <p:nvPr/>
        </p:nvGrpSpPr>
        <p:grpSpPr>
          <a:xfrm>
            <a:off x="3225709" y="5200622"/>
            <a:ext cx="1068643" cy="369332"/>
            <a:chOff x="3647644" y="4910075"/>
            <a:chExt cx="1068643" cy="36933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E43EDAF-C557-E05B-7CB3-7316F3422AD5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A14A20D4-603F-E1C0-9DEE-EDDF670D48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70251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635EF-FD6B-E425-1E97-500AF3363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30D08-0812-440A-7E4A-AB197CA54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python_dictionaries.py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F67A15-C900-5C2E-7800-43EDE561C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9BB857-53CC-5EEA-2AB6-7481D680D432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A815A5-98EE-7EDE-3170-0A602A9569B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428" y="1824238"/>
            <a:ext cx="4857143" cy="3209524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ACD5EF61-3E00-966D-7D98-A83C53039723}"/>
              </a:ext>
            </a:extLst>
          </p:cNvPr>
          <p:cNvGrpSpPr/>
          <p:nvPr/>
        </p:nvGrpSpPr>
        <p:grpSpPr>
          <a:xfrm>
            <a:off x="5406184" y="2210942"/>
            <a:ext cx="1076632" cy="369332"/>
            <a:chOff x="4968362" y="2079211"/>
            <a:chExt cx="1076632" cy="369332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95FF897-14C0-73B0-F074-CA1D6E5C54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4C7175D-F83E-F70F-559E-0F4B64294876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3210CE0-DF01-7062-B4FE-46D1C2270549}"/>
              </a:ext>
            </a:extLst>
          </p:cNvPr>
          <p:cNvGrpSpPr/>
          <p:nvPr/>
        </p:nvGrpSpPr>
        <p:grpSpPr>
          <a:xfrm>
            <a:off x="4771482" y="2448205"/>
            <a:ext cx="1076632" cy="369332"/>
            <a:chOff x="4704120" y="2356972"/>
            <a:chExt cx="1076632" cy="369332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4E88221-FE88-4599-4D78-36DB62530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175B433-272A-B693-45F2-29377317709A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EA69CCB-3771-A450-D787-E112EEEFCC00}"/>
              </a:ext>
            </a:extLst>
          </p:cNvPr>
          <p:cNvGrpSpPr/>
          <p:nvPr/>
        </p:nvGrpSpPr>
        <p:grpSpPr>
          <a:xfrm>
            <a:off x="4219032" y="2677447"/>
            <a:ext cx="1068643" cy="369332"/>
            <a:chOff x="3647644" y="4910075"/>
            <a:chExt cx="1068643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106857F-2128-9B4C-5887-B5E585AD40BF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FE2B652A-E73C-505D-9361-9FDE893D8D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AA175D5-EE27-D991-775B-30FAC858CBFC}"/>
              </a:ext>
            </a:extLst>
          </p:cNvPr>
          <p:cNvGrpSpPr/>
          <p:nvPr/>
        </p:nvGrpSpPr>
        <p:grpSpPr>
          <a:xfrm>
            <a:off x="6942169" y="3838854"/>
            <a:ext cx="1064340" cy="369332"/>
            <a:chOff x="3647644" y="5421073"/>
            <a:chExt cx="1064340" cy="36933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EDB8916-4D7F-86F2-7EC4-A791BE81C1AD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FBA19924-A42A-BFAB-F73C-804F0E7A3E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BE86445-E660-6710-1160-7C33BD931D19}"/>
              </a:ext>
            </a:extLst>
          </p:cNvPr>
          <p:cNvGrpSpPr/>
          <p:nvPr/>
        </p:nvGrpSpPr>
        <p:grpSpPr>
          <a:xfrm>
            <a:off x="5374834" y="4055604"/>
            <a:ext cx="1068643" cy="369332"/>
            <a:chOff x="3647644" y="5359159"/>
            <a:chExt cx="1068643" cy="36933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B6312F2-BA2E-A845-8B99-E4E03AF9E99D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057E7B2E-07BA-C247-3BF0-04D40D2929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03283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9FF54-2F3E-3750-87DF-9641E8A82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C667C-3AC4-FEEB-0359-70810D96E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python_dictionaries.py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27563A-E180-8B86-76F2-AB4D5A04B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E701CA-FD66-D6E8-987D-C8B4B6739A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6247"/>
          <a:stretch>
            <a:fillRect/>
          </a:stretch>
        </p:blipFill>
        <p:spPr>
          <a:xfrm>
            <a:off x="934096" y="1575201"/>
            <a:ext cx="3521052" cy="22819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5F5F7A-63AD-9FF9-C3A1-9B433F8940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367"/>
          <a:stretch>
            <a:fillRect/>
          </a:stretch>
        </p:blipFill>
        <p:spPr>
          <a:xfrm>
            <a:off x="4873167" y="2225698"/>
            <a:ext cx="3521052" cy="279723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EEB125C-858B-131F-1698-BC81E3FB0DD6}"/>
              </a:ext>
            </a:extLst>
          </p:cNvPr>
          <p:cNvGrpSpPr/>
          <p:nvPr/>
        </p:nvGrpSpPr>
        <p:grpSpPr>
          <a:xfrm>
            <a:off x="2803309" y="3511896"/>
            <a:ext cx="1076632" cy="369332"/>
            <a:chOff x="4968362" y="2079211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8C40C90-C119-AA0B-3B3E-4C538D6AF9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A698AB5-4EB3-7EE1-4485-0EC9BB3DEBF9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2DC028E-6351-59EF-7445-E7259B0187BC}"/>
              </a:ext>
            </a:extLst>
          </p:cNvPr>
          <p:cNvGrpSpPr/>
          <p:nvPr/>
        </p:nvGrpSpPr>
        <p:grpSpPr>
          <a:xfrm>
            <a:off x="7631190" y="4652815"/>
            <a:ext cx="1068643" cy="369332"/>
            <a:chOff x="3647644" y="4910075"/>
            <a:chExt cx="1068643" cy="3693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D662341-0D59-F605-EF25-925AEA289DCD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9BCCAC1-560A-2CEE-9855-11C58F1268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6EA98635-89A9-235B-47B5-F85CFCD724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239" r="49105" b="5918"/>
          <a:stretch>
            <a:fillRect/>
          </a:stretch>
        </p:blipFill>
        <p:spPr>
          <a:xfrm>
            <a:off x="934096" y="3999313"/>
            <a:ext cx="3137210" cy="228196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8F1C930-50B0-1E67-8731-6E8DC4E8335D}"/>
              </a:ext>
            </a:extLst>
          </p:cNvPr>
          <p:cNvGrpSpPr/>
          <p:nvPr/>
        </p:nvGrpSpPr>
        <p:grpSpPr>
          <a:xfrm>
            <a:off x="3024368" y="5457278"/>
            <a:ext cx="1076632" cy="369332"/>
            <a:chOff x="4704120" y="2356972"/>
            <a:chExt cx="1076632" cy="369332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DCD2543-FD6E-12B6-6C85-0EDA1E8889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C02CE25-CB64-39DF-2DF6-15F8F86F1DF5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13F5C4B-8F95-70AF-CC5F-BADB01F545F8}"/>
              </a:ext>
            </a:extLst>
          </p:cNvPr>
          <p:cNvGrpSpPr/>
          <p:nvPr/>
        </p:nvGrpSpPr>
        <p:grpSpPr>
          <a:xfrm>
            <a:off x="6763010" y="4173954"/>
            <a:ext cx="1064340" cy="369332"/>
            <a:chOff x="3647644" y="5421073"/>
            <a:chExt cx="1064340" cy="36933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599798D-6738-7FCE-D32E-9ADCD5AB9D49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ACEDE91-BE22-F451-08BA-EFDB41A4CF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52A8E9C-C5D2-D81E-1953-4AEBA2DE394F}"/>
              </a:ext>
            </a:extLst>
          </p:cNvPr>
          <p:cNvCxnSpPr>
            <a:cxnSpLocks/>
          </p:cNvCxnSpPr>
          <p:nvPr/>
        </p:nvCxnSpPr>
        <p:spPr>
          <a:xfrm>
            <a:off x="1114425" y="5641944"/>
            <a:ext cx="183832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9147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C79E8-C69B-0C05-6AF8-2F07FA5AC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945EB-11E0-39E0-652D-5BCF02382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python_dictionaries.py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05DFB9-AEDA-3D0C-517D-59429CDAD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40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DF448B-4265-0BB5-CC37-9B356C43AF0B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B4665B-E95A-D3AF-47E8-727049DD1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666" y="2390905"/>
            <a:ext cx="6466667" cy="207619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9055D88-8399-D9A8-EA93-858FF00A147F}"/>
              </a:ext>
            </a:extLst>
          </p:cNvPr>
          <p:cNvGrpSpPr/>
          <p:nvPr/>
        </p:nvGrpSpPr>
        <p:grpSpPr>
          <a:xfrm>
            <a:off x="4190948" y="2813957"/>
            <a:ext cx="1076632" cy="369332"/>
            <a:chOff x="4968362" y="2079211"/>
            <a:chExt cx="1076632" cy="369332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C98C4A4-E76E-8D09-EC7A-E8ECE6432B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A8AEDB-22B1-5B7D-0DD2-B7AE47A477CA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17B018D-4611-EA99-B80D-6CAD177CF3EA}"/>
              </a:ext>
            </a:extLst>
          </p:cNvPr>
          <p:cNvGrpSpPr/>
          <p:nvPr/>
        </p:nvGrpSpPr>
        <p:grpSpPr>
          <a:xfrm>
            <a:off x="7759558" y="3036817"/>
            <a:ext cx="1076632" cy="369332"/>
            <a:chOff x="4704120" y="2356972"/>
            <a:chExt cx="1076632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4D44226-BC55-91A5-3AB6-5DC52CAEFF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F26BE5E-1D82-D576-1661-DA9AC115AC59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7823FB9-C695-A01D-FDED-1E162EA94652}"/>
              </a:ext>
            </a:extLst>
          </p:cNvPr>
          <p:cNvGrpSpPr/>
          <p:nvPr/>
        </p:nvGrpSpPr>
        <p:grpSpPr>
          <a:xfrm>
            <a:off x="5508985" y="3495965"/>
            <a:ext cx="1068643" cy="369332"/>
            <a:chOff x="3647644" y="4910075"/>
            <a:chExt cx="1068643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D1E6B4B-5EDD-2CD3-FD57-8B4C87E8CD22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68823CC-65B7-0E20-E0A1-A6981067D2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60C1F99-FA79-B418-F37B-A34A24A1470B}"/>
              </a:ext>
            </a:extLst>
          </p:cNvPr>
          <p:cNvGrpSpPr/>
          <p:nvPr/>
        </p:nvGrpSpPr>
        <p:grpSpPr>
          <a:xfrm>
            <a:off x="6511313" y="3728594"/>
            <a:ext cx="1064340" cy="369332"/>
            <a:chOff x="3647644" y="5421073"/>
            <a:chExt cx="1064340" cy="36933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3A8E238-17B6-7EDE-D1DE-B2C78CC916D8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FBFA7D3D-5ADC-2850-6B8E-84CB3DBE24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72D5304-B930-C9A9-1858-F8A0934D4845}"/>
              </a:ext>
            </a:extLst>
          </p:cNvPr>
          <p:cNvSpPr/>
          <p:nvPr/>
        </p:nvSpPr>
        <p:spPr>
          <a:xfrm>
            <a:off x="3802855" y="3558088"/>
            <a:ext cx="1526381" cy="232599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C829B1C-5024-B634-BC2B-DA7870549A49}"/>
              </a:ext>
            </a:extLst>
          </p:cNvPr>
          <p:cNvSpPr/>
          <p:nvPr/>
        </p:nvSpPr>
        <p:spPr>
          <a:xfrm>
            <a:off x="5795963" y="3105183"/>
            <a:ext cx="1612105" cy="232599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43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5" grpId="0" animBg="1"/>
      <p:bldP spid="3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DF7F8-356C-632E-BEF4-F9C49E31D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A3EF9-B235-3A10-EF8C-8852F0CCE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python_dictionaries.py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431A45-85B8-D43B-BA5B-11DF26414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FCA892-4030-5A07-5C6F-A58A299D50A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6874" y="2203458"/>
            <a:ext cx="3676190" cy="24510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87A15E-B3B2-F2AD-FE82-16BEDC0E83B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50937" y="2478504"/>
            <a:ext cx="3676190" cy="2176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079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A0C86-E009-C78A-02FA-2D2285A1F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DA6AD-6D9C-960D-A315-2A1BBD0C4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then </a:t>
            </a:r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python_dictionaries.py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29535A-584D-A974-8487-673056EA1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354D15-B6A2-8A4A-CE5B-AFA2DB71582A}"/>
              </a:ext>
            </a:extLst>
          </p:cNvPr>
          <p:cNvSpPr txBox="1"/>
          <p:nvPr/>
        </p:nvSpPr>
        <p:spPr>
          <a:xfrm>
            <a:off x="6124073" y="316550"/>
            <a:ext cx="2751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F34841-63E3-1B7D-35A3-8AA56ADAB7F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000" y="1767507"/>
            <a:ext cx="4400000" cy="189523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58EA374-6BEF-3242-201C-BA46FAFC6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705" y="4239325"/>
            <a:ext cx="8606589" cy="598446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1728DCE3-0B96-3173-E1BA-BB5434C413A2}"/>
              </a:ext>
            </a:extLst>
          </p:cNvPr>
          <p:cNvGrpSpPr/>
          <p:nvPr/>
        </p:nvGrpSpPr>
        <p:grpSpPr>
          <a:xfrm>
            <a:off x="5017116" y="2393920"/>
            <a:ext cx="1076632" cy="369332"/>
            <a:chOff x="4968362" y="2079211"/>
            <a:chExt cx="1076632" cy="369332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51636FB-C075-09AA-8CE9-85F19906F2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EAE36D0-2BB6-E32D-5039-D30EFA42A503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9D04424-4192-D022-A226-0FE5D335D0A5}"/>
              </a:ext>
            </a:extLst>
          </p:cNvPr>
          <p:cNvGrpSpPr/>
          <p:nvPr/>
        </p:nvGrpSpPr>
        <p:grpSpPr>
          <a:xfrm>
            <a:off x="5426190" y="2611717"/>
            <a:ext cx="1076632" cy="369332"/>
            <a:chOff x="4704120" y="2356972"/>
            <a:chExt cx="1076632" cy="369332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53DACC3-BADC-9073-8A65-BEDA7CA0BB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9D4C143-E03B-72A3-2FA3-3A3668801B7D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DF4C13C-F73A-2758-FEFC-2040328E4740}"/>
              </a:ext>
            </a:extLst>
          </p:cNvPr>
          <p:cNvGrpSpPr/>
          <p:nvPr/>
        </p:nvGrpSpPr>
        <p:grpSpPr>
          <a:xfrm>
            <a:off x="6033440" y="2848016"/>
            <a:ext cx="1068643" cy="369332"/>
            <a:chOff x="3647644" y="4910075"/>
            <a:chExt cx="1068643" cy="36933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65AB799-A7E2-6781-5FA9-040C28622BE9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F5F8CF6D-B662-B7F7-AF9B-F409A493BE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568D205-28E2-E2B8-C573-866C586EAC7E}"/>
              </a:ext>
            </a:extLst>
          </p:cNvPr>
          <p:cNvGrpSpPr/>
          <p:nvPr/>
        </p:nvGrpSpPr>
        <p:grpSpPr>
          <a:xfrm>
            <a:off x="6033440" y="3091752"/>
            <a:ext cx="1064340" cy="369332"/>
            <a:chOff x="3647644" y="5421073"/>
            <a:chExt cx="1064340" cy="36933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D475820-9FB4-2C65-176C-AC6970C15C92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9F4F29FF-6088-FDB8-EADA-A6F9A0A1BA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F476AD5B-088D-6666-0789-1345E1125F6C}"/>
              </a:ext>
            </a:extLst>
          </p:cNvPr>
          <p:cNvSpPr/>
          <p:nvPr/>
        </p:nvSpPr>
        <p:spPr>
          <a:xfrm>
            <a:off x="4756484" y="2911642"/>
            <a:ext cx="977566" cy="24352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978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6E7A4-67D9-1C9A-84A0-03FA2B1B8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196D4-4CAE-CDAC-4215-176C91FBA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Python Data Structures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99B49-8525-2B6C-03D1-B2F488816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B10923-161C-401E-8F53-C59598346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545" y="1539876"/>
            <a:ext cx="5414909" cy="508241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505882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A6048-8AB3-1324-0EED-FAC261B87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CA52C-F69B-4EAA-16AE-E4E431859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Session </a:t>
            </a:r>
            <a:r>
              <a:rPr lang="en-US" sz="3200" b="1" dirty="0">
                <a:latin typeface="+mn-lt"/>
              </a:rPr>
              <a:t>03</a:t>
            </a:r>
            <a:r>
              <a:rPr lang="en-US" sz="3200" dirty="0">
                <a:latin typeface="+mn-lt"/>
              </a:rPr>
              <a:t> – Now You Know…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F75A5-0152-9837-C3AC-A8E7ED19A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How to declare the five Python built-in container types: </a:t>
            </a:r>
            <a:r>
              <a:rPr lang="en-US" sz="2400" b="1" dirty="0">
                <a:solidFill>
                  <a:srgbClr val="0070C0"/>
                </a:solidFill>
              </a:rPr>
              <a:t>list, tuple, set, string, dictionary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How to perform standard </a:t>
            </a:r>
            <a:r>
              <a:rPr lang="en-US" sz="2400" b="1" dirty="0">
                <a:solidFill>
                  <a:srgbClr val="FF0000"/>
                </a:solidFill>
              </a:rPr>
              <a:t>CRUD</a:t>
            </a:r>
            <a:r>
              <a:rPr lang="en-US" sz="2400" dirty="0"/>
              <a:t> actions (create, read, update, delete) on items in those five container types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The difference between </a:t>
            </a:r>
            <a:r>
              <a:rPr lang="en-US" sz="2400" b="1" dirty="0">
                <a:solidFill>
                  <a:srgbClr val="7030A0"/>
                </a:solidFill>
              </a:rPr>
              <a:t>mutable</a:t>
            </a:r>
            <a:r>
              <a:rPr lang="en-US" sz="2400" dirty="0"/>
              <a:t> vs. </a:t>
            </a:r>
            <a:r>
              <a:rPr lang="en-US" sz="2400" b="1" dirty="0">
                <a:solidFill>
                  <a:srgbClr val="7030A0"/>
                </a:solidFill>
              </a:rPr>
              <a:t>immutable</a:t>
            </a:r>
            <a:r>
              <a:rPr lang="en-US" sz="2400" dirty="0"/>
              <a:t> containers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The similarities and differences between lists, </a:t>
            </a:r>
            <a:r>
              <a:rPr lang="en-US" sz="2400" b="1" dirty="0">
                <a:solidFill>
                  <a:srgbClr val="00B050"/>
                </a:solidFill>
              </a:rPr>
              <a:t>strings</a:t>
            </a:r>
            <a:r>
              <a:rPr lang="en-US" sz="2400" dirty="0"/>
              <a:t>, tuples, and sets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Use the Python “pretty printer” </a:t>
            </a:r>
            <a:r>
              <a:rPr lang="en-US" sz="2400" b="1" dirty="0"/>
              <a:t>(pprint)</a:t>
            </a:r>
            <a:r>
              <a:rPr lang="en-US" sz="2400" dirty="0"/>
              <a:t> to display dictionaries where the keys are sorted alphabetically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55DBE-60FC-00D2-5F24-2139E440C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93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805D1-49A2-8B7D-8D39-2D4A31F61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F0845-21E7-8918-DC81-106E5ED87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+mn-lt"/>
              </a:rPr>
              <a:t>TASK 03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23C74-00B9-23A4-F1AF-7331965B5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530726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Update the program </a:t>
            </a:r>
            <a:r>
              <a:rPr lang="en-US" sz="2400" b="1" dirty="0"/>
              <a:t>sum_multiples.py</a:t>
            </a:r>
            <a:r>
              <a:rPr lang="en-US" sz="2400" dirty="0"/>
              <a:t> to display the sum of all natural numbers less than 1900 that are divisible by both 7 and 11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58C930-E4D7-7945-0696-AC531B825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17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9617</TotalTime>
  <Words>1800</Words>
  <Application>Microsoft Office PowerPoint</Application>
  <PresentationFormat>On-screen Show (4:3)</PresentationFormat>
  <Paragraphs>299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Arial</vt:lpstr>
      <vt:lpstr>Calibri</vt:lpstr>
      <vt:lpstr>Calibri Light</vt:lpstr>
      <vt:lpstr>Consolas</vt:lpstr>
      <vt:lpstr>Wingdings</vt:lpstr>
      <vt:lpstr>Office Theme</vt:lpstr>
      <vt:lpstr>PowerPoint Presentation</vt:lpstr>
      <vt:lpstr>Session 03 – Goals</vt:lpstr>
      <vt:lpstr>Python’s Built-in Data Types</vt:lpstr>
      <vt:lpstr>Python Lists</vt:lpstr>
      <vt:lpstr>Index Number versus Item Value</vt:lpstr>
      <vt:lpstr>The Bane of All Programmers</vt:lpstr>
      <vt:lpstr>Edit then Run python_lists.py</vt:lpstr>
      <vt:lpstr>Edit then Run python_lists.py</vt:lpstr>
      <vt:lpstr>Python Slicing Syntax</vt:lpstr>
      <vt:lpstr>Python Slicing Syntax</vt:lpstr>
      <vt:lpstr>Edit then Run python_lists.py</vt:lpstr>
      <vt:lpstr>Edit then Run python_lists.py</vt:lpstr>
      <vt:lpstr>Edit then Run python_lists.py</vt:lpstr>
      <vt:lpstr>Python Tuples</vt:lpstr>
      <vt:lpstr>Edit then Run python_tuples.py</vt:lpstr>
      <vt:lpstr>Edit then Run python_tuples.py</vt:lpstr>
      <vt:lpstr>Edit then Run python_tuples.py</vt:lpstr>
      <vt:lpstr>Edit then Run python_tuples.py</vt:lpstr>
      <vt:lpstr>Edit then Run python_tuples.py</vt:lpstr>
      <vt:lpstr>Python Lists vs. Tuples</vt:lpstr>
      <vt:lpstr>Python Sets</vt:lpstr>
      <vt:lpstr>Edit then Run python_sets.py</vt:lpstr>
      <vt:lpstr>Edit then Run python_sets.py</vt:lpstr>
      <vt:lpstr>Edit then Run python_sets.py</vt:lpstr>
      <vt:lpstr>Edit then Run python_sets.py</vt:lpstr>
      <vt:lpstr>Edit then Run python_sets.py</vt:lpstr>
      <vt:lpstr>Python Tuples vs. Sets</vt:lpstr>
      <vt:lpstr>Python Strings</vt:lpstr>
      <vt:lpstr>Reversing a String</vt:lpstr>
      <vt:lpstr>Edit then Run reverse_string.py</vt:lpstr>
      <vt:lpstr>Edit then Run reverse_string.py</vt:lpstr>
      <vt:lpstr>Edit then Run reverse_string.py</vt:lpstr>
      <vt:lpstr>Edit then Run reverse_string.py</vt:lpstr>
      <vt:lpstr>Python Dictionaries</vt:lpstr>
      <vt:lpstr>The Python Data “pretty printer”</vt:lpstr>
      <vt:lpstr>Edit python_dictionaries.py</vt:lpstr>
      <vt:lpstr>Run python_dictionaries.py</vt:lpstr>
      <vt:lpstr>Edit python_dictionaries.py</vt:lpstr>
      <vt:lpstr>Run python_dictionaries.py</vt:lpstr>
      <vt:lpstr>Edit python_dictionaries.py</vt:lpstr>
      <vt:lpstr>Run python_dictionaries.py</vt:lpstr>
      <vt:lpstr>Edit then Run python_dictionaries.py</vt:lpstr>
      <vt:lpstr>Python Data Structures</vt:lpstr>
      <vt:lpstr>Session 03 – Now You Know…</vt:lpstr>
      <vt:lpstr>TASK 03</vt:lpstr>
    </vt:vector>
  </TitlesOfParts>
  <Company>Personal 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MSN Biersach</dc:creator>
  <cp:lastModifiedBy>David MSN Biersach</cp:lastModifiedBy>
  <cp:revision>1034</cp:revision>
  <cp:lastPrinted>2015-06-01T00:45:11Z</cp:lastPrinted>
  <dcterms:created xsi:type="dcterms:W3CDTF">2014-09-21T17:58:26Z</dcterms:created>
  <dcterms:modified xsi:type="dcterms:W3CDTF">2026-01-29T01:38:34Z</dcterms:modified>
</cp:coreProperties>
</file>