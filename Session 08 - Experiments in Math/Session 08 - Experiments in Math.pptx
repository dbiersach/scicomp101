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1220" r:id="rId2"/>
    <p:sldId id="972" r:id="rId3"/>
    <p:sldId id="1454" r:id="rId4"/>
    <p:sldId id="974" r:id="rId5"/>
    <p:sldId id="1329" r:id="rId6"/>
    <p:sldId id="1478" r:id="rId7"/>
    <p:sldId id="1477" r:id="rId8"/>
    <p:sldId id="1434" r:id="rId9"/>
    <p:sldId id="1253" r:id="rId10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CC71"/>
    <a:srgbClr val="FF7D0A"/>
    <a:srgbClr val="95D4D6"/>
    <a:srgbClr val="B4C1CA"/>
    <a:srgbClr val="E74C3C"/>
    <a:srgbClr val="3297DB"/>
    <a:srgbClr val="9354AC"/>
    <a:srgbClr val="99CBEC"/>
    <a:srgbClr val="2FCC72"/>
    <a:srgbClr val="96E5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5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dbiersach@bnl.gov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D8D1F-051C-48C7-91AB-482302FE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72228" y="2572099"/>
            <a:ext cx="2042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Dave Biersach</a:t>
            </a:r>
          </a:p>
          <a:p>
            <a:pPr algn="ctr"/>
            <a:r>
              <a:rPr lang="en-US" dirty="0">
                <a:hlinkClick r:id="rId2"/>
              </a:rPr>
              <a:t>dbiersach@bnl.gov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D1FE5-8CB5-4983-AA2B-0B6C1209F452}"/>
              </a:ext>
            </a:extLst>
          </p:cNvPr>
          <p:cNvSpPr txBox="1"/>
          <p:nvPr/>
        </p:nvSpPr>
        <p:spPr>
          <a:xfrm>
            <a:off x="6208139" y="1078065"/>
            <a:ext cx="25705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Foundations of</a:t>
            </a:r>
          </a:p>
          <a:p>
            <a:pPr algn="ctr"/>
            <a:r>
              <a:rPr lang="en-US" sz="2000" b="1" dirty="0"/>
              <a:t>Scientific Computing</a:t>
            </a:r>
          </a:p>
          <a:p>
            <a:pPr algn="ctr"/>
            <a:r>
              <a:rPr lang="en-US" sz="2000" dirty="0"/>
              <a:t>(SciComp 101)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6F49F3-90CB-4580-B6E1-688074D23599}"/>
              </a:ext>
            </a:extLst>
          </p:cNvPr>
          <p:cNvSpPr txBox="1"/>
          <p:nvPr/>
        </p:nvSpPr>
        <p:spPr>
          <a:xfrm>
            <a:off x="6422434" y="4355451"/>
            <a:ext cx="2141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Session 08 </a:t>
            </a:r>
            <a:r>
              <a:rPr lang="en-US" dirty="0"/>
              <a:t>Experiments in Math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02A7DBD-F029-4698-9BC7-351B592322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7021" y="1006861"/>
            <a:ext cx="3572378" cy="8718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CD3142-EDAA-8E9E-DF9C-D35BB409C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51" y="2681046"/>
            <a:ext cx="5635719" cy="317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01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08</a:t>
            </a:r>
            <a:r>
              <a:rPr lang="en-US" sz="3200" dirty="0">
                <a:latin typeface="+mn-lt"/>
              </a:rPr>
              <a:t> –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969918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This session is to reinforce skills using </a:t>
            </a:r>
            <a:r>
              <a:rPr lang="en-US" sz="2400" b="1" dirty="0">
                <a:solidFill>
                  <a:srgbClr val="0070C0"/>
                </a:solidFill>
              </a:rPr>
              <a:t>numpy vectorized operations</a:t>
            </a:r>
            <a:r>
              <a:rPr lang="en-US" sz="2400" dirty="0"/>
              <a:t> and drawing graphs with </a:t>
            </a:r>
            <a:r>
              <a:rPr lang="en-US" sz="2400" b="1" dirty="0">
                <a:solidFill>
                  <a:srgbClr val="00B050"/>
                </a:solidFill>
              </a:rPr>
              <a:t>matplotlib</a:t>
            </a:r>
          </a:p>
          <a:p>
            <a:r>
              <a:rPr lang="en-US" sz="2400" dirty="0"/>
              <a:t>Trigonometry allows us to convert </a:t>
            </a:r>
            <a:r>
              <a:rPr lang="en-US" sz="2400" b="1" dirty="0">
                <a:solidFill>
                  <a:srgbClr val="FF0000"/>
                </a:solidFill>
              </a:rPr>
              <a:t>Polar</a:t>
            </a:r>
            <a:r>
              <a:rPr lang="en-US" sz="2400" dirty="0"/>
              <a:t> coordinates to </a:t>
            </a:r>
            <a:r>
              <a:rPr lang="en-US" sz="2400" b="1" dirty="0"/>
              <a:t>Cartesian</a:t>
            </a:r>
            <a:r>
              <a:rPr lang="en-US" sz="2400" dirty="0"/>
              <a:t> coordinates – if you haven’t covered this yet in your math class, don’t worry – </a:t>
            </a:r>
            <a:r>
              <a:rPr lang="en-US" sz="2400" b="1" dirty="0"/>
              <a:t>glide with it</a:t>
            </a:r>
          </a:p>
          <a:p>
            <a:r>
              <a:rPr lang="en-US" sz="2400" dirty="0"/>
              <a:t>This session also seeks to affirm the importance of being able to </a:t>
            </a:r>
            <a:r>
              <a:rPr lang="en-US" sz="2400" b="1" dirty="0">
                <a:solidFill>
                  <a:srgbClr val="7030A0"/>
                </a:solidFill>
              </a:rPr>
              <a:t>derive from first principles </a:t>
            </a:r>
            <a:r>
              <a:rPr lang="en-US" sz="2400" dirty="0"/>
              <a:t>classic formulas that thus far have just been handed to you – </a:t>
            </a:r>
            <a:r>
              <a:rPr lang="en-US" sz="2400" b="1" dirty="0"/>
              <a:t>do more than memorize!</a:t>
            </a:r>
          </a:p>
          <a:p>
            <a:r>
              <a:rPr lang="en-US" sz="2400" dirty="0"/>
              <a:t>We will also cover how to generate </a:t>
            </a:r>
            <a:r>
              <a:rPr lang="en-US" sz="2400" b="1" dirty="0">
                <a:solidFill>
                  <a:srgbClr val="0070C0"/>
                </a:solidFill>
              </a:rPr>
              <a:t>random numbers</a:t>
            </a:r>
            <a:r>
              <a:rPr lang="en-US" sz="2400" dirty="0"/>
              <a:t>, plot using </a:t>
            </a:r>
            <a:r>
              <a:rPr lang="en-US" sz="2400" b="1" dirty="0">
                <a:solidFill>
                  <a:srgbClr val="FF0000"/>
                </a:solidFill>
              </a:rPr>
              <a:t>Polar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projections</a:t>
            </a:r>
            <a:r>
              <a:rPr lang="en-US" sz="2400" dirty="0"/>
              <a:t>, and several topics from </a:t>
            </a:r>
            <a:r>
              <a:rPr lang="en-US" sz="2400" b="1" dirty="0">
                <a:solidFill>
                  <a:srgbClr val="00B050"/>
                </a:solidFill>
              </a:rPr>
              <a:t>computational geometry</a:t>
            </a: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C0341-163F-3546-6F7D-D3E4948A2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7B642-B985-1E14-E316-41C66B699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How Archimedes Found the Area of a Circle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4C16DD-5B86-BD8E-F4FA-356ED68838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Approximately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2,250</a:t>
                </a:r>
                <a:r>
                  <a:rPr lang="en-US" sz="2400" dirty="0"/>
                  <a:t> years ago, </a:t>
                </a:r>
                <a:r>
                  <a:rPr lang="en-US" sz="2400" b="1" dirty="0"/>
                  <a:t>Archimedes</a:t>
                </a:r>
                <a:r>
                  <a:rPr lang="en-US" sz="2400" dirty="0"/>
                  <a:t> discovered the formula for the area of a circle and shared the analysis in his treatise </a:t>
                </a:r>
                <a:r>
                  <a:rPr lang="en-US" sz="2400" i="1" dirty="0"/>
                  <a:t>Measurement of a Circle</a:t>
                </a:r>
                <a:endParaRPr lang="en-US" sz="2400" dirty="0"/>
              </a:p>
              <a:p>
                <a:r>
                  <a:rPr lang="en-US" sz="2400" dirty="0"/>
                  <a:t>His method involved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tiling the inside of a circle </a:t>
                </a:r>
                <a:r>
                  <a:rPr lang="en-US" sz="2400" dirty="0"/>
                  <a:t>with an increasing number of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isosceles triangles</a:t>
                </a:r>
              </a:p>
              <a:p>
                <a:r>
                  <a:rPr lang="en-US" sz="2400" dirty="0"/>
                  <a:t>One vertex of each triangle was at the </a:t>
                </a:r>
                <a:r>
                  <a:rPr lang="en-US" sz="2400" b="1" dirty="0"/>
                  <a:t>origin</a:t>
                </a:r>
                <a:r>
                  <a:rPr lang="en-US" sz="2400" dirty="0"/>
                  <a:t> (the center of the circle)</a:t>
                </a:r>
              </a:p>
              <a:p>
                <a:r>
                  <a:rPr lang="en-US" sz="2400" dirty="0"/>
                  <a:t>He set the two equal sides of each triangle to the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radius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400" dirty="0"/>
                  <a:t> of the circle</a:t>
                </a:r>
              </a:p>
              <a:p>
                <a:r>
                  <a:rPr lang="en-US" sz="2400" dirty="0"/>
                  <a:t>By </a:t>
                </a:r>
                <a:r>
                  <a:rPr lang="en-US" sz="2400" b="1" dirty="0"/>
                  <a:t>summing</a:t>
                </a:r>
                <a:r>
                  <a:rPr lang="en-US" sz="2400" dirty="0"/>
                  <a:t> the combined area of each triangle, and increasing the number of triangles to </a:t>
                </a:r>
                <a:r>
                  <a:rPr lang="en-US" sz="2400" b="1" dirty="0"/>
                  <a:t>infinity</a:t>
                </a:r>
                <a:r>
                  <a:rPr lang="en-US" sz="2400" dirty="0"/>
                  <a:t>, he found the formula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4C16DD-5B86-BD8E-F4FA-356ED68838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  <a:blipFill>
                <a:blip r:embed="rId2"/>
                <a:stretch>
                  <a:fillRect l="-1005" t="-1882" r="-1468" b="-3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8F24F-EBC0-EBA6-30A8-FE1F9567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502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102A244F-3447-E3DA-FCE4-97A0C59BE66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121" y="1595720"/>
            <a:ext cx="6221758" cy="46998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trig_circle.py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56FA82-11B7-1DAA-5807-072493B010C0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1472D20-4429-E8CF-C621-CE08115F82E4}"/>
              </a:ext>
            </a:extLst>
          </p:cNvPr>
          <p:cNvGrpSpPr/>
          <p:nvPr/>
        </p:nvGrpSpPr>
        <p:grpSpPr>
          <a:xfrm>
            <a:off x="3019869" y="1867473"/>
            <a:ext cx="1076632" cy="369332"/>
            <a:chOff x="4968362" y="2079211"/>
            <a:chExt cx="1076632" cy="369332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6B2A320-2D89-E8BD-034E-BD051B2CD1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8CFD918-09A2-4D53-9C23-43EAC44ABDA3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54DE98-98A2-C431-606D-3748E94604EF}"/>
              </a:ext>
            </a:extLst>
          </p:cNvPr>
          <p:cNvGrpSpPr/>
          <p:nvPr/>
        </p:nvGrpSpPr>
        <p:grpSpPr>
          <a:xfrm>
            <a:off x="7287089" y="2661678"/>
            <a:ext cx="1076632" cy="369332"/>
            <a:chOff x="4704120" y="2356972"/>
            <a:chExt cx="1076632" cy="369332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00E2DC1-13BE-2057-805A-03AE08C2E1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1CCECDD-4658-5F76-96A3-B55B59CA9A45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3DB6001-B4CC-F0D0-2E89-7269AE0BACEA}"/>
              </a:ext>
            </a:extLst>
          </p:cNvPr>
          <p:cNvGrpSpPr/>
          <p:nvPr/>
        </p:nvGrpSpPr>
        <p:grpSpPr>
          <a:xfrm>
            <a:off x="6364669" y="2942309"/>
            <a:ext cx="1068643" cy="369332"/>
            <a:chOff x="3647644" y="4910075"/>
            <a:chExt cx="1068643" cy="369332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DF00F9C-702E-940F-A853-546FCB8A8371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9CE3351-16C8-E4A4-E28E-CE3461D8A0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333DF08-5F49-4AC7-1E8E-B41E178F4352}"/>
              </a:ext>
            </a:extLst>
          </p:cNvPr>
          <p:cNvGrpSpPr/>
          <p:nvPr/>
        </p:nvGrpSpPr>
        <p:grpSpPr>
          <a:xfrm>
            <a:off x="4572000" y="3326614"/>
            <a:ext cx="1064340" cy="369332"/>
            <a:chOff x="3647644" y="5421073"/>
            <a:chExt cx="1064340" cy="36933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0E9BCD2-D7C7-E313-F8DA-91A2B3DC15E4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E5E783FF-BCA0-F202-DF1F-1482F184AD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E17359C-EECD-7909-D36F-2394502FF6E4}"/>
              </a:ext>
            </a:extLst>
          </p:cNvPr>
          <p:cNvGrpSpPr/>
          <p:nvPr/>
        </p:nvGrpSpPr>
        <p:grpSpPr>
          <a:xfrm>
            <a:off x="7588796" y="4297542"/>
            <a:ext cx="1068643" cy="369332"/>
            <a:chOff x="3647644" y="5359159"/>
            <a:chExt cx="1068643" cy="369332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9280D42-49C3-CC2A-96CB-D817B0E35556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8FB8CDB-0CF1-C648-6170-3443761BC2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AEBF007-CD39-20A7-3ECB-09E41721E9B6}"/>
              </a:ext>
            </a:extLst>
          </p:cNvPr>
          <p:cNvGrpSpPr/>
          <p:nvPr/>
        </p:nvGrpSpPr>
        <p:grpSpPr>
          <a:xfrm>
            <a:off x="5233551" y="4549006"/>
            <a:ext cx="1076632" cy="369332"/>
            <a:chOff x="2157212" y="5356391"/>
            <a:chExt cx="1076632" cy="369332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878E6C3-3651-687D-A6EA-F9359079D0B3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E8C2F8EE-96AC-2F13-298C-7B3DE000B9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F284FE0-6688-2C98-6919-1E92BA3E369B}"/>
              </a:ext>
            </a:extLst>
          </p:cNvPr>
          <p:cNvGrpSpPr/>
          <p:nvPr/>
        </p:nvGrpSpPr>
        <p:grpSpPr>
          <a:xfrm>
            <a:off x="3366456" y="5481556"/>
            <a:ext cx="1076632" cy="369332"/>
            <a:chOff x="2157212" y="5356391"/>
            <a:chExt cx="1076632" cy="369332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C66AE30-898B-134E-08D5-9B5BB37ABC68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E2EBA2A9-9308-73E5-D2F4-93125406FA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E41429D-A13B-3315-594E-B4F8A4A52B64}"/>
              </a:ext>
            </a:extLst>
          </p:cNvPr>
          <p:cNvGrpSpPr/>
          <p:nvPr/>
        </p:nvGrpSpPr>
        <p:grpSpPr>
          <a:xfrm>
            <a:off x="6099957" y="5902710"/>
            <a:ext cx="1076632" cy="369332"/>
            <a:chOff x="2157212" y="5356391"/>
            <a:chExt cx="1076632" cy="369332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5137B5B-7C48-86C9-814A-CEA0785A88FC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BC49A3DB-8F68-F7C0-352D-AA404BA979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E45DAE74-FB96-0814-89EB-C8A357591D2D}"/>
              </a:ext>
            </a:extLst>
          </p:cNvPr>
          <p:cNvSpPr/>
          <p:nvPr/>
        </p:nvSpPr>
        <p:spPr>
          <a:xfrm>
            <a:off x="4443088" y="5902710"/>
            <a:ext cx="602154" cy="36932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40F68-D7A5-DEC0-A010-B5DA1D05FEF6}"/>
              </a:ext>
            </a:extLst>
          </p:cNvPr>
          <p:cNvSpPr txBox="1"/>
          <p:nvPr/>
        </p:nvSpPr>
        <p:spPr>
          <a:xfrm>
            <a:off x="5518882" y="3243269"/>
            <a:ext cx="1855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FF00"/>
                </a:solidFill>
              </a:rPr>
              <a:t>Polar to Cartesian coordinate conversion</a:t>
            </a:r>
          </a:p>
        </p:txBody>
      </p:sp>
    </p:spTree>
    <p:extLst>
      <p:ext uri="{BB962C8B-B14F-4D97-AF65-F5344CB8AC3E}">
        <p14:creationId xmlns:p14="http://schemas.microsoft.com/office/powerpoint/2010/main" val="2970660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6" grpId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9A93F-3AD4-C0B6-DD5F-B605601EE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EF0461-4CD0-6FEF-0734-D7C3DBC56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81" y="1767373"/>
            <a:ext cx="7495238" cy="41714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8D8081-86D0-D079-7DAA-698B8C171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rose_curves.py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4755F-54A8-9514-58E7-99C36C23C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</a:t>
            </a:fld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3B26401-9454-6346-0E93-DB33967293F4}"/>
              </a:ext>
            </a:extLst>
          </p:cNvPr>
          <p:cNvCxnSpPr/>
          <p:nvPr/>
        </p:nvCxnSpPr>
        <p:spPr>
          <a:xfrm>
            <a:off x="1243664" y="2594409"/>
            <a:ext cx="39303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4EEB2CD-BC68-7E43-7E5D-5935820A4982}"/>
              </a:ext>
            </a:extLst>
          </p:cNvPr>
          <p:cNvSpPr txBox="1"/>
          <p:nvPr/>
        </p:nvSpPr>
        <p:spPr>
          <a:xfrm>
            <a:off x="5810450" y="1834816"/>
            <a:ext cx="23421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Uncomment line # 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8D03B2-A991-7EF6-3021-63D8E23C617C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EDIT this code</a:t>
            </a:r>
          </a:p>
        </p:txBody>
      </p:sp>
    </p:spTree>
    <p:extLst>
      <p:ext uri="{BB962C8B-B14F-4D97-AF65-F5344CB8AC3E}">
        <p14:creationId xmlns:p14="http://schemas.microsoft.com/office/powerpoint/2010/main" val="1450484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9AF90-B287-1042-6132-6D98E3AAF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2CFFE1B-BC80-D2D7-EBF5-45506E79B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070" y="1423520"/>
            <a:ext cx="6261862" cy="520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BBFADD-14B4-C597-7A7C-368656EE3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rose_curves.py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4AA70-0379-A2CD-059A-6ECE53A6E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30443C-C6C3-74D8-1108-AEC8ADEC0669}"/>
                  </a:ext>
                </a:extLst>
              </p:cNvPr>
              <p:cNvSpPr txBox="1"/>
              <p:nvPr/>
            </p:nvSpPr>
            <p:spPr>
              <a:xfrm>
                <a:off x="7107993" y="958516"/>
                <a:ext cx="11898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≤4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30443C-C6C3-74D8-1108-AEC8ADEC0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993" y="958516"/>
                <a:ext cx="1189878" cy="276999"/>
              </a:xfrm>
              <a:prstGeom prst="rect">
                <a:avLst/>
              </a:prstGeom>
              <a:blipFill>
                <a:blip r:embed="rId3"/>
                <a:stretch>
                  <a:fillRect l="-4103" r="-4615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471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78441-DCEA-47E1-E9A4-C3949D3AE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8781CF-A8AB-3DBC-F6C3-D2D3EB052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81" y="1767372"/>
            <a:ext cx="7495238" cy="41714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2C2655-EDC4-85D3-5A6A-34C758068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rose_curves.py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BFD11-F453-437C-34A6-CCCAC8943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7</a:t>
            </a:fld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4327532-0294-CCB3-16DD-3C994849CC25}"/>
              </a:ext>
            </a:extLst>
          </p:cNvPr>
          <p:cNvCxnSpPr/>
          <p:nvPr/>
        </p:nvCxnSpPr>
        <p:spPr>
          <a:xfrm>
            <a:off x="1297004" y="2838249"/>
            <a:ext cx="39303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558234E-9B1C-14A2-D9EC-4F419963C2DE}"/>
              </a:ext>
            </a:extLst>
          </p:cNvPr>
          <p:cNvSpPr txBox="1"/>
          <p:nvPr/>
        </p:nvSpPr>
        <p:spPr>
          <a:xfrm>
            <a:off x="5810450" y="1834816"/>
            <a:ext cx="23421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Uncomment line # 36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A65690-417D-E3D0-EDF3-E762E8F6F26E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EDIT this code</a:t>
            </a:r>
          </a:p>
        </p:txBody>
      </p:sp>
    </p:spTree>
    <p:extLst>
      <p:ext uri="{BB962C8B-B14F-4D97-AF65-F5344CB8AC3E}">
        <p14:creationId xmlns:p14="http://schemas.microsoft.com/office/powerpoint/2010/main" val="393057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2585C-EB7E-03EB-03D3-658B5FD9D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66C41-8FAA-A02A-4CB1-5CE718F14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08</a:t>
            </a:r>
            <a:r>
              <a:rPr lang="en-US" sz="3200" dirty="0">
                <a:latin typeface="+mn-lt"/>
              </a:rPr>
              <a:t> – Now You Know…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CDA96-5080-5C00-177B-C7DA77E30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How to use </a:t>
            </a:r>
            <a:r>
              <a:rPr lang="en-US" sz="2400" b="1" dirty="0">
                <a:solidFill>
                  <a:srgbClr val="FF0000"/>
                </a:solidFill>
              </a:rPr>
              <a:t>trigonometry</a:t>
            </a:r>
            <a:r>
              <a:rPr lang="en-US" sz="2400" dirty="0"/>
              <a:t> to convert Polar coordinates to Cartesian coordinates</a:t>
            </a:r>
          </a:p>
          <a:p>
            <a:r>
              <a:rPr lang="en-US" sz="2400" dirty="0"/>
              <a:t>How to create </a:t>
            </a:r>
            <a:r>
              <a:rPr lang="en-US" sz="2400" b="1" dirty="0">
                <a:solidFill>
                  <a:srgbClr val="0070C0"/>
                </a:solidFill>
              </a:rPr>
              <a:t>polar projection </a:t>
            </a:r>
            <a:r>
              <a:rPr lang="en-US" sz="2400" dirty="0"/>
              <a:t>graphs in matplotlib</a:t>
            </a:r>
          </a:p>
          <a:p>
            <a:r>
              <a:rPr lang="en-US" sz="2400" dirty="0"/>
              <a:t>How to use the </a:t>
            </a:r>
            <a:r>
              <a:rPr lang="en-US" sz="2400" b="1" dirty="0">
                <a:solidFill>
                  <a:srgbClr val="00B050"/>
                </a:solidFill>
              </a:rPr>
              <a:t>shoelace formula </a:t>
            </a:r>
            <a:r>
              <a:rPr lang="en-US" sz="2400" dirty="0"/>
              <a:t>to calculate the </a:t>
            </a:r>
            <a:r>
              <a:rPr lang="en-US" sz="2400" b="1" dirty="0"/>
              <a:t>area</a:t>
            </a:r>
            <a:r>
              <a:rPr lang="en-US" sz="2400" dirty="0"/>
              <a:t> enclosed by a polygon – with enough vertices, we can </a:t>
            </a:r>
            <a:r>
              <a:rPr lang="en-US" sz="2400" i="1" dirty="0"/>
              <a:t>approximate</a:t>
            </a:r>
            <a:r>
              <a:rPr lang="en-US" sz="2400" dirty="0"/>
              <a:t> the area of a </a:t>
            </a:r>
            <a:r>
              <a:rPr lang="en-US" sz="2400" b="1" dirty="0"/>
              <a:t>smooth, closed, curved</a:t>
            </a:r>
          </a:p>
          <a:p>
            <a:r>
              <a:rPr lang="en-US" sz="2400" dirty="0"/>
              <a:t>There </a:t>
            </a:r>
            <a:r>
              <a:rPr lang="en-US" sz="2400" b="1" dirty="0">
                <a:solidFill>
                  <a:srgbClr val="FF0000"/>
                </a:solidFill>
              </a:rPr>
              <a:t>is no formula </a:t>
            </a:r>
            <a:r>
              <a:rPr lang="en-US" sz="2400" dirty="0"/>
              <a:t>for the </a:t>
            </a:r>
            <a:r>
              <a:rPr lang="en-US" sz="2400" u="sng" dirty="0"/>
              <a:t>perimeter</a:t>
            </a:r>
            <a:r>
              <a:rPr lang="en-US" sz="2400" dirty="0"/>
              <a:t> of an </a:t>
            </a:r>
            <a:r>
              <a:rPr lang="en-US" sz="2400" i="1" dirty="0"/>
              <a:t>ellipse</a:t>
            </a:r>
          </a:p>
          <a:p>
            <a:r>
              <a:rPr lang="en-US" sz="2400" dirty="0"/>
              <a:t>That </a:t>
            </a:r>
            <a:r>
              <a:rPr lang="en-US" sz="2400" b="1" dirty="0"/>
              <a:t>sinusoidal</a:t>
            </a:r>
            <a:r>
              <a:rPr lang="en-US" sz="2400" dirty="0"/>
              <a:t> waves have amplitude, angular frequency, phase, and offsets</a:t>
            </a:r>
          </a:p>
          <a:p>
            <a:r>
              <a:rPr lang="en-US" sz="2400" dirty="0"/>
              <a:t>The addition (</a:t>
            </a:r>
            <a:r>
              <a:rPr lang="en-US" sz="2400" b="1" dirty="0">
                <a:solidFill>
                  <a:srgbClr val="7030A0"/>
                </a:solidFill>
              </a:rPr>
              <a:t>superposition</a:t>
            </a:r>
            <a:r>
              <a:rPr lang="en-US" sz="2400" dirty="0"/>
              <a:t>) of even just two waves can yield surprisingly complicated system behavior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8430D-F95D-07D2-4956-13C2B4253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084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Task 08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Create a program called </a:t>
            </a:r>
            <a:r>
              <a:rPr lang="en-US" sz="2400" b="1" dirty="0"/>
              <a:t>plot_heart.py </a:t>
            </a:r>
            <a:r>
              <a:rPr lang="en-US" sz="2400" dirty="0"/>
              <a:t>that uses a matplotlib polar projection to draw the equation on slide </a:t>
            </a:r>
            <a:r>
              <a:rPr lang="en-US" sz="2400" dirty="0">
                <a:hlinkClick r:id="" action="ppaction://noaction"/>
              </a:rPr>
              <a:t>#77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6D7089-5CDE-B29A-E15D-8D58F952B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879" y="3226290"/>
            <a:ext cx="3490242" cy="3040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921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12492</TotalTime>
  <Words>426</Words>
  <Application>Microsoft Office PowerPoint</Application>
  <PresentationFormat>On-screen Show (4:3)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Session 08 – Goals</vt:lpstr>
      <vt:lpstr>How Archimedes Found the Area of a Circle</vt:lpstr>
      <vt:lpstr>Open trig_circle.py</vt:lpstr>
      <vt:lpstr>Edit rose_curves.py</vt:lpstr>
      <vt:lpstr>Run rose_curves.py</vt:lpstr>
      <vt:lpstr>Edit rose_curves.py</vt:lpstr>
      <vt:lpstr>Session 08 – Now You Know…</vt:lpstr>
      <vt:lpstr>Task 08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1237</cp:revision>
  <cp:lastPrinted>2015-06-01T00:45:11Z</cp:lastPrinted>
  <dcterms:created xsi:type="dcterms:W3CDTF">2014-09-21T17:58:26Z</dcterms:created>
  <dcterms:modified xsi:type="dcterms:W3CDTF">2026-02-07T01:56:33Z</dcterms:modified>
</cp:coreProperties>
</file>