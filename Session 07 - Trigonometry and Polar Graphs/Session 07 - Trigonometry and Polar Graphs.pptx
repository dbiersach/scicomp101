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2"/>
  </p:notesMasterIdLst>
  <p:handoutMasterIdLst>
    <p:handoutMasterId r:id="rId103"/>
  </p:handoutMasterIdLst>
  <p:sldIdLst>
    <p:sldId id="1220" r:id="rId2"/>
    <p:sldId id="972" r:id="rId3"/>
    <p:sldId id="482" r:id="rId4"/>
    <p:sldId id="1482" r:id="rId5"/>
    <p:sldId id="483" r:id="rId6"/>
    <p:sldId id="484" r:id="rId7"/>
    <p:sldId id="1305" r:id="rId8"/>
    <p:sldId id="284" r:id="rId9"/>
    <p:sldId id="1466" r:id="rId10"/>
    <p:sldId id="1467" r:id="rId11"/>
    <p:sldId id="1468" r:id="rId12"/>
    <p:sldId id="1469" r:id="rId13"/>
    <p:sldId id="294" r:id="rId14"/>
    <p:sldId id="290" r:id="rId15"/>
    <p:sldId id="291" r:id="rId16"/>
    <p:sldId id="1481" r:id="rId17"/>
    <p:sldId id="954" r:id="rId18"/>
    <p:sldId id="1160" r:id="rId19"/>
    <p:sldId id="258" r:id="rId20"/>
    <p:sldId id="275" r:id="rId21"/>
    <p:sldId id="276" r:id="rId22"/>
    <p:sldId id="277" r:id="rId23"/>
    <p:sldId id="1454" r:id="rId24"/>
    <p:sldId id="1455" r:id="rId25"/>
    <p:sldId id="1456" r:id="rId26"/>
    <p:sldId id="1457" r:id="rId27"/>
    <p:sldId id="1458" r:id="rId28"/>
    <p:sldId id="1459" r:id="rId29"/>
    <p:sldId id="1444" r:id="rId30"/>
    <p:sldId id="1445" r:id="rId31"/>
    <p:sldId id="1461" r:id="rId32"/>
    <p:sldId id="1446" r:id="rId33"/>
    <p:sldId id="1447" r:id="rId34"/>
    <p:sldId id="1448" r:id="rId35"/>
    <p:sldId id="1449" r:id="rId36"/>
    <p:sldId id="1450" r:id="rId37"/>
    <p:sldId id="1451" r:id="rId38"/>
    <p:sldId id="1021" r:id="rId39"/>
    <p:sldId id="1453" r:id="rId40"/>
    <p:sldId id="1452" r:id="rId41"/>
    <p:sldId id="974" r:id="rId42"/>
    <p:sldId id="1441" r:id="rId43"/>
    <p:sldId id="1442" r:id="rId44"/>
    <p:sldId id="1022" r:id="rId45"/>
    <p:sldId id="281" r:id="rId46"/>
    <p:sldId id="1432" r:id="rId47"/>
    <p:sldId id="981" r:id="rId48"/>
    <p:sldId id="1326" r:id="rId49"/>
    <p:sldId id="1433" r:id="rId50"/>
    <p:sldId id="1316" r:id="rId51"/>
    <p:sldId id="1057" r:id="rId52"/>
    <p:sldId id="1058" r:id="rId53"/>
    <p:sldId id="1059" r:id="rId54"/>
    <p:sldId id="1130" r:id="rId55"/>
    <p:sldId id="1060" r:id="rId56"/>
    <p:sldId id="1062" r:id="rId57"/>
    <p:sldId id="1436" r:id="rId58"/>
    <p:sldId id="1460" r:id="rId59"/>
    <p:sldId id="1462" r:id="rId60"/>
    <p:sldId id="1483" r:id="rId61"/>
    <p:sldId id="1463" r:id="rId62"/>
    <p:sldId id="1465" r:id="rId63"/>
    <p:sldId id="1271" r:id="rId64"/>
    <p:sldId id="1290" r:id="rId65"/>
    <p:sldId id="1291" r:id="rId66"/>
    <p:sldId id="1292" r:id="rId67"/>
    <p:sldId id="1293" r:id="rId68"/>
    <p:sldId id="1180" r:id="rId69"/>
    <p:sldId id="1334" r:id="rId70"/>
    <p:sldId id="1336" r:id="rId71"/>
    <p:sldId id="1310" r:id="rId72"/>
    <p:sldId id="1335" r:id="rId73"/>
    <p:sldId id="1337" r:id="rId74"/>
    <p:sldId id="285" r:id="rId75"/>
    <p:sldId id="286" r:id="rId76"/>
    <p:sldId id="288" r:id="rId77"/>
    <p:sldId id="1009" r:id="rId78"/>
    <p:sldId id="1439" r:id="rId79"/>
    <p:sldId id="1471" r:id="rId80"/>
    <p:sldId id="1472" r:id="rId81"/>
    <p:sldId id="1473" r:id="rId82"/>
    <p:sldId id="1283" r:id="rId83"/>
    <p:sldId id="1474" r:id="rId84"/>
    <p:sldId id="1475" r:id="rId85"/>
    <p:sldId id="1476" r:id="rId86"/>
    <p:sldId id="1348" r:id="rId87"/>
    <p:sldId id="1413" r:id="rId88"/>
    <p:sldId id="1329" r:id="rId89"/>
    <p:sldId id="1478" r:id="rId90"/>
    <p:sldId id="1477" r:id="rId91"/>
    <p:sldId id="1479" r:id="rId92"/>
    <p:sldId id="1286" r:id="rId93"/>
    <p:sldId id="1338" r:id="rId94"/>
    <p:sldId id="1339" r:id="rId95"/>
    <p:sldId id="1480" r:id="rId96"/>
    <p:sldId id="1270" r:id="rId97"/>
    <p:sldId id="1340" r:id="rId98"/>
    <p:sldId id="287" r:id="rId99"/>
    <p:sldId id="1434" r:id="rId100"/>
    <p:sldId id="1253" r:id="rId101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FF7D0A"/>
    <a:srgbClr val="95D4D6"/>
    <a:srgbClr val="B4C1CA"/>
    <a:srgbClr val="E74C3C"/>
    <a:srgbClr val="3297DB"/>
    <a:srgbClr val="9354AC"/>
    <a:srgbClr val="99CBEC"/>
    <a:srgbClr val="2FCC72"/>
    <a:srgbClr val="96E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108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3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3D93-0B38-E4E7-616E-4D43101E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50042-FA10-5073-3223-3A36F6586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FCC0B-C37D-0617-8954-D6399345B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88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14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06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61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AB87-2573-3426-385C-928B3F6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EE5CF-E881-CCAD-2859-72096599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C04CE-9B40-7F6C-9F5F-A6D294B04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144EA-B860-2DA3-26CE-74D81199D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01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15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85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08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33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63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1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5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540B-ACF9-D65E-FD2E-4A138EF3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49045-5294-D5EF-0C5C-E65114580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143DF-E050-A381-50C3-8F7DC58F3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AADFF-5824-EFDC-D6CB-AD4EA6B1C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13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81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3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73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6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03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579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91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9240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152D4-9CF4-0A49-1BCB-CC0708FB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D080A-68C3-38F1-F614-BD3F13AD2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C25EB-8197-1D0B-0ADF-2E83E01FA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9C1EC-3593-2E50-0EB5-16DFB8E0D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400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6898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5213-FA0C-7E6D-3C3E-7E2AA153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ACD26-D538-1E9D-D8C6-0BFE3990A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0F8D3-BB67-1799-CD5A-CD30594FC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7AD2B-85D3-8F2F-0FAC-612737782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7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069D6-9615-3F79-6147-45F8B769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B3D2A-1BD3-668A-9D75-1E6AB7499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66352-E156-1D97-0C4C-1E5A1D6A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BC3B0-B5A9-5352-EDB4-2621F10EA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351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8C817-D0DA-9B90-0FFD-62819F24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C97C1-9777-4B3B-9A14-FE4DF46D6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FE476-FD08-D616-41CF-225468461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B67A0-02FF-DF0A-3FB1-65FD4A486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41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43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14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1.png"/><Relationship Id="rId15" Type="http://schemas.openxmlformats.org/officeDocument/2006/relationships/image" Target="../media/image15.png"/><Relationship Id="rId10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0.png"/><Relationship Id="rId7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61.png"/><Relationship Id="rId4" Type="http://schemas.openxmlformats.org/officeDocument/2006/relationships/image" Target="../media/image15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270.png"/><Relationship Id="rId12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0" Type="http://schemas.openxmlformats.org/officeDocument/2006/relationships/image" Target="../media/image300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Relationship Id="rId9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38.png"/><Relationship Id="rId7" Type="http://schemas.openxmlformats.org/officeDocument/2006/relationships/image" Target="../media/image28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31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41.png"/><Relationship Id="rId7" Type="http://schemas.openxmlformats.org/officeDocument/2006/relationships/image" Target="../media/image28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31.png"/><Relationship Id="rId4" Type="http://schemas.openxmlformats.org/officeDocument/2006/relationships/image" Target="../media/image300.png"/><Relationship Id="rId9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0.png"/><Relationship Id="rId9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66.png"/><Relationship Id="rId4" Type="http://schemas.openxmlformats.org/officeDocument/2006/relationships/image" Target="../media/image58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12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26.png"/><Relationship Id="rId5" Type="http://schemas.openxmlformats.org/officeDocument/2006/relationships/image" Target="NULL"/><Relationship Id="rId10" Type="http://schemas.openxmlformats.org/officeDocument/2006/relationships/image" Target="../media/image701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8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76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13" Type="http://schemas.openxmlformats.org/officeDocument/2006/relationships/image" Target="../media/image85.png"/><Relationship Id="rId3" Type="http://schemas.openxmlformats.org/officeDocument/2006/relationships/image" Target="NULL"/><Relationship Id="rId7" Type="http://schemas.openxmlformats.org/officeDocument/2006/relationships/image" Target="../media/image791.png"/><Relationship Id="rId12" Type="http://schemas.openxmlformats.org/officeDocument/2006/relationships/image" Target="../media/image840.png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20.png"/><Relationship Id="rId5" Type="http://schemas.openxmlformats.org/officeDocument/2006/relationships/image" Target="../media/image770.png"/><Relationship Id="rId15" Type="http://schemas.openxmlformats.org/officeDocument/2006/relationships/image" Target="../media/image87.png"/><Relationship Id="rId10" Type="http://schemas.openxmlformats.org/officeDocument/2006/relationships/image" Target="../media/image810.png"/><Relationship Id="rId4" Type="http://schemas.openxmlformats.org/officeDocument/2006/relationships/image" Target="NULL"/><Relationship Id="rId9" Type="http://schemas.openxmlformats.org/officeDocument/2006/relationships/image" Target="../media/image84.png"/><Relationship Id="rId1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9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59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jpg"/><Relationship Id="rId5" Type="http://schemas.openxmlformats.org/officeDocument/2006/relationships/image" Target="../media/image118.jpg"/><Relationship Id="rId4" Type="http://schemas.openxmlformats.org/officeDocument/2006/relationships/image" Target="../media/image117.jp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25.png"/><Relationship Id="rId3" Type="http://schemas.openxmlformats.org/officeDocument/2006/relationships/image" Target="../media/image800.png"/><Relationship Id="rId7" Type="http://schemas.openxmlformats.org/officeDocument/2006/relationships/image" Target="../media/image1200.png"/><Relationship Id="rId12" Type="http://schemas.openxmlformats.org/officeDocument/2006/relationships/image" Target="../media/image170.png"/><Relationship Id="rId2" Type="http://schemas.openxmlformats.org/officeDocument/2006/relationships/image" Target="../media/image700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0.png"/><Relationship Id="rId11" Type="http://schemas.openxmlformats.org/officeDocument/2006/relationships/image" Target="../media/image160.png"/><Relationship Id="rId5" Type="http://schemas.openxmlformats.org/officeDocument/2006/relationships/image" Target="../media/image1000.png"/><Relationship Id="rId15" Type="http://schemas.openxmlformats.org/officeDocument/2006/relationships/image" Target="../media/image220.png"/><Relationship Id="rId10" Type="http://schemas.openxmlformats.org/officeDocument/2006/relationships/image" Target="../media/image150.png"/><Relationship Id="rId4" Type="http://schemas.openxmlformats.org/officeDocument/2006/relationships/image" Target="../media/image90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3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7" Type="http://schemas.openxmlformats.org/officeDocument/2006/relationships/image" Target="../media/image131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0.png"/><Relationship Id="rId5" Type="http://schemas.openxmlformats.org/officeDocument/2006/relationships/image" Target="../media/image1310.png"/><Relationship Id="rId4" Type="http://schemas.openxmlformats.org/officeDocument/2006/relationships/image" Target="../media/image129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4.png"/><Relationship Id="rId4" Type="http://schemas.openxmlformats.org/officeDocument/2006/relationships/image" Target="../media/image15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image" Target="NUL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58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07 </a:t>
            </a:r>
            <a:r>
              <a:rPr lang="en-US" dirty="0"/>
              <a:t>Trigonometry and Polar Graphs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07</a:t>
            </a:r>
            <a:r>
              <a:rPr lang="en-US" sz="3200" dirty="0">
                <a:latin typeface="+mn-lt"/>
              </a:rPr>
              <a:t> –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96991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This session is to reinforce skills using </a:t>
            </a:r>
            <a:r>
              <a:rPr lang="en-US" sz="2400" b="1" dirty="0">
                <a:solidFill>
                  <a:srgbClr val="0070C0"/>
                </a:solidFill>
              </a:rPr>
              <a:t>numpy vectorized operations</a:t>
            </a:r>
            <a:r>
              <a:rPr lang="en-US" sz="2400" dirty="0"/>
              <a:t> and drawing graphs with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</a:p>
          <a:p>
            <a:r>
              <a:rPr lang="en-US" sz="2400" dirty="0"/>
              <a:t>Trigonometry allows us to convert </a:t>
            </a:r>
            <a:r>
              <a:rPr lang="en-US" sz="2400" b="1" dirty="0">
                <a:solidFill>
                  <a:srgbClr val="FF0000"/>
                </a:solidFill>
              </a:rPr>
              <a:t>Polar</a:t>
            </a:r>
            <a:r>
              <a:rPr lang="en-US" sz="2400" dirty="0"/>
              <a:t> coordinates to </a:t>
            </a:r>
            <a:r>
              <a:rPr lang="en-US" sz="2400" b="1" dirty="0"/>
              <a:t>Cartesian</a:t>
            </a:r>
            <a:r>
              <a:rPr lang="en-US" sz="2400" dirty="0"/>
              <a:t> coordinates – if you haven’t covered this yet in your math class, don’t worry – </a:t>
            </a:r>
            <a:r>
              <a:rPr lang="en-US" sz="2400" b="1" dirty="0"/>
              <a:t>glide with it</a:t>
            </a:r>
          </a:p>
          <a:p>
            <a:r>
              <a:rPr lang="en-US" sz="2400" dirty="0"/>
              <a:t>This session also seeks to affirm the importance of being able to </a:t>
            </a:r>
            <a:r>
              <a:rPr lang="en-US" sz="2400" b="1" dirty="0">
                <a:solidFill>
                  <a:srgbClr val="7030A0"/>
                </a:solidFill>
              </a:rPr>
              <a:t>derive from first principles </a:t>
            </a:r>
            <a:r>
              <a:rPr lang="en-US" sz="2400" dirty="0"/>
              <a:t>classic formulas that thus far have just been handed to you – </a:t>
            </a:r>
            <a:r>
              <a:rPr lang="en-US" sz="2400" b="1" dirty="0"/>
              <a:t>do more than memorize!</a:t>
            </a:r>
          </a:p>
          <a:p>
            <a:r>
              <a:rPr lang="en-US" sz="2400" dirty="0"/>
              <a:t>We will also cover how to generate </a:t>
            </a:r>
            <a:r>
              <a:rPr lang="en-US" sz="2400" b="1" dirty="0">
                <a:solidFill>
                  <a:srgbClr val="0070C0"/>
                </a:solidFill>
              </a:rPr>
              <a:t>random numbers</a:t>
            </a:r>
            <a:r>
              <a:rPr lang="en-US" sz="2400" dirty="0"/>
              <a:t>, plot using </a:t>
            </a:r>
            <a:r>
              <a:rPr lang="en-US" sz="2400" b="1" dirty="0">
                <a:solidFill>
                  <a:srgbClr val="FF0000"/>
                </a:solidFill>
              </a:rPr>
              <a:t>Polar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projections</a:t>
            </a:r>
            <a:r>
              <a:rPr lang="en-US" sz="2400" dirty="0"/>
              <a:t>, and several topics from </a:t>
            </a:r>
            <a:r>
              <a:rPr lang="en-US" sz="2400" b="1" dirty="0">
                <a:solidFill>
                  <a:srgbClr val="00B050"/>
                </a:solidFill>
              </a:rPr>
              <a:t>computational geometry</a:t>
            </a: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9A64D-707F-127F-DB58-041CBC80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Careful Proofs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6F7165-9834-4560-BF69-E50F4936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B182B8-C9CE-541C-A679-953469051439}"/>
              </a:ext>
            </a:extLst>
          </p:cNvPr>
          <p:cNvSpPr txBox="1"/>
          <p:nvPr/>
        </p:nvSpPr>
        <p:spPr>
          <a:xfrm>
            <a:off x="1054768" y="1690689"/>
            <a:ext cx="703446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 = b</a:t>
            </a:r>
          </a:p>
          <a:p>
            <a:pPr algn="ctr"/>
            <a:r>
              <a:rPr lang="en-US" sz="3200" dirty="0"/>
              <a:t>a</a:t>
            </a:r>
            <a:r>
              <a:rPr lang="en-US" sz="3200" baseline="30000" dirty="0"/>
              <a:t>2</a:t>
            </a:r>
            <a:r>
              <a:rPr lang="en-US" sz="3200" dirty="0"/>
              <a:t> = ab</a:t>
            </a:r>
          </a:p>
          <a:p>
            <a:pPr algn="ctr"/>
            <a:r>
              <a:rPr lang="en-US" sz="3200" dirty="0"/>
              <a:t>a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7030A0"/>
                </a:solidFill>
              </a:rPr>
              <a:t>(a</a:t>
            </a:r>
            <a:r>
              <a:rPr lang="en-US" sz="3200" baseline="30000" dirty="0">
                <a:solidFill>
                  <a:srgbClr val="7030A0"/>
                </a:solidFill>
              </a:rPr>
              <a:t>2</a:t>
            </a:r>
            <a:r>
              <a:rPr lang="en-US" sz="3200" dirty="0">
                <a:solidFill>
                  <a:srgbClr val="7030A0"/>
                </a:solidFill>
              </a:rPr>
              <a:t> – 2ab) </a:t>
            </a:r>
            <a:r>
              <a:rPr lang="en-US" sz="3200" dirty="0"/>
              <a:t>= ab + </a:t>
            </a:r>
            <a:r>
              <a:rPr lang="en-US" sz="3200" dirty="0">
                <a:solidFill>
                  <a:srgbClr val="7030A0"/>
                </a:solidFill>
              </a:rPr>
              <a:t>(a</a:t>
            </a:r>
            <a:r>
              <a:rPr lang="en-US" sz="3200" baseline="30000" dirty="0">
                <a:solidFill>
                  <a:srgbClr val="7030A0"/>
                </a:solidFill>
              </a:rPr>
              <a:t>2</a:t>
            </a:r>
            <a:r>
              <a:rPr lang="en-US" sz="3200" dirty="0">
                <a:solidFill>
                  <a:srgbClr val="7030A0"/>
                </a:solidFill>
              </a:rPr>
              <a:t> – 2ab)</a:t>
            </a:r>
          </a:p>
          <a:p>
            <a:pPr algn="ctr"/>
            <a:r>
              <a:rPr lang="en-US" sz="3200" dirty="0"/>
              <a:t>2(a</a:t>
            </a:r>
            <a:r>
              <a:rPr lang="en-US" sz="3200" baseline="30000" dirty="0"/>
              <a:t>2</a:t>
            </a:r>
            <a:r>
              <a:rPr lang="en-US" sz="3200" dirty="0"/>
              <a:t> – ab) = a</a:t>
            </a:r>
            <a:r>
              <a:rPr lang="en-US" sz="3200" baseline="30000" dirty="0"/>
              <a:t>2</a:t>
            </a:r>
            <a:r>
              <a:rPr lang="en-US" sz="3200" dirty="0"/>
              <a:t> – ab</a:t>
            </a:r>
          </a:p>
          <a:p>
            <a:pPr algn="ctr"/>
            <a:r>
              <a:rPr lang="en-US" sz="3200" dirty="0"/>
              <a:t>2(a</a:t>
            </a:r>
            <a:r>
              <a:rPr lang="en-US" sz="3200" baseline="30000" dirty="0"/>
              <a:t>2</a:t>
            </a:r>
            <a:r>
              <a:rPr lang="en-US" sz="3200" dirty="0"/>
              <a:t> – ab)</a:t>
            </a:r>
            <a:r>
              <a:rPr lang="en-US" sz="3200" dirty="0">
                <a:solidFill>
                  <a:srgbClr val="00B050"/>
                </a:solidFill>
              </a:rPr>
              <a:t>/(a</a:t>
            </a:r>
            <a:r>
              <a:rPr lang="en-US" sz="3200" baseline="30000" dirty="0">
                <a:solidFill>
                  <a:srgbClr val="00B050"/>
                </a:solidFill>
              </a:rPr>
              <a:t>2</a:t>
            </a:r>
            <a:r>
              <a:rPr lang="en-US" sz="3200" dirty="0">
                <a:solidFill>
                  <a:srgbClr val="00B050"/>
                </a:solidFill>
              </a:rPr>
              <a:t> – ab)</a:t>
            </a:r>
            <a:r>
              <a:rPr lang="en-US" sz="3200" dirty="0"/>
              <a:t> = (a</a:t>
            </a:r>
            <a:r>
              <a:rPr lang="en-US" sz="3200" baseline="30000" dirty="0"/>
              <a:t>2</a:t>
            </a:r>
            <a:r>
              <a:rPr lang="en-US" sz="3200" dirty="0"/>
              <a:t> – ab)</a:t>
            </a:r>
            <a:r>
              <a:rPr lang="en-US" sz="3200" dirty="0">
                <a:solidFill>
                  <a:srgbClr val="00B050"/>
                </a:solidFill>
              </a:rPr>
              <a:t>/(a</a:t>
            </a:r>
            <a:r>
              <a:rPr lang="en-US" sz="3200" baseline="30000" dirty="0">
                <a:solidFill>
                  <a:srgbClr val="00B050"/>
                </a:solidFill>
              </a:rPr>
              <a:t>2</a:t>
            </a:r>
            <a:r>
              <a:rPr lang="en-US" sz="3200" dirty="0">
                <a:solidFill>
                  <a:srgbClr val="00B050"/>
                </a:solidFill>
              </a:rPr>
              <a:t> – ab)</a:t>
            </a:r>
          </a:p>
          <a:p>
            <a:pPr algn="ctr"/>
            <a:r>
              <a:rPr lang="en-US" sz="3200" dirty="0"/>
              <a:t>2 = 1</a:t>
            </a:r>
          </a:p>
          <a:p>
            <a:pPr algn="ctr"/>
            <a:endParaRPr lang="en-US" sz="3200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Where did we go wrong?</a:t>
            </a:r>
          </a:p>
        </p:txBody>
      </p:sp>
    </p:spTree>
    <p:extLst>
      <p:ext uri="{BB962C8B-B14F-4D97-AF65-F5344CB8AC3E}">
        <p14:creationId xmlns:p14="http://schemas.microsoft.com/office/powerpoint/2010/main" val="369085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1E53-A1B4-2F53-6CF3-EAEF29EF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D38C3-035A-9791-16AF-3C0BCECB694E}"/>
                  </a:ext>
                </a:extLst>
              </p:cNvPr>
              <p:cNvSpPr txBox="1"/>
              <p:nvPr/>
            </p:nvSpPr>
            <p:spPr>
              <a:xfrm>
                <a:off x="3390297" y="2301393"/>
                <a:ext cx="2363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ED38C3-035A-9791-16AF-3C0BCECB6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297" y="2301393"/>
                <a:ext cx="2363404" cy="369332"/>
              </a:xfrm>
              <a:prstGeom prst="rect">
                <a:avLst/>
              </a:prstGeom>
              <a:blipFill>
                <a:blip r:embed="rId3"/>
                <a:stretch>
                  <a:fillRect l="-1289" t="-1667" r="-283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733F7-A9EA-DB36-D629-455056F91639}"/>
                  </a:ext>
                </a:extLst>
              </p:cNvPr>
              <p:cNvSpPr txBox="1"/>
              <p:nvPr/>
            </p:nvSpPr>
            <p:spPr>
              <a:xfrm>
                <a:off x="3543673" y="3143689"/>
                <a:ext cx="20566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5733F7-A9EA-DB36-D629-455056F91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673" y="3143689"/>
                <a:ext cx="2056653" cy="369332"/>
              </a:xfrm>
              <a:prstGeom prst="rect">
                <a:avLst/>
              </a:prstGeom>
              <a:blipFill>
                <a:blip r:embed="rId4"/>
                <a:stretch>
                  <a:fillRect l="-1479" t="-1667" r="-118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1EB4CE-4B1B-4D49-1492-81B9074663DA}"/>
                  </a:ext>
                </a:extLst>
              </p:cNvPr>
              <p:cNvSpPr txBox="1"/>
              <p:nvPr/>
            </p:nvSpPr>
            <p:spPr>
              <a:xfrm>
                <a:off x="3057899" y="3985985"/>
                <a:ext cx="3028201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1EB4CE-4B1B-4D49-1492-81B90746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899" y="3985985"/>
                <a:ext cx="3028201" cy="6939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05AE46-C255-23A7-AFE7-B301415F8FA5}"/>
                  </a:ext>
                </a:extLst>
              </p:cNvPr>
              <p:cNvSpPr txBox="1"/>
              <p:nvPr/>
            </p:nvSpPr>
            <p:spPr>
              <a:xfrm>
                <a:off x="3601381" y="5152857"/>
                <a:ext cx="1941236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05AE46-C255-23A7-AFE7-B301415F8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81" y="5152857"/>
                <a:ext cx="1941236" cy="701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58B1842C-C138-95CF-413A-6A9ACC3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Completing What Square?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8AABC-FB92-6ADD-7109-C8EEAC4A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12ABE-6315-D79B-5B5C-A27FE5CA3546}"/>
              </a:ext>
            </a:extLst>
          </p:cNvPr>
          <p:cNvSpPr txBox="1"/>
          <p:nvPr/>
        </p:nvSpPr>
        <p:spPr>
          <a:xfrm>
            <a:off x="2233864" y="1483895"/>
            <a:ext cx="4676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Where does the </a:t>
            </a:r>
            <a:r>
              <a:rPr lang="en-US" b="1" dirty="0">
                <a:solidFill>
                  <a:srgbClr val="7030A0"/>
                </a:solidFill>
              </a:rPr>
              <a:t>quadratic formula </a:t>
            </a:r>
            <a:r>
              <a:rPr lang="en-US" dirty="0">
                <a:solidFill>
                  <a:srgbClr val="7030A0"/>
                </a:solidFill>
              </a:rPr>
              <a:t>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FB9776-B879-EA6B-FC98-C1C6FF12A3C9}"/>
                  </a:ext>
                </a:extLst>
              </p:cNvPr>
              <p:cNvSpPr txBox="1"/>
              <p:nvPr/>
            </p:nvSpPr>
            <p:spPr>
              <a:xfrm>
                <a:off x="6309432" y="3985985"/>
                <a:ext cx="235443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00B050"/>
                    </a:solidFill>
                  </a:rPr>
                  <a:t>We can assume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1400" dirty="0">
                    <a:solidFill>
                      <a:srgbClr val="00B050"/>
                    </a:solidFill>
                  </a:rPr>
                  <a:t> otherwise this would just be a </a:t>
                </a:r>
                <a:r>
                  <a:rPr lang="en-US" sz="1400" b="1" dirty="0">
                    <a:solidFill>
                      <a:srgbClr val="00B050"/>
                    </a:solidFill>
                  </a:rPr>
                  <a:t>linear binomial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FB9776-B879-EA6B-FC98-C1C6FF12A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432" y="3985985"/>
                <a:ext cx="2354435" cy="738664"/>
              </a:xfrm>
              <a:prstGeom prst="rect">
                <a:avLst/>
              </a:prstGeom>
              <a:blipFill>
                <a:blip r:embed="rId7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22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01382" y="1739449"/>
                <a:ext cx="1941236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82" y="1739449"/>
                <a:ext cx="1941236" cy="701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247" y="2689684"/>
            <a:ext cx="5180952" cy="36666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DE8491-E983-4DDC-9353-C08AAC88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9350C-D44C-4FCD-9A2E-AF2C5FE90ED8}"/>
              </a:ext>
            </a:extLst>
          </p:cNvPr>
          <p:cNvCxnSpPr/>
          <p:nvPr/>
        </p:nvCxnSpPr>
        <p:spPr>
          <a:xfrm>
            <a:off x="5420032" y="3569110"/>
            <a:ext cx="0" cy="2455606"/>
          </a:xfrm>
          <a:prstGeom prst="line">
            <a:avLst/>
          </a:prstGeom>
          <a:ln w="28575">
            <a:solidFill>
              <a:srgbClr val="FF000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9732A24A-8783-4A98-9EFD-03D6D38EDB13}"/>
              </a:ext>
            </a:extLst>
          </p:cNvPr>
          <p:cNvSpPr/>
          <p:nvPr/>
        </p:nvSpPr>
        <p:spPr>
          <a:xfrm rot="956856">
            <a:off x="5622326" y="5780027"/>
            <a:ext cx="398436" cy="636014"/>
          </a:xfrm>
          <a:prstGeom prst="curvedLeftArrow">
            <a:avLst>
              <a:gd name="adj1" fmla="val 25000"/>
              <a:gd name="adj2" fmla="val 50000"/>
              <a:gd name="adj3" fmla="val 405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EBAE615-7513-39AB-7124-E0133EA3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Completing What Square?</a:t>
            </a:r>
          </a:p>
        </p:txBody>
      </p:sp>
    </p:spTree>
    <p:extLst>
      <p:ext uri="{BB962C8B-B14F-4D97-AF65-F5344CB8AC3E}">
        <p14:creationId xmlns:p14="http://schemas.microsoft.com/office/powerpoint/2010/main" val="212119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714" y="1232542"/>
            <a:ext cx="6428571" cy="5123809"/>
          </a:xfrm>
          <a:prstGeom prst="rect">
            <a:avLst/>
          </a:prstGeom>
        </p:spPr>
      </p:pic>
      <p:sp>
        <p:nvSpPr>
          <p:cNvPr id="19" name="Speech Bubble: Rectangle with Corners Rounded 18"/>
          <p:cNvSpPr/>
          <p:nvPr/>
        </p:nvSpPr>
        <p:spPr>
          <a:xfrm>
            <a:off x="5319178" y="4039008"/>
            <a:ext cx="1071102" cy="905286"/>
          </a:xfrm>
          <a:prstGeom prst="wedgeRoundRectCallout">
            <a:avLst>
              <a:gd name="adj1" fmla="val -79267"/>
              <a:gd name="adj2" fmla="val -2219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That square!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5AF30-BCD1-4982-B99A-33DFACF56B94}"/>
              </a:ext>
            </a:extLst>
          </p:cNvPr>
          <p:cNvSpPr/>
          <p:nvPr/>
        </p:nvSpPr>
        <p:spPr>
          <a:xfrm>
            <a:off x="2130426" y="2234381"/>
            <a:ext cx="2863850" cy="2874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192EB0-9E64-48D4-99C6-A6C29FC6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B9ECF-1ADD-4EE3-B746-5541DBE9EC6B}"/>
              </a:ext>
            </a:extLst>
          </p:cNvPr>
          <p:cNvSpPr/>
          <p:nvPr/>
        </p:nvSpPr>
        <p:spPr>
          <a:xfrm>
            <a:off x="4964779" y="5309419"/>
            <a:ext cx="543743" cy="715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DFE007-22A7-4DD0-B319-73551A8CD125}"/>
              </a:ext>
            </a:extLst>
          </p:cNvPr>
          <p:cNvSpPr/>
          <p:nvPr/>
        </p:nvSpPr>
        <p:spPr>
          <a:xfrm>
            <a:off x="6658385" y="3079149"/>
            <a:ext cx="543743" cy="715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75F3A7D-5AB3-4AC4-9328-3F82D5B9FA76}"/>
              </a:ext>
            </a:extLst>
          </p:cNvPr>
          <p:cNvCxnSpPr>
            <a:stCxn id="3" idx="2"/>
            <a:endCxn id="9" idx="2"/>
          </p:cNvCxnSpPr>
          <p:nvPr/>
        </p:nvCxnSpPr>
        <p:spPr>
          <a:xfrm rot="5400000" flipH="1" flipV="1">
            <a:off x="4968319" y="4062778"/>
            <a:ext cx="2230270" cy="1693606"/>
          </a:xfrm>
          <a:prstGeom prst="bentConnector3">
            <a:avLst>
              <a:gd name="adj1" fmla="val -1025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8BC6FB97-98CB-9870-4FB4-980B9FDE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Completing What Square?</a:t>
            </a:r>
          </a:p>
        </p:txBody>
      </p:sp>
    </p:spTree>
    <p:extLst>
      <p:ext uri="{BB962C8B-B14F-4D97-AF65-F5344CB8AC3E}">
        <p14:creationId xmlns:p14="http://schemas.microsoft.com/office/powerpoint/2010/main" val="150835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20" y="1468581"/>
            <a:ext cx="4838095" cy="452380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EBCA08-34E3-4C73-8764-4537783A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1E778-2AF7-1D33-7A33-3BBBAC6566F8}"/>
              </a:ext>
            </a:extLst>
          </p:cNvPr>
          <p:cNvSpPr/>
          <p:nvPr/>
        </p:nvSpPr>
        <p:spPr>
          <a:xfrm>
            <a:off x="3163529" y="4881715"/>
            <a:ext cx="3229897" cy="9365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F354165-D537-E9F0-807A-724CAA18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Completing What Square?</a:t>
            </a:r>
          </a:p>
        </p:txBody>
      </p:sp>
    </p:spTree>
    <p:extLst>
      <p:ext uri="{BB962C8B-B14F-4D97-AF65-F5344CB8AC3E}">
        <p14:creationId xmlns:p14="http://schemas.microsoft.com/office/powerpoint/2010/main" val="293348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22738" cy="4146550"/>
            <a:chOff x="196" y="558"/>
            <a:chExt cx="2597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5" y="2213"/>
              <a:ext cx="14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AEAACB-E195-4344-A1C1-72924A26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37026" cy="4146550"/>
            <a:chOff x="196" y="558"/>
            <a:chExt cx="2606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617" y="1694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055" y="2892"/>
              <a:ext cx="15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42" y="2306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894" y="2068"/>
              <a:ext cx="14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5" y="2213"/>
              <a:ext cx="14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9A1F5-2B49-4CBB-8692-5FAACC3E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0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37026" cy="4146550"/>
            <a:chOff x="196" y="558"/>
            <a:chExt cx="2606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617" y="1694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04" y="815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22" y="815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322" y="815"/>
              <a:ext cx="1181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055" y="2892"/>
              <a:ext cx="15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645" y="1162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42" y="2306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996" y="602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894" y="2068"/>
              <a:ext cx="14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894" y="1336"/>
              <a:ext cx="14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5" y="2213"/>
              <a:ext cx="14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23BDFB-D28F-48F1-8A3C-304E4D16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5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3" y="885095"/>
            <a:ext cx="4124250" cy="414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84885"/>
            <a:ext cx="4234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33BB00-8A73-42CB-AE24-6472C43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91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Area of Outer Square</a:t>
            </a:r>
          </a:p>
          <a:p>
            <a:pPr algn="ctr"/>
            <a:r>
              <a:rPr lang="en-US" sz="2000" dirty="0"/>
              <a:t>(a + b)</a:t>
            </a:r>
            <a:r>
              <a:rPr lang="en-US" sz="2000" baseline="30000" dirty="0"/>
              <a:t>2</a:t>
            </a:r>
            <a:r>
              <a:rPr lang="en-US" sz="2000" dirty="0"/>
              <a:t> = a</a:t>
            </a:r>
            <a:r>
              <a:rPr lang="en-US" sz="2000" baseline="30000" dirty="0"/>
              <a:t>2</a:t>
            </a:r>
            <a:r>
              <a:rPr lang="en-US" sz="2000" dirty="0"/>
              <a:t> + 2ab + b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37026" cy="4146550"/>
            <a:chOff x="196" y="558"/>
            <a:chExt cx="2606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04" y="815"/>
              <a:ext cx="0" cy="879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22" y="815"/>
              <a:ext cx="1181" cy="0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36" y="815"/>
              <a:ext cx="886" cy="0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436" y="815"/>
              <a:ext cx="0" cy="1172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7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055" y="2892"/>
              <a:ext cx="15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645" y="1162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818" y="602"/>
              <a:ext cx="15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42" y="2306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996" y="602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79" y="1281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0C35E6-12B2-492D-A921-1A4ED886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08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/>
              <a:t>Area of Outer Square</a:t>
            </a:r>
          </a:p>
          <a:p>
            <a:pPr algn="ctr"/>
            <a:r>
              <a:rPr lang="en-US" sz="2000" dirty="0"/>
              <a:t>(a + b)</a:t>
            </a:r>
            <a:r>
              <a:rPr lang="en-US" sz="2000" baseline="30000" dirty="0"/>
              <a:t>2</a:t>
            </a:r>
            <a:r>
              <a:rPr lang="en-US" sz="2000" dirty="0"/>
              <a:t> = a</a:t>
            </a:r>
            <a:r>
              <a:rPr lang="en-US" sz="2000" baseline="30000" dirty="0"/>
              <a:t>2</a:t>
            </a:r>
            <a:r>
              <a:rPr lang="en-US" sz="2000" dirty="0"/>
              <a:t> + 2ab + b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Area of Inner Triangles</a:t>
            </a:r>
          </a:p>
          <a:p>
            <a:pPr algn="ctr"/>
            <a:r>
              <a:rPr lang="en-US" sz="2000" dirty="0"/>
              <a:t>4 × [(a × b) / 2] = 2ab</a:t>
            </a:r>
          </a:p>
          <a:p>
            <a:pPr algn="ctr"/>
            <a:endParaRPr lang="en-US" sz="20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32263" cy="4146550"/>
            <a:chOff x="196" y="558"/>
            <a:chExt cx="2603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617" y="1694"/>
              <a:ext cx="886" cy="1172"/>
            </a:xfrm>
            <a:prstGeom prst="line">
              <a:avLst/>
            </a:prstGeom>
            <a:noFill/>
            <a:ln w="39688" cap="rnd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04" y="815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22" y="815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322" y="815"/>
              <a:ext cx="1181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36" y="815"/>
              <a:ext cx="886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436" y="815"/>
              <a:ext cx="0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436" y="815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055" y="2892"/>
              <a:ext cx="7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645" y="1162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818" y="602"/>
              <a:ext cx="15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154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42" y="2306"/>
              <a:ext cx="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996" y="602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79" y="1281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16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0C3FA0-BE03-4C3A-97E6-6511F664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2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/>
              <a:t>Area of Outer Square</a:t>
            </a:r>
          </a:p>
          <a:p>
            <a:pPr algn="ctr"/>
            <a:r>
              <a:rPr lang="en-US" sz="2000" dirty="0"/>
              <a:t>(a + b)</a:t>
            </a:r>
            <a:r>
              <a:rPr lang="en-US" sz="2000" baseline="30000" dirty="0"/>
              <a:t>2</a:t>
            </a:r>
            <a:r>
              <a:rPr lang="en-US" sz="2000" dirty="0"/>
              <a:t> = a</a:t>
            </a:r>
            <a:r>
              <a:rPr lang="en-US" sz="2000" baseline="30000" dirty="0"/>
              <a:t>2</a:t>
            </a:r>
            <a:r>
              <a:rPr lang="en-US" sz="2000" dirty="0"/>
              <a:t> + 2ab + b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/>
              <a:t>Area of Inner Triangles</a:t>
            </a:r>
          </a:p>
          <a:p>
            <a:pPr algn="ctr"/>
            <a:r>
              <a:rPr lang="en-US" sz="2000" dirty="0"/>
              <a:t>4 × [(a × b) / 2] = 2ab</a:t>
            </a:r>
          </a:p>
          <a:p>
            <a:pPr algn="ctr"/>
            <a:endParaRPr lang="en-US" sz="2000" dirty="0"/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Area of Inner Square</a:t>
            </a:r>
          </a:p>
          <a:p>
            <a:pPr algn="ctr"/>
            <a:r>
              <a:rPr lang="en-US" sz="2000" dirty="0"/>
              <a:t>c</a:t>
            </a:r>
            <a:r>
              <a:rPr lang="en-US" sz="2000" baseline="30000" dirty="0"/>
              <a:t>2</a:t>
            </a:r>
          </a:p>
          <a:p>
            <a:pPr algn="ctr"/>
            <a:endParaRPr lang="en-US" sz="20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22738" cy="4146550"/>
            <a:chOff x="196" y="558"/>
            <a:chExt cx="2597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617" y="1694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04" y="815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22" y="815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322" y="815"/>
              <a:ext cx="1181" cy="879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36" y="815"/>
              <a:ext cx="886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436" y="815"/>
              <a:ext cx="0" cy="1172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436" y="815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894" y="2068"/>
              <a:ext cx="14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894" y="1336"/>
              <a:ext cx="14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971" y="1336"/>
              <a:ext cx="141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5" y="2213"/>
              <a:ext cx="14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CBB179-FA6E-4E9F-82AE-013F11F2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12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0" y="584885"/>
            <a:ext cx="42342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Prove</a:t>
            </a:r>
            <a:r>
              <a:rPr lang="en-US" sz="2400" dirty="0"/>
              <a:t>:  </a:t>
            </a:r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rgbClr val="00B0F0"/>
                </a:solidFill>
              </a:rPr>
              <a:t>Area of Outer Square</a:t>
            </a:r>
          </a:p>
          <a:p>
            <a:pPr algn="ctr"/>
            <a:r>
              <a:rPr lang="en-US" sz="2000" dirty="0"/>
              <a:t>(a + b)</a:t>
            </a:r>
            <a:r>
              <a:rPr lang="en-US" sz="2000" baseline="30000" dirty="0"/>
              <a:t>2</a:t>
            </a:r>
            <a:r>
              <a:rPr lang="en-US" sz="2000" dirty="0"/>
              <a:t> = a</a:t>
            </a:r>
            <a:r>
              <a:rPr lang="en-US" sz="2000" baseline="30000" dirty="0"/>
              <a:t>2</a:t>
            </a:r>
            <a:r>
              <a:rPr lang="en-US" sz="2000" dirty="0"/>
              <a:t> + 2ab + b</a:t>
            </a:r>
            <a:r>
              <a:rPr lang="en-US" sz="2000" baseline="30000" dirty="0"/>
              <a:t>2</a:t>
            </a:r>
          </a:p>
          <a:p>
            <a:pPr algn="ctr"/>
            <a:endParaRPr lang="en-US" sz="2400" dirty="0"/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Area of Inner Triangles</a:t>
            </a:r>
          </a:p>
          <a:p>
            <a:pPr algn="ctr"/>
            <a:r>
              <a:rPr lang="en-US" sz="2000" dirty="0"/>
              <a:t>4 × [(a × b) / 2] = 2ab</a:t>
            </a:r>
          </a:p>
          <a:p>
            <a:pPr algn="ctr"/>
            <a:endParaRPr lang="en-US" sz="2000" dirty="0"/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Area of Inner Square</a:t>
            </a:r>
          </a:p>
          <a:p>
            <a:pPr algn="ctr"/>
            <a:r>
              <a:rPr lang="en-US" sz="2000" dirty="0"/>
              <a:t>c</a:t>
            </a:r>
            <a:r>
              <a:rPr lang="en-US" sz="2000" baseline="30000" dirty="0"/>
              <a:t>2</a:t>
            </a:r>
          </a:p>
          <a:p>
            <a:pPr algn="ctr"/>
            <a:endParaRPr lang="en-US" sz="2000" dirty="0"/>
          </a:p>
          <a:p>
            <a:pPr algn="ctr"/>
            <a:r>
              <a:rPr lang="en-US" b="1" dirty="0">
                <a:solidFill>
                  <a:srgbClr val="00B0F0"/>
                </a:solidFill>
              </a:rPr>
              <a:t>Area of Outer Square</a:t>
            </a:r>
            <a:r>
              <a:rPr lang="en-US" b="1" dirty="0"/>
              <a:t> – </a:t>
            </a:r>
            <a:r>
              <a:rPr lang="en-US" b="1" dirty="0">
                <a:solidFill>
                  <a:srgbClr val="FF0000"/>
                </a:solidFill>
              </a:rPr>
              <a:t>Area of Triangles </a:t>
            </a:r>
            <a:r>
              <a:rPr lang="en-US" b="1" dirty="0"/>
              <a:t>=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Area of Inner Square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>
                <a:solidFill>
                  <a:srgbClr val="00B0F0"/>
                </a:solidFill>
              </a:rPr>
              <a:t>[a</a:t>
            </a:r>
            <a:r>
              <a:rPr lang="en-US" sz="2000" baseline="30000" dirty="0">
                <a:solidFill>
                  <a:srgbClr val="00B0F0"/>
                </a:solidFill>
              </a:rPr>
              <a:t>2</a:t>
            </a:r>
            <a:r>
              <a:rPr lang="en-US" sz="2000" dirty="0">
                <a:solidFill>
                  <a:srgbClr val="00B0F0"/>
                </a:solidFill>
              </a:rPr>
              <a:t> + 2ab + b</a:t>
            </a:r>
            <a:r>
              <a:rPr lang="en-US" sz="2000" baseline="30000" dirty="0">
                <a:solidFill>
                  <a:srgbClr val="00B0F0"/>
                </a:solidFill>
              </a:rPr>
              <a:t>2</a:t>
            </a:r>
            <a:r>
              <a:rPr lang="en-US" sz="2000" dirty="0">
                <a:solidFill>
                  <a:srgbClr val="00B0F0"/>
                </a:solidFill>
              </a:rPr>
              <a:t>] </a:t>
            </a:r>
            <a:r>
              <a:rPr lang="en-US" sz="2000" dirty="0"/>
              <a:t>– </a:t>
            </a:r>
            <a:r>
              <a:rPr lang="en-US" sz="2000" dirty="0">
                <a:solidFill>
                  <a:srgbClr val="FF0000"/>
                </a:solidFill>
              </a:rPr>
              <a:t>2ab</a:t>
            </a:r>
            <a:r>
              <a:rPr lang="en-US" sz="2000" dirty="0"/>
              <a:t> =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c</a:t>
            </a:r>
            <a:r>
              <a:rPr lang="en-US" sz="2000" b="1" baseline="30000" dirty="0">
                <a:solidFill>
                  <a:srgbClr val="00B050"/>
                </a:solidFill>
              </a:rPr>
              <a:t>2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      a</a:t>
            </a:r>
            <a:r>
              <a:rPr lang="en-US" sz="2000" b="1" baseline="30000" dirty="0"/>
              <a:t>2</a:t>
            </a:r>
            <a:r>
              <a:rPr lang="en-US" sz="2000" b="1" dirty="0"/>
              <a:t> + b</a:t>
            </a:r>
            <a:r>
              <a:rPr lang="en-US" sz="2000" b="1" baseline="30000" dirty="0"/>
              <a:t>2</a:t>
            </a:r>
            <a:r>
              <a:rPr lang="en-US" sz="2000" b="1" dirty="0"/>
              <a:t> = c</a:t>
            </a:r>
            <a:r>
              <a:rPr lang="en-US" sz="2000" b="1" baseline="30000" dirty="0"/>
              <a:t>2</a:t>
            </a:r>
          </a:p>
          <a:p>
            <a:endParaRPr lang="en-US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11150" y="885825"/>
            <a:ext cx="4122738" cy="4146550"/>
            <a:chOff x="196" y="558"/>
            <a:chExt cx="2597" cy="2612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6" y="558"/>
              <a:ext cx="2597" cy="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617" y="2866"/>
              <a:ext cx="886" cy="0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2504" y="1694"/>
              <a:ext cx="0" cy="1172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1617" y="1694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504" y="815"/>
              <a:ext cx="0" cy="879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22" y="815"/>
              <a:ext cx="1181" cy="0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322" y="815"/>
              <a:ext cx="1181" cy="879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36" y="815"/>
              <a:ext cx="886" cy="0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436" y="815"/>
              <a:ext cx="0" cy="1172"/>
            </a:xfrm>
            <a:prstGeom prst="line">
              <a:avLst/>
            </a:prstGeom>
            <a:noFill/>
            <a:ln w="39688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436" y="815"/>
              <a:ext cx="886" cy="1172"/>
            </a:xfrm>
            <a:prstGeom prst="line">
              <a:avLst/>
            </a:prstGeom>
            <a:noFill/>
            <a:ln w="39688" cap="rnd">
              <a:solidFill>
                <a:srgbClr val="00B05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436" y="1987"/>
              <a:ext cx="0" cy="879"/>
            </a:xfrm>
            <a:prstGeom prst="line">
              <a:avLst/>
            </a:prstGeom>
            <a:noFill/>
            <a:ln w="39688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36" y="2866"/>
              <a:ext cx="1181" cy="0"/>
            </a:xfrm>
            <a:prstGeom prst="line">
              <a:avLst/>
            </a:prstGeom>
            <a:noFill/>
            <a:ln w="39688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36" y="1987"/>
              <a:ext cx="1182" cy="879"/>
            </a:xfrm>
            <a:prstGeom prst="line">
              <a:avLst/>
            </a:prstGeom>
            <a:noFill/>
            <a:ln w="39688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2055" y="2892"/>
              <a:ext cx="7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645" y="1162"/>
              <a:ext cx="7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818" y="602"/>
              <a:ext cx="7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82" y="2361"/>
              <a:ext cx="7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effectLst/>
                  <a:latin typeface="Calibri" panose="020F0502020204030204" pitchFamily="34" charset="0"/>
                </a:rPr>
                <a:t>a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642" y="2306"/>
              <a:ext cx="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996" y="602"/>
              <a:ext cx="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79" y="1281"/>
              <a:ext cx="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62" y="2919"/>
              <a:ext cx="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effectLst/>
                  <a:latin typeface="Calibri" panose="020F0502020204030204" pitchFamily="34" charset="0"/>
                </a:rPr>
                <a:t>b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894" y="2068"/>
              <a:ext cx="142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894" y="1336"/>
              <a:ext cx="14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971" y="1336"/>
              <a:ext cx="141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5" y="2213"/>
              <a:ext cx="14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12B05A-64A3-4D03-B602-3A4F368B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0DBF2F-3B6E-EBB5-C24C-CDC5EA0BEC93}"/>
              </a:ext>
            </a:extLst>
          </p:cNvPr>
          <p:cNvCxnSpPr/>
          <p:nvPr/>
        </p:nvCxnSpPr>
        <p:spPr>
          <a:xfrm flipV="1">
            <a:off x="5983705" y="5133474"/>
            <a:ext cx="368969" cy="4331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98DC150-FCB0-7FBD-FDBB-D40F37BC2A0B}"/>
              </a:ext>
            </a:extLst>
          </p:cNvPr>
          <p:cNvCxnSpPr/>
          <p:nvPr/>
        </p:nvCxnSpPr>
        <p:spPr>
          <a:xfrm flipV="1">
            <a:off x="7117681" y="5133474"/>
            <a:ext cx="368969" cy="4331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A31616E-C97B-341B-23E2-55013191F6DA}"/>
              </a:ext>
            </a:extLst>
          </p:cNvPr>
          <p:cNvSpPr/>
          <p:nvPr/>
        </p:nvSpPr>
        <p:spPr>
          <a:xfrm>
            <a:off x="6160168" y="5759116"/>
            <a:ext cx="1411706" cy="4331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36D9-2602-7570-0CBA-3E3D0DC9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A41E-DC8B-9D61-9500-A91989A6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Pythagorean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ADFC8-A47C-B98A-B9A9-6C3E53B9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53A8BE-BA7B-D4EF-8095-B615D623C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190" y="1367451"/>
            <a:ext cx="6847619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41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Pythagorean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B6FE5-1150-FE65-D87D-1E789B1A2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79" y="1468581"/>
            <a:ext cx="7483642" cy="478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9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28909D3-E069-4B59-8043-0006112F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Generalized</a:t>
            </a:r>
            <a:r>
              <a:rPr lang="en-US" sz="3200" dirty="0">
                <a:latin typeface="+mn-lt"/>
              </a:rPr>
              <a:t> Pythagorean Theorem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846B9-81DB-4659-8800-24E50D0A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62" y="1832443"/>
            <a:ext cx="3666667" cy="174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CF3AA4-F67B-4B51-B220-34C75BA76161}"/>
                  </a:ext>
                </a:extLst>
              </p:cNvPr>
              <p:cNvSpPr txBox="1"/>
              <p:nvPr/>
            </p:nvSpPr>
            <p:spPr>
              <a:xfrm>
                <a:off x="4899228" y="3781437"/>
                <a:ext cx="282519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CF3AA4-F67B-4B51-B220-34C75BA76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228" y="3781437"/>
                <a:ext cx="2825197" cy="276999"/>
              </a:xfrm>
              <a:prstGeom prst="rect">
                <a:avLst/>
              </a:prstGeom>
              <a:blipFill>
                <a:blip r:embed="rId5"/>
                <a:stretch>
                  <a:fillRect l="-302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F7771D-80D7-44C6-8C9C-B744CE096F94}"/>
                  </a:ext>
                </a:extLst>
              </p:cNvPr>
              <p:cNvSpPr txBox="1"/>
              <p:nvPr/>
            </p:nvSpPr>
            <p:spPr>
              <a:xfrm>
                <a:off x="4756772" y="1768746"/>
                <a:ext cx="3666667" cy="665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h𝑦𝑝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F7771D-80D7-44C6-8C9C-B744CE096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772" y="1768746"/>
                <a:ext cx="3666667" cy="6655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955637-5FC6-4E63-9539-2D56684B30A1}"/>
                  </a:ext>
                </a:extLst>
              </p:cNvPr>
              <p:cNvSpPr txBox="1"/>
              <p:nvPr/>
            </p:nvSpPr>
            <p:spPr>
              <a:xfrm>
                <a:off x="4840427" y="2529415"/>
                <a:ext cx="3499356" cy="565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𝑜𝑝𝑝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h𝑦𝑝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955637-5FC6-4E63-9539-2D56684B3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427" y="2529415"/>
                <a:ext cx="3499356" cy="5658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DF6B10-72D1-493A-A91C-E4FEC568EC8E}"/>
                  </a:ext>
                </a:extLst>
              </p:cNvPr>
              <p:cNvSpPr txBox="1"/>
              <p:nvPr/>
            </p:nvSpPr>
            <p:spPr>
              <a:xfrm>
                <a:off x="430202" y="4083621"/>
                <a:ext cx="949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𝐴𝐵𝐷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DF6B10-72D1-493A-A91C-E4FEC568E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02" y="4083621"/>
                <a:ext cx="949299" cy="276999"/>
              </a:xfrm>
              <a:prstGeom prst="rect">
                <a:avLst/>
              </a:prstGeom>
              <a:blipFill>
                <a:blip r:embed="rId8"/>
                <a:stretch>
                  <a:fillRect l="-15484" t="-28889" r="-14194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3E545C-5FDF-40C5-9ABD-BE73DD95697C}"/>
                  </a:ext>
                </a:extLst>
              </p:cNvPr>
              <p:cNvSpPr txBox="1"/>
              <p:nvPr/>
            </p:nvSpPr>
            <p:spPr>
              <a:xfrm>
                <a:off x="4404982" y="1585004"/>
                <a:ext cx="9412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𝐵𝐶𝐷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3E545C-5FDF-40C5-9ABD-BE73DD956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982" y="1585004"/>
                <a:ext cx="941283" cy="276999"/>
              </a:xfrm>
              <a:prstGeom prst="rect">
                <a:avLst/>
              </a:prstGeom>
              <a:blipFill>
                <a:blip r:embed="rId9"/>
                <a:stretch>
                  <a:fillRect l="-15584" t="-28889" r="-14286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BA667A-82D0-45AA-9705-303DEC36EBE3}"/>
                  </a:ext>
                </a:extLst>
              </p:cNvPr>
              <p:cNvSpPr txBox="1"/>
              <p:nvPr/>
            </p:nvSpPr>
            <p:spPr>
              <a:xfrm>
                <a:off x="535873" y="4591942"/>
                <a:ext cx="1701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BA667A-82D0-45AA-9705-303DEC36E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3" y="4591942"/>
                <a:ext cx="1701300" cy="276999"/>
              </a:xfrm>
              <a:prstGeom prst="rect">
                <a:avLst/>
              </a:prstGeom>
              <a:blipFill>
                <a:blip r:embed="rId10"/>
                <a:stretch>
                  <a:fillRect l="-1434" t="-4348" r="-7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F1CC31-8FB2-4600-9D91-05081907C238}"/>
                  </a:ext>
                </a:extLst>
              </p:cNvPr>
              <p:cNvSpPr txBox="1"/>
              <p:nvPr/>
            </p:nvSpPr>
            <p:spPr>
              <a:xfrm>
                <a:off x="4416010" y="3345075"/>
                <a:ext cx="9302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F1CC31-8FB2-4600-9D91-05081907C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10" y="3345075"/>
                <a:ext cx="930255" cy="276999"/>
              </a:xfrm>
              <a:prstGeom prst="rect">
                <a:avLst/>
              </a:prstGeom>
              <a:blipFill>
                <a:blip r:embed="rId11"/>
                <a:stretch>
                  <a:fillRect l="-15033" t="-28889" r="-14379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630A9E-A9B0-498C-93E3-D8D8C3ADF024}"/>
                  </a:ext>
                </a:extLst>
              </p:cNvPr>
              <p:cNvSpPr txBox="1"/>
              <p:nvPr/>
            </p:nvSpPr>
            <p:spPr>
              <a:xfrm>
                <a:off x="535873" y="5100263"/>
                <a:ext cx="3189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D630A9E-A9B0-498C-93E3-D8D8C3AD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3" y="5100263"/>
                <a:ext cx="3189656" cy="276999"/>
              </a:xfrm>
              <a:prstGeom prst="rect">
                <a:avLst/>
              </a:prstGeom>
              <a:blipFill>
                <a:blip r:embed="rId12"/>
                <a:stretch>
                  <a:fillRect l="-574" t="-4444" r="-38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DF68C1-0FD6-43BC-A810-4F0A160E9C8F}"/>
                  </a:ext>
                </a:extLst>
              </p:cNvPr>
              <p:cNvSpPr txBox="1"/>
              <p:nvPr/>
            </p:nvSpPr>
            <p:spPr>
              <a:xfrm>
                <a:off x="535873" y="5608584"/>
                <a:ext cx="4220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DF68C1-0FD6-43BC-A810-4F0A160E9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3" y="5608584"/>
                <a:ext cx="4220899" cy="276999"/>
              </a:xfrm>
              <a:prstGeom prst="rect">
                <a:avLst/>
              </a:prstGeom>
              <a:blipFill>
                <a:blip r:embed="rId13"/>
                <a:stretch>
                  <a:fillRect l="-289" t="-4444" r="-723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724BAB-35B5-408B-8D9D-7F31ECDA0384}"/>
                  </a:ext>
                </a:extLst>
              </p:cNvPr>
              <p:cNvSpPr txBox="1"/>
              <p:nvPr/>
            </p:nvSpPr>
            <p:spPr>
              <a:xfrm>
                <a:off x="535873" y="6152532"/>
                <a:ext cx="2544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724BAB-35B5-408B-8D9D-7F31ECDA0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3" y="6152532"/>
                <a:ext cx="2544736" cy="276999"/>
              </a:xfrm>
              <a:prstGeom prst="rect">
                <a:avLst/>
              </a:prstGeom>
              <a:blipFill>
                <a:blip r:embed="rId14"/>
                <a:stretch>
                  <a:fillRect l="-959" t="-4348" r="-1439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89D9B3F-E980-44B2-89EC-73980424A6EE}"/>
              </a:ext>
            </a:extLst>
          </p:cNvPr>
          <p:cNvGrpSpPr/>
          <p:nvPr/>
        </p:nvGrpSpPr>
        <p:grpSpPr>
          <a:xfrm>
            <a:off x="4899228" y="4289170"/>
            <a:ext cx="3189656" cy="2196296"/>
            <a:chOff x="5095408" y="4296578"/>
            <a:chExt cx="3189656" cy="219629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A97766-ED00-424C-85EB-CC0999316908}"/>
                </a:ext>
              </a:extLst>
            </p:cNvPr>
            <p:cNvGrpSpPr/>
            <p:nvPr/>
          </p:nvGrpSpPr>
          <p:grpSpPr>
            <a:xfrm>
              <a:off x="5095408" y="4343008"/>
              <a:ext cx="3189656" cy="2103436"/>
              <a:chOff x="5067024" y="4296578"/>
              <a:chExt cx="3189656" cy="210343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FD9C57-CD8A-46B5-BB01-F283886F34F4}"/>
                  </a:ext>
                </a:extLst>
              </p:cNvPr>
              <p:cNvSpPr txBox="1"/>
              <p:nvPr/>
            </p:nvSpPr>
            <p:spPr>
              <a:xfrm>
                <a:off x="5633152" y="4296578"/>
                <a:ext cx="20574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7030A0"/>
                    </a:solidFill>
                  </a:rPr>
                  <a:t>Law of Cosines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3FC191-F96F-48D3-B881-154DA58C61BB}"/>
                  </a:ext>
                </a:extLst>
              </p:cNvPr>
              <p:cNvSpPr txBox="1"/>
              <p:nvPr/>
            </p:nvSpPr>
            <p:spPr>
              <a:xfrm>
                <a:off x="5067024" y="4645688"/>
                <a:ext cx="3189656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The square of a side of a triangle equals the sum of the squares of the remaining sides minus twice the product of those sides and the </a:t>
                </a:r>
                <a:r>
                  <a:rPr lang="en-US" b="1" i="1" dirty="0"/>
                  <a:t>cosine</a:t>
                </a:r>
                <a:r>
                  <a:rPr lang="en-US" i="1" dirty="0"/>
                  <a:t> of the angle between them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8C2F993-C12C-46C7-9C80-4B3F9F788077}"/>
                </a:ext>
              </a:extLst>
            </p:cNvPr>
            <p:cNvSpPr/>
            <p:nvPr/>
          </p:nvSpPr>
          <p:spPr>
            <a:xfrm>
              <a:off x="5095408" y="4296578"/>
              <a:ext cx="3189656" cy="2196296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D0EF190-ABCC-FB8F-3AAD-EC3E14F229F7}"/>
              </a:ext>
            </a:extLst>
          </p:cNvPr>
          <p:cNvSpPr/>
          <p:nvPr/>
        </p:nvSpPr>
        <p:spPr>
          <a:xfrm>
            <a:off x="7505700" y="1952625"/>
            <a:ext cx="735806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C231A-5BBC-D517-06A9-1D609B181360}"/>
              </a:ext>
            </a:extLst>
          </p:cNvPr>
          <p:cNvSpPr/>
          <p:nvPr/>
        </p:nvSpPr>
        <p:spPr>
          <a:xfrm>
            <a:off x="5893341" y="3764615"/>
            <a:ext cx="338390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76F5F65-5AA4-C349-5B61-8CE9AB54A7C6}"/>
              </a:ext>
            </a:extLst>
          </p:cNvPr>
          <p:cNvCxnSpPr>
            <a:stCxn id="2" idx="3"/>
            <a:endCxn id="3" idx="0"/>
          </p:cNvCxnSpPr>
          <p:nvPr/>
        </p:nvCxnSpPr>
        <p:spPr>
          <a:xfrm flipH="1">
            <a:off x="6062536" y="2116121"/>
            <a:ext cx="2178970" cy="1648494"/>
          </a:xfrm>
          <a:prstGeom prst="bentConnector4">
            <a:avLst>
              <a:gd name="adj1" fmla="val -10491"/>
              <a:gd name="adj2" fmla="val 7313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01A2648-2033-5945-E666-A567502BC546}"/>
              </a:ext>
            </a:extLst>
          </p:cNvPr>
          <p:cNvSpPr/>
          <p:nvPr/>
        </p:nvSpPr>
        <p:spPr>
          <a:xfrm>
            <a:off x="6479381" y="3764615"/>
            <a:ext cx="1123950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029CC4-DB87-EBEF-0023-F001D4FFB6F8}"/>
              </a:ext>
            </a:extLst>
          </p:cNvPr>
          <p:cNvSpPr/>
          <p:nvPr/>
        </p:nvSpPr>
        <p:spPr>
          <a:xfrm>
            <a:off x="1055116" y="4566945"/>
            <a:ext cx="482022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7572A35-56E8-BB58-514F-71F27E7AB51A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 flipH="1">
            <a:off x="1296127" y="3928111"/>
            <a:ext cx="6307204" cy="638834"/>
          </a:xfrm>
          <a:prstGeom prst="bentConnector4">
            <a:avLst>
              <a:gd name="adj1" fmla="val -3624"/>
              <a:gd name="adj2" fmla="val 7266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6B678-140C-0A73-D07D-F12D671833D2}"/>
              </a:ext>
            </a:extLst>
          </p:cNvPr>
          <p:cNvSpPr/>
          <p:nvPr/>
        </p:nvSpPr>
        <p:spPr>
          <a:xfrm>
            <a:off x="7501842" y="2656935"/>
            <a:ext cx="735806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7A78D4-F98C-7F75-6220-77688B926895}"/>
              </a:ext>
            </a:extLst>
          </p:cNvPr>
          <p:cNvSpPr/>
          <p:nvPr/>
        </p:nvSpPr>
        <p:spPr>
          <a:xfrm>
            <a:off x="1743532" y="4566945"/>
            <a:ext cx="482021" cy="3269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F1F3616-1D99-8576-176B-61F33FCB770B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>
          <a:xfrm flipH="1">
            <a:off x="1984543" y="2820431"/>
            <a:ext cx="6253105" cy="1746514"/>
          </a:xfrm>
          <a:prstGeom prst="bentConnector4">
            <a:avLst>
              <a:gd name="adj1" fmla="val -3656"/>
              <a:gd name="adj2" fmla="val 1992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FEDE47-38F8-C32A-D7F2-55CA3103D5DE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1695450" y="5488378"/>
            <a:ext cx="906751" cy="473666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579D854-3811-1491-7442-421334ECF386}"/>
              </a:ext>
            </a:extLst>
          </p:cNvPr>
          <p:cNvSpPr txBox="1"/>
          <p:nvPr/>
        </p:nvSpPr>
        <p:spPr>
          <a:xfrm>
            <a:off x="2602201" y="5334489"/>
            <a:ext cx="197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B9D168-0B30-3772-4A2A-D9F79A320C58}"/>
              </a:ext>
            </a:extLst>
          </p:cNvPr>
          <p:cNvSpPr/>
          <p:nvPr/>
        </p:nvSpPr>
        <p:spPr>
          <a:xfrm>
            <a:off x="499962" y="6073160"/>
            <a:ext cx="2637376" cy="43103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8EA844-72A6-39F9-0278-60D3FD06B534}"/>
              </a:ext>
            </a:extLst>
          </p:cNvPr>
          <p:cNvCxnSpPr>
            <a:cxnSpLocks/>
          </p:cNvCxnSpPr>
          <p:nvPr/>
        </p:nvCxnSpPr>
        <p:spPr>
          <a:xfrm flipH="1">
            <a:off x="783431" y="2216944"/>
            <a:ext cx="866775" cy="117633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0B6084-256C-7E03-DD57-7E267489CAC0}"/>
              </a:ext>
            </a:extLst>
          </p:cNvPr>
          <p:cNvCxnSpPr>
            <a:cxnSpLocks/>
          </p:cNvCxnSpPr>
          <p:nvPr/>
        </p:nvCxnSpPr>
        <p:spPr>
          <a:xfrm flipH="1">
            <a:off x="776288" y="3393281"/>
            <a:ext cx="89773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1ECFBA-3B6B-308D-5C66-A61C006C7E19}"/>
              </a:ext>
            </a:extLst>
          </p:cNvPr>
          <p:cNvCxnSpPr>
            <a:cxnSpLocks/>
          </p:cNvCxnSpPr>
          <p:nvPr/>
        </p:nvCxnSpPr>
        <p:spPr>
          <a:xfrm>
            <a:off x="1645444" y="2226468"/>
            <a:ext cx="23813" cy="117395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AB8E90-0562-8E14-2E3F-7A3B7E5D6A7D}"/>
              </a:ext>
            </a:extLst>
          </p:cNvPr>
          <p:cNvCxnSpPr>
            <a:cxnSpLocks/>
          </p:cNvCxnSpPr>
          <p:nvPr/>
        </p:nvCxnSpPr>
        <p:spPr>
          <a:xfrm flipH="1" flipV="1">
            <a:off x="1645444" y="2226468"/>
            <a:ext cx="2257425" cy="11668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8035F0-D9D9-6F9F-86DB-5EFA74450F1F}"/>
              </a:ext>
            </a:extLst>
          </p:cNvPr>
          <p:cNvCxnSpPr>
            <a:cxnSpLocks/>
          </p:cNvCxnSpPr>
          <p:nvPr/>
        </p:nvCxnSpPr>
        <p:spPr>
          <a:xfrm flipH="1">
            <a:off x="783431" y="2224007"/>
            <a:ext cx="862013" cy="116451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84877F-47E7-641B-A737-01B3EE9A8E6B}"/>
              </a:ext>
            </a:extLst>
          </p:cNvPr>
          <p:cNvCxnSpPr>
            <a:cxnSpLocks/>
          </p:cNvCxnSpPr>
          <p:nvPr/>
        </p:nvCxnSpPr>
        <p:spPr>
          <a:xfrm flipV="1">
            <a:off x="771526" y="3388519"/>
            <a:ext cx="3105149" cy="24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B02E6E6-0C3B-52CD-31EF-34BF327F4FE4}"/>
              </a:ext>
            </a:extLst>
          </p:cNvPr>
          <p:cNvCxnSpPr>
            <a:cxnSpLocks/>
          </p:cNvCxnSpPr>
          <p:nvPr/>
        </p:nvCxnSpPr>
        <p:spPr>
          <a:xfrm flipH="1" flipV="1">
            <a:off x="1645444" y="2226468"/>
            <a:ext cx="2231231" cy="11620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CB4B5E8-5596-69DD-A038-E51D6A2353FA}"/>
              </a:ext>
            </a:extLst>
          </p:cNvPr>
          <p:cNvCxnSpPr>
            <a:cxnSpLocks/>
          </p:cNvCxnSpPr>
          <p:nvPr/>
        </p:nvCxnSpPr>
        <p:spPr>
          <a:xfrm>
            <a:off x="1652135" y="2226467"/>
            <a:ext cx="23813" cy="116205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BD09BA4-2310-E901-417E-0C516A42CEC6}"/>
              </a:ext>
            </a:extLst>
          </p:cNvPr>
          <p:cNvCxnSpPr>
            <a:cxnSpLocks/>
          </p:cNvCxnSpPr>
          <p:nvPr/>
        </p:nvCxnSpPr>
        <p:spPr>
          <a:xfrm>
            <a:off x="1670448" y="3387920"/>
            <a:ext cx="220265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F680694-D739-51E6-6B13-93C33465619D}"/>
              </a:ext>
            </a:extLst>
          </p:cNvPr>
          <p:cNvSpPr txBox="1"/>
          <p:nvPr/>
        </p:nvSpPr>
        <p:spPr>
          <a:xfrm>
            <a:off x="2403063" y="4570242"/>
            <a:ext cx="1873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Pythagorean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D6C1F7-719B-0514-33F0-55D36A19E459}"/>
                  </a:ext>
                </a:extLst>
              </p:cNvPr>
              <p:cNvSpPr txBox="1"/>
              <p:nvPr/>
            </p:nvSpPr>
            <p:spPr>
              <a:xfrm>
                <a:off x="3239298" y="6124254"/>
                <a:ext cx="1267612" cy="344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sup>
                          </m:sSup>
                        </m:e>
                      </m:func>
                      <m:r>
                        <a:rPr lang="en-US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D6C1F7-719B-0514-33F0-55D36A19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298" y="6124254"/>
                <a:ext cx="1267612" cy="3441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E0C187-F4CA-9EF8-E43E-02687F8F9CD0}"/>
              </a:ext>
            </a:extLst>
          </p:cNvPr>
          <p:cNvCxnSpPr>
            <a:cxnSpLocks/>
          </p:cNvCxnSpPr>
          <p:nvPr/>
        </p:nvCxnSpPr>
        <p:spPr>
          <a:xfrm>
            <a:off x="1944437" y="6304718"/>
            <a:ext cx="1096067" cy="23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86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" grpId="0" animBg="1"/>
      <p:bldP spid="2" grpId="1" animBg="1"/>
      <p:bldP spid="3" grpId="0" animBg="1"/>
      <p:bldP spid="3" grpId="1" animBg="1"/>
      <p:bldP spid="9" grpId="0" animBg="1"/>
      <p:bldP spid="9" grpId="1" animBg="1"/>
      <p:bldP spid="10" grpId="0" animBg="1"/>
      <p:bldP spid="10" grpId="1" animBg="1"/>
      <p:bldP spid="30" grpId="0" animBg="1"/>
      <p:bldP spid="30" grpId="1" animBg="1"/>
      <p:bldP spid="31" grpId="0" animBg="1"/>
      <p:bldP spid="31" grpId="1" animBg="1"/>
      <p:bldP spid="42" grpId="0"/>
      <p:bldP spid="42" grpId="1"/>
      <p:bldP spid="47" grpId="0" animBg="1"/>
      <p:bldP spid="71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919" y="1821585"/>
            <a:ext cx="4249862" cy="43706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Analytic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98988" y="1821585"/>
            <a:ext cx="2184400" cy="10731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Created by René Descartes in 1637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88" y="3025631"/>
            <a:ext cx="2200000" cy="2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08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Polar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49" y="1555736"/>
            <a:ext cx="2808844" cy="24717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285" y="3241813"/>
            <a:ext cx="3060362" cy="3029758"/>
          </a:xfrm>
          <a:prstGeom prst="rect">
            <a:avLst/>
          </a:prstGeom>
        </p:spPr>
      </p:pic>
      <p:sp>
        <p:nvSpPr>
          <p:cNvPr id="3" name="Oval 2"/>
          <p:cNvSpPr>
            <a:spLocks/>
          </p:cNvSpPr>
          <p:nvPr/>
        </p:nvSpPr>
        <p:spPr>
          <a:xfrm>
            <a:off x="7163426" y="4122326"/>
            <a:ext cx="242036" cy="2404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09344" y="3504640"/>
                <a:ext cx="3550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 </m:t>
                          </m:r>
                          <m:func>
                            <m:func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344" y="3504640"/>
                <a:ext cx="355020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106179" y="1779301"/>
            <a:ext cx="4166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radius and an angle (theta)</a:t>
            </a:r>
          </a:p>
          <a:p>
            <a:pPr algn="ctr"/>
            <a:r>
              <a:rPr lang="en-US" sz="2400" dirty="0"/>
              <a:t>make a 2D polar coordinate</a:t>
            </a:r>
          </a:p>
        </p:txBody>
      </p:sp>
    </p:spTree>
    <p:extLst>
      <p:ext uri="{BB962C8B-B14F-4D97-AF65-F5344CB8AC3E}">
        <p14:creationId xmlns:p14="http://schemas.microsoft.com/office/powerpoint/2010/main" val="119094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Polar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49" y="1555736"/>
            <a:ext cx="2808844" cy="2471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B72A69-6B63-08FB-B8DB-43B89A56C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79" y="2136273"/>
            <a:ext cx="3989972" cy="378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4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365" y="1287069"/>
            <a:ext cx="5251844" cy="52518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Polar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36893" y="1213399"/>
            <a:ext cx="2312377" cy="2289253"/>
            <a:chOff x="2359625" y="4149292"/>
            <a:chExt cx="2312377" cy="228925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9625" y="4149292"/>
              <a:ext cx="2312377" cy="2289253"/>
            </a:xfrm>
            <a:prstGeom prst="rect">
              <a:avLst/>
            </a:prstGeom>
          </p:spPr>
        </p:pic>
        <p:sp>
          <p:nvSpPr>
            <p:cNvPr id="3" name="Oval 2"/>
            <p:cNvSpPr>
              <a:spLocks/>
            </p:cNvSpPr>
            <p:nvPr/>
          </p:nvSpPr>
          <p:spPr>
            <a:xfrm>
              <a:off x="4364445" y="4833982"/>
              <a:ext cx="182880" cy="18288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4670" y="4199861"/>
                <a:ext cx="273256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Angles are measured in</a:t>
                </a:r>
              </a:p>
              <a:p>
                <a:pPr algn="ctr"/>
                <a:r>
                  <a:rPr lang="en-US" sz="2400" b="1" dirty="0">
                    <a:solidFill>
                      <a:srgbClr val="FF0000"/>
                    </a:solidFill>
                  </a:rPr>
                  <a:t>radians</a:t>
                </a:r>
              </a:p>
              <a:p>
                <a:pPr algn="ctr"/>
                <a:r>
                  <a:rPr lang="en-US" sz="2400" dirty="0"/>
                  <a:t>(0 ≤ </a:t>
                </a:r>
                <a:r>
                  <a:rPr lang="el-GR" sz="2400" dirty="0"/>
                  <a:t>θ</a:t>
                </a:r>
                <a:r>
                  <a:rPr lang="en-US" sz="2400" dirty="0"/>
                  <a:t> ≤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70" y="4199861"/>
                <a:ext cx="2732567" cy="1569660"/>
              </a:xfrm>
              <a:prstGeom prst="rect">
                <a:avLst/>
              </a:prstGeom>
              <a:blipFill rotWithShape="0">
                <a:blip r:embed="rId5"/>
                <a:stretch>
                  <a:fillRect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864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0341-163F-3546-6F7D-D3E4948A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B642-B985-1E14-E316-41C66B69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C16DD-5B86-BD8E-F4FA-356ED68838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Approximately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2,250</a:t>
                </a:r>
                <a:r>
                  <a:rPr lang="en-US" sz="2400" dirty="0"/>
                  <a:t> years ago, </a:t>
                </a:r>
                <a:r>
                  <a:rPr lang="en-US" sz="2400" b="1" dirty="0"/>
                  <a:t>Archimedes</a:t>
                </a:r>
                <a:r>
                  <a:rPr lang="en-US" sz="2400" dirty="0"/>
                  <a:t> discovered the formula for the area of a circle and shared the analysis in his treatise </a:t>
                </a:r>
                <a:r>
                  <a:rPr lang="en-US" sz="2400" i="1" dirty="0"/>
                  <a:t>Measurement of a Circle</a:t>
                </a:r>
                <a:endParaRPr lang="en-US" sz="2400" dirty="0"/>
              </a:p>
              <a:p>
                <a:r>
                  <a:rPr lang="en-US" sz="2400" dirty="0"/>
                  <a:t>His method involved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tiling the inside of a circle </a:t>
                </a:r>
                <a:r>
                  <a:rPr lang="en-US" sz="2400" dirty="0"/>
                  <a:t>with an increasing number of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isosceles triangles</a:t>
                </a:r>
              </a:p>
              <a:p>
                <a:r>
                  <a:rPr lang="en-US" sz="2400" dirty="0"/>
                  <a:t>One vertex of each triangle was at the </a:t>
                </a:r>
                <a:r>
                  <a:rPr lang="en-US" sz="2400" b="1" dirty="0"/>
                  <a:t>origin</a:t>
                </a:r>
                <a:r>
                  <a:rPr lang="en-US" sz="2400" dirty="0"/>
                  <a:t> (the center of the circle)</a:t>
                </a:r>
              </a:p>
              <a:p>
                <a:r>
                  <a:rPr lang="en-US" sz="2400" dirty="0"/>
                  <a:t>He set the two equal sides of each triangle to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radius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of the circle</a:t>
                </a:r>
              </a:p>
              <a:p>
                <a:r>
                  <a:rPr lang="en-US" sz="2400" dirty="0"/>
                  <a:t>By </a:t>
                </a:r>
                <a:r>
                  <a:rPr lang="en-US" sz="2400" b="1" dirty="0"/>
                  <a:t>summing</a:t>
                </a:r>
                <a:r>
                  <a:rPr lang="en-US" sz="2400" dirty="0"/>
                  <a:t> the combined area of each triangle, and increasing the number of triangles to </a:t>
                </a:r>
                <a:r>
                  <a:rPr lang="en-US" sz="2400" b="1" dirty="0"/>
                  <a:t>infinity</a:t>
                </a:r>
                <a:r>
                  <a:rPr lang="en-US" sz="2400" dirty="0"/>
                  <a:t>, he found the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4C16DD-5B86-BD8E-F4FA-356ED68838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 r="-1468" b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F24F-EBC0-EBA6-30A8-FE1F9567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0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CB67-E7EB-4822-0E18-A143F650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224F-37EF-490D-FCEC-9917FDFF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45F1C-34AC-5589-1864-6CB5DFAC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0EBE6-9BB4-5C54-D808-13B59E8E7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998" y="1943059"/>
            <a:ext cx="40005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B1C221-D920-9295-0188-10ADB38EF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02" y="1943059"/>
            <a:ext cx="4630832" cy="40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4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2C31-3C7C-AC0F-D8F3-CF888AEA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4C4B-76EE-4FD7-FD2E-260B350ED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175CB-C13F-6997-5FBC-43732576E4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But how do you find the area of an isosceles triangle if you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only know the length </a:t>
                </a:r>
                <a:r>
                  <a:rPr lang="en-US" sz="2400" dirty="0"/>
                  <a:t>of its equal sides?</a:t>
                </a:r>
              </a:p>
              <a:p>
                <a:r>
                  <a:rPr lang="en-US" sz="2400" dirty="0"/>
                  <a:t>We know the area of a triangle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Therefore, need to find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height</a:t>
                </a:r>
                <a:r>
                  <a:rPr lang="en-US" sz="2400" dirty="0"/>
                  <a:t> of these inscribed isosceles triangles</a:t>
                </a:r>
              </a:p>
              <a:p>
                <a:r>
                  <a:rPr lang="en-US" sz="2400" dirty="0"/>
                  <a:t>This is a topic you will cover in a high school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Trigonometry</a:t>
                </a:r>
                <a:r>
                  <a:rPr lang="en-US" sz="2400" dirty="0"/>
                  <a:t> course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3175CB-C13F-6997-5FBC-43732576E4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FCAED-F532-7650-0CCD-DCE38CC7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1AAC-2C4F-4AAF-299E-1F79AB17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7B1AFA0-D682-B090-531A-50689BD02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3" y="1479528"/>
            <a:ext cx="7724274" cy="5087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733B4B-2DBE-96F0-DCCC-BE4B159D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1839E-3179-ECD7-B557-A539097E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5C9B8-E730-39B3-13D1-9019C7C8297F}"/>
                  </a:ext>
                </a:extLst>
              </p:cNvPr>
              <p:cNvSpPr txBox="1"/>
              <p:nvPr/>
            </p:nvSpPr>
            <p:spPr>
              <a:xfrm>
                <a:off x="2269959" y="2185737"/>
                <a:ext cx="1401666" cy="322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A5C9B8-E730-39B3-13D1-9019C7C82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959" y="2185737"/>
                <a:ext cx="1401666" cy="322717"/>
              </a:xfrm>
              <a:prstGeom prst="rect">
                <a:avLst/>
              </a:prstGeom>
              <a:blipFill>
                <a:blip r:embed="rId3"/>
                <a:stretch>
                  <a:fillRect l="-3478" r="-347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A2C4DA-758D-4E09-2553-4727C0979A95}"/>
                  </a:ext>
                </a:extLst>
              </p:cNvPr>
              <p:cNvSpPr txBox="1"/>
              <p:nvPr/>
            </p:nvSpPr>
            <p:spPr>
              <a:xfrm>
                <a:off x="2213811" y="2658913"/>
                <a:ext cx="2109680" cy="322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A2C4DA-758D-4E09-2553-4727C0979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811" y="2658913"/>
                <a:ext cx="2109680" cy="322717"/>
              </a:xfrm>
              <a:prstGeom prst="rect">
                <a:avLst/>
              </a:prstGeom>
              <a:blipFill>
                <a:blip r:embed="rId4"/>
                <a:stretch>
                  <a:fillRect l="-289" r="-289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80D008-D06A-F246-AA82-18A64355935B}"/>
                  </a:ext>
                </a:extLst>
              </p:cNvPr>
              <p:cNvSpPr txBox="1"/>
              <p:nvPr/>
            </p:nvSpPr>
            <p:spPr>
              <a:xfrm>
                <a:off x="2269959" y="3106283"/>
                <a:ext cx="1409360" cy="322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80D008-D06A-F246-AA82-18A64355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959" y="3106283"/>
                <a:ext cx="1409360" cy="322717"/>
              </a:xfrm>
              <a:prstGeom prst="rect">
                <a:avLst/>
              </a:prstGeom>
              <a:blipFill>
                <a:blip r:embed="rId5"/>
                <a:stretch>
                  <a:fillRect l="-2586" r="-1724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5FD84B2-4CD9-E955-B179-CC259DC36815}"/>
              </a:ext>
            </a:extLst>
          </p:cNvPr>
          <p:cNvSpPr/>
          <p:nvPr/>
        </p:nvSpPr>
        <p:spPr>
          <a:xfrm>
            <a:off x="2550694" y="4970045"/>
            <a:ext cx="240631" cy="1844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735E60-5369-1EE4-3761-18455832A4BC}"/>
                  </a:ext>
                </a:extLst>
              </p:cNvPr>
              <p:cNvSpPr txBox="1"/>
              <p:nvPr/>
            </p:nvSpPr>
            <p:spPr>
              <a:xfrm>
                <a:off x="2601850" y="4925929"/>
                <a:ext cx="189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735E60-5369-1EE4-3761-18455832A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850" y="4925929"/>
                <a:ext cx="189475" cy="276999"/>
              </a:xfrm>
              <a:prstGeom prst="rect">
                <a:avLst/>
              </a:prstGeom>
              <a:blipFill>
                <a:blip r:embed="rId6"/>
                <a:stretch>
                  <a:fillRect l="-32258" r="-2258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4ECF58-1EE1-076B-4D9C-0A36A1C45154}"/>
                  </a:ext>
                </a:extLst>
              </p:cNvPr>
              <p:cNvSpPr txBox="1"/>
              <p:nvPr/>
            </p:nvSpPr>
            <p:spPr>
              <a:xfrm>
                <a:off x="2136603" y="3453063"/>
                <a:ext cx="166837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In our isosceles triangles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4ECF58-1EE1-076B-4D9C-0A36A1C45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603" y="3453063"/>
                <a:ext cx="1668378" cy="584775"/>
              </a:xfrm>
              <a:prstGeom prst="rect">
                <a:avLst/>
              </a:prstGeom>
              <a:blipFill>
                <a:blip r:embed="rId7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3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39C0-35FF-0B40-AA46-21FB8479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2608-3A8B-80C6-741B-EC504226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CC821-04A0-E5A4-DC75-C30FBE8A5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Thus we have established that the area of one of the inscribed isosceles triangles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The angle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is dependent on the number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of triangles used, so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/>
                  <a:t> as there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radians around a circle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Therefore, the total area of all triangles is: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ox>
                        <m:box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Now we take the limit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goes to infinity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box>
                            <m:box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8CC821-04A0-E5A4-DC75-C30FBE8A5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5CA1-ACBF-9FA4-730E-D9E14D11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5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2066-FBF1-482A-1F88-2E287A4D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3FB2-D807-F959-D3C0-8F358E89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How Archimedes Found the Area of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E06B2-E726-4B75-2C02-59AEBEC1B1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Now we take the limit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goes to infinity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box>
                            <m:box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/>
                  <a:t> so that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We can then say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en-US" sz="2400" dirty="0"/>
                  <a:t> so the total area becomes: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box>
                            <m:box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box>
                            <m:box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Recall from </a:t>
                </a:r>
                <a:r>
                  <a:rPr lang="en-US" sz="2400" b="1" dirty="0"/>
                  <a:t>Session 06</a:t>
                </a:r>
                <a:r>
                  <a:rPr lang="en-US" sz="2400" dirty="0"/>
                  <a:t>, that the limit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fName>
                      <m:e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therefore: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E06B2-E726-4B75-2C02-59AEBEC1B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F9C8C-2F39-F725-93CD-DEAA8ECF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B2982-585C-532A-805D-4105FAD35131}"/>
              </a:ext>
            </a:extLst>
          </p:cNvPr>
          <p:cNvSpPr txBox="1"/>
          <p:nvPr/>
        </p:nvSpPr>
        <p:spPr>
          <a:xfrm>
            <a:off x="6809874" y="3850105"/>
            <a:ext cx="1705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Via u-substitution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52C04-B531-8F68-3900-291C0AE17C34}"/>
              </a:ext>
            </a:extLst>
          </p:cNvPr>
          <p:cNvSpPr txBox="1"/>
          <p:nvPr/>
        </p:nvSpPr>
        <p:spPr>
          <a:xfrm>
            <a:off x="7086349" y="4499616"/>
            <a:ext cx="1067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Simplify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9D75F-9D69-9C9C-1AED-FC8B0B5CD905}"/>
              </a:ext>
            </a:extLst>
          </p:cNvPr>
          <p:cNvSpPr/>
          <p:nvPr/>
        </p:nvSpPr>
        <p:spPr>
          <a:xfrm>
            <a:off x="4812632" y="5566611"/>
            <a:ext cx="713873" cy="5935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44B874-E636-1352-2330-650DB5AC4B3D}"/>
              </a:ext>
            </a:extLst>
          </p:cNvPr>
          <p:cNvCxnSpPr>
            <a:cxnSpLocks/>
          </p:cNvCxnSpPr>
          <p:nvPr/>
        </p:nvCxnSpPr>
        <p:spPr>
          <a:xfrm flipV="1">
            <a:off x="5452664" y="4395537"/>
            <a:ext cx="670761" cy="56319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6E6DA5-78D2-4D06-7C35-2570A5759F9B}"/>
              </a:ext>
            </a:extLst>
          </p:cNvPr>
          <p:cNvSpPr txBox="1"/>
          <p:nvPr/>
        </p:nvSpPr>
        <p:spPr>
          <a:xfrm>
            <a:off x="6124428" y="4241648"/>
            <a:ext cx="197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2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D4A5F-349F-F9D6-6DDE-9FD62C9A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CBB0-1616-376C-C0D6-98969530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F708-F5D9-9CC9-DEBC-2D01BA771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r>
              <a:rPr lang="en-US" sz="2400" dirty="0"/>
              <a:t>How would you find the </a:t>
            </a:r>
            <a:r>
              <a:rPr lang="en-US" sz="2400" b="1" dirty="0"/>
              <a:t>circumference</a:t>
            </a:r>
            <a:r>
              <a:rPr lang="en-US" sz="2400" dirty="0"/>
              <a:t> and </a:t>
            </a:r>
            <a:r>
              <a:rPr lang="en-US" sz="2400" b="1" dirty="0"/>
              <a:t>area</a:t>
            </a:r>
            <a:r>
              <a:rPr lang="en-US" sz="2400" dirty="0"/>
              <a:t> of a polygon if all you were given were its </a:t>
            </a:r>
            <a:r>
              <a:rPr lang="en-US" sz="2400" b="1" dirty="0">
                <a:solidFill>
                  <a:srgbClr val="7030A0"/>
                </a:solidFill>
              </a:rPr>
              <a:t>vertices</a:t>
            </a:r>
            <a:r>
              <a:rPr lang="en-US" sz="2400" dirty="0"/>
              <a:t>?</a:t>
            </a:r>
          </a:p>
          <a:p>
            <a:r>
              <a:rPr lang="en-US" sz="2400" dirty="0"/>
              <a:t>For circumference, we could just sum the </a:t>
            </a:r>
            <a:r>
              <a:rPr lang="en-US" sz="2400" b="1" dirty="0">
                <a:solidFill>
                  <a:srgbClr val="0070C0"/>
                </a:solidFill>
              </a:rPr>
              <a:t>Pythagorean (straight line) distance</a:t>
            </a:r>
            <a:r>
              <a:rPr lang="en-US" sz="2400" dirty="0"/>
              <a:t> between </a:t>
            </a:r>
            <a:r>
              <a:rPr lang="en-US" sz="2400" u="sng" dirty="0"/>
              <a:t>successive</a:t>
            </a:r>
            <a:r>
              <a:rPr lang="en-US" sz="2400" dirty="0"/>
              <a:t> vertices all around the perimeter (from 1</a:t>
            </a:r>
            <a:r>
              <a:rPr lang="en-US" sz="2400" baseline="30000" dirty="0"/>
              <a:t>st</a:t>
            </a:r>
            <a:r>
              <a:rPr lang="en-US" sz="2400" dirty="0"/>
              <a:t> vertex back to 1</a:t>
            </a:r>
            <a:r>
              <a:rPr lang="en-US" sz="2400" baseline="30000" dirty="0"/>
              <a:t>st</a:t>
            </a:r>
            <a:r>
              <a:rPr lang="en-US" sz="2400" dirty="0"/>
              <a:t> vertex)</a:t>
            </a:r>
          </a:p>
          <a:p>
            <a:r>
              <a:rPr lang="en-US" sz="2400" dirty="0"/>
              <a:t>But to find the </a:t>
            </a:r>
            <a:r>
              <a:rPr lang="en-US" sz="2400" b="1" dirty="0"/>
              <a:t>enclosed</a:t>
            </a:r>
            <a:r>
              <a:rPr lang="en-US" sz="2400" dirty="0"/>
              <a:t> </a:t>
            </a:r>
            <a:r>
              <a:rPr lang="en-US" sz="2400" b="1" dirty="0"/>
              <a:t>area</a:t>
            </a:r>
            <a:r>
              <a:rPr lang="en-US" sz="2400" dirty="0"/>
              <a:t>, we can use the </a:t>
            </a:r>
            <a:r>
              <a:rPr lang="en-US" sz="2400" b="1" dirty="0">
                <a:solidFill>
                  <a:srgbClr val="00B050"/>
                </a:solidFill>
              </a:rPr>
              <a:t>shoelace formula</a:t>
            </a:r>
            <a:r>
              <a:rPr lang="en-US" sz="2400" dirty="0"/>
              <a:t> that implements a clever </a:t>
            </a:r>
            <a:r>
              <a:rPr lang="en-US" sz="2400" b="1" dirty="0"/>
              <a:t>sum</a:t>
            </a:r>
            <a:r>
              <a:rPr lang="en-US" sz="2400" dirty="0"/>
              <a:t> of </a:t>
            </a:r>
            <a:r>
              <a:rPr lang="en-US" sz="2400" b="1" dirty="0">
                <a:solidFill>
                  <a:srgbClr val="FF0000"/>
                </a:solidFill>
              </a:rPr>
              <a:t>trapezoids</a:t>
            </a:r>
          </a:p>
          <a:p>
            <a:r>
              <a:rPr lang="en-US" sz="2400" dirty="0"/>
              <a:t>If our shape is </a:t>
            </a:r>
            <a:r>
              <a:rPr lang="en-US" sz="2400" b="1" dirty="0"/>
              <a:t>curved</a:t>
            </a:r>
            <a:r>
              <a:rPr lang="en-US" sz="2400" dirty="0"/>
              <a:t>, we can </a:t>
            </a:r>
            <a:r>
              <a:rPr lang="en-US" sz="2400" i="1" dirty="0"/>
              <a:t>approximate</a:t>
            </a:r>
            <a:r>
              <a:rPr lang="en-US" sz="2400" dirty="0"/>
              <a:t> it by using </a:t>
            </a:r>
            <a:r>
              <a:rPr lang="en-US" sz="2400" b="1" dirty="0"/>
              <a:t>many</a:t>
            </a:r>
            <a:r>
              <a:rPr lang="en-US" sz="2400" dirty="0"/>
              <a:t> vertices spread around its perimeter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solidFill>
                  <a:srgbClr val="00B050"/>
                </a:solidFill>
              </a:rPr>
              <a:t>shoelace formula </a:t>
            </a:r>
            <a:r>
              <a:rPr lang="en-US" sz="2400" dirty="0"/>
              <a:t>will still work even for rounded shapes – the </a:t>
            </a:r>
            <a:r>
              <a:rPr lang="en-US" sz="2400" u="sng" dirty="0"/>
              <a:t>more vertices we use</a:t>
            </a:r>
            <a:r>
              <a:rPr lang="en-US" sz="2400" dirty="0"/>
              <a:t>, the </a:t>
            </a:r>
            <a:r>
              <a:rPr lang="en-US" sz="2400" b="1" dirty="0"/>
              <a:t>better</a:t>
            </a:r>
            <a:r>
              <a:rPr lang="en-US" sz="2400" dirty="0"/>
              <a:t> our estimate for the </a:t>
            </a:r>
            <a:r>
              <a:rPr lang="en-US" sz="2400" b="1" dirty="0">
                <a:solidFill>
                  <a:srgbClr val="7030A0"/>
                </a:solidFill>
              </a:rPr>
              <a:t>enclosed 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39E4F-657C-EC0D-5C59-4F26872E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4CE1C-F745-A5B3-A4A3-820D12BF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0041-CD90-6ACF-4FF9-87BD3A04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Area of a Trapezoid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5645D-7F57-FB87-7590-F55B1CAE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B8CAE4-23E0-DEFB-4F3E-73C3843A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84" y="1383961"/>
            <a:ext cx="6380431" cy="51089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75872B-48E7-CD63-3DE4-B48B23A7CEBA}"/>
              </a:ext>
            </a:extLst>
          </p:cNvPr>
          <p:cNvSpPr/>
          <p:nvPr/>
        </p:nvSpPr>
        <p:spPr>
          <a:xfrm>
            <a:off x="5133474" y="1459832"/>
            <a:ext cx="1138989" cy="52938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B136-574B-3BC8-5FD1-C9CC8443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1985B6-3FFD-C065-951F-81992D541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815" y="1576325"/>
            <a:ext cx="4236370" cy="4571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BB9A8B-161E-B442-60B4-3493D90A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770A4-6B8A-21AA-9408-2FA4412A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4C2938-A490-ACD3-0763-34A34C0D0F58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4C2938-A490-ACD3-0763-34A34C0D0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646331"/>
              </a:xfrm>
              <a:prstGeom prst="rect">
                <a:avLst/>
              </a:prstGeom>
              <a:blipFill>
                <a:blip r:embed="rId3"/>
                <a:stretch>
                  <a:fillRect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FD7D343-580C-0824-FC27-21267F72A2D7}"/>
              </a:ext>
            </a:extLst>
          </p:cNvPr>
          <p:cNvGrpSpPr/>
          <p:nvPr/>
        </p:nvGrpSpPr>
        <p:grpSpPr>
          <a:xfrm>
            <a:off x="3770676" y="4700337"/>
            <a:ext cx="417095" cy="585537"/>
            <a:chOff x="3770676" y="4700337"/>
            <a:chExt cx="417095" cy="58553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5D00EF6-78AA-EDEA-CF12-9F56A4CDACDC}"/>
                </a:ext>
              </a:extLst>
            </p:cNvPr>
            <p:cNvCxnSpPr/>
            <p:nvPr/>
          </p:nvCxnSpPr>
          <p:spPr>
            <a:xfrm flipV="1">
              <a:off x="4130842" y="4700337"/>
              <a:ext cx="0" cy="58553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24BE0C0-EA97-0A06-370B-643B34385804}"/>
                    </a:ext>
                  </a:extLst>
                </p:cNvPr>
                <p:cNvSpPr txBox="1"/>
                <p:nvPr/>
              </p:nvSpPr>
              <p:spPr>
                <a:xfrm>
                  <a:off x="3770676" y="4796733"/>
                  <a:ext cx="417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24BE0C0-EA97-0A06-370B-643B34385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676" y="4796733"/>
                  <a:ext cx="41709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6E85E5-13D2-E11A-6A99-CDDFC47CBFF6}"/>
              </a:ext>
            </a:extLst>
          </p:cNvPr>
          <p:cNvGrpSpPr/>
          <p:nvPr/>
        </p:nvGrpSpPr>
        <p:grpSpPr>
          <a:xfrm>
            <a:off x="5784585" y="4170947"/>
            <a:ext cx="417095" cy="1114927"/>
            <a:chOff x="4107558" y="4435317"/>
            <a:chExt cx="417095" cy="1114927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BD82AAA-8C3B-CDBB-8355-4A25440F9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0842" y="4435317"/>
              <a:ext cx="0" cy="111492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9C25E7-BB2A-8A5C-F84E-820DEBFEF76E}"/>
                    </a:ext>
                  </a:extLst>
                </p:cNvPr>
                <p:cNvSpPr txBox="1"/>
                <p:nvPr/>
              </p:nvSpPr>
              <p:spPr>
                <a:xfrm>
                  <a:off x="4107558" y="4796733"/>
                  <a:ext cx="417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9C25E7-BB2A-8A5C-F84E-820DEBFEF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558" y="4796733"/>
                  <a:ext cx="41709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67CFDC-4CF8-FAC5-9D21-C1CA80DF4E3B}"/>
              </a:ext>
            </a:extLst>
          </p:cNvPr>
          <p:cNvGrpSpPr/>
          <p:nvPr/>
        </p:nvGrpSpPr>
        <p:grpSpPr>
          <a:xfrm>
            <a:off x="4130842" y="5285874"/>
            <a:ext cx="1677027" cy="289162"/>
            <a:chOff x="4130842" y="5285874"/>
            <a:chExt cx="1677027" cy="28916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2BEEEA9-8650-3BC8-D027-F42F915B8857}"/>
                </a:ext>
              </a:extLst>
            </p:cNvPr>
            <p:cNvCxnSpPr/>
            <p:nvPr/>
          </p:nvCxnSpPr>
          <p:spPr>
            <a:xfrm>
              <a:off x="4130842" y="5285874"/>
              <a:ext cx="167702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FF60CB1-000A-D672-4329-7E6F5343B54B}"/>
                    </a:ext>
                  </a:extLst>
                </p:cNvPr>
                <p:cNvSpPr txBox="1"/>
                <p:nvPr/>
              </p:nvSpPr>
              <p:spPr>
                <a:xfrm>
                  <a:off x="4876797" y="5298037"/>
                  <a:ext cx="1851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FF0000"/>
                              </a:solidFill>
                            </a:ln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FF60CB1-000A-D672-4329-7E6F5343B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797" y="5298037"/>
                  <a:ext cx="185115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BBAB43C-448B-1CBA-9B26-3E44CEF87192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907AE9-5697-C121-7CF7-15D527F3303E}"/>
              </a:ext>
            </a:extLst>
          </p:cNvPr>
          <p:cNvGrpSpPr/>
          <p:nvPr/>
        </p:nvGrpSpPr>
        <p:grpSpPr>
          <a:xfrm>
            <a:off x="734245" y="5285496"/>
            <a:ext cx="1940100" cy="1102251"/>
            <a:chOff x="734245" y="5285496"/>
            <a:chExt cx="1940100" cy="1102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07756A-73B2-4317-FAB5-0D3DEAB9FBFF}"/>
                    </a:ext>
                  </a:extLst>
                </p:cNvPr>
                <p:cNvSpPr txBox="1"/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07756A-73B2-4317-FAB5-0D3DEAB9F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blipFill>
                  <a:blip r:embed="rId7"/>
                  <a:stretch>
                    <a:fillRect l="-25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5852E2-C1EF-84EF-85C1-9A0C6F7D71F8}"/>
                    </a:ext>
                  </a:extLst>
                </p:cNvPr>
                <p:cNvSpPr txBox="1"/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B5852E2-C1EF-84EF-85C1-9A0C6F7D7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blipFill>
                  <a:blip r:embed="rId8"/>
                  <a:stretch>
                    <a:fillRect l="-5844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A42F5E2-43DE-A682-564A-2E1326B28EF1}"/>
                    </a:ext>
                  </a:extLst>
                </p:cNvPr>
                <p:cNvSpPr txBox="1"/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A42F5E2-43DE-A682-564A-2E1326B28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blipFill>
                  <a:blip r:embed="rId9"/>
                  <a:stretch>
                    <a:fillRect l="-2516" b="-265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20D677-C03D-6C6D-37A2-3B14931E2D43}"/>
                  </a:ext>
                </a:extLst>
              </p:cNvPr>
              <p:cNvSpPr txBox="1"/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20D677-C03D-6C6D-37A2-3B14931E2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27B08B8-57C8-993F-0C46-0570AF9EF41A}"/>
              </a:ext>
            </a:extLst>
          </p:cNvPr>
          <p:cNvSpPr txBox="1"/>
          <p:nvPr/>
        </p:nvSpPr>
        <p:spPr>
          <a:xfrm>
            <a:off x="5390774" y="387605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2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9A64E0-AF36-093D-7EDD-8F7E14DD1DAC}"/>
                  </a:ext>
                </a:extLst>
              </p:cNvPr>
              <p:cNvSpPr txBox="1"/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9A64E0-AF36-093D-7EDD-8F7E14DD1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7738208-544F-B731-9EF5-0CB64C4DE72D}"/>
              </a:ext>
            </a:extLst>
          </p:cNvPr>
          <p:cNvSpPr txBox="1"/>
          <p:nvPr/>
        </p:nvSpPr>
        <p:spPr>
          <a:xfrm>
            <a:off x="4973679" y="264650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3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E29371-E902-5783-383D-99109D89A33D}"/>
                  </a:ext>
                </a:extLst>
              </p:cNvPr>
              <p:cNvSpPr txBox="1"/>
              <p:nvPr/>
            </p:nvSpPr>
            <p:spPr>
              <a:xfrm>
                <a:off x="3335174" y="6212257"/>
                <a:ext cx="2722127" cy="322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ECC7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2ECC7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2ECC7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2ECC7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E29371-E902-5783-383D-99109D89A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74" y="6212257"/>
                <a:ext cx="2722127" cy="322717"/>
              </a:xfrm>
              <a:prstGeom prst="rect">
                <a:avLst/>
              </a:prstGeom>
              <a:blipFill>
                <a:blip r:embed="rId12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DC940-D817-6D86-1903-06B06FDAA90D}"/>
                  </a:ext>
                </a:extLst>
              </p:cNvPr>
              <p:cNvSpPr txBox="1"/>
              <p:nvPr/>
            </p:nvSpPr>
            <p:spPr>
              <a:xfrm>
                <a:off x="372980" y="3495569"/>
                <a:ext cx="2181726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7DC940-D817-6D86-1903-06B06FDAA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80" y="3495569"/>
                <a:ext cx="2181726" cy="61093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02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28" grpId="0"/>
      <p:bldP spid="29" grpId="0"/>
      <p:bldP spid="30" grpId="0"/>
      <p:bldP spid="31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BF52-FEC9-2136-B264-857F5099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E43667-9ACA-EB17-54F0-10E96748A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96" y="1576325"/>
            <a:ext cx="4461903" cy="4571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66172-5AA2-3F33-1BEC-DBB4A5CB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2A2E-966B-97D2-DBBE-BE296EDC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EF880C-AF3F-A3FC-CFE0-C260D472870E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297DB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lang="en-US" i="1" dirty="0">
                  <a:solidFill>
                    <a:srgbClr val="3297DB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EF880C-AF3F-A3FC-CFE0-C260D4728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923330"/>
              </a:xfrm>
              <a:prstGeom prst="rect">
                <a:avLst/>
              </a:prstGeom>
              <a:blipFill>
                <a:blip r:embed="rId3"/>
                <a:stretch>
                  <a:fillRect t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A3EAB0-4760-C246-2654-45F7D9438DF9}"/>
              </a:ext>
            </a:extLst>
          </p:cNvPr>
          <p:cNvSpPr txBox="1"/>
          <p:nvPr/>
        </p:nvSpPr>
        <p:spPr>
          <a:xfrm>
            <a:off x="437462" y="3481156"/>
            <a:ext cx="2052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subtract</a:t>
            </a:r>
            <a:r>
              <a:rPr lang="en-US" dirty="0"/>
              <a:t> the area of the trapezoid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ED04AF-2A60-5F48-4CC2-56013FCF64D2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5956E5-6C79-6145-294F-83855F359782}"/>
              </a:ext>
            </a:extLst>
          </p:cNvPr>
          <p:cNvGrpSpPr/>
          <p:nvPr/>
        </p:nvGrpSpPr>
        <p:grpSpPr>
          <a:xfrm>
            <a:off x="734245" y="5285496"/>
            <a:ext cx="1940100" cy="1102251"/>
            <a:chOff x="734245" y="5285496"/>
            <a:chExt cx="1940100" cy="1102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B2FC2AD-7B86-E082-FDEB-39FF9ABE3E21}"/>
                    </a:ext>
                  </a:extLst>
                </p:cNvPr>
                <p:cNvSpPr txBox="1"/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B2FC2AD-7B86-E082-FDEB-39FF9ABE3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blipFill>
                  <a:blip r:embed="rId4"/>
                  <a:stretch>
                    <a:fillRect l="-25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A391642-DF49-3A4B-3584-C09DC207AF1F}"/>
                    </a:ext>
                  </a:extLst>
                </p:cNvPr>
                <p:cNvSpPr txBox="1"/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A391642-DF49-3A4B-3584-C09DC207A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blipFill>
                  <a:blip r:embed="rId5"/>
                  <a:stretch>
                    <a:fillRect l="-5844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B186BF-32D7-E2C0-8B85-3C5422DBEFC0}"/>
                    </a:ext>
                  </a:extLst>
                </p:cNvPr>
                <p:cNvSpPr txBox="1"/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B186BF-32D7-E2C0-8B85-3C5422DBE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blipFill>
                  <a:blip r:embed="rId6"/>
                  <a:stretch>
                    <a:fillRect l="-2516" b="-265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537D26-1DED-27B5-BA41-99AA466FC24A}"/>
                  </a:ext>
                </a:extLst>
              </p:cNvPr>
              <p:cNvSpPr txBox="1"/>
              <p:nvPr/>
            </p:nvSpPr>
            <p:spPr>
              <a:xfrm>
                <a:off x="3335174" y="6212257"/>
                <a:ext cx="2722127" cy="322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3297D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3297D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3297D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3297DB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537D26-1DED-27B5-BA41-99AA466FC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74" y="6212257"/>
                <a:ext cx="2722127" cy="322717"/>
              </a:xfrm>
              <a:prstGeom prst="rect">
                <a:avLst/>
              </a:prstGeom>
              <a:blipFill>
                <a:blip r:embed="rId7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EF84F9-FEDE-C257-EA6B-886521FED281}"/>
                  </a:ext>
                </a:extLst>
              </p:cNvPr>
              <p:cNvSpPr txBox="1"/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EF84F9-FEDE-C257-EA6B-886521FED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76D4055-A3D7-4165-FCD9-25F62A64DAE6}"/>
              </a:ext>
            </a:extLst>
          </p:cNvPr>
          <p:cNvSpPr txBox="1"/>
          <p:nvPr/>
        </p:nvSpPr>
        <p:spPr>
          <a:xfrm>
            <a:off x="5390774" y="387605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2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781B63-94E3-D2D8-EA7C-5B4B6F717BC1}"/>
                  </a:ext>
                </a:extLst>
              </p:cNvPr>
              <p:cNvSpPr txBox="1"/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781B63-94E3-D2D8-EA7C-5B4B6F717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7699A5A-E82D-EDBB-ACBC-B3552D98971F}"/>
              </a:ext>
            </a:extLst>
          </p:cNvPr>
          <p:cNvSpPr txBox="1"/>
          <p:nvPr/>
        </p:nvSpPr>
        <p:spPr>
          <a:xfrm>
            <a:off x="4973679" y="264650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3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5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D0179-4620-81FC-59FB-41A17E64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17DE7E-640B-2D1A-5180-DAEEE3E01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753" y="1576325"/>
            <a:ext cx="4382662" cy="4571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9ABCE-29C5-AFE3-F7C8-5A768F13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9D328-F20D-847B-2343-0BB2FC54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D8327-6DCE-8C35-8905-6EB20B3A7E78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297DB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lang="en-US" b="0" i="1" dirty="0">
                  <a:solidFill>
                    <a:srgbClr val="3297DB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354AC"/>
                          </a:solidFill>
                          <a:latin typeface="Cambria Math" panose="02040503050406030204" pitchFamily="18" charset="0"/>
                        </a:rPr>
                        <m:t>−12.0</m:t>
                      </m:r>
                    </m:oMath>
                  </m:oMathPara>
                </a14:m>
                <a:endParaRPr lang="en-US" i="1" dirty="0">
                  <a:solidFill>
                    <a:srgbClr val="9354A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8D8327-6DCE-8C35-8905-6EB20B3A7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1200329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B752840-2E6B-3A8D-5C22-A0F9C612C7C6}"/>
              </a:ext>
            </a:extLst>
          </p:cNvPr>
          <p:cNvSpPr txBox="1"/>
          <p:nvPr/>
        </p:nvSpPr>
        <p:spPr>
          <a:xfrm>
            <a:off x="437462" y="3481156"/>
            <a:ext cx="2052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subtract</a:t>
            </a:r>
            <a:r>
              <a:rPr lang="en-US" dirty="0"/>
              <a:t> the area of the trapezoid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58E2-D6BF-80C1-B15D-08EFB0B71211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DB931B-3CEF-FF94-2734-6D7BD315FDF3}"/>
                  </a:ext>
                </a:extLst>
              </p:cNvPr>
              <p:cNvSpPr txBox="1"/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DB931B-3CEF-FF94-2734-6D7BD315F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4026B5F-1044-7819-B7B2-94A07611B80F}"/>
              </a:ext>
            </a:extLst>
          </p:cNvPr>
          <p:cNvSpPr txBox="1"/>
          <p:nvPr/>
        </p:nvSpPr>
        <p:spPr>
          <a:xfrm>
            <a:off x="5390774" y="387605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2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9E8279-DBAA-EB0E-FDAE-1B82E61D985A}"/>
                  </a:ext>
                </a:extLst>
              </p:cNvPr>
              <p:cNvSpPr txBox="1"/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9E8279-DBAA-EB0E-FDAE-1B82E61D9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DA4A3B6-B3CF-51DF-E53C-C2099C5E8E84}"/>
              </a:ext>
            </a:extLst>
          </p:cNvPr>
          <p:cNvSpPr txBox="1"/>
          <p:nvPr/>
        </p:nvSpPr>
        <p:spPr>
          <a:xfrm>
            <a:off x="4973679" y="264650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3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995635-DBBB-22D6-056D-71413E59424B}"/>
              </a:ext>
            </a:extLst>
          </p:cNvPr>
          <p:cNvGrpSpPr/>
          <p:nvPr/>
        </p:nvGrpSpPr>
        <p:grpSpPr>
          <a:xfrm>
            <a:off x="734245" y="5285496"/>
            <a:ext cx="1940100" cy="1102251"/>
            <a:chOff x="734245" y="5285496"/>
            <a:chExt cx="1940100" cy="1102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7D09239-4841-AA61-E67D-7A67E92B49AC}"/>
                    </a:ext>
                  </a:extLst>
                </p:cNvPr>
                <p:cNvSpPr txBox="1"/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7D09239-4841-AA61-E67D-7A67E92B49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blipFill>
                  <a:blip r:embed="rId6"/>
                  <a:stretch>
                    <a:fillRect l="-25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5F8C8E8-44E6-2FA9-0143-D9448C5FA263}"/>
                    </a:ext>
                  </a:extLst>
                </p:cNvPr>
                <p:cNvSpPr txBox="1"/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5F8C8E8-44E6-2FA9-0143-D9448C5FA2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blipFill>
                  <a:blip r:embed="rId7"/>
                  <a:stretch>
                    <a:fillRect l="-5844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5C49771-9F65-59E7-9B6E-BB57085AD533}"/>
                    </a:ext>
                  </a:extLst>
                </p:cNvPr>
                <p:cNvSpPr txBox="1"/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5C49771-9F65-59E7-9B6E-BB57085AD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blipFill>
                  <a:blip r:embed="rId8"/>
                  <a:stretch>
                    <a:fillRect l="-2516" b="-265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99060D-686E-0E5E-C792-9C85EB365A13}"/>
                  </a:ext>
                </a:extLst>
              </p:cNvPr>
              <p:cNvSpPr txBox="1"/>
              <p:nvPr/>
            </p:nvSpPr>
            <p:spPr>
              <a:xfrm>
                <a:off x="3351216" y="6212257"/>
                <a:ext cx="2722127" cy="322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9354A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9354A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9354AC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9354AC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99060D-686E-0E5E-C792-9C85EB365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216" y="6212257"/>
                <a:ext cx="2722127" cy="322717"/>
              </a:xfrm>
              <a:prstGeom prst="rect">
                <a:avLst/>
              </a:prstGeom>
              <a:blipFill>
                <a:blip r:embed="rId9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445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7189-D327-EB19-C8C3-D5AA631D7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BF9EF7D-E25A-CF7E-7131-8A9512DD6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99" y="1649549"/>
            <a:ext cx="4230274" cy="4571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CDE56-B0D3-AE32-1BD9-D450E7B0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10DF-6464-E45B-DA76-BF3BC0A2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8FF443-172C-3104-2DB2-151BBFEADE75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297DB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lang="en-US" b="0" i="1" dirty="0">
                  <a:solidFill>
                    <a:srgbClr val="3297DB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9354AC"/>
                          </a:solidFill>
                          <a:latin typeface="Cambria Math" panose="02040503050406030204" pitchFamily="18" charset="0"/>
                        </a:rPr>
                        <m:t>−12.0</m:t>
                      </m:r>
                    </m:oMath>
                  </m:oMathPara>
                </a14:m>
                <a:endParaRPr lang="en-US" b="0" i="1" dirty="0">
                  <a:solidFill>
                    <a:srgbClr val="9354AC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E74C3C"/>
                          </a:solidFill>
                          <a:latin typeface="Cambria Math" panose="02040503050406030204" pitchFamily="18" charset="0"/>
                        </a:rPr>
                        <m:t>+2.0</m:t>
                      </m:r>
                    </m:oMath>
                  </m:oMathPara>
                </a14:m>
                <a:endParaRPr lang="en-US" i="1" dirty="0">
                  <a:solidFill>
                    <a:srgbClr val="E74C3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8FF443-172C-3104-2DB2-151BBFEAD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blipFill>
                <a:blip r:embed="rId3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94F1AAF-F0A1-F89C-CDA0-A39FEEACBF2D}"/>
              </a:ext>
            </a:extLst>
          </p:cNvPr>
          <p:cNvSpPr txBox="1"/>
          <p:nvPr/>
        </p:nvSpPr>
        <p:spPr>
          <a:xfrm>
            <a:off x="437462" y="3481156"/>
            <a:ext cx="2052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subtract</a:t>
            </a:r>
            <a:r>
              <a:rPr lang="en-US" dirty="0"/>
              <a:t> the area of the trapezoid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5B35F-B892-872A-3857-E129D0DE2BAB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D699BF-D9C4-33F3-931A-2E8295C3ED62}"/>
                  </a:ext>
                </a:extLst>
              </p:cNvPr>
              <p:cNvSpPr txBox="1"/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D699BF-D9C4-33F3-931A-2E8295C3E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6" y="4279423"/>
                <a:ext cx="41709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90A12C2-8BEA-DAA3-587E-45C977AD4706}"/>
              </a:ext>
            </a:extLst>
          </p:cNvPr>
          <p:cNvSpPr txBox="1"/>
          <p:nvPr/>
        </p:nvSpPr>
        <p:spPr>
          <a:xfrm>
            <a:off x="5390774" y="387605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2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8F9F38-C186-7F8F-A10B-012A1BC33D08}"/>
                  </a:ext>
                </a:extLst>
              </p:cNvPr>
              <p:cNvSpPr txBox="1"/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6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8F9F38-C186-7F8F-A10B-012A1BC33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454" y="3497718"/>
                <a:ext cx="41709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4E013DE-0908-1E79-7D12-9B1D0492746B}"/>
              </a:ext>
            </a:extLst>
          </p:cNvPr>
          <p:cNvSpPr txBox="1"/>
          <p:nvPr/>
        </p:nvSpPr>
        <p:spPr>
          <a:xfrm>
            <a:off x="4973679" y="2646502"/>
            <a:ext cx="417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3</a:t>
            </a:r>
            <a:endParaRPr lang="en-US" sz="1600" dirty="0">
              <a:ln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CB87BC-8234-3F8A-E67F-E714F4942471}"/>
              </a:ext>
            </a:extLst>
          </p:cNvPr>
          <p:cNvGrpSpPr/>
          <p:nvPr/>
        </p:nvGrpSpPr>
        <p:grpSpPr>
          <a:xfrm>
            <a:off x="734245" y="5285496"/>
            <a:ext cx="1940100" cy="1102251"/>
            <a:chOff x="734245" y="5285496"/>
            <a:chExt cx="1940100" cy="11022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00319F-D003-FEDD-5E3B-82663C80A63C}"/>
                    </a:ext>
                  </a:extLst>
                </p:cNvPr>
                <p:cNvSpPr txBox="1"/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E00319F-D003-FEDD-5E3B-82663C80A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45" y="5285496"/>
                  <a:ext cx="1217577" cy="299249"/>
                </a:xfrm>
                <a:prstGeom prst="rect">
                  <a:avLst/>
                </a:prstGeom>
                <a:blipFill>
                  <a:blip r:embed="rId6"/>
                  <a:stretch>
                    <a:fillRect l="-250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33EE1C-0E85-A89B-8B36-57AC3C578AEA}"/>
                    </a:ext>
                  </a:extLst>
                </p:cNvPr>
                <p:cNvSpPr txBox="1"/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33EE1C-0E85-A89B-8B36-57AC3C578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3" y="5694467"/>
                  <a:ext cx="940514" cy="296556"/>
                </a:xfrm>
                <a:prstGeom prst="rect">
                  <a:avLst/>
                </a:prstGeom>
                <a:blipFill>
                  <a:blip r:embed="rId7"/>
                  <a:stretch>
                    <a:fillRect l="-5844" b="-183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CAAB5CC-DB47-52B7-B740-2F41F5415949}"/>
                    </a:ext>
                  </a:extLst>
                </p:cNvPr>
                <p:cNvSpPr txBox="1"/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𝑡𝑜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𝑓𝑟𝑜𝑚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CAAB5CC-DB47-52B7-B740-2F41F5415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2" y="6088498"/>
                  <a:ext cx="1934953" cy="299249"/>
                </a:xfrm>
                <a:prstGeom prst="rect">
                  <a:avLst/>
                </a:prstGeom>
                <a:blipFill>
                  <a:blip r:embed="rId8"/>
                  <a:stretch>
                    <a:fillRect l="-2516" b="-265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B45B49-CF84-2844-C019-8E2C7ADA96D7}"/>
                  </a:ext>
                </a:extLst>
              </p:cNvPr>
              <p:cNvSpPr txBox="1"/>
              <p:nvPr/>
            </p:nvSpPr>
            <p:spPr>
              <a:xfrm>
                <a:off x="3375279" y="6212257"/>
                <a:ext cx="2722127" cy="322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E74C3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E74C3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E74C3C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E74C3C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B45B49-CF84-2844-C019-8E2C7ADA9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79" y="6212257"/>
                <a:ext cx="2722127" cy="322717"/>
              </a:xfrm>
              <a:prstGeom prst="rect">
                <a:avLst/>
              </a:prstGeom>
              <a:blipFill>
                <a:blip r:embed="rId9"/>
                <a:stretch>
                  <a:fillRect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28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60D8-5ADB-C035-04B2-A39EC602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C2C983-4F0C-F5B7-F8D0-E4EB3B58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146" y="1551324"/>
            <a:ext cx="4065696" cy="4644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513B7C-7807-17EA-BF27-72D7125D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ADE68-DF48-A40D-D897-FDB2B166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22DD5C-5384-793C-CECA-62A1C7EE7275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3297DB"/>
                          </a:solidFill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lang="en-US" i="1" dirty="0">
                  <a:solidFill>
                    <a:srgbClr val="3297DB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9354AC"/>
                          </a:solidFill>
                          <a:latin typeface="Cambria Math" panose="02040503050406030204" pitchFamily="18" charset="0"/>
                        </a:rPr>
                        <m:t>−12.0</m:t>
                      </m:r>
                    </m:oMath>
                  </m:oMathPara>
                </a14:m>
                <a:endParaRPr lang="en-US" i="1" dirty="0">
                  <a:solidFill>
                    <a:srgbClr val="9354AC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E74C3C"/>
                          </a:solidFill>
                          <a:latin typeface="Cambria Math" panose="02040503050406030204" pitchFamily="18" charset="0"/>
                        </a:rPr>
                        <m:t>+2.0</m:t>
                      </m:r>
                    </m:oMath>
                  </m:oMathPara>
                </a14:m>
                <a:endParaRPr lang="en-US" i="1" dirty="0">
                  <a:solidFill>
                    <a:srgbClr val="E74C3C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522DD5C-5384-793C-CECA-62A1C7EE7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blipFill>
                <a:blip r:embed="rId3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999164-CE00-EC84-96A8-832E870E2193}"/>
              </a:ext>
            </a:extLst>
          </p:cNvPr>
          <p:cNvSpPr txBox="1"/>
          <p:nvPr/>
        </p:nvSpPr>
        <p:spPr>
          <a:xfrm>
            <a:off x="437462" y="3481156"/>
            <a:ext cx="2052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subtract</a:t>
            </a:r>
            <a:r>
              <a:rPr lang="en-US" dirty="0"/>
              <a:t> the area of the trapezoid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F15B87-877C-3346-0DBC-6A80BA6519B9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</p:spTree>
    <p:extLst>
      <p:ext uri="{BB962C8B-B14F-4D97-AF65-F5344CB8AC3E}">
        <p14:creationId xmlns:p14="http://schemas.microsoft.com/office/powerpoint/2010/main" val="1506983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33FEA-F6D3-2218-9818-3DB12475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9542-3D40-B41F-12B4-2FD51945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Shoelace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7647A-6936-0F3D-E9F4-06895259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6EF3C0-97B8-EC24-FBE9-93A0623F9BB8}"/>
                  </a:ext>
                </a:extLst>
              </p:cNvPr>
              <p:cNvSpPr txBox="1"/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Sub areas: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+4.5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−3.5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−12.0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+2.0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6EF3C0-97B8-EC24-FBE9-93A0623F9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853" y="2269957"/>
                <a:ext cx="1546497" cy="1477328"/>
              </a:xfrm>
              <a:prstGeom prst="rect">
                <a:avLst/>
              </a:prstGeom>
              <a:blipFill>
                <a:blip r:embed="rId2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4F295B49-34DC-D303-598C-BE6B05365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79" y="1489701"/>
            <a:ext cx="4207042" cy="492658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3385C6-0F80-4D4C-CE5B-C8C632A9DE3C}"/>
              </a:ext>
            </a:extLst>
          </p:cNvPr>
          <p:cNvCxnSpPr/>
          <p:nvPr/>
        </p:nvCxnSpPr>
        <p:spPr>
          <a:xfrm>
            <a:off x="7042484" y="3747285"/>
            <a:ext cx="14728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D4D497-9D48-AA35-D455-5F2B4C488444}"/>
                  </a:ext>
                </a:extLst>
              </p:cNvPr>
              <p:cNvSpPr txBox="1"/>
              <p:nvPr/>
            </p:nvSpPr>
            <p:spPr>
              <a:xfrm>
                <a:off x="7476804" y="3885020"/>
                <a:ext cx="530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−9.0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D4D497-9D48-AA35-D455-5F2B4C488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804" y="3885020"/>
                <a:ext cx="530594" cy="276999"/>
              </a:xfrm>
              <a:prstGeom prst="rect">
                <a:avLst/>
              </a:prstGeom>
              <a:blipFill>
                <a:blip r:embed="rId4"/>
                <a:stretch>
                  <a:fillRect l="-2299" r="-1034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9A490D-E93C-C49F-1A9F-F0F3393563D8}"/>
                  </a:ext>
                </a:extLst>
              </p:cNvPr>
              <p:cNvSpPr txBox="1"/>
              <p:nvPr/>
            </p:nvSpPr>
            <p:spPr>
              <a:xfrm>
                <a:off x="7148621" y="4326553"/>
                <a:ext cx="14412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9A490D-E93C-C49F-1A9F-F0F339356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21" y="4326553"/>
                <a:ext cx="1441292" cy="276999"/>
              </a:xfrm>
              <a:prstGeom prst="rect">
                <a:avLst/>
              </a:prstGeom>
              <a:blipFill>
                <a:blip r:embed="rId5"/>
                <a:stretch>
                  <a:fillRect l="-381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EFF64A-2686-CEC1-8771-65E82347302C}"/>
                  </a:ext>
                </a:extLst>
              </p:cNvPr>
              <p:cNvSpPr txBox="1"/>
              <p:nvPr/>
            </p:nvSpPr>
            <p:spPr>
              <a:xfrm>
                <a:off x="7148621" y="4774818"/>
                <a:ext cx="11614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EFF64A-2686-CEC1-8771-65E823473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621" y="4774818"/>
                <a:ext cx="1161408" cy="276999"/>
              </a:xfrm>
              <a:prstGeom prst="rect">
                <a:avLst/>
              </a:prstGeom>
              <a:blipFill>
                <a:blip r:embed="rId6"/>
                <a:stretch>
                  <a:fillRect l="-473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B1E556F-8850-2F91-3E0A-8F2BE4D180E6}"/>
              </a:ext>
            </a:extLst>
          </p:cNvPr>
          <p:cNvSpPr txBox="1"/>
          <p:nvPr/>
        </p:nvSpPr>
        <p:spPr>
          <a:xfrm>
            <a:off x="437462" y="3481156"/>
            <a:ext cx="2052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subtract</a:t>
            </a:r>
            <a:r>
              <a:rPr lang="en-US" dirty="0"/>
              <a:t> the area of the trapezoid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1471EF-D062-43D3-73A6-7A551AB68713}"/>
              </a:ext>
            </a:extLst>
          </p:cNvPr>
          <p:cNvSpPr txBox="1"/>
          <p:nvPr/>
        </p:nvSpPr>
        <p:spPr>
          <a:xfrm>
            <a:off x="429520" y="2269957"/>
            <a:ext cx="2068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moving </a:t>
            </a:r>
            <a:r>
              <a:rPr lang="en-US" b="1" dirty="0"/>
              <a:t>right</a:t>
            </a:r>
            <a:r>
              <a:rPr lang="en-US" dirty="0"/>
              <a:t>, </a:t>
            </a:r>
            <a:r>
              <a:rPr lang="en-US" b="1" dirty="0"/>
              <a:t>add</a:t>
            </a:r>
            <a:r>
              <a:rPr lang="en-US" dirty="0"/>
              <a:t> the area of the trapezoid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D33B1D-1ADB-5A4C-A2A5-19368A4E7B04}"/>
              </a:ext>
            </a:extLst>
          </p:cNvPr>
          <p:cNvGrpSpPr/>
          <p:nvPr/>
        </p:nvGrpSpPr>
        <p:grpSpPr>
          <a:xfrm>
            <a:off x="306132" y="4599701"/>
            <a:ext cx="2722127" cy="1766963"/>
            <a:chOff x="306132" y="4599701"/>
            <a:chExt cx="2722127" cy="17669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4D10429-F1A4-2F40-3BD2-62F6C6F93024}"/>
                    </a:ext>
                  </a:extLst>
                </p:cNvPr>
                <p:cNvSpPr txBox="1"/>
                <p:nvPr/>
              </p:nvSpPr>
              <p:spPr>
                <a:xfrm>
                  <a:off x="306132" y="4599701"/>
                  <a:ext cx="2722127" cy="3227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4D10429-F1A4-2F40-3BD2-62F6C6F93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32" y="4599701"/>
                  <a:ext cx="2722127" cy="322717"/>
                </a:xfrm>
                <a:prstGeom prst="rect">
                  <a:avLst/>
                </a:prstGeom>
                <a:blipFill>
                  <a:blip r:embed="rId7"/>
                  <a:stretch>
                    <a:fillRect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BBC472B-F12C-9280-76E0-EA57408ACAEA}"/>
                    </a:ext>
                  </a:extLst>
                </p:cNvPr>
                <p:cNvSpPr txBox="1"/>
                <p:nvPr/>
              </p:nvSpPr>
              <p:spPr>
                <a:xfrm>
                  <a:off x="306132" y="5081116"/>
                  <a:ext cx="2722127" cy="3227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BBC472B-F12C-9280-76E0-EA57408AC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32" y="5081116"/>
                  <a:ext cx="2722127" cy="322717"/>
                </a:xfrm>
                <a:prstGeom prst="rect">
                  <a:avLst/>
                </a:prstGeom>
                <a:blipFill>
                  <a:blip r:embed="rId8"/>
                  <a:stretch>
                    <a:fillRect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19BBA0-993F-9228-056E-EE86D12773BE}"/>
                    </a:ext>
                  </a:extLst>
                </p:cNvPr>
                <p:cNvSpPr txBox="1"/>
                <p:nvPr/>
              </p:nvSpPr>
              <p:spPr>
                <a:xfrm>
                  <a:off x="306132" y="5562531"/>
                  <a:ext cx="2722127" cy="3227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19BBA0-993F-9228-056E-EE86D1277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32" y="5562531"/>
                  <a:ext cx="2722127" cy="322717"/>
                </a:xfrm>
                <a:prstGeom prst="rect">
                  <a:avLst/>
                </a:prstGeom>
                <a:blipFill>
                  <a:blip r:embed="rId9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C12BC24-E4C2-81F1-D6C3-723C4973B9A3}"/>
                    </a:ext>
                  </a:extLst>
                </p:cNvPr>
                <p:cNvSpPr txBox="1"/>
                <p:nvPr/>
              </p:nvSpPr>
              <p:spPr>
                <a:xfrm>
                  <a:off x="306132" y="6043947"/>
                  <a:ext cx="2722127" cy="3227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ox>
                          <m:box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C12BC24-E4C2-81F1-D6C3-723C4973B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132" y="6043947"/>
                  <a:ext cx="2722127" cy="322717"/>
                </a:xfrm>
                <a:prstGeom prst="rect">
                  <a:avLst/>
                </a:prstGeom>
                <a:blipFill>
                  <a:blip r:embed="rId10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35C5198-51E1-4A35-6CC6-81A988382376}"/>
              </a:ext>
            </a:extLst>
          </p:cNvPr>
          <p:cNvSpPr/>
          <p:nvPr/>
        </p:nvSpPr>
        <p:spPr>
          <a:xfrm>
            <a:off x="7940842" y="4766797"/>
            <a:ext cx="385229" cy="306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F7BF-5ED2-8ABD-1102-6A16A0C3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FD0E23-4F42-DEAB-BA07-4805EA15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69" r="3527" b="6780"/>
          <a:stretch>
            <a:fillRect/>
          </a:stretch>
        </p:blipFill>
        <p:spPr>
          <a:xfrm>
            <a:off x="428566" y="613443"/>
            <a:ext cx="8286867" cy="58595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49AE-E44B-FDB1-074E-288CF1A2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5620B3-C71C-D6F1-979B-AD2D63DF5CB4}"/>
              </a:ext>
            </a:extLst>
          </p:cNvPr>
          <p:cNvSpPr/>
          <p:nvPr/>
        </p:nvSpPr>
        <p:spPr>
          <a:xfrm>
            <a:off x="5662863" y="5117432"/>
            <a:ext cx="2269958" cy="43313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81B16D-42AB-6C08-5828-896006BD3FF2}"/>
              </a:ext>
            </a:extLst>
          </p:cNvPr>
          <p:cNvGrpSpPr/>
          <p:nvPr/>
        </p:nvGrpSpPr>
        <p:grpSpPr>
          <a:xfrm>
            <a:off x="6733673" y="2574756"/>
            <a:ext cx="2157663" cy="1532023"/>
            <a:chOff x="6797842" y="2638925"/>
            <a:chExt cx="2157663" cy="15320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D58B833-1388-2727-C88D-2F1F72220D29}"/>
                </a:ext>
              </a:extLst>
            </p:cNvPr>
            <p:cNvSpPr/>
            <p:nvPr/>
          </p:nvSpPr>
          <p:spPr>
            <a:xfrm>
              <a:off x="6797842" y="2638925"/>
              <a:ext cx="2157663" cy="1532023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912D19-8BDB-9D78-515E-1F76514EC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7973" y="2719136"/>
              <a:ext cx="2057400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287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Polar to Cartesian Coordinate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you to draw a </a:t>
                </a:r>
                <a:r>
                  <a:rPr lang="en-US" sz="2400" b="1" dirty="0">
                    <a:solidFill>
                      <a:srgbClr val="0E6DAE"/>
                    </a:solidFill>
                  </a:rPr>
                  <a:t>blue</a:t>
                </a:r>
                <a:r>
                  <a:rPr lang="en-US" sz="2400" dirty="0"/>
                  <a:t> circle with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radius of 250</a:t>
                </a:r>
                <a:r>
                  <a:rPr lang="en-US" sz="2400" dirty="0"/>
                  <a:t> </a:t>
                </a:r>
                <a:r>
                  <a:rPr lang="en-US" sz="2400" i="1" dirty="0"/>
                  <a:t>centered</a:t>
                </a:r>
                <a:r>
                  <a:rPr lang="en-US" sz="2400" dirty="0"/>
                  <a:t> at the </a:t>
                </a:r>
                <a:r>
                  <a:rPr lang="en-US" sz="2400" b="1" dirty="0"/>
                  <a:t>origin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 also needs you to estimate </a:t>
                </a:r>
                <a14:m>
                  <m:oMath xmlns:m="http://schemas.openxmlformats.org/officeDocument/2006/math">
                    <m:r>
                      <a:rPr lang="el-GR" sz="240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by finding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area</a:t>
                </a:r>
                <a:r>
                  <a:rPr lang="en-US" sz="2400" dirty="0"/>
                  <a:t> of the circle and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circumference </a:t>
                </a:r>
                <a:r>
                  <a:rPr lang="en-US" sz="2400" dirty="0"/>
                  <a:t>(perimeter) of the circle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 We know from Archimedes that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area</a:t>
                </a:r>
                <a:r>
                  <a:rPr lang="en-US" sz="2400" dirty="0"/>
                  <a:t> of a circle is: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We know from Archimedes that the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perimeter</a:t>
                </a:r>
                <a:r>
                  <a:rPr lang="en-US" sz="2400" dirty="0"/>
                  <a:t> of a circle is: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1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1A7D-3E6B-1572-B1D1-668E50B3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E016-DE90-92AC-A64B-F304C06B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Polar to Cartesian Coordinate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267F1-8D01-F679-1CA3-53E163431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you to draw a </a:t>
                </a:r>
                <a:r>
                  <a:rPr lang="en-US" sz="2400" b="1" dirty="0">
                    <a:solidFill>
                      <a:srgbClr val="0E6DAE"/>
                    </a:solidFill>
                  </a:rPr>
                  <a:t>blue</a:t>
                </a:r>
                <a:r>
                  <a:rPr lang="en-US" sz="2400" dirty="0"/>
                  <a:t> circle with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radius of 250</a:t>
                </a:r>
                <a:r>
                  <a:rPr lang="en-US" sz="2400" dirty="0"/>
                  <a:t> </a:t>
                </a:r>
                <a:r>
                  <a:rPr lang="en-US" sz="2400" i="1" dirty="0"/>
                  <a:t>centered</a:t>
                </a:r>
                <a:r>
                  <a:rPr lang="en-US" sz="2400" dirty="0"/>
                  <a:t> at the </a:t>
                </a:r>
                <a:r>
                  <a:rPr lang="en-US" sz="2400" b="1" dirty="0"/>
                  <a:t>origin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Solution strategy: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Create a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Numpy</a:t>
                </a:r>
                <a:r>
                  <a:rPr lang="en-US" sz="2000" dirty="0"/>
                  <a:t> array of 10,000 equally spaced independent radian angle values spanning the interval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Create an array of dependent variable values -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Cartesian coordinates - by invoking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vectorized</a:t>
                </a:r>
                <a:r>
                  <a:rPr lang="en-US" sz="2000" dirty="0"/>
                  <a:t> mathematical operators across the array of independent values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Have </a:t>
                </a:r>
                <a:r>
                  <a:rPr lang="en-US" sz="2000" b="1" dirty="0"/>
                  <a:t>matplotlib</a:t>
                </a:r>
                <a:r>
                  <a:rPr lang="en-US" sz="2000" dirty="0"/>
                  <a:t> "connect the dots" between successive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Cartesian points (drawing straight line segments between them) to make the plot appear </a:t>
                </a:r>
                <a:r>
                  <a:rPr lang="en-US" sz="2000" i="1" dirty="0"/>
                  <a:t>smooth</a:t>
                </a:r>
                <a:r>
                  <a:rPr lang="en-US" sz="2000" dirty="0"/>
                  <a:t> to the unaided human eye</a:t>
                </a: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E267F1-8D01-F679-1CA3-53E163431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C0686-B3B4-2DB9-EC40-990DB187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5C15-0172-0665-ED6C-C86EEE1D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E881-DCE4-F590-9CCB-79554847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Polar to Cartesian Coordinate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D2FC01-1997-DAE3-620F-5FA6411CA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For circumference, we can sum the </a:t>
                </a:r>
                <a:r>
                  <a:rPr lang="en-US" sz="2400" b="1" dirty="0"/>
                  <a:t>Pythagorean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(straight line) </a:t>
                </a:r>
                <a:r>
                  <a:rPr lang="en-US" sz="2400" dirty="0"/>
                  <a:t>distance between </a:t>
                </a:r>
                <a:r>
                  <a:rPr lang="en-US" sz="2400" u="sng" dirty="0"/>
                  <a:t>successive</a:t>
                </a:r>
                <a:r>
                  <a:rPr lang="en-US" sz="2400" dirty="0"/>
                  <a:t> vertices all around the perimeter (from the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vertex back to the 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vertex)</a:t>
                </a:r>
              </a:p>
              <a:p>
                <a:r>
                  <a:rPr lang="en-US" sz="2400" dirty="0"/>
                  <a:t>For area, we can leverage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shoelace formula</a:t>
                </a:r>
                <a:r>
                  <a:rPr lang="en-US" sz="2400" dirty="0"/>
                  <a:t>, using the vertices of the inscribed isosceles triangles that are on the perimeter of the circle</a:t>
                </a:r>
              </a:p>
              <a:p>
                <a:r>
                  <a:rPr lang="en-US" sz="2400" dirty="0"/>
                  <a:t>We can then compare these estimates to the value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using the two equations derived by Archimedes</a:t>
                </a:r>
              </a:p>
              <a:p>
                <a:r>
                  <a:rPr lang="en-US" sz="2400" dirty="0"/>
                  <a:t>We will use many triangles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10,000</m:t>
                        </m:r>
                      </m:e>
                    </m:d>
                  </m:oMath>
                </a14:m>
                <a:r>
                  <a:rPr lang="en-US" sz="2400" dirty="0"/>
                  <a:t> to tile the inside of the circle to improve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precision</a:t>
                </a:r>
                <a:r>
                  <a:rPr lang="en-US" sz="2400" dirty="0"/>
                  <a:t> of our estimates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D2FC01-1997-DAE3-620F-5FA6411CA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B93B3-7C8D-3FA4-C031-9D8E60E9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4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02A244F-3447-E3DA-FCE4-97A0C59BE6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21" y="1595720"/>
            <a:ext cx="6221758" cy="46998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trig_circle.py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6FA82-11B7-1DAA-5807-072493B010C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472D20-4429-E8CF-C621-CE08115F82E4}"/>
              </a:ext>
            </a:extLst>
          </p:cNvPr>
          <p:cNvGrpSpPr/>
          <p:nvPr/>
        </p:nvGrpSpPr>
        <p:grpSpPr>
          <a:xfrm>
            <a:off x="3019869" y="1867473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6B2A320-2D89-E8BD-034E-BD051B2CD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CFD918-09A2-4D53-9C23-43EAC44ABDA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54DE98-98A2-C431-606D-3748E94604EF}"/>
              </a:ext>
            </a:extLst>
          </p:cNvPr>
          <p:cNvGrpSpPr/>
          <p:nvPr/>
        </p:nvGrpSpPr>
        <p:grpSpPr>
          <a:xfrm>
            <a:off x="7287089" y="2661678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00E2DC1-13BE-2057-805A-03AE08C2E1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CCECDD-4658-5F76-96A3-B55B59CA9A4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DB6001-B4CC-F0D0-2E89-7269AE0BACEA}"/>
              </a:ext>
            </a:extLst>
          </p:cNvPr>
          <p:cNvGrpSpPr/>
          <p:nvPr/>
        </p:nvGrpSpPr>
        <p:grpSpPr>
          <a:xfrm>
            <a:off x="6364669" y="2942309"/>
            <a:ext cx="1068643" cy="369332"/>
            <a:chOff x="3647644" y="4910075"/>
            <a:chExt cx="1068643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F00F9C-702E-940F-A853-546FCB8A837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9CE3351-16C8-E4A4-E28E-CE3461D8A0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333DF08-5F49-4AC7-1E8E-B41E178F4352}"/>
              </a:ext>
            </a:extLst>
          </p:cNvPr>
          <p:cNvGrpSpPr/>
          <p:nvPr/>
        </p:nvGrpSpPr>
        <p:grpSpPr>
          <a:xfrm>
            <a:off x="4572000" y="3326614"/>
            <a:ext cx="1064340" cy="369332"/>
            <a:chOff x="3647644" y="5421073"/>
            <a:chExt cx="1064340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E9BCD2-D7C7-E313-F8DA-91A2B3DC15E4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5E783FF-BCA0-F202-DF1F-1482F184A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17359C-EECD-7909-D36F-2394502FF6E4}"/>
              </a:ext>
            </a:extLst>
          </p:cNvPr>
          <p:cNvGrpSpPr/>
          <p:nvPr/>
        </p:nvGrpSpPr>
        <p:grpSpPr>
          <a:xfrm>
            <a:off x="7588796" y="4297542"/>
            <a:ext cx="1068643" cy="369332"/>
            <a:chOff x="3647644" y="5359159"/>
            <a:chExt cx="1068643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9280D42-49C3-CC2A-96CB-D817B0E3555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8FB8CDB-0CF1-C648-6170-3443761BC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EBF007-CD39-20A7-3ECB-09E41721E9B6}"/>
              </a:ext>
            </a:extLst>
          </p:cNvPr>
          <p:cNvGrpSpPr/>
          <p:nvPr/>
        </p:nvGrpSpPr>
        <p:grpSpPr>
          <a:xfrm>
            <a:off x="5233551" y="4549006"/>
            <a:ext cx="1076632" cy="369332"/>
            <a:chOff x="2157212" y="5356391"/>
            <a:chExt cx="1076632" cy="36933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78E6C3-3651-687D-A6EA-F9359079D0B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8C2F8EE-96AC-2F13-298C-7B3DE000B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F284FE0-6688-2C98-6919-1E92BA3E369B}"/>
              </a:ext>
            </a:extLst>
          </p:cNvPr>
          <p:cNvGrpSpPr/>
          <p:nvPr/>
        </p:nvGrpSpPr>
        <p:grpSpPr>
          <a:xfrm>
            <a:off x="3366456" y="5481556"/>
            <a:ext cx="1076632" cy="369332"/>
            <a:chOff x="2157212" y="5356391"/>
            <a:chExt cx="1076632" cy="36933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C66AE30-898B-134E-08D5-9B5BB37ABC6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2EBA2A9-9308-73E5-D2F4-93125406FA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E41429D-A13B-3315-594E-B4F8A4A52B64}"/>
              </a:ext>
            </a:extLst>
          </p:cNvPr>
          <p:cNvGrpSpPr/>
          <p:nvPr/>
        </p:nvGrpSpPr>
        <p:grpSpPr>
          <a:xfrm>
            <a:off x="6099957" y="5902710"/>
            <a:ext cx="1076632" cy="369332"/>
            <a:chOff x="2157212" y="5356391"/>
            <a:chExt cx="1076632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5137B5B-7C48-86C9-814A-CEA0785A88F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C49A3DB-8F68-F7C0-352D-AA404BA979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E45DAE74-FB96-0814-89EB-C8A357591D2D}"/>
              </a:ext>
            </a:extLst>
          </p:cNvPr>
          <p:cNvSpPr/>
          <p:nvPr/>
        </p:nvSpPr>
        <p:spPr>
          <a:xfrm>
            <a:off x="4443088" y="5902710"/>
            <a:ext cx="602154" cy="36932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0F68-D7A5-DEC0-A010-B5DA1D05FEF6}"/>
              </a:ext>
            </a:extLst>
          </p:cNvPr>
          <p:cNvSpPr txBox="1"/>
          <p:nvPr/>
        </p:nvSpPr>
        <p:spPr>
          <a:xfrm>
            <a:off x="5518882" y="3243269"/>
            <a:ext cx="1855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Polar to Cartesian coordinate conversion</a:t>
            </a:r>
          </a:p>
        </p:txBody>
      </p:sp>
    </p:spTree>
    <p:extLst>
      <p:ext uri="{BB962C8B-B14F-4D97-AF65-F5344CB8AC3E}">
        <p14:creationId xmlns:p14="http://schemas.microsoft.com/office/powerpoint/2010/main" val="297066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6" grpId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5176-9E9C-517D-FDAA-6D4BC71F0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3F23-B7A4-6F45-C8CA-04102304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trig_circle.py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A9815-1CF0-DC6E-CCB3-3F27885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9BE12-BC21-EEA7-68F5-DCE407CD4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4" y="1846799"/>
            <a:ext cx="8234631" cy="220767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55AE943-78C8-5BF4-0087-89F2F8E834FE}"/>
              </a:ext>
            </a:extLst>
          </p:cNvPr>
          <p:cNvGrpSpPr/>
          <p:nvPr/>
        </p:nvGrpSpPr>
        <p:grpSpPr>
          <a:xfrm>
            <a:off x="5033161" y="1923620"/>
            <a:ext cx="1076632" cy="369332"/>
            <a:chOff x="4968362" y="2079211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95FDB1C-2D8C-3B76-10C1-94FA3FD71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064421-D4D0-396E-AF8A-91210C63949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271BF4-FACC-8633-AACD-B3725ED589A3}"/>
              </a:ext>
            </a:extLst>
          </p:cNvPr>
          <p:cNvGrpSpPr/>
          <p:nvPr/>
        </p:nvGrpSpPr>
        <p:grpSpPr>
          <a:xfrm>
            <a:off x="7311140" y="2879660"/>
            <a:ext cx="1076632" cy="369332"/>
            <a:chOff x="4704120" y="2356972"/>
            <a:chExt cx="1076632" cy="36933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E831298-FC9F-6DFB-24BE-8F89E32D88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F078F8C-594C-8C2D-A2B4-FBD86A81F87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A8A92A-5679-80B4-6207-760CAFAF3CE5}"/>
              </a:ext>
            </a:extLst>
          </p:cNvPr>
          <p:cNvGrpSpPr/>
          <p:nvPr/>
        </p:nvGrpSpPr>
        <p:grpSpPr>
          <a:xfrm>
            <a:off x="4649703" y="4047652"/>
            <a:ext cx="383458" cy="880761"/>
            <a:chOff x="4332829" y="4398646"/>
            <a:chExt cx="383458" cy="88076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D7FCA8-E8C6-7E44-154E-F08F6A64F001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20A551-BFCE-D2BC-BC8B-18C21D27812F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4524558" y="4398646"/>
              <a:ext cx="191729" cy="5114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BC25AA-2A07-B495-47A9-04EC20901572}"/>
              </a:ext>
            </a:extLst>
          </p:cNvPr>
          <p:cNvGrpSpPr/>
          <p:nvPr/>
        </p:nvGrpSpPr>
        <p:grpSpPr>
          <a:xfrm>
            <a:off x="1006754" y="4310189"/>
            <a:ext cx="1427747" cy="1186219"/>
            <a:chOff x="1006754" y="4310189"/>
            <a:chExt cx="1427747" cy="11862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44D49EE-B647-84D1-DA2C-AC0C116302E4}"/>
                    </a:ext>
                  </a:extLst>
                </p:cNvPr>
                <p:cNvSpPr txBox="1"/>
                <p:nvPr/>
              </p:nvSpPr>
              <p:spPr>
                <a:xfrm>
                  <a:off x="1359086" y="4977804"/>
                  <a:ext cx="723082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44D49EE-B647-84D1-DA2C-AC0C11630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9086" y="4977804"/>
                  <a:ext cx="723082" cy="51860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02E1B0B-447A-42E3-E48B-C6181EA174B3}"/>
                </a:ext>
              </a:extLst>
            </p:cNvPr>
            <p:cNvSpPr txBox="1"/>
            <p:nvPr/>
          </p:nvSpPr>
          <p:spPr>
            <a:xfrm>
              <a:off x="1006754" y="4310189"/>
              <a:ext cx="14277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From</a:t>
              </a:r>
            </a:p>
            <a:p>
              <a:pPr algn="ctr"/>
              <a:r>
                <a:rPr lang="en-US" dirty="0">
                  <a:solidFill>
                    <a:srgbClr val="7030A0"/>
                  </a:solidFill>
                </a:rPr>
                <a:t>Area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50F3D6D-CA37-A839-F166-62AF80A679D5}"/>
              </a:ext>
            </a:extLst>
          </p:cNvPr>
          <p:cNvGrpSpPr/>
          <p:nvPr/>
        </p:nvGrpSpPr>
        <p:grpSpPr>
          <a:xfrm>
            <a:off x="2683152" y="4288905"/>
            <a:ext cx="1608110" cy="1158112"/>
            <a:chOff x="2434501" y="4288905"/>
            <a:chExt cx="1608110" cy="1158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B6DCB51-336C-9A34-B872-11973E82420B}"/>
                    </a:ext>
                  </a:extLst>
                </p:cNvPr>
                <p:cNvSpPr txBox="1"/>
                <p:nvPr/>
              </p:nvSpPr>
              <p:spPr>
                <a:xfrm>
                  <a:off x="2869673" y="4928413"/>
                  <a:ext cx="737766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B6DCB51-336C-9A34-B872-11973E8242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673" y="4928413"/>
                  <a:ext cx="737766" cy="5186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0005E01-10E2-8915-4278-209809A7BF77}"/>
                </a:ext>
              </a:extLst>
            </p:cNvPr>
            <p:cNvSpPr txBox="1"/>
            <p:nvPr/>
          </p:nvSpPr>
          <p:spPr>
            <a:xfrm>
              <a:off x="2434501" y="4288905"/>
              <a:ext cx="1608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From</a:t>
              </a:r>
            </a:p>
            <a:p>
              <a:pPr algn="ctr"/>
              <a:r>
                <a:rPr lang="en-US" dirty="0">
                  <a:solidFill>
                    <a:srgbClr val="7030A0"/>
                  </a:solidFill>
                </a:rPr>
                <a:t>Circumference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82B3B90-2EF0-10F4-F820-E423A8BFBED2}"/>
              </a:ext>
            </a:extLst>
          </p:cNvPr>
          <p:cNvGrpSpPr/>
          <p:nvPr/>
        </p:nvGrpSpPr>
        <p:grpSpPr>
          <a:xfrm>
            <a:off x="5599183" y="4281854"/>
            <a:ext cx="3190640" cy="2287754"/>
            <a:chOff x="5599183" y="4281854"/>
            <a:chExt cx="3190640" cy="2287754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42BF62B-F4FC-8B69-0525-70884EA09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2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9183" y="4281854"/>
              <a:ext cx="1717533" cy="228775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AAC124F-4407-D6B9-BFC8-5B1311775197}"/>
                </a:ext>
              </a:extLst>
            </p:cNvPr>
            <p:cNvSpPr txBox="1"/>
            <p:nvPr/>
          </p:nvSpPr>
          <p:spPr>
            <a:xfrm>
              <a:off x="7373105" y="4882247"/>
              <a:ext cx="141671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Archimedes</a:t>
              </a:r>
            </a:p>
            <a:p>
              <a:pPr algn="ctr"/>
              <a:r>
                <a:rPr lang="en-US" sz="1600" dirty="0"/>
                <a:t>(282-212 BC)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3322756-52CC-850D-DFF7-0A501F61243C}"/>
              </a:ext>
            </a:extLst>
          </p:cNvPr>
          <p:cNvSpPr/>
          <p:nvPr/>
        </p:nvSpPr>
        <p:spPr>
          <a:xfrm>
            <a:off x="5313196" y="2958265"/>
            <a:ext cx="1034716" cy="21656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690B3-E80C-38AD-3AEA-D6C1A66A5B58}"/>
              </a:ext>
            </a:extLst>
          </p:cNvPr>
          <p:cNvSpPr/>
          <p:nvPr/>
        </p:nvSpPr>
        <p:spPr>
          <a:xfrm>
            <a:off x="6524375" y="3754260"/>
            <a:ext cx="1131344" cy="216568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4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906B-5F9F-D406-18E7-15CE2A79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ED8E-3D57-A226-9B73-B2342D45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trig_circle.py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79CF7-9534-7E1F-8A34-BCA2FD9A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6DBC9-7D28-425A-34DD-E41C3F060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03" y="1754351"/>
            <a:ext cx="6050594" cy="343783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57AD97E-A460-2DC6-41D9-E3BDD73F7871}"/>
              </a:ext>
            </a:extLst>
          </p:cNvPr>
          <p:cNvGrpSpPr/>
          <p:nvPr/>
        </p:nvGrpSpPr>
        <p:grpSpPr>
          <a:xfrm>
            <a:off x="3485095" y="2364778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5F0A224-76D3-3132-377A-77BCF5F09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9F0FE2-31D7-0EA2-39AF-F5B4245A4CC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1FB671-398C-91F4-F26B-D19494571334}"/>
              </a:ext>
            </a:extLst>
          </p:cNvPr>
          <p:cNvGrpSpPr/>
          <p:nvPr/>
        </p:nvGrpSpPr>
        <p:grpSpPr>
          <a:xfrm>
            <a:off x="6348614" y="3670230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0DF7996-6276-0874-CE2E-C1E7608BF7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07EC9E-A095-4CDB-3976-94250596B75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E4211A-766D-43A7-036B-715516100AAD}"/>
              </a:ext>
            </a:extLst>
          </p:cNvPr>
          <p:cNvGrpSpPr/>
          <p:nvPr/>
        </p:nvGrpSpPr>
        <p:grpSpPr>
          <a:xfrm>
            <a:off x="5378062" y="4173725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75E97A-2481-8F77-E8FB-E4E36964304E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03D6787-E908-93B7-BA5B-486E4C9B0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978FB2-5DA8-7EB1-4ADA-C05E08676129}"/>
              </a:ext>
            </a:extLst>
          </p:cNvPr>
          <p:cNvGrpSpPr/>
          <p:nvPr/>
        </p:nvGrpSpPr>
        <p:grpSpPr>
          <a:xfrm>
            <a:off x="2939663" y="4778650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03556C-9E6B-B8C9-48AA-62F21D063A3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163E3DC-7999-9ACD-D498-F0BE06721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BDD0063-4E3D-D2AC-7A0A-B124E2A9620F}"/>
              </a:ext>
            </a:extLst>
          </p:cNvPr>
          <p:cNvSpPr/>
          <p:nvPr/>
        </p:nvSpPr>
        <p:spPr>
          <a:xfrm>
            <a:off x="2176964" y="3638327"/>
            <a:ext cx="542173" cy="535393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67B34C-4606-3BA3-05F6-73EE41DEA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trig_circle.py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44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DD6588-7800-443D-9AAB-D0CC39D7E7C1}"/>
              </a:ext>
            </a:extLst>
          </p:cNvPr>
          <p:cNvCxnSpPr>
            <a:cxnSpLocks/>
          </p:cNvCxnSpPr>
          <p:nvPr/>
        </p:nvCxnSpPr>
        <p:spPr>
          <a:xfrm>
            <a:off x="4651271" y="4343712"/>
            <a:ext cx="148282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CB3C8A-C88D-BF93-8197-7E3D73A7BFC1}"/>
              </a:ext>
            </a:extLst>
          </p:cNvPr>
          <p:cNvCxnSpPr>
            <a:cxnSpLocks/>
          </p:cNvCxnSpPr>
          <p:nvPr/>
        </p:nvCxnSpPr>
        <p:spPr>
          <a:xfrm>
            <a:off x="6114289" y="4343712"/>
            <a:ext cx="0" cy="17784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EE5AEE9-D849-026C-9613-E36B4C1B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232" y="2937205"/>
            <a:ext cx="5044077" cy="24397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5BB7A9-4A25-5121-4542-E46F389CE66E}"/>
              </a:ext>
            </a:extLst>
          </p:cNvPr>
          <p:cNvSpPr/>
          <p:nvPr/>
        </p:nvSpPr>
        <p:spPr>
          <a:xfrm>
            <a:off x="5176838" y="4157103"/>
            <a:ext cx="1319212" cy="31010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ED9BD9-59FE-FD10-4DD1-3BCAC31A0C00}"/>
              </a:ext>
            </a:extLst>
          </p:cNvPr>
          <p:cNvSpPr/>
          <p:nvPr/>
        </p:nvSpPr>
        <p:spPr>
          <a:xfrm>
            <a:off x="5790323" y="5050854"/>
            <a:ext cx="1319212" cy="31010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4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Drawing the Olympic 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0" y="1947862"/>
            <a:ext cx="8069952" cy="39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74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78DE2-46D9-F839-BBC9-556DBD9F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3CD29E-7010-FFA8-1C4B-D152E04112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65" y="1723190"/>
            <a:ext cx="7311871" cy="45482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980DDA-F2A4-708E-AC0A-643C773E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olympic_rings.py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66DEE-471E-8439-88E5-76545A7C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EBB96-DE67-4F32-B04D-D548B7DC0379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791DBC-1FAF-EFE7-3A35-216A0493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637" y="1468581"/>
            <a:ext cx="3431497" cy="167681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6180CAF-24BC-2495-23BE-C0B5B77543C8}"/>
              </a:ext>
            </a:extLst>
          </p:cNvPr>
          <p:cNvGrpSpPr/>
          <p:nvPr/>
        </p:nvGrpSpPr>
        <p:grpSpPr>
          <a:xfrm>
            <a:off x="2477984" y="1707148"/>
            <a:ext cx="1076632" cy="369332"/>
            <a:chOff x="4968362" y="2079211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7A0B0AE-C6CC-E343-BB5D-14BF29ECC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1ACA612-2FC2-2C94-2AF7-DF6DEFDD724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1D0A1D-2EDC-B024-696F-532F5A592623}"/>
              </a:ext>
            </a:extLst>
          </p:cNvPr>
          <p:cNvGrpSpPr/>
          <p:nvPr/>
        </p:nvGrpSpPr>
        <p:grpSpPr>
          <a:xfrm>
            <a:off x="7349982" y="4339083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E7E82C8-EB5F-4046-934D-034A0E658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DB062B-18BE-BCF8-87D6-F549053947D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227758-18C9-6C0E-95AA-2769846BFD96}"/>
              </a:ext>
            </a:extLst>
          </p:cNvPr>
          <p:cNvGrpSpPr/>
          <p:nvPr/>
        </p:nvGrpSpPr>
        <p:grpSpPr>
          <a:xfrm>
            <a:off x="4111525" y="5142831"/>
            <a:ext cx="1068643" cy="369332"/>
            <a:chOff x="3647644" y="4910075"/>
            <a:chExt cx="1068643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075CFA-898C-F2F6-9ECB-0DBE077029E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BFFE97F-7129-8AC4-1446-3A68372E6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DA3C75-B730-18D8-0819-B64DCFAC4329}"/>
              </a:ext>
            </a:extLst>
          </p:cNvPr>
          <p:cNvGrpSpPr/>
          <p:nvPr/>
        </p:nvGrpSpPr>
        <p:grpSpPr>
          <a:xfrm>
            <a:off x="4044672" y="5400942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9E4EB9-40A6-C07A-AF5F-A0879C4F5F9D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C2D47C3-A25A-6838-CFE0-3130BCF4B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0F68CB-C4B1-925E-5ED9-94ABF4B4419A}"/>
              </a:ext>
            </a:extLst>
          </p:cNvPr>
          <p:cNvGrpSpPr/>
          <p:nvPr/>
        </p:nvGrpSpPr>
        <p:grpSpPr>
          <a:xfrm>
            <a:off x="2601884" y="5636871"/>
            <a:ext cx="1068643" cy="369332"/>
            <a:chOff x="3647644" y="5359159"/>
            <a:chExt cx="1068643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5CF47A-36B1-0403-5ABF-7A4DF077A16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42592AC-CFEE-02BF-6D88-B0F30EC9C9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89C9417E-B302-6B91-6DEB-CDDDA54E1BC6}"/>
              </a:ext>
            </a:extLst>
          </p:cNvPr>
          <p:cNvSpPr/>
          <p:nvPr/>
        </p:nvSpPr>
        <p:spPr>
          <a:xfrm>
            <a:off x="942896" y="2944126"/>
            <a:ext cx="1457637" cy="641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D83E450-B74C-4A6B-4FD3-3817F1322FF9}"/>
              </a:ext>
            </a:extLst>
          </p:cNvPr>
          <p:cNvCxnSpPr>
            <a:cxnSpLocks/>
            <a:stCxn id="12" idx="1"/>
            <a:endCxn id="46" idx="3"/>
          </p:cNvCxnSpPr>
          <p:nvPr/>
        </p:nvCxnSpPr>
        <p:spPr>
          <a:xfrm rot="10800000" flipV="1">
            <a:off x="2400533" y="2306986"/>
            <a:ext cx="2942104" cy="957918"/>
          </a:xfrm>
          <a:prstGeom prst="bentConnector3">
            <a:avLst>
              <a:gd name="adj1" fmla="val 3009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81B0868-B7F2-9DF6-EF11-A10E1792F426}"/>
              </a:ext>
            </a:extLst>
          </p:cNvPr>
          <p:cNvSpPr/>
          <p:nvPr/>
        </p:nvSpPr>
        <p:spPr>
          <a:xfrm>
            <a:off x="1917032" y="4239000"/>
            <a:ext cx="1254126" cy="2185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9D3A1F-8392-AC5F-D291-787A90CBA9F1}"/>
              </a:ext>
            </a:extLst>
          </p:cNvPr>
          <p:cNvSpPr/>
          <p:nvPr/>
        </p:nvSpPr>
        <p:spPr>
          <a:xfrm>
            <a:off x="1925052" y="4968726"/>
            <a:ext cx="3091447" cy="2185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461B82-4BFC-4AE5-122B-17460B9E1A6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37475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1" grpId="0" animBg="1"/>
      <p:bldP spid="32" grpId="0" animBg="1"/>
      <p:bldP spid="3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33CAE9-B075-BBE9-6FC6-88DB1A3B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68581"/>
            <a:ext cx="6114286" cy="5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olympic_rings.py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E7E36-9D11-4DC3-9B13-2DE700F60C7B}"/>
              </a:ext>
            </a:extLst>
          </p:cNvPr>
          <p:cNvSpPr/>
          <p:nvPr/>
        </p:nvSpPr>
        <p:spPr>
          <a:xfrm>
            <a:off x="4173794" y="3657600"/>
            <a:ext cx="235974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62FB9-6F41-4080-86BC-B8AE25CB4435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8A033-FA31-45FC-9C52-C81FC05D4958}"/>
              </a:ext>
            </a:extLst>
          </p:cNvPr>
          <p:cNvSpPr txBox="1"/>
          <p:nvPr/>
        </p:nvSpPr>
        <p:spPr>
          <a:xfrm>
            <a:off x="7942006" y="5023527"/>
            <a:ext cx="78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44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18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C6B4-1CD8-D5DF-0CDE-C016AFD3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0C3E-FAFF-713D-6D4E-6AA9CAA2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Drawing the Olympic 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DB30B-17CA-991B-38CC-CB2B267D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7A1A0-361B-ABED-2C44-319E613AA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0" y="1947862"/>
            <a:ext cx="8069952" cy="392149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A14B691-1535-AA25-4BF8-B37FF564DB5D}"/>
              </a:ext>
            </a:extLst>
          </p:cNvPr>
          <p:cNvGrpSpPr/>
          <p:nvPr/>
        </p:nvGrpSpPr>
        <p:grpSpPr>
          <a:xfrm>
            <a:off x="4415282" y="2894925"/>
            <a:ext cx="2686066" cy="411838"/>
            <a:chOff x="4415282" y="2894925"/>
            <a:chExt cx="2686066" cy="411838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004FA2C7-1547-E021-522B-B1177D6C4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435" y="2894925"/>
              <a:ext cx="1197764" cy="3693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x_offset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A4D7482-D4C6-AAC1-E3B3-C6720E4F4469}"/>
                </a:ext>
              </a:extLst>
            </p:cNvPr>
            <p:cNvCxnSpPr/>
            <p:nvPr/>
          </p:nvCxnSpPr>
          <p:spPr>
            <a:xfrm>
              <a:off x="4415282" y="3297240"/>
              <a:ext cx="2686066" cy="9523"/>
            </a:xfrm>
            <a:prstGeom prst="line">
              <a:avLst/>
            </a:prstGeom>
            <a:ln w="7620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64C1A40-8B03-0C99-02F5-E98AE32D5737}"/>
              </a:ext>
            </a:extLst>
          </p:cNvPr>
          <p:cNvGrpSpPr/>
          <p:nvPr/>
        </p:nvGrpSpPr>
        <p:grpSpPr>
          <a:xfrm>
            <a:off x="2693183" y="3232577"/>
            <a:ext cx="470382" cy="1352061"/>
            <a:chOff x="2693183" y="3232577"/>
            <a:chExt cx="470382" cy="1352061"/>
          </a:xfrm>
        </p:grpSpPr>
        <p:sp>
          <p:nvSpPr>
            <p:cNvPr id="12" name="Rectangle 1">
              <a:extLst>
                <a:ext uri="{FF2B5EF4-FFF2-40B4-BE49-F238E27FC236}">
                  <a16:creationId xmlns:a16="http://schemas.microsoft.com/office/drawing/2014/main" id="{646CC1BA-644E-7CDC-A202-DBBCAE0687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236648" y="3708553"/>
              <a:ext cx="1313180" cy="40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y_offset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7BA5FC-8E7E-0105-B535-79E9E330D12B}"/>
                </a:ext>
              </a:extLst>
            </p:cNvPr>
            <p:cNvCxnSpPr/>
            <p:nvPr/>
          </p:nvCxnSpPr>
          <p:spPr>
            <a:xfrm>
              <a:off x="3159659" y="3232577"/>
              <a:ext cx="3906" cy="1352061"/>
            </a:xfrm>
            <a:prstGeom prst="line">
              <a:avLst/>
            </a:prstGeom>
            <a:ln w="7620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9B4A471-F60C-C85E-FE7B-C1CA3DBE0679}"/>
              </a:ext>
            </a:extLst>
          </p:cNvPr>
          <p:cNvSpPr txBox="1"/>
          <p:nvPr/>
        </p:nvSpPr>
        <p:spPr>
          <a:xfrm>
            <a:off x="4139267" y="3160396"/>
            <a:ext cx="50461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(0,0)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D78929-BCA4-037C-4804-F206BA1C14BF}"/>
              </a:ext>
            </a:extLst>
          </p:cNvPr>
          <p:cNvGrpSpPr/>
          <p:nvPr/>
        </p:nvGrpSpPr>
        <p:grpSpPr>
          <a:xfrm>
            <a:off x="3965426" y="4455493"/>
            <a:ext cx="2319030" cy="450667"/>
            <a:chOff x="3965426" y="4455493"/>
            <a:chExt cx="2319030" cy="450667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B65F93F9-1D49-2B3F-755B-7F73DD8B2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426" y="4506050"/>
              <a:ext cx="2319030" cy="40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anose="020B0609020204030204" pitchFamily="49" charset="0"/>
                </a:rPr>
                <a:t>x_offset / 2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D75139-24C2-EA4A-3D30-391A41F46CF6}"/>
                </a:ext>
              </a:extLst>
            </p:cNvPr>
            <p:cNvCxnSpPr/>
            <p:nvPr/>
          </p:nvCxnSpPr>
          <p:spPr>
            <a:xfrm flipV="1">
              <a:off x="4416752" y="4455493"/>
              <a:ext cx="1416379" cy="8051"/>
            </a:xfrm>
            <a:prstGeom prst="line">
              <a:avLst/>
            </a:prstGeom>
            <a:ln w="76200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34F1243-55F7-7C57-E2D8-9F431941EBED}"/>
              </a:ext>
            </a:extLst>
          </p:cNvPr>
          <p:cNvSpPr txBox="1"/>
          <p:nvPr/>
        </p:nvSpPr>
        <p:spPr>
          <a:xfrm>
            <a:off x="1874768" y="5967434"/>
            <a:ext cx="539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What should these offsets be to render a correct logo?</a:t>
            </a:r>
          </a:p>
        </p:txBody>
      </p:sp>
    </p:spTree>
    <p:extLst>
      <p:ext uri="{BB962C8B-B14F-4D97-AF65-F5344CB8AC3E}">
        <p14:creationId xmlns:p14="http://schemas.microsoft.com/office/powerpoint/2010/main" val="194019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66F94-B71D-728F-5DE9-7FF324A5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2CFF50-9EDD-20C0-5977-14599FC229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64" y="1723527"/>
            <a:ext cx="7337118" cy="4563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230CAA-C7D5-92FD-E2B7-73FFA2ED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olympic_rings.py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BC866-9FD0-9829-C433-9DCE04BB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49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74ACB-036C-07F0-95FB-280FD852C7AF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08DFEC-5D5E-A91B-A185-1F4E13DB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637" y="1468581"/>
            <a:ext cx="3431497" cy="16768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8CB82057-9F01-0012-A1DA-DD9318C2774B}"/>
              </a:ext>
            </a:extLst>
          </p:cNvPr>
          <p:cNvSpPr/>
          <p:nvPr/>
        </p:nvSpPr>
        <p:spPr>
          <a:xfrm>
            <a:off x="942896" y="2944126"/>
            <a:ext cx="2858468" cy="641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CD6114B-3910-55CA-C7FB-8DA8EAC430E3}"/>
              </a:ext>
            </a:extLst>
          </p:cNvPr>
          <p:cNvCxnSpPr>
            <a:cxnSpLocks/>
            <a:stCxn id="12" idx="1"/>
            <a:endCxn id="46" idx="3"/>
          </p:cNvCxnSpPr>
          <p:nvPr/>
        </p:nvCxnSpPr>
        <p:spPr>
          <a:xfrm rot="10800000" flipV="1">
            <a:off x="3801365" y="2306986"/>
            <a:ext cx="1541273" cy="95791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3468951-0A16-065A-F09E-236B04996B04}"/>
              </a:ext>
            </a:extLst>
          </p:cNvPr>
          <p:cNvSpPr txBox="1"/>
          <p:nvPr/>
        </p:nvSpPr>
        <p:spPr>
          <a:xfrm>
            <a:off x="5781312" y="3251748"/>
            <a:ext cx="2181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No hardcoded lengths!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C80B4-58AB-0C19-1361-37F148F4075B}"/>
              </a:ext>
            </a:extLst>
          </p:cNvPr>
          <p:cNvSpPr txBox="1"/>
          <p:nvPr/>
        </p:nvSpPr>
        <p:spPr>
          <a:xfrm>
            <a:off x="5156427" y="3551774"/>
            <a:ext cx="3431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Offsets should be a </a:t>
            </a:r>
            <a:r>
              <a:rPr lang="en-US" sz="1400" u="sng" dirty="0">
                <a:solidFill>
                  <a:srgbClr val="FFFF00"/>
                </a:solidFill>
              </a:rPr>
              <a:t>function</a:t>
            </a:r>
            <a:r>
              <a:rPr lang="en-US" sz="1400" dirty="0">
                <a:solidFill>
                  <a:srgbClr val="FFFF00"/>
                </a:solidFill>
              </a:rPr>
              <a:t> of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radius</a:t>
            </a:r>
            <a:r>
              <a:rPr lang="en-US" sz="1400" dirty="0">
                <a:solidFill>
                  <a:srgbClr val="FFFF00"/>
                </a:solidFill>
              </a:rPr>
              <a:t> so the image can </a:t>
            </a:r>
            <a:r>
              <a:rPr lang="en-US" sz="1400" b="1" dirty="0">
                <a:solidFill>
                  <a:srgbClr val="FFFF00"/>
                </a:solidFill>
              </a:rPr>
              <a:t>scale</a:t>
            </a:r>
            <a:r>
              <a:rPr lang="en-US" sz="1400" dirty="0">
                <a:solidFill>
                  <a:srgbClr val="FFFF00"/>
                </a:solidFill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A2D488-D307-0853-7CBB-3A6D05FAB727}"/>
                  </a:ext>
                </a:extLst>
              </p:cNvPr>
              <p:cNvSpPr txBox="1"/>
              <p:nvPr/>
            </p:nvSpPr>
            <p:spPr>
              <a:xfrm>
                <a:off x="1503984" y="2668421"/>
                <a:ext cx="16905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The Greeks loved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A2D488-D307-0853-7CBB-3A6D05FAB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984" y="2668421"/>
                <a:ext cx="1690575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C68926D-3631-71EA-9E6C-7CF3DCCB8C6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E6A1A-AA12-E017-C025-72BCEE95D70D}"/>
              </a:ext>
            </a:extLst>
          </p:cNvPr>
          <p:cNvSpPr/>
          <p:nvPr/>
        </p:nvSpPr>
        <p:spPr>
          <a:xfrm>
            <a:off x="2139390" y="3009037"/>
            <a:ext cx="565710" cy="22470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6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" grpId="0"/>
      <p:bldP spid="7" grpId="0"/>
      <p:bldP spid="9" grpId="0"/>
      <p:bldP spid="3" grpId="0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805C-07AC-6EFF-C156-BC047F91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26DEAF-6112-B231-0785-205AA252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68581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355F7-37EC-D164-7336-70455FC17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olympic_rings.py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1CE6-2E66-1CA2-DC33-A27897F2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48768-0E21-614D-3F88-EF817EBDFEC9}"/>
              </a:ext>
            </a:extLst>
          </p:cNvPr>
          <p:cNvSpPr/>
          <p:nvPr/>
        </p:nvSpPr>
        <p:spPr>
          <a:xfrm>
            <a:off x="4173794" y="3657600"/>
            <a:ext cx="235974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42960F-B934-731D-225A-669DFCE3C477}"/>
              </a:ext>
            </a:extLst>
          </p:cNvPr>
          <p:cNvSpPr/>
          <p:nvPr/>
        </p:nvSpPr>
        <p:spPr>
          <a:xfrm>
            <a:off x="3094704" y="2740742"/>
            <a:ext cx="776748" cy="2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DF0D3-9251-6899-BE45-BC9BD51A4AB7}"/>
              </a:ext>
            </a:extLst>
          </p:cNvPr>
          <p:cNvSpPr txBox="1"/>
          <p:nvPr/>
        </p:nvSpPr>
        <p:spPr>
          <a:xfrm>
            <a:off x="7942006" y="5023527"/>
            <a:ext cx="78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4400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01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Deriving the Equation of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FCED92-5B92-4E82-8313-651B4C40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59" y="1468581"/>
            <a:ext cx="3731682" cy="2352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449E46-B7B5-49CE-A669-7859232DDE0C}"/>
                  </a:ext>
                </a:extLst>
              </p:cNvPr>
              <p:cNvSpPr txBox="1"/>
              <p:nvPr/>
            </p:nvSpPr>
            <p:spPr>
              <a:xfrm>
                <a:off x="2659659" y="4888872"/>
                <a:ext cx="41572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449E46-B7B5-49CE-A669-7859232DD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659" y="4888872"/>
                <a:ext cx="4157292" cy="276999"/>
              </a:xfrm>
              <a:prstGeom prst="rect">
                <a:avLst/>
              </a:prstGeom>
              <a:blipFill>
                <a:blip r:embed="rId3"/>
                <a:stretch>
                  <a:fillRect l="-1026" r="-14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259C5F-AEBF-4397-9DEA-8E64E2024506}"/>
                  </a:ext>
                </a:extLst>
              </p:cNvPr>
              <p:cNvSpPr txBox="1"/>
              <p:nvPr/>
            </p:nvSpPr>
            <p:spPr>
              <a:xfrm>
                <a:off x="2659659" y="5292594"/>
                <a:ext cx="3816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259C5F-AEBF-4397-9DEA-8E64E2024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659" y="5292594"/>
                <a:ext cx="3816366" cy="276999"/>
              </a:xfrm>
              <a:prstGeom prst="rect">
                <a:avLst/>
              </a:prstGeom>
              <a:blipFill>
                <a:blip r:embed="rId4"/>
                <a:stretch>
                  <a:fillRect l="-1118" r="-16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CAB076-EF92-403F-A326-A19DD2A2C9EF}"/>
                  </a:ext>
                </a:extLst>
              </p:cNvPr>
              <p:cNvSpPr txBox="1"/>
              <p:nvPr/>
            </p:nvSpPr>
            <p:spPr>
              <a:xfrm>
                <a:off x="2327050" y="4484931"/>
                <a:ext cx="17134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@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CAB076-EF92-403F-A326-A19DD2A2C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50" y="4484931"/>
                <a:ext cx="1713482" cy="276999"/>
              </a:xfrm>
              <a:prstGeom prst="rect">
                <a:avLst/>
              </a:prstGeom>
              <a:blipFill>
                <a:blip r:embed="rId5"/>
                <a:stretch>
                  <a:fillRect l="-284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12803C-7D68-41A0-9CA1-CEE3537F0153}"/>
                  </a:ext>
                </a:extLst>
              </p:cNvPr>
              <p:cNvSpPr txBox="1"/>
              <p:nvPr/>
            </p:nvSpPr>
            <p:spPr>
              <a:xfrm>
                <a:off x="2327050" y="4080990"/>
                <a:ext cx="2024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12803C-7D68-41A0-9CA1-CEE3537F0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50" y="4080990"/>
                <a:ext cx="2024785" cy="276999"/>
              </a:xfrm>
              <a:prstGeom prst="rect">
                <a:avLst/>
              </a:prstGeom>
              <a:blipFill>
                <a:blip r:embed="rId6"/>
                <a:stretch>
                  <a:fillRect l="-2410" r="-180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4502D7-8ABC-44C2-897D-5689A447F895}"/>
                  </a:ext>
                </a:extLst>
              </p:cNvPr>
              <p:cNvSpPr txBox="1"/>
              <p:nvPr/>
            </p:nvSpPr>
            <p:spPr>
              <a:xfrm>
                <a:off x="2327050" y="5683403"/>
                <a:ext cx="35414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4502D7-8ABC-44C2-897D-5689A447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50" y="5683403"/>
                <a:ext cx="3541419" cy="276999"/>
              </a:xfrm>
              <a:prstGeom prst="rect">
                <a:avLst/>
              </a:prstGeom>
              <a:blipFill>
                <a:blip r:embed="rId7"/>
                <a:stretch>
                  <a:fillRect r="-86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9046DD-79C7-4B9C-BE78-070C48B7E5C0}"/>
              </a:ext>
            </a:extLst>
          </p:cNvPr>
          <p:cNvCxnSpPr>
            <a:cxnSpLocks/>
          </p:cNvCxnSpPr>
          <p:nvPr/>
        </p:nvCxnSpPr>
        <p:spPr>
          <a:xfrm>
            <a:off x="3987800" y="3070225"/>
            <a:ext cx="192722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E4506D-171E-41C0-A2FC-84535330B067}"/>
              </a:ext>
            </a:extLst>
          </p:cNvPr>
          <p:cNvCxnSpPr>
            <a:cxnSpLocks/>
          </p:cNvCxnSpPr>
          <p:nvPr/>
        </p:nvCxnSpPr>
        <p:spPr>
          <a:xfrm>
            <a:off x="3987800" y="2989263"/>
            <a:ext cx="0" cy="1619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E9DE2F-47D9-48FB-82CA-D9CB2551305B}"/>
              </a:ext>
            </a:extLst>
          </p:cNvPr>
          <p:cNvCxnSpPr>
            <a:cxnSpLocks/>
          </p:cNvCxnSpPr>
          <p:nvPr/>
        </p:nvCxnSpPr>
        <p:spPr>
          <a:xfrm>
            <a:off x="4632325" y="2989263"/>
            <a:ext cx="0" cy="1619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4C6231-E28B-4976-9FBF-71C369B16B27}"/>
              </a:ext>
            </a:extLst>
          </p:cNvPr>
          <p:cNvCxnSpPr>
            <a:cxnSpLocks/>
          </p:cNvCxnSpPr>
          <p:nvPr/>
        </p:nvCxnSpPr>
        <p:spPr>
          <a:xfrm>
            <a:off x="5924550" y="2989263"/>
            <a:ext cx="0" cy="1619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189CD4-B417-401A-8712-55D505B65297}"/>
              </a:ext>
            </a:extLst>
          </p:cNvPr>
          <p:cNvCxnSpPr>
            <a:cxnSpLocks/>
          </p:cNvCxnSpPr>
          <p:nvPr/>
        </p:nvCxnSpPr>
        <p:spPr>
          <a:xfrm>
            <a:off x="5280025" y="2248691"/>
            <a:ext cx="0" cy="1619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5DE11F-84B7-4B76-ACB4-D27565E4B1DF}"/>
              </a:ext>
            </a:extLst>
          </p:cNvPr>
          <p:cNvCxnSpPr>
            <a:cxnSpLocks/>
          </p:cNvCxnSpPr>
          <p:nvPr/>
        </p:nvCxnSpPr>
        <p:spPr>
          <a:xfrm>
            <a:off x="5926931" y="2248691"/>
            <a:ext cx="0" cy="1619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80A5B60-34C4-4237-85DD-8174BFD8147F}"/>
              </a:ext>
            </a:extLst>
          </p:cNvPr>
          <p:cNvSpPr txBox="1"/>
          <p:nvPr/>
        </p:nvSpPr>
        <p:spPr>
          <a:xfrm>
            <a:off x="4195916" y="3059692"/>
            <a:ext cx="272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FED5E5-8CF5-46BD-B4C8-166F5B0F12D4}"/>
              </a:ext>
            </a:extLst>
          </p:cNvPr>
          <p:cNvSpPr txBox="1"/>
          <p:nvPr/>
        </p:nvSpPr>
        <p:spPr>
          <a:xfrm>
            <a:off x="5137253" y="3055090"/>
            <a:ext cx="272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6C00E-1E4A-4819-84AA-C9F7DA2B3853}"/>
              </a:ext>
            </a:extLst>
          </p:cNvPr>
          <p:cNvSpPr txBox="1"/>
          <p:nvPr/>
        </p:nvSpPr>
        <p:spPr>
          <a:xfrm>
            <a:off x="5467849" y="2090422"/>
            <a:ext cx="27284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A01383A-AAB1-4729-B8EB-501CA0F79C57}"/>
              </a:ext>
            </a:extLst>
          </p:cNvPr>
          <p:cNvCxnSpPr>
            <a:cxnSpLocks/>
          </p:cNvCxnSpPr>
          <p:nvPr/>
        </p:nvCxnSpPr>
        <p:spPr>
          <a:xfrm>
            <a:off x="5262563" y="2324893"/>
            <a:ext cx="68341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D5C1AE-F0B0-4F32-BD0B-2A3EC8C18830}"/>
                  </a:ext>
                </a:extLst>
              </p:cNvPr>
              <p:cNvSpPr txBox="1"/>
              <p:nvPr/>
            </p:nvSpPr>
            <p:spPr>
              <a:xfrm>
                <a:off x="5859706" y="1915080"/>
                <a:ext cx="553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4D5C1AE-F0B0-4F32-BD0B-2A3EC8C1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706" y="1915080"/>
                <a:ext cx="5539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E54D29-478D-4F17-812B-5B004542F913}"/>
                  </a:ext>
                </a:extLst>
              </p:cNvPr>
              <p:cNvSpPr txBox="1"/>
              <p:nvPr/>
            </p:nvSpPr>
            <p:spPr>
              <a:xfrm>
                <a:off x="5866046" y="3043523"/>
                <a:ext cx="5539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E54D29-478D-4F17-812B-5B004542F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46" y="3043523"/>
                <a:ext cx="55390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57625885-4DF2-4262-AD60-9ACC5F6A0AD7}"/>
              </a:ext>
            </a:extLst>
          </p:cNvPr>
          <p:cNvSpPr/>
          <p:nvPr/>
        </p:nvSpPr>
        <p:spPr>
          <a:xfrm>
            <a:off x="3849330" y="4471799"/>
            <a:ext cx="199103" cy="303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1D42E6-D88D-4D49-B5D8-C318FE480F8E}"/>
              </a:ext>
            </a:extLst>
          </p:cNvPr>
          <p:cNvSpPr/>
          <p:nvPr/>
        </p:nvSpPr>
        <p:spPr>
          <a:xfrm>
            <a:off x="5815473" y="2566641"/>
            <a:ext cx="199103" cy="303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B44D9EF-E95A-4A80-AA40-A68D1D8F9666}"/>
              </a:ext>
            </a:extLst>
          </p:cNvPr>
          <p:cNvCxnSpPr>
            <a:stCxn id="44" idx="3"/>
            <a:endCxn id="45" idx="3"/>
          </p:cNvCxnSpPr>
          <p:nvPr/>
        </p:nvCxnSpPr>
        <p:spPr>
          <a:xfrm flipV="1">
            <a:off x="4048433" y="2718273"/>
            <a:ext cx="1966143" cy="1905158"/>
          </a:xfrm>
          <a:prstGeom prst="bentConnector3">
            <a:avLst>
              <a:gd name="adj1" fmla="val 13638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1CDA515-FB30-471B-A48F-5B5D7B6BF066}"/>
              </a:ext>
            </a:extLst>
          </p:cNvPr>
          <p:cNvSpPr/>
          <p:nvPr/>
        </p:nvSpPr>
        <p:spPr>
          <a:xfrm>
            <a:off x="5538019" y="5683403"/>
            <a:ext cx="330450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2F4100F-FB93-4525-F31D-9BFD0B0CDE8F}"/>
              </a:ext>
            </a:extLst>
          </p:cNvPr>
          <p:cNvCxnSpPr>
            <a:stCxn id="15" idx="1"/>
            <a:endCxn id="16" idx="1"/>
          </p:cNvCxnSpPr>
          <p:nvPr/>
        </p:nvCxnSpPr>
        <p:spPr>
          <a:xfrm rot="10800000" flipV="1">
            <a:off x="2327050" y="4219489"/>
            <a:ext cx="12700" cy="1602413"/>
          </a:xfrm>
          <a:prstGeom prst="bentConnector3">
            <a:avLst>
              <a:gd name="adj1" fmla="val 3227591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935D9-6BCD-CFC9-FFC6-ECE5B65AEC04}"/>
                  </a:ext>
                </a:extLst>
              </p:cNvPr>
              <p:cNvSpPr txBox="1"/>
              <p:nvPr/>
            </p:nvSpPr>
            <p:spPr>
              <a:xfrm>
                <a:off x="634040" y="2346717"/>
                <a:ext cx="1657120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935D9-6BCD-CFC9-FFC6-ECE5B65A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40" y="2346717"/>
                <a:ext cx="1657120" cy="741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4945FB-C490-2DE4-EE56-A2F3BFC8FF21}"/>
                  </a:ext>
                </a:extLst>
              </p:cNvPr>
              <p:cNvSpPr txBox="1"/>
              <p:nvPr/>
            </p:nvSpPr>
            <p:spPr>
              <a:xfrm>
                <a:off x="4714926" y="1692129"/>
                <a:ext cx="45544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4945FB-C490-2DE4-EE56-A2F3BFC8F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26" y="1692129"/>
                <a:ext cx="455446" cy="215444"/>
              </a:xfrm>
              <a:prstGeom prst="rect">
                <a:avLst/>
              </a:prstGeom>
              <a:blipFill>
                <a:blip r:embed="rId1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558DAC-4E40-D85D-4F1A-53B0136EF136}"/>
                  </a:ext>
                </a:extLst>
              </p:cNvPr>
              <p:cNvSpPr txBox="1"/>
              <p:nvPr/>
            </p:nvSpPr>
            <p:spPr>
              <a:xfrm>
                <a:off x="4714926" y="3539035"/>
                <a:ext cx="5900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0,−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558DAC-4E40-D85D-4F1A-53B0136EF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26" y="3539035"/>
                <a:ext cx="590098" cy="215444"/>
              </a:xfrm>
              <a:prstGeom prst="rect">
                <a:avLst/>
              </a:prstGeom>
              <a:blipFill>
                <a:blip r:embed="rId1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CBC1B86-10D2-BF69-8C87-92695770A786}"/>
              </a:ext>
            </a:extLst>
          </p:cNvPr>
          <p:cNvSpPr/>
          <p:nvPr/>
        </p:nvSpPr>
        <p:spPr>
          <a:xfrm>
            <a:off x="4605941" y="1917097"/>
            <a:ext cx="54864" cy="5486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4339F1-A769-6584-8BE3-8F984C9B4CD7}"/>
              </a:ext>
            </a:extLst>
          </p:cNvPr>
          <p:cNvSpPr/>
          <p:nvPr/>
        </p:nvSpPr>
        <p:spPr>
          <a:xfrm>
            <a:off x="4602512" y="3486552"/>
            <a:ext cx="54864" cy="5486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96FD1B-30D4-AFE3-136E-180A5B92FC66}"/>
              </a:ext>
            </a:extLst>
          </p:cNvPr>
          <p:cNvGrpSpPr/>
          <p:nvPr/>
        </p:nvGrpSpPr>
        <p:grpSpPr>
          <a:xfrm>
            <a:off x="669929" y="4775062"/>
            <a:ext cx="1989730" cy="523220"/>
            <a:chOff x="669929" y="4775062"/>
            <a:chExt cx="1989730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35394E5-B63B-2909-C8CD-8367CBF7FE3B}"/>
                </a:ext>
              </a:extLst>
            </p:cNvPr>
            <p:cNvSpPr txBox="1"/>
            <p:nvPr/>
          </p:nvSpPr>
          <p:spPr>
            <a:xfrm>
              <a:off x="669929" y="4775062"/>
              <a:ext cx="11330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50"/>
                  </a:solidFill>
                </a:rPr>
                <a:t>When at point (a,0)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7B23511-E4F4-38B5-ECB0-994E2185161D}"/>
                </a:ext>
              </a:extLst>
            </p:cNvPr>
            <p:cNvCxnSpPr>
              <a:endCxn id="12" idx="1"/>
            </p:cNvCxnSpPr>
            <p:nvPr/>
          </p:nvCxnSpPr>
          <p:spPr>
            <a:xfrm flipV="1">
              <a:off x="1636295" y="5027372"/>
              <a:ext cx="1023364" cy="9849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AC6C550-FA73-681D-696C-99DEFFDD68CD}"/>
              </a:ext>
            </a:extLst>
          </p:cNvPr>
          <p:cNvSpPr/>
          <p:nvPr/>
        </p:nvSpPr>
        <p:spPr>
          <a:xfrm>
            <a:off x="6216316" y="4888872"/>
            <a:ext cx="600635" cy="28991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B91CA46-CC02-5747-8A7D-E22E521F024C}"/>
              </a:ext>
            </a:extLst>
          </p:cNvPr>
          <p:cNvCxnSpPr>
            <a:stCxn id="10" idx="2"/>
            <a:endCxn id="13" idx="1"/>
          </p:cNvCxnSpPr>
          <p:nvPr/>
        </p:nvCxnSpPr>
        <p:spPr>
          <a:xfrm rot="16200000" flipH="1">
            <a:off x="1881655" y="4653090"/>
            <a:ext cx="132812" cy="1423196"/>
          </a:xfrm>
          <a:prstGeom prst="bentConnector2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1A5FB56-61DD-E26E-6F32-CD0EA4E56084}"/>
              </a:ext>
            </a:extLst>
          </p:cNvPr>
          <p:cNvSpPr/>
          <p:nvPr/>
        </p:nvSpPr>
        <p:spPr>
          <a:xfrm>
            <a:off x="5875390" y="5300038"/>
            <a:ext cx="600635" cy="28991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9B89E3-64F1-65DC-DEDC-82C9BACE2E32}"/>
              </a:ext>
            </a:extLst>
          </p:cNvPr>
          <p:cNvSpPr txBox="1"/>
          <p:nvPr/>
        </p:nvSpPr>
        <p:spPr>
          <a:xfrm>
            <a:off x="634040" y="1527633"/>
            <a:ext cx="165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What you were </a:t>
            </a:r>
            <a:r>
              <a:rPr lang="en-US" b="1" dirty="0">
                <a:solidFill>
                  <a:srgbClr val="7030A0"/>
                </a:solidFill>
              </a:rPr>
              <a:t>handed</a:t>
            </a:r>
            <a:r>
              <a:rPr lang="en-US" dirty="0">
                <a:solidFill>
                  <a:srgbClr val="7030A0"/>
                </a:solidFill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5C966-8041-DC88-64E5-30D3AFE377A7}"/>
              </a:ext>
            </a:extLst>
          </p:cNvPr>
          <p:cNvSpPr txBox="1"/>
          <p:nvPr/>
        </p:nvSpPr>
        <p:spPr>
          <a:xfrm>
            <a:off x="634040" y="3260634"/>
            <a:ext cx="165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But </a:t>
            </a:r>
            <a:r>
              <a:rPr lang="en-US" b="1" dirty="0">
                <a:solidFill>
                  <a:srgbClr val="7030A0"/>
                </a:solidFill>
              </a:rPr>
              <a:t>why</a:t>
            </a:r>
            <a:r>
              <a:rPr lang="en-US" dirty="0">
                <a:solidFill>
                  <a:srgbClr val="7030A0"/>
                </a:solidFill>
              </a:rPr>
              <a:t> is this </a:t>
            </a:r>
            <a:r>
              <a:rPr lang="en-US" i="1" dirty="0">
                <a:solidFill>
                  <a:srgbClr val="7030A0"/>
                </a:solidFill>
              </a:rPr>
              <a:t>true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78DE3B-254B-A76C-65A1-86A11AA0A48C}"/>
              </a:ext>
            </a:extLst>
          </p:cNvPr>
          <p:cNvCxnSpPr/>
          <p:nvPr/>
        </p:nvCxnSpPr>
        <p:spPr>
          <a:xfrm flipV="1">
            <a:off x="2831432" y="5683403"/>
            <a:ext cx="248652" cy="2769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CCF9A9D-2C6C-D74E-33B4-2C5EAD3A7B76}"/>
              </a:ext>
            </a:extLst>
          </p:cNvPr>
          <p:cNvCxnSpPr/>
          <p:nvPr/>
        </p:nvCxnSpPr>
        <p:spPr>
          <a:xfrm flipV="1">
            <a:off x="3799901" y="5682635"/>
            <a:ext cx="248652" cy="2769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3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38" grpId="0"/>
      <p:bldP spid="39" grpId="0"/>
      <p:bldP spid="40" grpId="0" animBg="1"/>
      <p:bldP spid="41" grpId="0"/>
      <p:bldP spid="42" grpId="0"/>
      <p:bldP spid="50" grpId="0" animBg="1"/>
      <p:bldP spid="7" grpId="0"/>
      <p:bldP spid="22" grpId="0" animBg="1"/>
      <p:bldP spid="26" grpId="0" animBg="1"/>
      <p:bldP spid="17" grpId="0"/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0B485D0-FDCB-4A6F-BD60-9F39EC0D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8" y="1348047"/>
            <a:ext cx="8257143" cy="41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Deriving the Equation of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3AB67-A920-19C3-039F-D39138B1EB2C}"/>
              </a:ext>
            </a:extLst>
          </p:cNvPr>
          <p:cNvSpPr/>
          <p:nvPr/>
        </p:nvSpPr>
        <p:spPr>
          <a:xfrm>
            <a:off x="5626251" y="1668115"/>
            <a:ext cx="291155" cy="276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BCD16-A74F-C739-0892-9B8BA3A5F8CB}"/>
              </a:ext>
            </a:extLst>
          </p:cNvPr>
          <p:cNvSpPr/>
          <p:nvPr/>
        </p:nvSpPr>
        <p:spPr>
          <a:xfrm>
            <a:off x="813619" y="1668114"/>
            <a:ext cx="614128" cy="27699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Deriving the Equation of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9D651-D07F-4411-B390-4A55C3F2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3" y="1603492"/>
            <a:ext cx="8883634" cy="30739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C01673-49F7-ABE1-E17A-EC2DADE2AEF8}"/>
              </a:ext>
            </a:extLst>
          </p:cNvPr>
          <p:cNvSpPr/>
          <p:nvPr/>
        </p:nvSpPr>
        <p:spPr>
          <a:xfrm>
            <a:off x="512379" y="4193628"/>
            <a:ext cx="1111469" cy="4837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D5910-C109-99B8-95A1-614FF945A614}"/>
              </a:ext>
            </a:extLst>
          </p:cNvPr>
          <p:cNvSpPr txBox="1"/>
          <p:nvPr/>
        </p:nvSpPr>
        <p:spPr>
          <a:xfrm>
            <a:off x="755483" y="4926332"/>
            <a:ext cx="6381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If all you can do is spout formulas, but have no intuition </a:t>
            </a:r>
            <a:r>
              <a:rPr lang="en-US" i="1" dirty="0">
                <a:solidFill>
                  <a:srgbClr val="7030A0"/>
                </a:solidFill>
              </a:rPr>
              <a:t>where</a:t>
            </a:r>
            <a:r>
              <a:rPr lang="en-US" dirty="0">
                <a:solidFill>
                  <a:srgbClr val="7030A0"/>
                </a:solidFill>
              </a:rPr>
              <a:t> they came from, you are just a highly accomplished </a:t>
            </a:r>
            <a:r>
              <a:rPr lang="en-US" b="1" dirty="0">
                <a:solidFill>
                  <a:srgbClr val="7030A0"/>
                </a:solidFill>
              </a:rPr>
              <a:t>parrot</a:t>
            </a:r>
            <a:r>
              <a:rPr lang="en-US" dirty="0">
                <a:solidFill>
                  <a:srgbClr val="7030A0"/>
                </a:solidFill>
              </a:rPr>
              <a:t>.</a:t>
            </a:r>
          </a:p>
          <a:p>
            <a:pPr algn="ctr"/>
            <a:endParaRPr lang="en-US" dirty="0">
              <a:solidFill>
                <a:srgbClr val="7030A0"/>
              </a:solidFill>
            </a:endParaRPr>
          </a:p>
          <a:p>
            <a:pPr algn="ctr"/>
            <a:r>
              <a:rPr lang="en-US" dirty="0">
                <a:solidFill>
                  <a:srgbClr val="7030A0"/>
                </a:solidFill>
              </a:rPr>
              <a:t>On occasion, force yourself to </a:t>
            </a:r>
            <a:r>
              <a:rPr lang="en-US" b="1" dirty="0">
                <a:solidFill>
                  <a:srgbClr val="7030A0"/>
                </a:solidFill>
              </a:rPr>
              <a:t>rederive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 “magic” formulas </a:t>
            </a:r>
            <a:r>
              <a:rPr lang="en-US" b="1" dirty="0">
                <a:solidFill>
                  <a:srgbClr val="7030A0"/>
                </a:solidFill>
              </a:rPr>
              <a:t>from first principles!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C2B43-CAE8-0B22-C499-805E80A4D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33" y="4926332"/>
            <a:ext cx="1483126" cy="13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8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Perimeter</a:t>
            </a:r>
            <a:r>
              <a:rPr lang="en-US" sz="3200" dirty="0">
                <a:latin typeface="+mn-lt"/>
              </a:rPr>
              <a:t> of a Circle vs.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935D9-6BCD-CFC9-FFC6-ECE5B65AEC04}"/>
                  </a:ext>
                </a:extLst>
              </p:cNvPr>
              <p:cNvSpPr txBox="1"/>
              <p:nvPr/>
            </p:nvSpPr>
            <p:spPr>
              <a:xfrm>
                <a:off x="5948643" y="4391586"/>
                <a:ext cx="1657120" cy="741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5935D9-6BCD-CFC9-FFC6-ECE5B65A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643" y="4391586"/>
                <a:ext cx="1657120" cy="741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62E9C15-A6B6-EF02-007B-CF417A5700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003" r="18551"/>
          <a:stretch/>
        </p:blipFill>
        <p:spPr>
          <a:xfrm>
            <a:off x="500957" y="1506371"/>
            <a:ext cx="4028089" cy="2677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C16702-177E-44C4-0BD0-A7D54E8560AD}"/>
                  </a:ext>
                </a:extLst>
              </p:cNvPr>
              <p:cNvSpPr txBox="1"/>
              <p:nvPr/>
            </p:nvSpPr>
            <p:spPr>
              <a:xfrm>
                <a:off x="1686441" y="4577502"/>
                <a:ext cx="165712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C16702-177E-44C4-0BD0-A7D54E856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441" y="4577502"/>
                <a:ext cx="1657120" cy="369332"/>
              </a:xfrm>
              <a:prstGeom prst="rect">
                <a:avLst/>
              </a:prstGeom>
              <a:blipFill>
                <a:blip r:embed="rId5"/>
                <a:stretch>
                  <a:fillRect l="-2214" r="-405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2CB624-83A4-824D-660A-88CCDB1D72F4}"/>
                  </a:ext>
                </a:extLst>
              </p:cNvPr>
              <p:cNvSpPr txBox="1"/>
              <p:nvPr/>
            </p:nvSpPr>
            <p:spPr>
              <a:xfrm>
                <a:off x="1344744" y="5773399"/>
                <a:ext cx="23405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2CB624-83A4-824D-660A-88CCDB1D7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44" y="5773399"/>
                <a:ext cx="2340513" cy="276999"/>
              </a:xfrm>
              <a:prstGeom prst="rect">
                <a:avLst/>
              </a:prstGeom>
              <a:blipFill>
                <a:blip r:embed="rId6"/>
                <a:stretch>
                  <a:fillRect l="-2083" r="-182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4E87DF4-D512-D6F7-A0D4-59FD4B4D1B40}"/>
              </a:ext>
            </a:extLst>
          </p:cNvPr>
          <p:cNvSpPr txBox="1"/>
          <p:nvPr/>
        </p:nvSpPr>
        <p:spPr>
          <a:xfrm>
            <a:off x="5295244" y="5588734"/>
            <a:ext cx="2963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What is the formula for the </a:t>
            </a:r>
            <a:r>
              <a:rPr lang="en-US" b="1" dirty="0">
                <a:solidFill>
                  <a:srgbClr val="7030A0"/>
                </a:solidFill>
              </a:rPr>
              <a:t>circumference</a:t>
            </a:r>
            <a:r>
              <a:rPr lang="en-US" dirty="0">
                <a:solidFill>
                  <a:srgbClr val="7030A0"/>
                </a:solidFill>
              </a:rPr>
              <a:t> of an ellipsis?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19C5F-2DC0-3947-0C3C-A3292FAEF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873" y="1630610"/>
            <a:ext cx="3766477" cy="242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7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Perimeter</a:t>
            </a:r>
            <a:r>
              <a:rPr lang="en-US" sz="3200" dirty="0">
                <a:latin typeface="+mn-lt"/>
              </a:rPr>
              <a:t> of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699B2-7630-47D8-996E-0E29DB3D602F}"/>
                  </a:ext>
                </a:extLst>
              </p:cNvPr>
              <p:cNvSpPr txBox="1"/>
              <p:nvPr/>
            </p:nvSpPr>
            <p:spPr>
              <a:xfrm>
                <a:off x="522876" y="2639769"/>
                <a:ext cx="266566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699B2-7630-47D8-996E-0E29DB3D6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76" y="2639769"/>
                <a:ext cx="2665666" cy="5557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589E04-4B03-4C4E-B0F2-3EA60B163CE7}"/>
                  </a:ext>
                </a:extLst>
              </p:cNvPr>
              <p:cNvSpPr txBox="1"/>
              <p:nvPr/>
            </p:nvSpPr>
            <p:spPr>
              <a:xfrm>
                <a:off x="452889" y="3544212"/>
                <a:ext cx="2805640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589E04-4B03-4C4E-B0F2-3EA60B163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89" y="3544212"/>
                <a:ext cx="2805640" cy="5557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CF33814-E3D6-4D97-B8DC-11157C5D19E3}"/>
              </a:ext>
            </a:extLst>
          </p:cNvPr>
          <p:cNvGrpSpPr/>
          <p:nvPr/>
        </p:nvGrpSpPr>
        <p:grpSpPr>
          <a:xfrm>
            <a:off x="2129952" y="1684864"/>
            <a:ext cx="1156599" cy="606255"/>
            <a:chOff x="2098222" y="1684864"/>
            <a:chExt cx="1156599" cy="606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2397F1B-20DB-47A4-957A-F076F3039286}"/>
                    </a:ext>
                  </a:extLst>
                </p:cNvPr>
                <p:cNvSpPr txBox="1"/>
                <p:nvPr/>
              </p:nvSpPr>
              <p:spPr>
                <a:xfrm>
                  <a:off x="2098222" y="1684864"/>
                  <a:ext cx="11565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2397F1B-20DB-47A4-957A-F076F3039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222" y="1684864"/>
                  <a:ext cx="115659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5263" r="-1053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1EF05F3-4E4C-4A23-A0B9-FFA0AD27984B}"/>
                    </a:ext>
                  </a:extLst>
                </p:cNvPr>
                <p:cNvSpPr txBox="1"/>
                <p:nvPr/>
              </p:nvSpPr>
              <p:spPr>
                <a:xfrm>
                  <a:off x="2098222" y="2014120"/>
                  <a:ext cx="1125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1EF05F3-4E4C-4A23-A0B9-FFA0AD279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222" y="2014120"/>
                  <a:ext cx="112575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568" r="-1081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78EADE-B2E7-48AE-98C7-D59A36C12E2D}"/>
                  </a:ext>
                </a:extLst>
              </p:cNvPr>
              <p:cNvSpPr txBox="1"/>
              <p:nvPr/>
            </p:nvSpPr>
            <p:spPr>
              <a:xfrm>
                <a:off x="424868" y="1677026"/>
                <a:ext cx="125008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78EADE-B2E7-48AE-98C7-D59A36C12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68" y="1677026"/>
                <a:ext cx="1250086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C1338F-B104-4474-B40B-F48731181249}"/>
                  </a:ext>
                </a:extLst>
              </p:cNvPr>
              <p:cNvSpPr txBox="1"/>
              <p:nvPr/>
            </p:nvSpPr>
            <p:spPr>
              <a:xfrm>
                <a:off x="708215" y="4448655"/>
                <a:ext cx="22949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C1338F-B104-4474-B40B-F48731181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5" y="4448655"/>
                <a:ext cx="2294987" cy="276999"/>
              </a:xfrm>
              <a:prstGeom prst="rect">
                <a:avLst/>
              </a:prstGeom>
              <a:blipFill>
                <a:blip r:embed="rId7"/>
                <a:stretch>
                  <a:fillRect l="-1061" t="-4444" r="-185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30A097-AC2B-4BF5-9D95-871C6AFFEA18}"/>
                  </a:ext>
                </a:extLst>
              </p:cNvPr>
              <p:cNvSpPr txBox="1"/>
              <p:nvPr/>
            </p:nvSpPr>
            <p:spPr>
              <a:xfrm>
                <a:off x="352215" y="4875949"/>
                <a:ext cx="280564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 ellipse is just a circle where x and y coordinates are </a:t>
                </a:r>
                <a:r>
                  <a:rPr lang="en-US" u="sng" dirty="0">
                    <a:solidFill>
                      <a:srgbClr val="7030A0"/>
                    </a:solidFill>
                  </a:rPr>
                  <a:t>scaled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i="1" dirty="0">
                    <a:solidFill>
                      <a:srgbClr val="7030A0"/>
                    </a:solidFill>
                  </a:rPr>
                  <a:t>independently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30A097-AC2B-4BF5-9D95-871C6AFFE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15" y="4875949"/>
                <a:ext cx="2805640" cy="923330"/>
              </a:xfrm>
              <a:prstGeom prst="rect">
                <a:avLst/>
              </a:prstGeom>
              <a:blipFill>
                <a:blip r:embed="rId8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208AB0-2ADF-4A22-AE9F-7D2C085CB9F7}"/>
                  </a:ext>
                </a:extLst>
              </p:cNvPr>
              <p:cNvSpPr txBox="1"/>
              <p:nvPr/>
            </p:nvSpPr>
            <p:spPr>
              <a:xfrm>
                <a:off x="5317281" y="2376812"/>
                <a:ext cx="2356992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208AB0-2ADF-4A22-AE9F-7D2C085C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281" y="2376812"/>
                <a:ext cx="2356992" cy="525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1E1E61-0853-4798-ADCA-A3F6A366EC93}"/>
                  </a:ext>
                </a:extLst>
              </p:cNvPr>
              <p:cNvSpPr txBox="1"/>
              <p:nvPr/>
            </p:nvSpPr>
            <p:spPr>
              <a:xfrm>
                <a:off x="6017088" y="1564573"/>
                <a:ext cx="952312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1E1E61-0853-4798-ADCA-A3F6A366E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88" y="1564573"/>
                <a:ext cx="952312" cy="7265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E0D2A3-7869-4317-9BDB-01B794AD04F5}"/>
                  </a:ext>
                </a:extLst>
              </p:cNvPr>
              <p:cNvSpPr txBox="1"/>
              <p:nvPr/>
            </p:nvSpPr>
            <p:spPr>
              <a:xfrm>
                <a:off x="5119086" y="3027819"/>
                <a:ext cx="2748316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E0D2A3-7869-4317-9BDB-01B794AD0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086" y="3027819"/>
                <a:ext cx="2748316" cy="7265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192FFD-8223-4DD3-88F0-4C973D211BDC}"/>
                  </a:ext>
                </a:extLst>
              </p:cNvPr>
              <p:cNvSpPr txBox="1"/>
              <p:nvPr/>
            </p:nvSpPr>
            <p:spPr>
              <a:xfrm>
                <a:off x="4200982" y="4688236"/>
                <a:ext cx="4584525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𝑝𝑒𝑟𝑖𝑚𝑒𝑡𝑒𝑟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rad>
                          <m: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ⅆ</m:t>
                          </m:r>
                          <m: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192FFD-8223-4DD3-88F0-4C973D211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82" y="4688236"/>
                <a:ext cx="4584525" cy="6227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4F0FE2-08B2-4D10-9F2D-B892D705298D}"/>
                  </a:ext>
                </a:extLst>
              </p:cNvPr>
              <p:cNvSpPr txBox="1"/>
              <p:nvPr/>
            </p:nvSpPr>
            <p:spPr>
              <a:xfrm>
                <a:off x="4753217" y="3789134"/>
                <a:ext cx="3480055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ra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4F0FE2-08B2-4D10-9F2D-B892D7052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217" y="3789134"/>
                <a:ext cx="3480055" cy="7265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DB44B81-BE8C-482C-AC9B-926DA9F81C05}"/>
              </a:ext>
            </a:extLst>
          </p:cNvPr>
          <p:cNvSpPr txBox="1"/>
          <p:nvPr/>
        </p:nvSpPr>
        <p:spPr>
          <a:xfrm>
            <a:off x="6811912" y="1706866"/>
            <a:ext cx="165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Arc Length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69837-55F8-4768-A8AD-51D5AFEF67DB}"/>
              </a:ext>
            </a:extLst>
          </p:cNvPr>
          <p:cNvSpPr txBox="1"/>
          <p:nvPr/>
        </p:nvSpPr>
        <p:spPr>
          <a:xfrm>
            <a:off x="5055130" y="5417142"/>
            <a:ext cx="280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But we can </a:t>
            </a:r>
            <a:r>
              <a:rPr lang="en-US" b="1" i="1" dirty="0"/>
              <a:t>only</a:t>
            </a:r>
            <a:r>
              <a:rPr lang="en-US" dirty="0">
                <a:solidFill>
                  <a:srgbClr val="7030A0"/>
                </a:solidFill>
              </a:rPr>
              <a:t> estimate this integral </a:t>
            </a:r>
            <a:r>
              <a:rPr lang="en-US" u="sng" dirty="0">
                <a:solidFill>
                  <a:srgbClr val="7030A0"/>
                </a:solidFill>
              </a:rPr>
              <a:t>numerically</a:t>
            </a:r>
            <a:r>
              <a:rPr lang="en-US" dirty="0">
                <a:solidFill>
                  <a:srgbClr val="7030A0"/>
                </a:solidFill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F0826-8E53-3D31-1D64-DDDD0C63D665}"/>
              </a:ext>
            </a:extLst>
          </p:cNvPr>
          <p:cNvSpPr txBox="1"/>
          <p:nvPr/>
        </p:nvSpPr>
        <p:spPr>
          <a:xfrm>
            <a:off x="1401634" y="6169581"/>
            <a:ext cx="5598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There is no exact formula for the perimeter of an ellipse!</a:t>
            </a:r>
          </a:p>
        </p:txBody>
      </p:sp>
    </p:spTree>
    <p:extLst>
      <p:ext uri="{BB962C8B-B14F-4D97-AF65-F5344CB8AC3E}">
        <p14:creationId xmlns:p14="http://schemas.microsoft.com/office/powerpoint/2010/main" val="201005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</a:t>
            </a:r>
            <a:r>
              <a:rPr lang="en-US" sz="3200" b="1" dirty="0">
                <a:latin typeface="+mn-lt"/>
              </a:rPr>
              <a:t>Perimeter</a:t>
            </a:r>
            <a:r>
              <a:rPr lang="en-US" sz="3200" dirty="0">
                <a:latin typeface="+mn-lt"/>
              </a:rPr>
              <a:t> of an Ellipse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56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1F97E78-E312-43D9-88B9-2B4FAD19107C}"/>
              </a:ext>
            </a:extLst>
          </p:cNvPr>
          <p:cNvGrpSpPr/>
          <p:nvPr/>
        </p:nvGrpSpPr>
        <p:grpSpPr>
          <a:xfrm>
            <a:off x="2380884" y="1532361"/>
            <a:ext cx="1156599" cy="606255"/>
            <a:chOff x="2098222" y="1684864"/>
            <a:chExt cx="1156599" cy="606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3F96033-3362-428C-B592-58CE5E0681A9}"/>
                    </a:ext>
                  </a:extLst>
                </p:cNvPr>
                <p:cNvSpPr txBox="1"/>
                <p:nvPr/>
              </p:nvSpPr>
              <p:spPr>
                <a:xfrm>
                  <a:off x="2098222" y="1684864"/>
                  <a:ext cx="11565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3F96033-3362-428C-B592-58CE5E068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222" y="1684864"/>
                  <a:ext cx="115659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291" r="-1058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B412F4-0247-46E4-B571-4E2765C38CC2}"/>
                    </a:ext>
                  </a:extLst>
                </p:cNvPr>
                <p:cNvSpPr txBox="1"/>
                <p:nvPr/>
              </p:nvSpPr>
              <p:spPr>
                <a:xfrm>
                  <a:off x="2098222" y="2014120"/>
                  <a:ext cx="11257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B412F4-0247-46E4-B571-4E2765C38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222" y="2014120"/>
                  <a:ext cx="112575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609" r="-108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46A700-58C6-4454-8489-9A30C3EA8D20}"/>
                  </a:ext>
                </a:extLst>
              </p:cNvPr>
              <p:cNvSpPr txBox="1"/>
              <p:nvPr/>
            </p:nvSpPr>
            <p:spPr>
              <a:xfrm>
                <a:off x="675800" y="1524523"/>
                <a:ext cx="1250086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46A700-58C6-4454-8489-9A30C3EA8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00" y="1524523"/>
                <a:ext cx="1250086" cy="5557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01DF5F5D-E90F-4F27-B1DA-4983752A8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27" y="3321348"/>
            <a:ext cx="3238105" cy="1624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1FA0AF-2226-4006-962D-F47F51DC58FE}"/>
                  </a:ext>
                </a:extLst>
              </p:cNvPr>
              <p:cNvSpPr txBox="1"/>
              <p:nvPr/>
            </p:nvSpPr>
            <p:spPr>
              <a:xfrm>
                <a:off x="393201" y="5515584"/>
                <a:ext cx="3845925" cy="622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ra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1FA0AF-2226-4006-962D-F47F51DC5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1" y="5515584"/>
                <a:ext cx="3845925" cy="6227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EB9290F-F84C-404F-B2DC-B301F5330404}"/>
                  </a:ext>
                </a:extLst>
              </p:cNvPr>
              <p:cNvSpPr txBox="1"/>
              <p:nvPr/>
            </p:nvSpPr>
            <p:spPr>
              <a:xfrm>
                <a:off x="5247594" y="1698410"/>
                <a:ext cx="307113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In 1914, Ramanujan offered an </a:t>
                </a:r>
                <a:r>
                  <a:rPr lang="en-US" b="1" i="1" dirty="0">
                    <a:solidFill>
                      <a:srgbClr val="7030A0"/>
                    </a:solidFill>
                  </a:rPr>
                  <a:t>approximate</a:t>
                </a:r>
                <a:r>
                  <a:rPr lang="en-US" dirty="0">
                    <a:solidFill>
                      <a:srgbClr val="7030A0"/>
                    </a:solidFill>
                  </a:rPr>
                  <a:t> formula for the perimeter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of an ellipse: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EB9290F-F84C-404F-B2DC-B301F5330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594" y="1698410"/>
                <a:ext cx="3071132" cy="923330"/>
              </a:xfrm>
              <a:prstGeom prst="rect">
                <a:avLst/>
              </a:prstGeom>
              <a:blipFill>
                <a:blip r:embed="rId8"/>
                <a:stretch>
                  <a:fillRect l="-1587" t="-3974" r="-2778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DCF6A0E-9019-4C08-A97C-2C4311139773}"/>
              </a:ext>
            </a:extLst>
          </p:cNvPr>
          <p:cNvSpPr txBox="1"/>
          <p:nvPr/>
        </p:nvSpPr>
        <p:spPr>
          <a:xfrm>
            <a:off x="5292752" y="284059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1FA3FB-07ED-BE1A-909E-408CA49D2411}"/>
              </a:ext>
            </a:extLst>
          </p:cNvPr>
          <p:cNvGrpSpPr/>
          <p:nvPr/>
        </p:nvGrpSpPr>
        <p:grpSpPr>
          <a:xfrm>
            <a:off x="5767526" y="3654565"/>
            <a:ext cx="2031268" cy="2146855"/>
            <a:chOff x="6233301" y="4441714"/>
            <a:chExt cx="2031268" cy="214685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FE2D07-87B6-C313-FC0A-667A09F4A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9699" y="4441714"/>
              <a:ext cx="1278473" cy="146578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F285DD-FC3B-49F2-8398-86F27BF7EA2D}"/>
                </a:ext>
              </a:extLst>
            </p:cNvPr>
            <p:cNvSpPr txBox="1"/>
            <p:nvPr/>
          </p:nvSpPr>
          <p:spPr>
            <a:xfrm>
              <a:off x="6233301" y="5973016"/>
              <a:ext cx="203126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Srinivasa Ramanujan</a:t>
              </a:r>
            </a:p>
            <a:p>
              <a:pPr algn="ctr"/>
              <a:r>
                <a:rPr lang="en-US" sz="1600" dirty="0"/>
                <a:t>(1887-1920, Age 32</a:t>
              </a:r>
              <a:r>
                <a:rPr lang="en-US" dirty="0"/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0F2936-3078-9C16-C5D5-F885F0D45FDF}"/>
                  </a:ext>
                </a:extLst>
              </p:cNvPr>
              <p:cNvSpPr txBox="1"/>
              <p:nvPr/>
            </p:nvSpPr>
            <p:spPr>
              <a:xfrm>
                <a:off x="3826219" y="3995184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0F2936-3078-9C16-C5D5-F885F0D45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219" y="3995184"/>
                <a:ext cx="186781" cy="276999"/>
              </a:xfrm>
              <a:prstGeom prst="rect">
                <a:avLst/>
              </a:prstGeom>
              <a:blipFill>
                <a:blip r:embed="rId10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5254B-95CA-7166-86C7-708E34E9E479}"/>
                  </a:ext>
                </a:extLst>
              </p:cNvPr>
              <p:cNvSpPr txBox="1"/>
              <p:nvPr/>
            </p:nvSpPr>
            <p:spPr>
              <a:xfrm>
                <a:off x="2106282" y="3091646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5254B-95CA-7166-86C7-708E34E9E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282" y="3091646"/>
                <a:ext cx="186781" cy="276999"/>
              </a:xfrm>
              <a:prstGeom prst="rect">
                <a:avLst/>
              </a:prstGeom>
              <a:blipFill>
                <a:blip r:embed="rId11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BDF2A-0055-ABAA-A9DE-4798D347161F}"/>
                  </a:ext>
                </a:extLst>
              </p:cNvPr>
              <p:cNvSpPr txBox="1"/>
              <p:nvPr/>
            </p:nvSpPr>
            <p:spPr>
              <a:xfrm>
                <a:off x="213248" y="3995183"/>
                <a:ext cx="359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BDF2A-0055-ABAA-A9DE-4798D3471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" y="3995183"/>
                <a:ext cx="359907" cy="276999"/>
              </a:xfrm>
              <a:prstGeom prst="rect">
                <a:avLst/>
              </a:prstGeom>
              <a:blipFill>
                <a:blip r:embed="rId12"/>
                <a:stretch>
                  <a:fillRect l="-5085"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6F5CF6-41CE-ED64-CC45-F04C04772785}"/>
                  </a:ext>
                </a:extLst>
              </p:cNvPr>
              <p:cNvSpPr txBox="1"/>
              <p:nvPr/>
            </p:nvSpPr>
            <p:spPr>
              <a:xfrm>
                <a:off x="2021611" y="4975501"/>
                <a:ext cx="3561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6F5CF6-41CE-ED64-CC45-F04C0477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611" y="4975501"/>
                <a:ext cx="356123" cy="276999"/>
              </a:xfrm>
              <a:prstGeom prst="rect">
                <a:avLst/>
              </a:prstGeom>
              <a:blipFill>
                <a:blip r:embed="rId13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0C55A1-1CBB-D86E-A9F5-AF4602252F3A}"/>
                  </a:ext>
                </a:extLst>
              </p:cNvPr>
              <p:cNvSpPr txBox="1"/>
              <p:nvPr/>
            </p:nvSpPr>
            <p:spPr>
              <a:xfrm>
                <a:off x="4817750" y="2759616"/>
                <a:ext cx="3930820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+3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ra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0C55A1-1CBB-D86E-A9F5-AF4602252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750" y="2759616"/>
                <a:ext cx="3930820" cy="414537"/>
              </a:xfrm>
              <a:prstGeom prst="rect">
                <a:avLst/>
              </a:prstGeom>
              <a:blipFill>
                <a:blip r:embed="rId14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505F0D2-6D3B-CBC7-2D69-4B515E37C15E}"/>
              </a:ext>
            </a:extLst>
          </p:cNvPr>
          <p:cNvGrpSpPr/>
          <p:nvPr/>
        </p:nvGrpSpPr>
        <p:grpSpPr>
          <a:xfrm>
            <a:off x="802260" y="2344741"/>
            <a:ext cx="2790316" cy="590843"/>
            <a:chOff x="802260" y="2344741"/>
            <a:chExt cx="2790316" cy="590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9C3B1C-AC2C-C0E5-4926-A8E6364CC577}"/>
                    </a:ext>
                  </a:extLst>
                </p:cNvPr>
                <p:cNvSpPr txBox="1"/>
                <p:nvPr/>
              </p:nvSpPr>
              <p:spPr>
                <a:xfrm>
                  <a:off x="802260" y="2344741"/>
                  <a:ext cx="27844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 length of semi-</a:t>
                  </a:r>
                  <a:r>
                    <a:rPr lang="en-US" b="1" dirty="0">
                      <a:solidFill>
                        <a:srgbClr val="7030A0"/>
                      </a:solidFill>
                    </a:rPr>
                    <a:t>major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 axis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9C3B1C-AC2C-C0E5-4926-A8E6364CC5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60" y="2344741"/>
                  <a:ext cx="278448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193" t="-28889" r="-4825" b="-5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4962244-AFE5-21E4-C0B6-EB0C795B8789}"/>
                    </a:ext>
                  </a:extLst>
                </p:cNvPr>
                <p:cNvSpPr txBox="1"/>
                <p:nvPr/>
              </p:nvSpPr>
              <p:spPr>
                <a:xfrm>
                  <a:off x="802260" y="2658585"/>
                  <a:ext cx="27903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 length of semi-</a:t>
                  </a:r>
                  <a:r>
                    <a:rPr lang="en-US" b="1" dirty="0">
                      <a:solidFill>
                        <a:srgbClr val="7030A0"/>
                      </a:solidFill>
                    </a:rPr>
                    <a:t>minor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 axis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4962244-AFE5-21E4-C0B6-EB0C795B8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60" y="2658585"/>
                  <a:ext cx="279031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063" t="-28261" r="-4814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059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5" grpId="0"/>
      <p:bldP spid="6" grpId="0"/>
      <p:bldP spid="8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8E4A-DD53-457A-A1B4-679DE45B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B4F8-0E6D-0D62-4397-ADF35B82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an Ellipse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5ABD9-DCC2-975D-5AFA-D69238129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71955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needs you to write a program to draw an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ellipse</a:t>
                </a:r>
                <a:r>
                  <a:rPr lang="en-US" sz="2400" dirty="0"/>
                  <a:t>, where the standard form of an ellipse </a:t>
                </a:r>
                <a:r>
                  <a:rPr lang="en-US" sz="2400" b="1" dirty="0"/>
                  <a:t>centered at the origin</a:t>
                </a:r>
                <a:r>
                  <a:rPr lang="en-US" sz="2400" dirty="0"/>
                  <a:t> is: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dirty="0"/>
                  <a:t>Your ellipse should have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=250</m:t>
                    </m:r>
                  </m:oMath>
                </a14:m>
                <a:r>
                  <a:rPr lang="en-US" sz="2400" dirty="0"/>
                  <a:t> (semi-major axis)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en-US" sz="2400" dirty="0"/>
                  <a:t> (semi-minor axis) 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Using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polar coordinates</a:t>
                </a:r>
                <a:r>
                  <a:rPr lang="en-US" sz="2400" dirty="0"/>
                  <a:t>, we could draw it “like” a circle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However, an ellipse has </a:t>
                </a:r>
                <a:r>
                  <a:rPr lang="en-US" sz="2400" dirty="0">
                    <a:solidFill>
                      <a:srgbClr val="FF0000"/>
                    </a:solidFill>
                  </a:rPr>
                  <a:t>two separate/independent </a:t>
                </a:r>
                <a:r>
                  <a:rPr lang="en-US" sz="2400" dirty="0"/>
                  <a:t>“radii” one for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1" dirty="0"/>
                  <a:t>-axis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) and one for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b="1" dirty="0"/>
                  <a:t>-axis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Recall that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</a:t>
                </a:r>
                <a:r>
                  <a:rPr lang="en-US" sz="2400" dirty="0"/>
                  <a:t>we would have 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circle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65ABD9-DCC2-975D-5AFA-D69238129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719554"/>
              </a:xfrm>
              <a:blipFill>
                <a:blip r:embed="rId2"/>
                <a:stretch>
                  <a:fillRect l="-1005" t="-1809" b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85F38-291B-CC02-CD80-F4EA8A6A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94D9-23A4-107D-AB8C-6EF133EF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0AF3-E6B5-61F4-8641-BC4170F7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Plotting an Ellipse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950E92-E3D5-4241-2611-CE60C9ACE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 wants to estimate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using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area of the ellipse</a:t>
                </a:r>
                <a:r>
                  <a:rPr lang="en-US" sz="2400" dirty="0"/>
                  <a:t> using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shoelace formula</a:t>
                </a: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He also wants to assess the </a:t>
                </a:r>
                <a:r>
                  <a:rPr lang="en-US" sz="2400" i="1" dirty="0"/>
                  <a:t>precision</a:t>
                </a:r>
                <a:r>
                  <a:rPr lang="en-US" sz="2400" dirty="0"/>
                  <a:t> of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Ramanujan’s formula</a:t>
                </a:r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We can sum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Pythagorean distance </a:t>
                </a:r>
                <a:r>
                  <a:rPr lang="en-US" sz="2400" dirty="0"/>
                  <a:t>between adjacent vertices to </a:t>
                </a:r>
                <a:r>
                  <a:rPr lang="en-US" sz="2400" b="1" dirty="0"/>
                  <a:t>estimate</a:t>
                </a:r>
                <a:r>
                  <a:rPr lang="en-US" sz="2400" dirty="0"/>
                  <a:t> the perimeter of the ellipse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Then we can use Ramanujan’s formula to </a:t>
                </a:r>
                <a:r>
                  <a:rPr lang="en-US" sz="2400" b="1" dirty="0"/>
                  <a:t>estimate</a:t>
                </a:r>
                <a:r>
                  <a:rPr lang="en-US" sz="2400" dirty="0"/>
                  <a:t> the perimeter of the ellipse: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950E92-E3D5-4241-2611-CE60C9ACE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3646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E3D8F-870B-71B2-EB39-1D07C56D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519B-FADE-FAF0-EB0C-39DDD5439B50}"/>
                  </a:ext>
                </a:extLst>
              </p:cNvPr>
              <p:cNvSpPr txBox="1"/>
              <p:nvPr/>
            </p:nvSpPr>
            <p:spPr>
              <a:xfrm>
                <a:off x="2389543" y="5053637"/>
                <a:ext cx="4364913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+3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rad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3519B-FADE-FAF0-EB0C-39DDD5439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43" y="5053637"/>
                <a:ext cx="4364913" cy="460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75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5F18-A92A-61F9-6F78-6973B4684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1970-3DB9-B760-390E-9D5B35B0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trig_ellipse.py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751B7-032A-10B1-D29F-4398D469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59</a:t>
            </a:fld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BB9703-C1B3-F906-658E-42808CA3867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3B7CB-CA50-05CC-2E35-2965CD4911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3" y="1624765"/>
            <a:ext cx="6043614" cy="453540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6493332-BAC8-BACB-0CF8-8DD672C667F1}"/>
              </a:ext>
            </a:extLst>
          </p:cNvPr>
          <p:cNvGrpSpPr/>
          <p:nvPr/>
        </p:nvGrpSpPr>
        <p:grpSpPr>
          <a:xfrm>
            <a:off x="3388839" y="1910602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4A4075A-583D-8797-9695-60EFAB6FAB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DA2629-DDEE-9738-533E-D7F1BB93E67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3A3D61-2A91-5BF5-2167-446598EB32C7}"/>
              </a:ext>
            </a:extLst>
          </p:cNvPr>
          <p:cNvGrpSpPr/>
          <p:nvPr/>
        </p:nvGrpSpPr>
        <p:grpSpPr>
          <a:xfrm>
            <a:off x="7116832" y="2685452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529321C-3BB3-2D03-0569-41A624EC1D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B38D83-37A3-94D5-4918-45ECA0F2CA98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84C273-52FF-EE34-7458-28DCDA22AA83}"/>
              </a:ext>
            </a:extLst>
          </p:cNvPr>
          <p:cNvGrpSpPr/>
          <p:nvPr/>
        </p:nvGrpSpPr>
        <p:grpSpPr>
          <a:xfrm>
            <a:off x="6340602" y="2958349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ACCB28-BD5D-1DA5-5E36-22164CA1252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5F9FB64-FF18-B292-FD8D-F4FA46099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4766BD-B676-1BEF-CD10-6B43043032D0}"/>
              </a:ext>
            </a:extLst>
          </p:cNvPr>
          <p:cNvGrpSpPr/>
          <p:nvPr/>
        </p:nvGrpSpPr>
        <p:grpSpPr>
          <a:xfrm>
            <a:off x="4082013" y="3327681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7E84C0-6DC9-8625-75A8-ABAB64853FCF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EABDA24-4581-B943-E185-3BD01DC6C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55DC20C-DEE0-0E19-D781-7221419416A1}"/>
              </a:ext>
            </a:extLst>
          </p:cNvPr>
          <p:cNvSpPr/>
          <p:nvPr/>
        </p:nvSpPr>
        <p:spPr>
          <a:xfrm>
            <a:off x="2037387" y="3276602"/>
            <a:ext cx="232610" cy="2149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98A0D8-0CD3-0974-2DD7-9B68062505C9}"/>
              </a:ext>
            </a:extLst>
          </p:cNvPr>
          <p:cNvSpPr/>
          <p:nvPr/>
        </p:nvSpPr>
        <p:spPr>
          <a:xfrm>
            <a:off x="2037387" y="3529016"/>
            <a:ext cx="232610" cy="2149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5A2C0C-97B6-02C6-777A-3755803002C4}"/>
              </a:ext>
            </a:extLst>
          </p:cNvPr>
          <p:cNvGrpSpPr/>
          <p:nvPr/>
        </p:nvGrpSpPr>
        <p:grpSpPr>
          <a:xfrm>
            <a:off x="7550892" y="4256674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699CC-2A66-04EF-C3D6-CA1E29B7D927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EDF0A68-E0BC-BA4F-C7CC-C3D42A83A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F8C5DFA-0B7C-4E1F-9ECC-06B0974C2D40}"/>
              </a:ext>
            </a:extLst>
          </p:cNvPr>
          <p:cNvGrpSpPr/>
          <p:nvPr/>
        </p:nvGrpSpPr>
        <p:grpSpPr>
          <a:xfrm>
            <a:off x="5197638" y="4492629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9B2C3D-65C2-F81B-CB51-60B27BEF846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BC50C29-8803-172C-DF0B-626E17A37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A3A814-F0CC-A562-D468-13138784704A}"/>
              </a:ext>
            </a:extLst>
          </p:cNvPr>
          <p:cNvGrpSpPr/>
          <p:nvPr/>
        </p:nvGrpSpPr>
        <p:grpSpPr>
          <a:xfrm>
            <a:off x="3388839" y="5367549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6FEA5F-86D3-EF1E-AB49-F02EB047D2A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61A702B-EF04-0963-148B-A16D641AA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E55FB91-E7FF-8286-7C3F-02981D8ADBC5}"/>
              </a:ext>
            </a:extLst>
          </p:cNvPr>
          <p:cNvGrpSpPr/>
          <p:nvPr/>
        </p:nvGrpSpPr>
        <p:grpSpPr>
          <a:xfrm>
            <a:off x="6047061" y="5794322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D6E360F-6239-FBFE-AC1E-CC3EC69C46C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3C5E8D5-6437-C297-B0F6-7E3DC2E3D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124CC00-95C4-F7AF-ADB1-46661B4727DC}"/>
              </a:ext>
            </a:extLst>
          </p:cNvPr>
          <p:cNvSpPr txBox="1"/>
          <p:nvPr/>
        </p:nvSpPr>
        <p:spPr>
          <a:xfrm>
            <a:off x="5085560" y="3246718"/>
            <a:ext cx="1855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Polar to Cartesian coordinate conversion</a:t>
            </a:r>
          </a:p>
        </p:txBody>
      </p:sp>
    </p:spTree>
    <p:extLst>
      <p:ext uri="{BB962C8B-B14F-4D97-AF65-F5344CB8AC3E}">
        <p14:creationId xmlns:p14="http://schemas.microsoft.com/office/powerpoint/2010/main" val="383828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1" grpId="0" animBg="1"/>
      <p:bldP spid="22" grpId="0" animBg="1"/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FEC1-AC56-27CD-8FFF-E98E7265C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54252A-3F26-317F-4D14-5001BB9C3D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24" y="1972861"/>
            <a:ext cx="7380952" cy="28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2123BD-10A0-BF2C-AC9A-5EF806B6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trig_ellipse.py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A23F6-899D-3696-262F-821DED08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187B8B-0162-26CF-32C8-A3898D720008}"/>
              </a:ext>
            </a:extLst>
          </p:cNvPr>
          <p:cNvGrpSpPr/>
          <p:nvPr/>
        </p:nvGrpSpPr>
        <p:grpSpPr>
          <a:xfrm>
            <a:off x="5321918" y="2068366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23EE378-4217-B6CD-21D6-F915B9303F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DD76E2-B558-23B1-8A36-074E8C853BB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EA96D92-D2DC-48B6-7377-5E3B59D87ED8}"/>
              </a:ext>
            </a:extLst>
          </p:cNvPr>
          <p:cNvGrpSpPr/>
          <p:nvPr/>
        </p:nvGrpSpPr>
        <p:grpSpPr>
          <a:xfrm>
            <a:off x="6569335" y="2889744"/>
            <a:ext cx="1076632" cy="369332"/>
            <a:chOff x="4704120" y="2356972"/>
            <a:chExt cx="1076632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A5A25A0-7E5C-2BAB-7EF8-654368948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5E4A35-4622-909D-7985-7FADC9F663C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4CF21E-CB1E-0C9F-AFFF-A58F14594264}"/>
              </a:ext>
            </a:extLst>
          </p:cNvPr>
          <p:cNvGrpSpPr/>
          <p:nvPr/>
        </p:nvGrpSpPr>
        <p:grpSpPr>
          <a:xfrm>
            <a:off x="2367759" y="5228462"/>
            <a:ext cx="4408483" cy="369332"/>
            <a:chOff x="2005264" y="5228462"/>
            <a:chExt cx="440848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53AC4F-07EC-4A50-DF1C-8CA0D9B79B1E}"/>
                    </a:ext>
                  </a:extLst>
                </p:cNvPr>
                <p:cNvSpPr txBox="1"/>
                <p:nvPr/>
              </p:nvSpPr>
              <p:spPr>
                <a:xfrm>
                  <a:off x="2005264" y="5228462"/>
                  <a:ext cx="31923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dirty="0"/>
                    <a:t> then we have a circle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53AC4F-07EC-4A50-DF1C-8CA0D9B79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264" y="5228462"/>
                  <a:ext cx="319238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27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C7794D2-4B33-2BC8-FBC6-8B2FD83EF43F}"/>
                    </a:ext>
                  </a:extLst>
                </p:cNvPr>
                <p:cNvSpPr txBox="1"/>
                <p:nvPr/>
              </p:nvSpPr>
              <p:spPr>
                <a:xfrm>
                  <a:off x="5542547" y="5274629"/>
                  <a:ext cx="871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C7794D2-4B33-2BC8-FBC6-8B2FD83EF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547" y="5274629"/>
                  <a:ext cx="87120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6294" r="-2098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FE0F1D5-ACA0-D2A2-FBAB-D37B5B625849}"/>
              </a:ext>
            </a:extLst>
          </p:cNvPr>
          <p:cNvGrpSpPr/>
          <p:nvPr/>
        </p:nvGrpSpPr>
        <p:grpSpPr>
          <a:xfrm>
            <a:off x="2354870" y="5675394"/>
            <a:ext cx="4434260" cy="369332"/>
            <a:chOff x="2005264" y="5675394"/>
            <a:chExt cx="443426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72A59F-39F1-3463-208C-C7E501257E30}"/>
                    </a:ext>
                  </a:extLst>
                </p:cNvPr>
                <p:cNvSpPr txBox="1"/>
                <p:nvPr/>
              </p:nvSpPr>
              <p:spPr>
                <a:xfrm>
                  <a:off x="2005264" y="5675394"/>
                  <a:ext cx="31923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dirty="0"/>
                    <a:t> then we have an ellipse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B72A59F-39F1-3463-208C-C7E501257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264" y="5675394"/>
                  <a:ext cx="319238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527" t="-8197" r="-114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C0648AE-C198-05EE-2FA2-CBF235B7A027}"/>
                    </a:ext>
                  </a:extLst>
                </p:cNvPr>
                <p:cNvSpPr txBox="1"/>
                <p:nvPr/>
              </p:nvSpPr>
              <p:spPr>
                <a:xfrm>
                  <a:off x="5542547" y="5721561"/>
                  <a:ext cx="8969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C0648AE-C198-05EE-2FA2-CBF235B7A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2547" y="5721561"/>
                  <a:ext cx="89697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6122" r="-6122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CA20A73-0DF0-4015-894F-9CBFC514CEBF}"/>
              </a:ext>
            </a:extLst>
          </p:cNvPr>
          <p:cNvGrpSpPr/>
          <p:nvPr/>
        </p:nvGrpSpPr>
        <p:grpSpPr>
          <a:xfrm>
            <a:off x="4607134" y="3675136"/>
            <a:ext cx="641089" cy="444701"/>
            <a:chOff x="4043082" y="4910075"/>
            <a:chExt cx="641089" cy="444701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CE10BF-0ED1-10D6-0645-8186E50367E6}"/>
                </a:ext>
              </a:extLst>
            </p:cNvPr>
            <p:cNvSpPr txBox="1"/>
            <p:nvPr/>
          </p:nvSpPr>
          <p:spPr>
            <a:xfrm>
              <a:off x="4300713" y="4985444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E6A62D7-8BD5-B83F-B4AF-5CD0919D13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3082" y="4910075"/>
              <a:ext cx="297736" cy="18466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0B9A32A-556E-136E-331B-EC15A7A4FAD0}"/>
              </a:ext>
            </a:extLst>
          </p:cNvPr>
          <p:cNvGrpSpPr/>
          <p:nvPr/>
        </p:nvGrpSpPr>
        <p:grpSpPr>
          <a:xfrm>
            <a:off x="4904870" y="4355432"/>
            <a:ext cx="655269" cy="434570"/>
            <a:chOff x="3872287" y="5313184"/>
            <a:chExt cx="655269" cy="43457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1032487-8CF7-79EB-27AB-A7E65FFF39BF}"/>
                </a:ext>
              </a:extLst>
            </p:cNvPr>
            <p:cNvSpPr txBox="1"/>
            <p:nvPr/>
          </p:nvSpPr>
          <p:spPr>
            <a:xfrm>
              <a:off x="4144098" y="537842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20CCC80-6982-8622-8511-439C45FEB8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2287" y="5313184"/>
              <a:ext cx="343353" cy="1925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0499142-0A63-DB4F-BF28-390ACA22E943}"/>
              </a:ext>
            </a:extLst>
          </p:cNvPr>
          <p:cNvSpPr/>
          <p:nvPr/>
        </p:nvSpPr>
        <p:spPr>
          <a:xfrm>
            <a:off x="5107847" y="2960889"/>
            <a:ext cx="693174" cy="21491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7CA22A-09AD-269A-F570-214205DEBD22}"/>
                  </a:ext>
                </a:extLst>
              </p:cNvPr>
              <p:cNvSpPr txBox="1"/>
              <p:nvPr/>
            </p:nvSpPr>
            <p:spPr>
              <a:xfrm>
                <a:off x="7128334" y="5597794"/>
                <a:ext cx="75379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𝑎𝑏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7CA22A-09AD-269A-F570-214205DEB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334" y="5597794"/>
                <a:ext cx="753796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53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8639A-E740-BE8C-51E2-4CD0DE884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9055-431D-5A95-E7E6-FB4A0A82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trig_ellipse.py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CCDCD-F18B-FA7C-D234-902C9FB9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61</a:t>
            </a:fld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A76CBA1-CE49-3B77-7A87-26CAA213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14" y="2133762"/>
            <a:ext cx="7428571" cy="2590476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01547432-035E-8C55-2841-569B1DD9B3A8}"/>
              </a:ext>
            </a:extLst>
          </p:cNvPr>
          <p:cNvGrpSpPr/>
          <p:nvPr/>
        </p:nvGrpSpPr>
        <p:grpSpPr>
          <a:xfrm>
            <a:off x="2370167" y="2573326"/>
            <a:ext cx="1076632" cy="369332"/>
            <a:chOff x="4968362" y="2079211"/>
            <a:chExt cx="1076632" cy="369332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B3C7672-1378-6698-283F-F5035C3B75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FE9244-9BFB-BE57-B7D5-C0BB38ACBD8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F148F0F-9DE7-A866-FFE2-F99597C0933B}"/>
              </a:ext>
            </a:extLst>
          </p:cNvPr>
          <p:cNvGrpSpPr/>
          <p:nvPr/>
        </p:nvGrpSpPr>
        <p:grpSpPr>
          <a:xfrm>
            <a:off x="5791200" y="2668511"/>
            <a:ext cx="688258" cy="644184"/>
            <a:chOff x="4798117" y="2290342"/>
            <a:chExt cx="688258" cy="644184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9E20974-D288-4DF2-FFD2-93B67B1E4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8117" y="2564489"/>
              <a:ext cx="360947" cy="3700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A6FA983-0520-478A-DD75-72D22C2ACAD4}"/>
                </a:ext>
              </a:extLst>
            </p:cNvPr>
            <p:cNvSpPr txBox="1"/>
            <p:nvPr/>
          </p:nvSpPr>
          <p:spPr>
            <a:xfrm>
              <a:off x="5102917" y="229034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6C1F2BC5-33AB-49D6-F539-2A9406A3A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160" y="3647030"/>
            <a:ext cx="1109679" cy="481721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5966FF76-1909-9E68-B8FE-C3B9DA83D085}"/>
              </a:ext>
            </a:extLst>
          </p:cNvPr>
          <p:cNvGrpSpPr/>
          <p:nvPr/>
        </p:nvGrpSpPr>
        <p:grpSpPr>
          <a:xfrm>
            <a:off x="3742283" y="3923364"/>
            <a:ext cx="1068643" cy="369332"/>
            <a:chOff x="3647644" y="4910075"/>
            <a:chExt cx="1068643" cy="3693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D5C1D42-7C0F-7542-8369-5E417AF7F03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C987C1F-4207-A4C9-B53B-02122C965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AF0A129-55CE-C999-4515-A0FD2D3466B9}"/>
              </a:ext>
            </a:extLst>
          </p:cNvPr>
          <p:cNvGrpSpPr/>
          <p:nvPr/>
        </p:nvGrpSpPr>
        <p:grpSpPr>
          <a:xfrm>
            <a:off x="1949191" y="4395011"/>
            <a:ext cx="1064340" cy="369332"/>
            <a:chOff x="3647644" y="5421073"/>
            <a:chExt cx="1064340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FDE1B19-7B9E-22FC-F449-3F223D5CDF10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FA50C0F-D168-F6FC-3486-79DC7EC493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969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72BF-29A8-54AB-FBA1-2D72447C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601E02-1BB0-285B-90A7-04CB8629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23520"/>
            <a:ext cx="6114286" cy="52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7F958-5433-3D4C-07F2-DC184FC97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83" y="2873962"/>
            <a:ext cx="7939035" cy="2560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C79610-8EBF-C4C8-5E49-18B23BD9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trig_ellipse.py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1F812-286F-27B6-2D5A-18E4929D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62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547EA2-74E0-22D1-B5CD-802FA0C90593}"/>
              </a:ext>
            </a:extLst>
          </p:cNvPr>
          <p:cNvSpPr/>
          <p:nvPr/>
        </p:nvSpPr>
        <p:spPr>
          <a:xfrm>
            <a:off x="4555959" y="4772527"/>
            <a:ext cx="697832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3D25DF-8F11-2437-E773-7E7DB8DAFF14}"/>
              </a:ext>
            </a:extLst>
          </p:cNvPr>
          <p:cNvSpPr/>
          <p:nvPr/>
        </p:nvSpPr>
        <p:spPr>
          <a:xfrm>
            <a:off x="4828673" y="4133619"/>
            <a:ext cx="304800" cy="3100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C86B4-AD34-8D66-6BD4-467C5ED23E44}"/>
              </a:ext>
            </a:extLst>
          </p:cNvPr>
          <p:cNvSpPr txBox="1"/>
          <p:nvPr/>
        </p:nvSpPr>
        <p:spPr>
          <a:xfrm>
            <a:off x="5844379" y="3120224"/>
            <a:ext cx="21846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Adding 10,000 distance formula calculations together </a:t>
            </a:r>
            <a:r>
              <a:rPr lang="en-US" sz="1600" b="1" dirty="0">
                <a:solidFill>
                  <a:srgbClr val="FFFF00"/>
                </a:solidFill>
              </a:rPr>
              <a:t>vs. </a:t>
            </a:r>
            <a:r>
              <a:rPr lang="en-US" sz="1600" dirty="0">
                <a:solidFill>
                  <a:srgbClr val="FFFF00"/>
                </a:solidFill>
              </a:rPr>
              <a:t>using Ramanujan’s easy </a:t>
            </a:r>
            <a:r>
              <a:rPr lang="en-US" sz="1600" u="sng" dirty="0">
                <a:solidFill>
                  <a:srgbClr val="FFFF00"/>
                </a:solidFill>
              </a:rPr>
              <a:t>functional equation</a:t>
            </a:r>
            <a:r>
              <a:rPr lang="en-US" sz="1600" dirty="0">
                <a:solidFill>
                  <a:srgbClr val="FFFF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8635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Random Walks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you to create a Python program to display the </a:t>
                </a:r>
                <a:r>
                  <a:rPr lang="en-US" sz="2400" b="1" dirty="0"/>
                  <a:t>2D</a:t>
                </a:r>
                <a:r>
                  <a:rPr lang="en-US" sz="2400" dirty="0"/>
                  <a:t> Cartesian plot of a meandering walker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walker starts at the </a:t>
                </a:r>
                <a:r>
                  <a:rPr lang="en-US" sz="2400" b="1" dirty="0"/>
                  <a:t>(0,0) origin </a:t>
                </a:r>
                <a:r>
                  <a:rPr lang="en-US" sz="2400" dirty="0"/>
                  <a:t>and begins taking </a:t>
                </a:r>
                <a:r>
                  <a:rPr lang="en-US" sz="2400" u="sng" dirty="0"/>
                  <a:t>one</a:t>
                </a:r>
                <a:r>
                  <a:rPr lang="en-US" sz="2400" dirty="0"/>
                  <a:t> step at a time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At each step, the walker picks a random angle 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uniform</a:t>
                </a:r>
                <a:r>
                  <a:rPr lang="en-US" sz="2400" dirty="0"/>
                  <a:t> distribution) within the interval </a:t>
                </a:r>
                <a14:m>
                  <m:oMath xmlns:m="http://schemas.openxmlformats.org/officeDocument/2006/math">
                    <m:r>
                      <a:rPr lang="en-US" sz="2400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2</m:t>
                    </m:r>
                    <m:r>
                      <a:rPr lang="en-US" sz="2400" b="0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b="0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moves (from his current position) </a:t>
                </a:r>
                <a:r>
                  <a:rPr lang="en-US" sz="2400" u="sng" dirty="0"/>
                  <a:t>one</a:t>
                </a:r>
                <a:r>
                  <a:rPr lang="en-US" sz="2400" dirty="0"/>
                  <a:t> unit of distance in that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radial</a:t>
                </a:r>
                <a:r>
                  <a:rPr lang="en-US" sz="2400" dirty="0"/>
                  <a:t> direction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boss wants your program to show the entire journey of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10,000</a:t>
                </a:r>
                <a:r>
                  <a:rPr lang="en-US" sz="2400" dirty="0"/>
                  <a:t> random steps in your plot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 </a:t>
                </a:r>
                <a:r>
                  <a:rPr lang="en-US" sz="2400" b="1" dirty="0"/>
                  <a:t>research question on the table is this</a:t>
                </a:r>
                <a:r>
                  <a:rPr lang="en-US" sz="2400" dirty="0"/>
                  <a:t>: On average, how far away (Pythagorean distance) from the </a:t>
                </a:r>
                <a:r>
                  <a:rPr lang="en-US" sz="2400" i="1" dirty="0"/>
                  <a:t>starting</a:t>
                </a:r>
                <a:r>
                  <a:rPr lang="en-US" sz="2400" dirty="0"/>
                  <a:t> point (the origin) will the walker </a:t>
                </a:r>
                <a:r>
                  <a:rPr lang="en-US" sz="2400" b="1" dirty="0"/>
                  <a:t>stop</a:t>
                </a:r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623" b="-10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4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random_walk.py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B5255-38D3-41D0-6417-9FC6F235E2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57" y="1635731"/>
            <a:ext cx="5914286" cy="485714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3173D9-047D-C3E1-3E0C-B24D6DF06B3F}"/>
              </a:ext>
            </a:extLst>
          </p:cNvPr>
          <p:cNvGrpSpPr/>
          <p:nvPr/>
        </p:nvGrpSpPr>
        <p:grpSpPr>
          <a:xfrm>
            <a:off x="3681879" y="1577240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1DA549D-AFF1-B684-5716-1B9C9EC3D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5769B3-B2AA-5362-0A64-1E96FD2B0E3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61EF90-B983-AC6A-AE4E-2E98935C3448}"/>
              </a:ext>
            </a:extLst>
          </p:cNvPr>
          <p:cNvGrpSpPr/>
          <p:nvPr/>
        </p:nvGrpSpPr>
        <p:grpSpPr>
          <a:xfrm>
            <a:off x="2705310" y="1798563"/>
            <a:ext cx="1076632" cy="369332"/>
            <a:chOff x="4704120" y="2356972"/>
            <a:chExt cx="1076632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CB33E85-CD24-DCF3-34A0-5042D2B641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5F6232-975C-488D-39A3-69F75B5CA4F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AB1FA7-693C-79A9-C193-8B4F59306B5D}"/>
              </a:ext>
            </a:extLst>
          </p:cNvPr>
          <p:cNvGrpSpPr/>
          <p:nvPr/>
        </p:nvGrpSpPr>
        <p:grpSpPr>
          <a:xfrm>
            <a:off x="3247620" y="2106217"/>
            <a:ext cx="1068643" cy="369332"/>
            <a:chOff x="3647644" y="4910075"/>
            <a:chExt cx="1068643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363343-8BEA-6DD4-74BB-D1ED1857D1D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139DBAB-29EE-354E-EDC9-43151C222B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113C34-F0ED-50C2-DA61-E37ED25784C4}"/>
              </a:ext>
            </a:extLst>
          </p:cNvPr>
          <p:cNvGrpSpPr/>
          <p:nvPr/>
        </p:nvGrpSpPr>
        <p:grpSpPr>
          <a:xfrm>
            <a:off x="3703347" y="2730048"/>
            <a:ext cx="1064340" cy="369332"/>
            <a:chOff x="3647644" y="5421073"/>
            <a:chExt cx="1064340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DCBE334-ADE2-663D-88C3-9348F2640AA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64057E9-413B-504A-E7EC-C7F331FF1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CE3D7A-D7B6-D4FA-491A-212C1DEBA019}"/>
              </a:ext>
            </a:extLst>
          </p:cNvPr>
          <p:cNvGrpSpPr/>
          <p:nvPr/>
        </p:nvGrpSpPr>
        <p:grpSpPr>
          <a:xfrm>
            <a:off x="5172961" y="2957173"/>
            <a:ext cx="1068643" cy="369332"/>
            <a:chOff x="3647644" y="5359159"/>
            <a:chExt cx="1068643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751915-4EB2-9E10-593E-2E3BB2514844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DC415A5-CFBF-B44F-FD69-91E39EDBB6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31DCAED-78CD-8188-F440-FFDE7F51B287}"/>
              </a:ext>
            </a:extLst>
          </p:cNvPr>
          <p:cNvGrpSpPr/>
          <p:nvPr/>
        </p:nvGrpSpPr>
        <p:grpSpPr>
          <a:xfrm>
            <a:off x="3092666" y="4091781"/>
            <a:ext cx="1076632" cy="369332"/>
            <a:chOff x="2157212" y="5356391"/>
            <a:chExt cx="107663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CA5985F-37F9-39A9-CE3D-A7576BD85EF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85C5B4D-975D-C822-0DA9-B74C9DD58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110196A-5CD4-D0C4-6A0A-45C55BF19FC4}"/>
              </a:ext>
            </a:extLst>
          </p:cNvPr>
          <p:cNvGrpSpPr/>
          <p:nvPr/>
        </p:nvGrpSpPr>
        <p:grpSpPr>
          <a:xfrm>
            <a:off x="6241604" y="4370805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5A9A71D-0190-9F09-0967-D5F4B5B965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91B0EC5-5D32-54AC-8C60-F2C7301E4A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3E4E5F8-190C-E9FD-D494-AC880049374E}"/>
              </a:ext>
            </a:extLst>
          </p:cNvPr>
          <p:cNvGrpSpPr/>
          <p:nvPr/>
        </p:nvGrpSpPr>
        <p:grpSpPr>
          <a:xfrm>
            <a:off x="7126507" y="5222269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7A3EDF-7380-E969-527B-5679905FEC5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19427ED-C0A3-B9C3-2E92-0027D163B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4F78946-EEBC-2C34-D579-777BFBF3A3AD}"/>
              </a:ext>
            </a:extLst>
          </p:cNvPr>
          <p:cNvGrpSpPr/>
          <p:nvPr/>
        </p:nvGrpSpPr>
        <p:grpSpPr>
          <a:xfrm>
            <a:off x="4752986" y="3244334"/>
            <a:ext cx="1076632" cy="369332"/>
            <a:chOff x="2157212" y="5356391"/>
            <a:chExt cx="1076632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D9BC11E-F24E-C09A-0FF3-E90D6260DF4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155FF45-63B9-8C4C-37C9-86DCDD0B8E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1479941-159F-2352-C11A-527D743A68AA}"/>
              </a:ext>
            </a:extLst>
          </p:cNvPr>
          <p:cNvGrpSpPr/>
          <p:nvPr/>
        </p:nvGrpSpPr>
        <p:grpSpPr>
          <a:xfrm>
            <a:off x="4539208" y="5915766"/>
            <a:ext cx="1076632" cy="369332"/>
            <a:chOff x="2157212" y="5356391"/>
            <a:chExt cx="1076632" cy="3693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197A9DB-C91F-2232-5B18-424D6169A93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84B3E218-90B7-AF09-3E34-FC3A3AC76D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8AB4B2-0783-2EFD-E63E-F3E71424252B}"/>
                  </a:ext>
                </a:extLst>
              </p:cNvPr>
              <p:cNvSpPr txBox="1"/>
              <p:nvPr/>
            </p:nvSpPr>
            <p:spPr>
              <a:xfrm>
                <a:off x="4252280" y="4813213"/>
                <a:ext cx="323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8AB4B2-0783-2EFD-E63E-F3E714242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280" y="4813213"/>
                <a:ext cx="323678" cy="276999"/>
              </a:xfrm>
              <a:prstGeom prst="rect">
                <a:avLst/>
              </a:prstGeom>
              <a:blipFill>
                <a:blip r:embed="rId3"/>
                <a:stretch>
                  <a:fillRect l="-18868" r="-754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3A5578-325D-BF46-4D63-380688DA97B8}"/>
                  </a:ext>
                </a:extLst>
              </p:cNvPr>
              <p:cNvSpPr txBox="1"/>
              <p:nvPr/>
            </p:nvSpPr>
            <p:spPr>
              <a:xfrm>
                <a:off x="5567033" y="4813213"/>
                <a:ext cx="3270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3A5578-325D-BF46-4D63-380688DA9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033" y="4813213"/>
                <a:ext cx="327077" cy="276999"/>
              </a:xfrm>
              <a:prstGeom prst="rect">
                <a:avLst/>
              </a:prstGeom>
              <a:blipFill>
                <a:blip r:embed="rId4"/>
                <a:stretch>
                  <a:fillRect l="-16667" r="-1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281A2F3-83EB-23FF-9273-C129B491556D}"/>
              </a:ext>
            </a:extLst>
          </p:cNvPr>
          <p:cNvSpPr/>
          <p:nvPr/>
        </p:nvSpPr>
        <p:spPr>
          <a:xfrm>
            <a:off x="1692442" y="4855369"/>
            <a:ext cx="1012868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1E458D-ADBA-84B5-CD93-7EC670D0AA2C}"/>
              </a:ext>
            </a:extLst>
          </p:cNvPr>
          <p:cNvSpPr/>
          <p:nvPr/>
        </p:nvSpPr>
        <p:spPr>
          <a:xfrm>
            <a:off x="1692442" y="5765006"/>
            <a:ext cx="1012868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514113-4413-C4F8-4C8B-EF6298F80AC5}"/>
              </a:ext>
            </a:extLst>
          </p:cNvPr>
          <p:cNvSpPr/>
          <p:nvPr/>
        </p:nvSpPr>
        <p:spPr>
          <a:xfrm>
            <a:off x="2014967" y="5996848"/>
            <a:ext cx="563134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95EAB-0912-BBBE-AE55-D4501B59FA19}"/>
              </a:ext>
            </a:extLst>
          </p:cNvPr>
          <p:cNvSpPr/>
          <p:nvPr/>
        </p:nvSpPr>
        <p:spPr>
          <a:xfrm>
            <a:off x="3118745" y="1668189"/>
            <a:ext cx="412271" cy="1920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50341-A81D-940D-1196-411B393B426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434346-32FD-D385-E7BA-36185848CD2D}"/>
              </a:ext>
            </a:extLst>
          </p:cNvPr>
          <p:cNvSpPr/>
          <p:nvPr/>
        </p:nvSpPr>
        <p:spPr>
          <a:xfrm>
            <a:off x="1692442" y="2790111"/>
            <a:ext cx="1933074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175A5A-037D-5499-D524-18E93574E49C}"/>
              </a:ext>
            </a:extLst>
          </p:cNvPr>
          <p:cNvSpPr/>
          <p:nvPr/>
        </p:nvSpPr>
        <p:spPr>
          <a:xfrm>
            <a:off x="2738278" y="3255370"/>
            <a:ext cx="1933074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0F3A20-07D2-E571-8D46-BEE48B0529E1}"/>
              </a:ext>
            </a:extLst>
          </p:cNvPr>
          <p:cNvSpPr txBox="1"/>
          <p:nvPr/>
        </p:nvSpPr>
        <p:spPr>
          <a:xfrm>
            <a:off x="4207787" y="1991476"/>
            <a:ext cx="2189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Pre-allocate an ndarray of size </a:t>
            </a:r>
            <a:r>
              <a:rPr lang="en-US" sz="1400" b="1" dirty="0">
                <a:solidFill>
                  <a:srgbClr val="FFFF00"/>
                </a:solidFill>
              </a:rPr>
              <a:t>n</a:t>
            </a:r>
            <a:r>
              <a:rPr lang="en-US" sz="1400" dirty="0">
                <a:solidFill>
                  <a:srgbClr val="FFFF00"/>
                </a:solidFill>
              </a:rPr>
              <a:t> with all </a:t>
            </a:r>
            <a:r>
              <a:rPr lang="en-US" sz="1400" b="1" dirty="0">
                <a:solidFill>
                  <a:srgbClr val="FFFF00"/>
                </a:solidFill>
              </a:rPr>
              <a:t>zeros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62AA00-2EAE-BB7A-84CA-3E87A8276B19}"/>
              </a:ext>
            </a:extLst>
          </p:cNvPr>
          <p:cNvSpPr txBox="1"/>
          <p:nvPr/>
        </p:nvSpPr>
        <p:spPr>
          <a:xfrm>
            <a:off x="5829618" y="3221123"/>
            <a:ext cx="14161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A </a:t>
            </a:r>
            <a:r>
              <a:rPr lang="en-US" sz="1400" b="1" dirty="0">
                <a:solidFill>
                  <a:srgbClr val="FFFF00"/>
                </a:solidFill>
              </a:rPr>
              <a:t>radial</a:t>
            </a:r>
            <a:r>
              <a:rPr lang="en-US" sz="1400" dirty="0">
                <a:solidFill>
                  <a:srgbClr val="FFFF00"/>
                </a:solidFill>
              </a:rPr>
              <a:t> </a:t>
            </a:r>
            <a:r>
              <a:rPr lang="en-US" sz="1400" u="sng" dirty="0">
                <a:solidFill>
                  <a:srgbClr val="FFFF00"/>
                </a:solidFill>
              </a:rPr>
              <a:t>unit</a:t>
            </a:r>
            <a:r>
              <a:rPr lang="en-US" sz="1400" dirty="0">
                <a:solidFill>
                  <a:srgbClr val="FFFF00"/>
                </a:solidFill>
              </a:rPr>
              <a:t> step in a </a:t>
            </a:r>
            <a:r>
              <a:rPr lang="en-US" sz="1400" i="1" dirty="0">
                <a:solidFill>
                  <a:srgbClr val="FFFF00"/>
                </a:solidFill>
              </a:rPr>
              <a:t>random</a:t>
            </a:r>
            <a:r>
              <a:rPr lang="en-US" sz="1400" dirty="0">
                <a:solidFill>
                  <a:srgbClr val="FFFF00"/>
                </a:solidFill>
              </a:rPr>
              <a:t> direction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8CA83-2C2E-64F9-8AD9-9141BCFA8D0B}"/>
              </a:ext>
            </a:extLst>
          </p:cNvPr>
          <p:cNvSpPr/>
          <p:nvPr/>
        </p:nvSpPr>
        <p:spPr>
          <a:xfrm>
            <a:off x="3572671" y="3029535"/>
            <a:ext cx="1573210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5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8" grpId="0"/>
      <p:bldP spid="19" grpId="0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random_walk.py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251C7-5005-472F-73CD-AE054E08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8" y="1489745"/>
            <a:ext cx="8283003" cy="483837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B0605A-6C1D-F6BF-39B7-44FD9D2B977E}"/>
              </a:ext>
            </a:extLst>
          </p:cNvPr>
          <p:cNvCxnSpPr>
            <a:cxnSpLocks/>
          </p:cNvCxnSpPr>
          <p:nvPr/>
        </p:nvCxnSpPr>
        <p:spPr>
          <a:xfrm flipV="1">
            <a:off x="3990298" y="2787650"/>
            <a:ext cx="4172627" cy="2580605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C9B911-9783-769B-3F52-0732D1E3BDAC}"/>
              </a:ext>
            </a:extLst>
          </p:cNvPr>
          <p:cNvSpPr txBox="1"/>
          <p:nvPr/>
        </p:nvSpPr>
        <p:spPr>
          <a:xfrm>
            <a:off x="3581816" y="5368255"/>
            <a:ext cx="8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Start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E7520F-B0C2-2C6C-B59D-11F306E30C2C}"/>
              </a:ext>
            </a:extLst>
          </p:cNvPr>
          <p:cNvSpPr txBox="1"/>
          <p:nvPr/>
        </p:nvSpPr>
        <p:spPr>
          <a:xfrm>
            <a:off x="7754443" y="2297770"/>
            <a:ext cx="8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7393F3-4FBC-6A63-DBA1-41E3815FB03D}"/>
                  </a:ext>
                </a:extLst>
              </p:cNvPr>
              <p:cNvSpPr txBox="1"/>
              <p:nvPr/>
            </p:nvSpPr>
            <p:spPr>
              <a:xfrm>
                <a:off x="959370" y="1780344"/>
                <a:ext cx="2788172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Average final distance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F7393F3-4FBC-6A63-DBA1-41E3815F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370" y="1780344"/>
                <a:ext cx="2788172" cy="372410"/>
              </a:xfrm>
              <a:prstGeom prst="rect">
                <a:avLst/>
              </a:prstGeom>
              <a:blipFill>
                <a:blip r:embed="rId3"/>
                <a:stretch>
                  <a:fillRect l="-1747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4C74288-9BEA-C51F-5EAC-47F7DD5D71F1}"/>
              </a:ext>
            </a:extLst>
          </p:cNvPr>
          <p:cNvGrpSpPr/>
          <p:nvPr/>
        </p:nvGrpSpPr>
        <p:grpSpPr>
          <a:xfrm>
            <a:off x="7083164" y="3810930"/>
            <a:ext cx="1342557" cy="2135678"/>
            <a:chOff x="7083164" y="3810930"/>
            <a:chExt cx="1342557" cy="2135678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DDAE363-22DC-4994-0DB2-B12EF543F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0704" y="3810930"/>
              <a:ext cx="1227477" cy="1612458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AB0E2AE-EFED-75D6-D80C-3C373987B3AB}"/>
                </a:ext>
              </a:extLst>
            </p:cNvPr>
            <p:cNvSpPr txBox="1"/>
            <p:nvPr/>
          </p:nvSpPr>
          <p:spPr>
            <a:xfrm>
              <a:off x="7083164" y="5423388"/>
              <a:ext cx="13425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Albert Einstein</a:t>
              </a:r>
            </a:p>
            <a:p>
              <a:pPr algn="ctr"/>
              <a:r>
                <a:rPr lang="en-US" sz="1400" dirty="0"/>
                <a:t>(1879 – 1955)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016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557B32-0609-5E4A-5AD3-42C8E572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40" y="556922"/>
            <a:ext cx="7130321" cy="616772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2BE3B9B-2D5D-9C5F-1220-F8D6C6913A56}"/>
              </a:ext>
            </a:extLst>
          </p:cNvPr>
          <p:cNvGrpSpPr/>
          <p:nvPr/>
        </p:nvGrpSpPr>
        <p:grpSpPr>
          <a:xfrm>
            <a:off x="142407" y="438462"/>
            <a:ext cx="1979911" cy="3110459"/>
            <a:chOff x="6857999" y="562131"/>
            <a:chExt cx="1979911" cy="31104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C6901C-158F-4D04-589A-870286B6A520}"/>
                </a:ext>
              </a:extLst>
            </p:cNvPr>
            <p:cNvSpPr/>
            <p:nvPr/>
          </p:nvSpPr>
          <p:spPr>
            <a:xfrm>
              <a:off x="6857999" y="562131"/>
              <a:ext cx="1979911" cy="3110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B6A03C1-4A7E-F7F7-DC77-A89D7E0F7BA0}"/>
                </a:ext>
              </a:extLst>
            </p:cNvPr>
            <p:cNvGrpSpPr/>
            <p:nvPr/>
          </p:nvGrpSpPr>
          <p:grpSpPr>
            <a:xfrm>
              <a:off x="7083457" y="651879"/>
              <a:ext cx="1528996" cy="2736090"/>
              <a:chOff x="7308915" y="556922"/>
              <a:chExt cx="1528996" cy="273609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3142350-5A77-6F86-FA99-08289EF8D3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2370" y="556922"/>
                <a:ext cx="1402087" cy="2119625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D94C3-56AC-09DC-968E-6DFDA93B68B5}"/>
                  </a:ext>
                </a:extLst>
              </p:cNvPr>
              <p:cNvSpPr txBox="1"/>
              <p:nvPr/>
            </p:nvSpPr>
            <p:spPr>
              <a:xfrm>
                <a:off x="7308915" y="2739014"/>
                <a:ext cx="1528996" cy="553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Robert Brown</a:t>
                </a:r>
              </a:p>
              <a:p>
                <a:pPr algn="ctr"/>
                <a:r>
                  <a:rPr lang="en-US" sz="1400" dirty="0"/>
                  <a:t>(1773 – 1858)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04817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2AD664-1B23-9A0E-C63E-46A41362F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39" y="556922"/>
            <a:ext cx="7143750" cy="6000750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BCCD9-4CD2-AA10-896B-1FD326F7F057}"/>
              </a:ext>
            </a:extLst>
          </p:cNvPr>
          <p:cNvSpPr/>
          <p:nvPr/>
        </p:nvSpPr>
        <p:spPr>
          <a:xfrm>
            <a:off x="6955436" y="6183443"/>
            <a:ext cx="1195153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458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Uniform (Fair) Sampling in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Suppose we want to generate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evenly distributed </a:t>
                </a:r>
                <a:r>
                  <a:rPr lang="en-US" sz="2400" dirty="0"/>
                  <a:t>random points (no clumps) </a:t>
                </a:r>
                <a:r>
                  <a:rPr lang="en-US" sz="2400" b="1" dirty="0"/>
                  <a:t>known</a:t>
                </a:r>
                <a:r>
                  <a:rPr lang="en-US" sz="2400" dirty="0"/>
                  <a:t> to be </a:t>
                </a:r>
                <a:r>
                  <a:rPr lang="en-US" sz="2400" u="sng" dirty="0"/>
                  <a:t>inside</a:t>
                </a:r>
                <a:r>
                  <a:rPr lang="en-US" sz="2400" dirty="0"/>
                  <a:t> a unit circle centered at the origin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Instead of picking random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Cartesian</a:t>
                </a:r>
                <a:r>
                  <a:rPr lang="en-US" sz="2400" dirty="0"/>
                  <a:t>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for the sample points, we could use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polar</a:t>
                </a:r>
                <a:r>
                  <a:rPr lang="en-US" sz="2400" dirty="0"/>
                  <a:t>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4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dirty="0">
                    <a:solidFill>
                      <a:schemeClr val="tx1"/>
                    </a:solidFill>
                  </a:rPr>
                  <a:t>We could pick a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random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radius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a </a:t>
                </a:r>
                <a:r>
                  <a:rPr lang="en-US" sz="2000" b="1" dirty="0"/>
                  <a:t>random angle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then convert those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polar</a:t>
                </a:r>
                <a:r>
                  <a:rPr lang="en-US" sz="2000" dirty="0">
                    <a:solidFill>
                      <a:schemeClr val="tx1"/>
                    </a:solidFill>
                  </a:rPr>
                  <a:t> coordinates to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Cartesian</a:t>
                </a:r>
                <a:r>
                  <a:rPr lang="en-US" sz="2000" dirty="0">
                    <a:solidFill>
                      <a:schemeClr val="tx1"/>
                    </a:solidFill>
                  </a:rPr>
                  <a:t> coordinates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000" dirty="0"/>
                  <a:t>Using this approach, we would never waste time picking random dots </a:t>
                </a:r>
                <a:r>
                  <a:rPr lang="en-US" sz="2000" b="1" dirty="0"/>
                  <a:t>that fall outside of the circle,</a:t>
                </a:r>
                <a:r>
                  <a:rPr lang="en-US" sz="2000" dirty="0"/>
                  <a:t> which might happen if we just picked any random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/>
                  <a:t> pairs of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Cartesian</a:t>
                </a:r>
                <a:r>
                  <a:rPr lang="en-US" sz="2000" dirty="0"/>
                  <a:t> coordinates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dirty="0"/>
                  <a:t>However, we must still ensure the random sample points are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distributed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uniformly</a:t>
                </a:r>
                <a:r>
                  <a:rPr lang="en-US" sz="2400" dirty="0"/>
                  <a:t> throughout the inside of the circle to ensure a 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fair</a:t>
                </a:r>
                <a:r>
                  <a:rPr lang="en-US" sz="2400" dirty="0"/>
                  <a:t> coverage of the entire sample area</a:t>
                </a:r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681" r="-85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9F95E5-9431-511D-577A-64CD743D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530" y="1856694"/>
            <a:ext cx="3542857" cy="36857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circle_sampling.py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AC6781-054A-EA85-707B-D4D7F6389A1F}"/>
              </a:ext>
            </a:extLst>
          </p:cNvPr>
          <p:cNvGrpSpPr/>
          <p:nvPr/>
        </p:nvGrpSpPr>
        <p:grpSpPr>
          <a:xfrm>
            <a:off x="3904416" y="2947555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DF10854-DA84-393C-07A6-7E218A5B2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296B19-639D-A46E-9B46-B2827F83144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A9BB2C-603A-C2AE-6803-12D907EEB7CE}"/>
              </a:ext>
            </a:extLst>
          </p:cNvPr>
          <p:cNvGrpSpPr/>
          <p:nvPr/>
        </p:nvGrpSpPr>
        <p:grpSpPr>
          <a:xfrm>
            <a:off x="6006001" y="3186586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7835B45-2E56-4E05-810E-41D7077251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67D8AD-5FB1-4AD3-CB3D-315B54D915C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D69CF6-8E53-4AD2-7562-108CEC516029}"/>
              </a:ext>
            </a:extLst>
          </p:cNvPr>
          <p:cNvGrpSpPr/>
          <p:nvPr/>
        </p:nvGrpSpPr>
        <p:grpSpPr>
          <a:xfrm>
            <a:off x="4921680" y="3408573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A991AE-678F-7383-60B9-F3162163E6F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84CE9F-DE7C-2F08-995E-7DDFEE6B88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D9D3FA-45D7-FDD5-2503-68C471B967FC}"/>
              </a:ext>
            </a:extLst>
          </p:cNvPr>
          <p:cNvGrpSpPr/>
          <p:nvPr/>
        </p:nvGrpSpPr>
        <p:grpSpPr>
          <a:xfrm>
            <a:off x="4600078" y="3747677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C0095A-9A51-8142-17D4-346EE78FC83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AC5F9A0-D141-A6C0-BA6F-C5C92FB130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A9B81E-DECA-9969-0F82-A51537CD3697}"/>
              </a:ext>
            </a:extLst>
          </p:cNvPr>
          <p:cNvGrpSpPr/>
          <p:nvPr/>
        </p:nvGrpSpPr>
        <p:grpSpPr>
          <a:xfrm>
            <a:off x="5819338" y="4330472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251A24-6F01-0F4C-C678-86AECC58D8F1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3A0E9A9-D9F2-93E1-CBDC-FA09523B9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10E4FE-8C23-E322-771D-EF00EE22C5B6}"/>
              </a:ext>
            </a:extLst>
          </p:cNvPr>
          <p:cNvGrpSpPr/>
          <p:nvPr/>
        </p:nvGrpSpPr>
        <p:grpSpPr>
          <a:xfrm>
            <a:off x="5637953" y="5015400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CEBD1E-CCED-5005-CF63-8518129CA52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3CC0025-E8FF-E595-9D62-617B706A07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031EED-7E9D-A74F-2599-F15E83973749}"/>
              </a:ext>
            </a:extLst>
          </p:cNvPr>
          <p:cNvGrpSpPr/>
          <p:nvPr/>
        </p:nvGrpSpPr>
        <p:grpSpPr>
          <a:xfrm>
            <a:off x="5153564" y="4544357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22F13F-2BDE-DFD4-8AB7-20349FBCDB1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55CF0C5-6CCC-24B7-5C5C-6A251BF68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633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BED85A-513F-7181-8668-C93A9C299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64495"/>
            <a:ext cx="6114286" cy="51523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circle_sampling.py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70</a:t>
            </a:fld>
            <a:endParaRPr lang="en-US" dirty="0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0FE15AC-A9EC-6066-F715-3BD029180AB0}"/>
              </a:ext>
            </a:extLst>
          </p:cNvPr>
          <p:cNvSpPr/>
          <p:nvPr/>
        </p:nvSpPr>
        <p:spPr>
          <a:xfrm>
            <a:off x="1233956" y="5260589"/>
            <a:ext cx="2116393" cy="700548"/>
          </a:xfrm>
          <a:prstGeom prst="wedgeRectCallout">
            <a:avLst>
              <a:gd name="adj1" fmla="val 74002"/>
              <a:gd name="adj2" fmla="val -149252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went wrong with our math?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AC254D2-A78A-A2DA-207B-79794295BDA1}"/>
              </a:ext>
            </a:extLst>
          </p:cNvPr>
          <p:cNvSpPr/>
          <p:nvPr/>
        </p:nvSpPr>
        <p:spPr>
          <a:xfrm>
            <a:off x="6093501" y="2375775"/>
            <a:ext cx="2116393" cy="700548"/>
          </a:xfrm>
          <a:prstGeom prst="wedgeRectCallout">
            <a:avLst>
              <a:gd name="adj1" fmla="val -103070"/>
              <a:gd name="adj2" fmla="val 21344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What must we do to sample fairly?</a:t>
            </a:r>
          </a:p>
        </p:txBody>
      </p:sp>
    </p:spTree>
    <p:extLst>
      <p:ext uri="{BB962C8B-B14F-4D97-AF65-F5344CB8AC3E}">
        <p14:creationId xmlns:p14="http://schemas.microsoft.com/office/powerpoint/2010/main" val="329448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Uniform (Fair) Sampling in a Circle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E41C18-0658-1414-C5A8-111AB918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84" y="1787514"/>
            <a:ext cx="4133631" cy="430431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B48FBB4-6126-5792-389E-2AD8E1072AF1}"/>
              </a:ext>
            </a:extLst>
          </p:cNvPr>
          <p:cNvGrpSpPr/>
          <p:nvPr/>
        </p:nvGrpSpPr>
        <p:grpSpPr>
          <a:xfrm>
            <a:off x="292308" y="2769529"/>
            <a:ext cx="2212876" cy="2227564"/>
            <a:chOff x="292308" y="3170579"/>
            <a:chExt cx="2212876" cy="2227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9401F90-AEF8-C3C4-9FC0-C852E5C3F8B0}"/>
                    </a:ext>
                  </a:extLst>
                </p:cNvPr>
                <p:cNvSpPr txBox="1"/>
                <p:nvPr/>
              </p:nvSpPr>
              <p:spPr>
                <a:xfrm>
                  <a:off x="818491" y="3170579"/>
                  <a:ext cx="116051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9401F90-AEF8-C3C4-9FC0-C852E5C3F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491" y="3170579"/>
                  <a:ext cx="116051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5236" r="-1571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633B95D-1AD4-71E3-030C-BD4019C03E94}"/>
                    </a:ext>
                  </a:extLst>
                </p:cNvPr>
                <p:cNvSpPr txBox="1"/>
                <p:nvPr/>
              </p:nvSpPr>
              <p:spPr>
                <a:xfrm>
                  <a:off x="292308" y="3643817"/>
                  <a:ext cx="2212876" cy="1754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7030A0"/>
                      </a:solidFill>
                    </a:rPr>
                    <a:t>The radial </a:t>
                  </a:r>
                  <a:r>
                    <a:rPr lang="en-US" b="1" dirty="0">
                      <a:solidFill>
                        <a:srgbClr val="7030A0"/>
                      </a:solidFill>
                    </a:rPr>
                    <a:t>area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 of each </a:t>
                  </a:r>
                  <a:r>
                    <a:rPr lang="en-US" u="sng" dirty="0">
                      <a:solidFill>
                        <a:srgbClr val="7030A0"/>
                      </a:solidFill>
                    </a:rPr>
                    <a:t>sector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 is </a:t>
                  </a:r>
                  <a:r>
                    <a:rPr lang="en-US" i="1" dirty="0">
                      <a:solidFill>
                        <a:srgbClr val="7030A0"/>
                      </a:solidFill>
                    </a:rPr>
                    <a:t>growing</a:t>
                  </a:r>
                  <a:r>
                    <a:rPr lang="en-US" dirty="0">
                      <a:solidFill>
                        <a:srgbClr val="7030A0"/>
                      </a:solidFill>
                    </a:rPr>
                    <a:t> by a factor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 as you move away from the origin (0,0)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633B95D-1AD4-71E3-030C-BD4019C03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308" y="3643817"/>
                  <a:ext cx="2212876" cy="1754326"/>
                </a:xfrm>
                <a:prstGeom prst="rect">
                  <a:avLst/>
                </a:prstGeom>
                <a:blipFill>
                  <a:blip r:embed="rId5"/>
                  <a:stretch>
                    <a:fillRect l="-275" t="-2083" r="-2204" b="-45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1C48D7-F141-9ED6-AC38-D4243768F73A}"/>
              </a:ext>
            </a:extLst>
          </p:cNvPr>
          <p:cNvSpPr txBox="1"/>
          <p:nvPr/>
        </p:nvSpPr>
        <p:spPr>
          <a:xfrm>
            <a:off x="6695607" y="3104268"/>
            <a:ext cx="2212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Therefore, to equalize the </a:t>
            </a:r>
            <a:r>
              <a:rPr lang="en-US" b="1" i="1" dirty="0">
                <a:solidFill>
                  <a:srgbClr val="7030A0"/>
                </a:solidFill>
              </a:rPr>
              <a:t>density</a:t>
            </a:r>
            <a:r>
              <a:rPr lang="en-US" dirty="0">
                <a:solidFill>
                  <a:srgbClr val="7030A0"/>
                </a:solidFill>
              </a:rPr>
              <a:t> of each sector, we need to take the </a:t>
            </a:r>
            <a:r>
              <a:rPr lang="en-US" u="sng" dirty="0">
                <a:solidFill>
                  <a:srgbClr val="7030A0"/>
                </a:solidFill>
              </a:rPr>
              <a:t>square root</a:t>
            </a:r>
            <a:r>
              <a:rPr lang="en-US" dirty="0">
                <a:solidFill>
                  <a:srgbClr val="7030A0"/>
                </a:solidFill>
              </a:rPr>
              <a:t> of each random </a:t>
            </a:r>
            <a:r>
              <a:rPr lang="en-US" b="1" dirty="0">
                <a:solidFill>
                  <a:srgbClr val="7030A0"/>
                </a:solidFill>
              </a:rPr>
              <a:t>radius</a:t>
            </a:r>
            <a:r>
              <a:rPr lang="en-US" dirty="0">
                <a:solidFill>
                  <a:srgbClr val="7030A0"/>
                </a:solidFill>
              </a:rPr>
              <a:t> value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065C38-6975-4403-8068-019A2FB5DCD9}"/>
              </a:ext>
            </a:extLst>
          </p:cNvPr>
          <p:cNvCxnSpPr>
            <a:cxnSpLocks/>
          </p:cNvCxnSpPr>
          <p:nvPr/>
        </p:nvCxnSpPr>
        <p:spPr>
          <a:xfrm flipV="1">
            <a:off x="5103019" y="3242767"/>
            <a:ext cx="252412" cy="27433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47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D74CE1-2725-8F35-9656-1F002F46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476" y="1820112"/>
            <a:ext cx="3619048" cy="37523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circle_sampling.py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AC6781-054A-EA85-707B-D4D7F6389A1F}"/>
              </a:ext>
            </a:extLst>
          </p:cNvPr>
          <p:cNvGrpSpPr/>
          <p:nvPr/>
        </p:nvGrpSpPr>
        <p:grpSpPr>
          <a:xfrm>
            <a:off x="5984092" y="3397646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DF10854-DA84-393C-07A6-7E218A5B2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296B19-639D-A46E-9B46-B2827F83144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65A2767-96DF-09E2-0B30-575F8325036A}"/>
              </a:ext>
            </a:extLst>
          </p:cNvPr>
          <p:cNvSpPr/>
          <p:nvPr/>
        </p:nvSpPr>
        <p:spPr>
          <a:xfrm>
            <a:off x="2836316" y="3464322"/>
            <a:ext cx="2902497" cy="2550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8E747-C246-F0AF-42EE-8F75152DFCF2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86082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5A2163-C39B-2A2C-F2DB-11165EFA1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64495"/>
            <a:ext cx="6114286" cy="51523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circle_sampling.py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73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2F5BA33-76AF-67E2-6990-3F0E0FAE78CE}"/>
              </a:ext>
            </a:extLst>
          </p:cNvPr>
          <p:cNvSpPr/>
          <p:nvPr/>
        </p:nvSpPr>
        <p:spPr>
          <a:xfrm>
            <a:off x="1196481" y="5126636"/>
            <a:ext cx="2116393" cy="1229715"/>
          </a:xfrm>
          <a:prstGeom prst="wedgeRectCallout">
            <a:avLst>
              <a:gd name="adj1" fmla="val 89230"/>
              <a:gd name="adj2" fmla="val -122522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We are now sampling the circle using a uniform (fair)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7193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262" y="1364226"/>
            <a:ext cx="3464396" cy="384932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9937" y="1381391"/>
            <a:ext cx="2920868" cy="23434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6421" y="4039722"/>
            <a:ext cx="2247900" cy="2105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583" y="1634853"/>
            <a:ext cx="4210835" cy="50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4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109" y="2123768"/>
            <a:ext cx="7771783" cy="3052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2 6"/>
              <p:cNvSpPr/>
              <p:nvPr/>
            </p:nvSpPr>
            <p:spPr>
              <a:xfrm>
                <a:off x="5185410" y="5364480"/>
                <a:ext cx="2526030" cy="1244764"/>
              </a:xfrm>
              <a:prstGeom prst="borderCallout2">
                <a:avLst>
                  <a:gd name="adj1" fmla="val 13934"/>
                  <a:gd name="adj2" fmla="val -8844"/>
                  <a:gd name="adj3" fmla="val -48685"/>
                  <a:gd name="adj4" fmla="val -23589"/>
                  <a:gd name="adj5" fmla="val -63575"/>
                  <a:gd name="adj6" fmla="val -44720"/>
                </a:avLst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Two </a:t>
                </a:r>
                <a:r>
                  <a:rPr lang="en-US" u="sng" dirty="0">
                    <a:solidFill>
                      <a:schemeClr val="tx1"/>
                    </a:solidFill>
                  </a:rPr>
                  <a:t>parameters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a, n</a:t>
                </a:r>
                <a:r>
                  <a:rPr lang="en-US" dirty="0">
                    <a:solidFill>
                      <a:schemeClr val="tx1"/>
                    </a:solidFill>
                  </a:rPr>
                  <a:t> are used to calculate the current radius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sweeps the circle</a:t>
                </a:r>
              </a:p>
            </p:txBody>
          </p:sp>
        </mc:Choice>
        <mc:Fallback xmlns="">
          <p:sp>
            <p:nvSpPr>
              <p:cNvPr id="7" name="Line Callout 2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410" y="5364480"/>
                <a:ext cx="2526030" cy="1244764"/>
              </a:xfrm>
              <a:prstGeom prst="borderCallout2">
                <a:avLst>
                  <a:gd name="adj1" fmla="val 13934"/>
                  <a:gd name="adj2" fmla="val -8844"/>
                  <a:gd name="adj3" fmla="val -48685"/>
                  <a:gd name="adj4" fmla="val -23589"/>
                  <a:gd name="adj5" fmla="val -63575"/>
                  <a:gd name="adj6" fmla="val -44720"/>
                </a:avLst>
              </a:prstGeom>
              <a:blipFill>
                <a:blip r:embed="rId4"/>
                <a:stretch>
                  <a:fillRect r="-995" b="-2655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BC4BD2E-3AD1-9B99-D5A0-3FFA0C69828F}"/>
              </a:ext>
            </a:extLst>
          </p:cNvPr>
          <p:cNvSpPr/>
          <p:nvPr/>
        </p:nvSpPr>
        <p:spPr>
          <a:xfrm>
            <a:off x="6521116" y="1933074"/>
            <a:ext cx="2057400" cy="2935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9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978" y="1700651"/>
            <a:ext cx="4762500" cy="442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015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Using a Polar Projection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Your scientist needs you to plot an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Archimedes Spiral </a:t>
                </a: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and it rotates from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≤8</m:t>
                    </m:r>
                    <m:r>
                      <a:rPr lang="en-US" sz="2400" i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rPr>
                  <a:t> </a:t>
                </a:r>
                <a:endParaRPr lang="en-US" sz="2400" dirty="0"/>
              </a:p>
              <a:p>
                <a:r>
                  <a:rPr lang="en-US" sz="2400" dirty="0"/>
                  <a:t>She would like you to plot this curve using the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Polar Projection</a:t>
                </a:r>
                <a:r>
                  <a:rPr lang="en-US" sz="2400" dirty="0"/>
                  <a:t> supported by matplotlib</a:t>
                </a:r>
              </a:p>
              <a:p>
                <a:r>
                  <a:rPr lang="en-US" sz="2400" dirty="0"/>
                  <a:t>She also needs you to calculate the </a:t>
                </a:r>
                <a:r>
                  <a:rPr lang="en-US" sz="2400" b="1" dirty="0"/>
                  <a:t>perimeter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(the total distance travelled from the origin) along that spiral by summing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Cartesian distance</a:t>
                </a:r>
                <a:r>
                  <a:rPr lang="en-US" sz="2400" dirty="0"/>
                  <a:t> between </a:t>
                </a:r>
                <a:r>
                  <a:rPr lang="en-US" sz="2400" i="1" dirty="0"/>
                  <a:t>successive</a:t>
                </a:r>
                <a:r>
                  <a:rPr lang="en-US" sz="2400" dirty="0"/>
                  <a:t> points</a:t>
                </a:r>
              </a:p>
              <a:p>
                <a:r>
                  <a:rPr lang="en-US" sz="2400" dirty="0"/>
                  <a:t>She would also like you to calculate 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arc length integral</a:t>
                </a:r>
                <a:r>
                  <a:rPr lang="en-US" sz="2400" b="1" dirty="0"/>
                  <a:t> </a:t>
                </a:r>
                <a:r>
                  <a:rPr lang="en-US" sz="2400" dirty="0"/>
                  <a:t>using the above stated limits of the curve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2E0DF-EA1E-2B29-FBAA-C77F1DA8F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5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5EA60-F042-AFB8-F67D-23779F9D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59F972-6D81-BFB1-F5CB-2B52C255190D}"/>
                  </a:ext>
                </a:extLst>
              </p:cNvPr>
              <p:cNvSpPr txBox="1"/>
              <p:nvPr/>
            </p:nvSpPr>
            <p:spPr>
              <a:xfrm>
                <a:off x="761623" y="1367674"/>
                <a:ext cx="9330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59F972-6D81-BFB1-F5CB-2B52C2551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23" y="1367674"/>
                <a:ext cx="933076" cy="276999"/>
              </a:xfrm>
              <a:prstGeom prst="rect">
                <a:avLst/>
              </a:prstGeom>
              <a:blipFill>
                <a:blip r:embed="rId2"/>
                <a:stretch>
                  <a:fillRect l="-3268" r="-457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C873094-83CE-4101-B4E7-ABED05BD9244}"/>
              </a:ext>
            </a:extLst>
          </p:cNvPr>
          <p:cNvGrpSpPr/>
          <p:nvPr/>
        </p:nvGrpSpPr>
        <p:grpSpPr>
          <a:xfrm>
            <a:off x="761623" y="1836637"/>
            <a:ext cx="1615763" cy="638729"/>
            <a:chOff x="761623" y="1836637"/>
            <a:chExt cx="1615763" cy="638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541C99-84DD-7FFD-BB39-016760F16A35}"/>
                    </a:ext>
                  </a:extLst>
                </p:cNvPr>
                <p:cNvSpPr txBox="1"/>
                <p:nvPr/>
              </p:nvSpPr>
              <p:spPr>
                <a:xfrm>
                  <a:off x="761623" y="1836637"/>
                  <a:ext cx="16157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541C99-84DD-7FFD-BB39-016760F16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23" y="1836637"/>
                  <a:ext cx="161576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88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75903E-5BF5-83EF-25B6-E6BFFDA0BF84}"/>
                    </a:ext>
                  </a:extLst>
                </p:cNvPr>
                <p:cNvSpPr txBox="1"/>
                <p:nvPr/>
              </p:nvSpPr>
              <p:spPr>
                <a:xfrm>
                  <a:off x="761623" y="2198367"/>
                  <a:ext cx="158870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B75903E-5BF5-83EF-25B6-E6BFFDA0B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23" y="2198367"/>
                  <a:ext cx="158870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44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CB11C-C035-375D-1285-E8A49F20D9B0}"/>
                  </a:ext>
                </a:extLst>
              </p:cNvPr>
              <p:cNvSpPr txBox="1"/>
              <p:nvPr/>
            </p:nvSpPr>
            <p:spPr>
              <a:xfrm>
                <a:off x="3461709" y="1189565"/>
                <a:ext cx="3033716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6CB11C-C035-375D-1285-E8A49F20D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709" y="1189565"/>
                <a:ext cx="3033716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9327C2-664A-74C6-DBE5-7DB7AAD5F0B5}"/>
                  </a:ext>
                </a:extLst>
              </p:cNvPr>
              <p:cNvSpPr txBox="1"/>
              <p:nvPr/>
            </p:nvSpPr>
            <p:spPr>
              <a:xfrm>
                <a:off x="3496338" y="1967308"/>
                <a:ext cx="2958695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9327C2-664A-74C6-DBE5-7DB7AAD5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338" y="1967308"/>
                <a:ext cx="2958695" cy="5259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6CC72-3B50-3082-8F29-68F4A7C9316D}"/>
                  </a:ext>
                </a:extLst>
              </p:cNvPr>
              <p:cNvSpPr txBox="1"/>
              <p:nvPr/>
            </p:nvSpPr>
            <p:spPr>
              <a:xfrm>
                <a:off x="248221" y="3266529"/>
                <a:ext cx="8647559" cy="67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𝑑𝑟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𝑑𝑟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6CC72-3B50-3082-8F29-68F4A7C93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21" y="3266529"/>
                <a:ext cx="8647559" cy="6770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E6308AC-1774-68E0-860F-9710BC7AA6CE}"/>
              </a:ext>
            </a:extLst>
          </p:cNvPr>
          <p:cNvGrpSpPr/>
          <p:nvPr/>
        </p:nvGrpSpPr>
        <p:grpSpPr>
          <a:xfrm>
            <a:off x="761623" y="577094"/>
            <a:ext cx="1287596" cy="598615"/>
            <a:chOff x="912178" y="577094"/>
            <a:chExt cx="1287596" cy="598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4DE750B-C3E1-81C7-AF2B-35EBEE91BE39}"/>
                    </a:ext>
                  </a:extLst>
                </p:cNvPr>
                <p:cNvSpPr txBox="1"/>
                <p:nvPr/>
              </p:nvSpPr>
              <p:spPr>
                <a:xfrm>
                  <a:off x="912178" y="577094"/>
                  <a:ext cx="12875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4DE750B-C3E1-81C7-AF2B-35EBEE91B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78" y="577094"/>
                  <a:ext cx="128759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37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1CACD7-C85A-5E07-C226-482DD6900C8B}"/>
                    </a:ext>
                  </a:extLst>
                </p:cNvPr>
                <p:cNvSpPr txBox="1"/>
                <p:nvPr/>
              </p:nvSpPr>
              <p:spPr>
                <a:xfrm>
                  <a:off x="912178" y="898710"/>
                  <a:ext cx="126053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1CACD7-C85A-5E07-C226-482DD6900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78" y="898710"/>
                  <a:ext cx="126053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348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D26FB2-E62E-A6CB-C01E-6DBCA1FB4ADB}"/>
                  </a:ext>
                </a:extLst>
              </p:cNvPr>
              <p:cNvSpPr txBox="1"/>
              <p:nvPr/>
            </p:nvSpPr>
            <p:spPr>
              <a:xfrm>
                <a:off x="2865461" y="4081200"/>
                <a:ext cx="5102359" cy="677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D26FB2-E62E-A6CB-C01E-6DBCA1FB4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61" y="4081200"/>
                <a:ext cx="5102359" cy="6770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B6B9C6-D97B-CB7E-C187-138726C58F81}"/>
                  </a:ext>
                </a:extLst>
              </p:cNvPr>
              <p:cNvSpPr txBox="1"/>
              <p:nvPr/>
            </p:nvSpPr>
            <p:spPr>
              <a:xfrm>
                <a:off x="2555000" y="4996155"/>
                <a:ext cx="1447704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B6B9C6-D97B-CB7E-C187-138726C58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000" y="4996155"/>
                <a:ext cx="1447704" cy="5259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550C3A-FF7E-7313-1E7F-8EC92845C06A}"/>
                  </a:ext>
                </a:extLst>
              </p:cNvPr>
              <p:cNvSpPr txBox="1"/>
              <p:nvPr/>
            </p:nvSpPr>
            <p:spPr>
              <a:xfrm>
                <a:off x="4543487" y="4895871"/>
                <a:ext cx="952312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550C3A-FF7E-7313-1E7F-8EC92845C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487" y="4895871"/>
                <a:ext cx="952312" cy="7265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001F6C-27C8-6EEB-8554-89AAC60C286A}"/>
                  </a:ext>
                </a:extLst>
              </p:cNvPr>
              <p:cNvSpPr txBox="1"/>
              <p:nvPr/>
            </p:nvSpPr>
            <p:spPr>
              <a:xfrm>
                <a:off x="4542020" y="5760042"/>
                <a:ext cx="2019848" cy="6227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001F6C-27C8-6EEB-8554-89AAC60C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020" y="5760042"/>
                <a:ext cx="2019848" cy="6227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6F651F-1483-D1F9-92D6-700ACCBFB45A}"/>
                  </a:ext>
                </a:extLst>
              </p:cNvPr>
              <p:cNvSpPr txBox="1"/>
              <p:nvPr/>
            </p:nvSpPr>
            <p:spPr>
              <a:xfrm>
                <a:off x="3503833" y="411822"/>
                <a:ext cx="752129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6F651F-1483-D1F9-92D6-700ACCBF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33" y="411822"/>
                <a:ext cx="752129" cy="52597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90B748-7F7F-C424-A8AC-0885F3D867FC}"/>
                  </a:ext>
                </a:extLst>
              </p:cNvPr>
              <p:cNvSpPr txBox="1"/>
              <p:nvPr/>
            </p:nvSpPr>
            <p:spPr>
              <a:xfrm>
                <a:off x="4786228" y="951628"/>
                <a:ext cx="24336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90B748-7F7F-C424-A8AC-0885F3D86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228" y="951628"/>
                <a:ext cx="2433615" cy="276999"/>
              </a:xfrm>
              <a:prstGeom prst="rect">
                <a:avLst/>
              </a:prstGeom>
              <a:blipFill>
                <a:blip r:embed="rId15"/>
                <a:stretch>
                  <a:fillRect l="-2005" t="-8696" r="-3258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D0ED777-1289-8A50-2196-9049CAEA38C8}"/>
              </a:ext>
            </a:extLst>
          </p:cNvPr>
          <p:cNvGrpSpPr/>
          <p:nvPr/>
        </p:nvGrpSpPr>
        <p:grpSpPr>
          <a:xfrm>
            <a:off x="4384623" y="3928776"/>
            <a:ext cx="820711" cy="778135"/>
            <a:chOff x="4354643" y="3898796"/>
            <a:chExt cx="820711" cy="77813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6D9B8A3-0A5E-C1BA-89E1-6BD97150A6DA}"/>
                </a:ext>
              </a:extLst>
            </p:cNvPr>
            <p:cNvCxnSpPr/>
            <p:nvPr/>
          </p:nvCxnSpPr>
          <p:spPr>
            <a:xfrm flipV="1">
              <a:off x="4354643" y="4152275"/>
              <a:ext cx="599606" cy="5246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073178-3AEE-7DA9-DCA5-07129538719C}"/>
                </a:ext>
              </a:extLst>
            </p:cNvPr>
            <p:cNvSpPr txBox="1"/>
            <p:nvPr/>
          </p:nvSpPr>
          <p:spPr>
            <a:xfrm>
              <a:off x="4913026" y="3898796"/>
              <a:ext cx="262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052722-F17A-9155-D449-282594694901}"/>
              </a:ext>
            </a:extLst>
          </p:cNvPr>
          <p:cNvGrpSpPr/>
          <p:nvPr/>
        </p:nvGrpSpPr>
        <p:grpSpPr>
          <a:xfrm>
            <a:off x="6842543" y="3928776"/>
            <a:ext cx="820711" cy="778135"/>
            <a:chOff x="4354643" y="3898796"/>
            <a:chExt cx="820711" cy="77813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26EEDE7-B9C0-4366-18B6-40C6F8FDF780}"/>
                </a:ext>
              </a:extLst>
            </p:cNvPr>
            <p:cNvCxnSpPr/>
            <p:nvPr/>
          </p:nvCxnSpPr>
          <p:spPr>
            <a:xfrm flipV="1">
              <a:off x="4354643" y="4152275"/>
              <a:ext cx="599606" cy="52465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69FDEB-1847-28F1-5CAD-42BDB3E368B3}"/>
                </a:ext>
              </a:extLst>
            </p:cNvPr>
            <p:cNvSpPr txBox="1"/>
            <p:nvPr/>
          </p:nvSpPr>
          <p:spPr>
            <a:xfrm>
              <a:off x="4913026" y="3898796"/>
              <a:ext cx="262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E7FB96-BB49-1D7D-DA92-33416ECF340F}"/>
              </a:ext>
            </a:extLst>
          </p:cNvPr>
          <p:cNvCxnSpPr>
            <a:cxnSpLocks/>
          </p:cNvCxnSpPr>
          <p:nvPr/>
        </p:nvCxnSpPr>
        <p:spPr>
          <a:xfrm flipH="1">
            <a:off x="1041816" y="1122092"/>
            <a:ext cx="186345" cy="245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D8FE52-364E-3A59-A10B-57C97A15785D}"/>
              </a:ext>
            </a:extLst>
          </p:cNvPr>
          <p:cNvCxnSpPr>
            <a:cxnSpLocks/>
          </p:cNvCxnSpPr>
          <p:nvPr/>
        </p:nvCxnSpPr>
        <p:spPr>
          <a:xfrm>
            <a:off x="1041816" y="1669610"/>
            <a:ext cx="350075" cy="167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876D63-2A30-DFD1-D5FA-20ED7917D40A}"/>
              </a:ext>
            </a:extLst>
          </p:cNvPr>
          <p:cNvCxnSpPr>
            <a:stCxn id="3" idx="3"/>
            <a:endCxn id="23" idx="1"/>
          </p:cNvCxnSpPr>
          <p:nvPr/>
        </p:nvCxnSpPr>
        <p:spPr>
          <a:xfrm flipV="1">
            <a:off x="1694699" y="674811"/>
            <a:ext cx="1809134" cy="83136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AE711CF-FB3D-42F0-0051-78C672951175}"/>
                  </a:ext>
                </a:extLst>
              </p:cNvPr>
              <p:cNvSpPr txBox="1"/>
              <p:nvPr/>
            </p:nvSpPr>
            <p:spPr>
              <a:xfrm>
                <a:off x="2264079" y="1790470"/>
                <a:ext cx="10147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AE711CF-FB3D-42F0-0051-78C672951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79" y="1790470"/>
                <a:ext cx="1014773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91A5A35-43C4-2ED3-4804-82B9B0479674}"/>
              </a:ext>
            </a:extLst>
          </p:cNvPr>
          <p:cNvCxnSpPr>
            <a:stCxn id="34" idx="0"/>
            <a:endCxn id="6" idx="1"/>
          </p:cNvCxnSpPr>
          <p:nvPr/>
        </p:nvCxnSpPr>
        <p:spPr>
          <a:xfrm flipV="1">
            <a:off x="2771466" y="1452554"/>
            <a:ext cx="690243" cy="33791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0F659A8-B0C8-6875-7E4E-7CEE1432526F}"/>
              </a:ext>
            </a:extLst>
          </p:cNvPr>
          <p:cNvSpPr txBox="1"/>
          <p:nvPr/>
        </p:nvSpPr>
        <p:spPr>
          <a:xfrm>
            <a:off x="355300" y="2834822"/>
            <a:ext cx="242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Pythagorean Theorem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9D8D16-7550-4B39-10E3-A917496113A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455033" y="2230297"/>
            <a:ext cx="575354" cy="11275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A0F845-4B56-F0CE-51F3-BDB4F1060908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495862" y="2230297"/>
            <a:ext cx="1000476" cy="1111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BAE127D-9FD9-7B8E-0623-5A3D87976263}"/>
              </a:ext>
            </a:extLst>
          </p:cNvPr>
          <p:cNvSpPr/>
          <p:nvPr/>
        </p:nvSpPr>
        <p:spPr>
          <a:xfrm>
            <a:off x="5711252" y="4275623"/>
            <a:ext cx="457148" cy="35617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E5C782-5735-FC12-5FEF-49A92FCEFC54}"/>
              </a:ext>
            </a:extLst>
          </p:cNvPr>
          <p:cNvSpPr/>
          <p:nvPr/>
        </p:nvSpPr>
        <p:spPr>
          <a:xfrm>
            <a:off x="754128" y="1330837"/>
            <a:ext cx="933076" cy="35617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9DEA61-47B1-0A81-047D-98A0FEF688F4}"/>
              </a:ext>
            </a:extLst>
          </p:cNvPr>
          <p:cNvSpPr/>
          <p:nvPr/>
        </p:nvSpPr>
        <p:spPr>
          <a:xfrm>
            <a:off x="3297486" y="5165158"/>
            <a:ext cx="274753" cy="24663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33FCFD-69D8-6AF2-6D49-C31B74A0402C}"/>
              </a:ext>
            </a:extLst>
          </p:cNvPr>
          <p:cNvSpPr/>
          <p:nvPr/>
        </p:nvSpPr>
        <p:spPr>
          <a:xfrm>
            <a:off x="3152097" y="4125574"/>
            <a:ext cx="505502" cy="6770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429CD6-CBC4-5AFF-074E-AA5B0C05E7B4}"/>
              </a:ext>
            </a:extLst>
          </p:cNvPr>
          <p:cNvSpPr/>
          <p:nvPr/>
        </p:nvSpPr>
        <p:spPr>
          <a:xfrm>
            <a:off x="3496338" y="386637"/>
            <a:ext cx="759624" cy="6644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B20A78-A996-EBD7-0F55-D25399A6030B}"/>
              </a:ext>
            </a:extLst>
          </p:cNvPr>
          <p:cNvSpPr/>
          <p:nvPr/>
        </p:nvSpPr>
        <p:spPr>
          <a:xfrm>
            <a:off x="3805807" y="5165158"/>
            <a:ext cx="196897" cy="24663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DB165F-0FD1-6DB1-ED0B-E954F4C4C36D}"/>
              </a:ext>
            </a:extLst>
          </p:cNvPr>
          <p:cNvSpPr txBox="1"/>
          <p:nvPr/>
        </p:nvSpPr>
        <p:spPr>
          <a:xfrm>
            <a:off x="5816184" y="5052075"/>
            <a:ext cx="1521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"Arc Length"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880750F-9BBD-12F5-6F91-3C2E4B14051D}"/>
              </a:ext>
            </a:extLst>
          </p:cNvPr>
          <p:cNvSpPr/>
          <p:nvPr/>
        </p:nvSpPr>
        <p:spPr>
          <a:xfrm>
            <a:off x="4459574" y="5719224"/>
            <a:ext cx="2181069" cy="726546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B6DB89-9106-CD6D-ACCE-6EAAD73E5C50}"/>
              </a:ext>
            </a:extLst>
          </p:cNvPr>
          <p:cNvCxnSpPr/>
          <p:nvPr/>
        </p:nvCxnSpPr>
        <p:spPr>
          <a:xfrm>
            <a:off x="659567" y="4009869"/>
            <a:ext cx="1836295" cy="1155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BCB6074-A207-B8CE-3206-008A022FA50A}"/>
              </a:ext>
            </a:extLst>
          </p:cNvPr>
          <p:cNvSpPr txBox="1"/>
          <p:nvPr/>
        </p:nvSpPr>
        <p:spPr>
          <a:xfrm>
            <a:off x="1793345" y="5691136"/>
            <a:ext cx="252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The </a:t>
            </a:r>
            <a:r>
              <a:rPr lang="en-US" sz="1600" b="1" dirty="0">
                <a:solidFill>
                  <a:srgbClr val="7030A0"/>
                </a:solidFill>
              </a:rPr>
              <a:t>arc length integral</a:t>
            </a:r>
          </a:p>
          <a:p>
            <a:pPr algn="ctr"/>
            <a:r>
              <a:rPr lang="en-US" sz="1600" dirty="0">
                <a:solidFill>
                  <a:srgbClr val="7030A0"/>
                </a:solidFill>
              </a:rPr>
              <a:t>(total distance travelled) along this Archimedes Spiral</a:t>
            </a:r>
          </a:p>
        </p:txBody>
      </p:sp>
    </p:spTree>
    <p:extLst>
      <p:ext uri="{BB962C8B-B14F-4D97-AF65-F5344CB8AC3E}">
        <p14:creationId xmlns:p14="http://schemas.microsoft.com/office/powerpoint/2010/main" val="341584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12" grpId="0"/>
      <p:bldP spid="14" grpId="0"/>
      <p:bldP spid="15" grpId="0"/>
      <p:bldP spid="16" grpId="0" animBg="1"/>
      <p:bldP spid="23" grpId="0"/>
      <p:bldP spid="24" grpId="0"/>
      <p:bldP spid="34" grpId="0"/>
      <p:bldP spid="37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/>
      <p:bldP spid="51" grpId="0" animBg="1"/>
      <p:bldP spid="2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57AA-1DE4-BD12-9DEA-7A9DE896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D719-E33E-E50A-3E8B-3F979CB8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archimedes_spiral.py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810C3-9EDA-B980-1C86-988A7281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18B15-7DF5-1147-E0D8-6DD75E841C80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970B2B-9A1A-C0FB-A77E-39D75622EE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81" y="1690689"/>
            <a:ext cx="6895238" cy="451428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47AA8C9-E446-881A-29C6-ADA8DB2B895E}"/>
              </a:ext>
            </a:extLst>
          </p:cNvPr>
          <p:cNvGrpSpPr/>
          <p:nvPr/>
        </p:nvGrpSpPr>
        <p:grpSpPr>
          <a:xfrm>
            <a:off x="4351368" y="2169213"/>
            <a:ext cx="1076632" cy="369332"/>
            <a:chOff x="4968362" y="2079211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8002509-3150-929A-1AF9-CEC91D6D86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A1FDF4-BD9D-0B8A-01EE-B01EF9554733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54FEA57-F4BF-5201-B9C0-562CDAE562F0}"/>
              </a:ext>
            </a:extLst>
          </p:cNvPr>
          <p:cNvSpPr txBox="1"/>
          <p:nvPr/>
        </p:nvSpPr>
        <p:spPr>
          <a:xfrm>
            <a:off x="5297285" y="2183131"/>
            <a:ext cx="2189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A numerical integrator</a:t>
            </a:r>
            <a:endParaRPr lang="en-US" sz="1400" b="1" dirty="0">
              <a:solidFill>
                <a:srgbClr val="FFFF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BF27A5-D73A-0D3A-382F-03C963790F67}"/>
              </a:ext>
            </a:extLst>
          </p:cNvPr>
          <p:cNvGrpSpPr/>
          <p:nvPr/>
        </p:nvGrpSpPr>
        <p:grpSpPr>
          <a:xfrm>
            <a:off x="3019869" y="2847628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CDEA86A-4FCE-9D17-B48D-1F7B2EBCE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0722A3-66DA-6C53-A933-8778B8D2B3D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F08784-1F86-6434-4383-C5325C89322F}"/>
              </a:ext>
            </a:extLst>
          </p:cNvPr>
          <p:cNvGrpSpPr/>
          <p:nvPr/>
        </p:nvGrpSpPr>
        <p:grpSpPr>
          <a:xfrm>
            <a:off x="5350037" y="3546416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2AF62C-9AD8-ACDF-812A-67BF4824E28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F56AF54-8C3A-03DD-CA96-330824ECD5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00E5FF1-9DA9-1F98-E5A6-D8E9B896B5A4}"/>
              </a:ext>
            </a:extLst>
          </p:cNvPr>
          <p:cNvSpPr/>
          <p:nvPr/>
        </p:nvSpPr>
        <p:spPr>
          <a:xfrm>
            <a:off x="3364211" y="3607943"/>
            <a:ext cx="902989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A8D2198-1FD5-EC6D-7361-69BC92F2D57B}"/>
              </a:ext>
            </a:extLst>
          </p:cNvPr>
          <p:cNvGrpSpPr/>
          <p:nvPr/>
        </p:nvGrpSpPr>
        <p:grpSpPr>
          <a:xfrm>
            <a:off x="3683175" y="3849470"/>
            <a:ext cx="1064340" cy="369332"/>
            <a:chOff x="3647644" y="5421073"/>
            <a:chExt cx="1064340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FEDEB5-C9CF-D000-6F6D-4CE4A4EA666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CF9CD6E-7A32-CF98-54EA-3FCF160D8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BB9F56-E4AE-C7A4-BF4E-15A90B4A3FEE}"/>
              </a:ext>
            </a:extLst>
          </p:cNvPr>
          <p:cNvGrpSpPr/>
          <p:nvPr/>
        </p:nvGrpSpPr>
        <p:grpSpPr>
          <a:xfrm>
            <a:off x="5437571" y="4466616"/>
            <a:ext cx="1068643" cy="369332"/>
            <a:chOff x="3647644" y="5359159"/>
            <a:chExt cx="1068643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8331A66-7A67-1002-3502-B057AAFECFD2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F2ABD46-6E5F-FBE1-FFDA-11CE1F9DB8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6A9F20-A703-EC4D-4ED5-7914D01325A4}"/>
              </a:ext>
            </a:extLst>
          </p:cNvPr>
          <p:cNvGrpSpPr/>
          <p:nvPr/>
        </p:nvGrpSpPr>
        <p:grpSpPr>
          <a:xfrm>
            <a:off x="5059675" y="5128212"/>
            <a:ext cx="1076632" cy="369332"/>
            <a:chOff x="2157212" y="5356391"/>
            <a:chExt cx="1076632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1C0BF1F-5EED-EC06-7BF3-21D682E5419C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9CB3775-B858-7EE2-075F-7955B2484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0B020DC7-A48D-150E-3AB4-C8652E5B63E6}"/>
              </a:ext>
            </a:extLst>
          </p:cNvPr>
          <p:cNvSpPr/>
          <p:nvPr/>
        </p:nvSpPr>
        <p:spPr>
          <a:xfrm>
            <a:off x="2722534" y="5207796"/>
            <a:ext cx="641678" cy="22618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D1EE1D1-1A12-7B11-8ADD-9E3087D31041}"/>
              </a:ext>
            </a:extLst>
          </p:cNvPr>
          <p:cNvGrpSpPr/>
          <p:nvPr/>
        </p:nvGrpSpPr>
        <p:grpSpPr>
          <a:xfrm>
            <a:off x="3459554" y="5594706"/>
            <a:ext cx="1076632" cy="369332"/>
            <a:chOff x="2157212" y="5356391"/>
            <a:chExt cx="1076632" cy="3693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95C8F0B-5930-E82D-D076-182DA7A3BD4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D70629C-F75F-5FF1-081D-265CD04936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7470DF9F-8C55-C189-7986-2E97AD7EA128}"/>
              </a:ext>
            </a:extLst>
          </p:cNvPr>
          <p:cNvSpPr/>
          <p:nvPr/>
        </p:nvSpPr>
        <p:spPr>
          <a:xfrm>
            <a:off x="2904662" y="5895100"/>
            <a:ext cx="1245889" cy="22618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A7BB320-B1F3-D273-FF1B-CED5186DB4CD}"/>
              </a:ext>
            </a:extLst>
          </p:cNvPr>
          <p:cNvSpPr/>
          <p:nvPr/>
        </p:nvSpPr>
        <p:spPr>
          <a:xfrm>
            <a:off x="4220780" y="5895100"/>
            <a:ext cx="2011578" cy="22618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C42AFC6-54F7-E6CE-9519-2728C95C4BB7}"/>
              </a:ext>
            </a:extLst>
          </p:cNvPr>
          <p:cNvSpPr/>
          <p:nvPr/>
        </p:nvSpPr>
        <p:spPr>
          <a:xfrm>
            <a:off x="6383946" y="5895100"/>
            <a:ext cx="1180587" cy="22618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FE74D7-8B4F-C671-DC19-999513B0DD59}"/>
              </a:ext>
            </a:extLst>
          </p:cNvPr>
          <p:cNvSpPr/>
          <p:nvPr/>
        </p:nvSpPr>
        <p:spPr>
          <a:xfrm>
            <a:off x="7624784" y="5895100"/>
            <a:ext cx="308038" cy="226184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D8792D25-C9A8-26B2-B82C-11780138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842" y="5044447"/>
            <a:ext cx="2017951" cy="6218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5CEE30B-B35E-2868-0953-DC3C4222057F}"/>
                  </a:ext>
                </a:extLst>
              </p:cNvPr>
              <p:cNvSpPr txBox="1"/>
              <p:nvPr/>
            </p:nvSpPr>
            <p:spPr>
              <a:xfrm>
                <a:off x="6689183" y="4367093"/>
                <a:ext cx="1447704" cy="52597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5CEE30B-B35E-2868-0953-DC3C42220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183" y="4367093"/>
                <a:ext cx="1447704" cy="525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>
            <a:extLst>
              <a:ext uri="{FF2B5EF4-FFF2-40B4-BE49-F238E27FC236}">
                <a16:creationId xmlns:a16="http://schemas.microsoft.com/office/drawing/2014/main" id="{4640DB00-61F8-290B-F6EE-65A1DC9E9777}"/>
              </a:ext>
            </a:extLst>
          </p:cNvPr>
          <p:cNvSpPr/>
          <p:nvPr/>
        </p:nvSpPr>
        <p:spPr>
          <a:xfrm>
            <a:off x="3835003" y="2245735"/>
            <a:ext cx="458392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2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  <p:bldP spid="32" grpId="0" animBg="1"/>
      <p:bldP spid="69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7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A908-BF1D-6381-ED8C-0BEAA9B3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7955-15A5-352B-EA76-1194B963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archimedes_spiral.py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81D4-1FA7-CE68-3AE1-457C6659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73656-745F-1343-C90D-BD3E08E9D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09" y="1758878"/>
            <a:ext cx="6952381" cy="419047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715B65B-B4E8-5059-0FD7-801140C46B7B}"/>
              </a:ext>
            </a:extLst>
          </p:cNvPr>
          <p:cNvGrpSpPr/>
          <p:nvPr/>
        </p:nvGrpSpPr>
        <p:grpSpPr>
          <a:xfrm>
            <a:off x="6473083" y="2380820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8D80F98-98FD-E030-D40B-B113F17B4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8678C1-747D-A316-073B-7B77E9AE8479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826554A-222E-FED9-13ED-70AA8C84B117}"/>
              </a:ext>
            </a:extLst>
          </p:cNvPr>
          <p:cNvGrpSpPr/>
          <p:nvPr/>
        </p:nvGrpSpPr>
        <p:grpSpPr>
          <a:xfrm>
            <a:off x="6285902" y="2625655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9E86C0B-6966-9D8A-704A-202A949E0D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5D728D-4135-BCEB-B30F-6B4BF76ABC4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A2F0BB-2682-5633-0637-0DF1B8D8AB8E}"/>
              </a:ext>
            </a:extLst>
          </p:cNvPr>
          <p:cNvGrpSpPr/>
          <p:nvPr/>
        </p:nvGrpSpPr>
        <p:grpSpPr>
          <a:xfrm>
            <a:off x="4134796" y="3532910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C481A1-200D-14B3-B95D-8EE68AC0F1F7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0C12BB1-7B57-8567-8ADE-E311F8AC5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17E16B8-12D0-0D38-FD0C-08FAF560536C}"/>
              </a:ext>
            </a:extLst>
          </p:cNvPr>
          <p:cNvSpPr/>
          <p:nvPr/>
        </p:nvSpPr>
        <p:spPr>
          <a:xfrm>
            <a:off x="2281369" y="3613992"/>
            <a:ext cx="1737178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D07676-2A56-560A-1AD2-C449E7C0C4BA}"/>
              </a:ext>
            </a:extLst>
          </p:cNvPr>
          <p:cNvGrpSpPr/>
          <p:nvPr/>
        </p:nvGrpSpPr>
        <p:grpSpPr>
          <a:xfrm>
            <a:off x="3856514" y="3769724"/>
            <a:ext cx="1064340" cy="369332"/>
            <a:chOff x="3647644" y="5421073"/>
            <a:chExt cx="1064340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64EBD9F-4CA4-7E93-06DD-B80B7B7ABD8B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204AE52-9F54-0AC3-32AC-F5F068AC6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4C7CB1E-C3DB-8BBA-EF44-DD0B7C9F7DBD}"/>
              </a:ext>
            </a:extLst>
          </p:cNvPr>
          <p:cNvSpPr txBox="1"/>
          <p:nvPr/>
        </p:nvSpPr>
        <p:spPr>
          <a:xfrm>
            <a:off x="5138945" y="3401984"/>
            <a:ext cx="2505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No Cartesian coordinates required, just radius and angle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5C19A0-FDC7-CC00-B8F6-3D8222E271AF}"/>
              </a:ext>
            </a:extLst>
          </p:cNvPr>
          <p:cNvSpPr txBox="1"/>
          <p:nvPr/>
        </p:nvSpPr>
        <p:spPr>
          <a:xfrm>
            <a:off x="3415750" y="3992921"/>
            <a:ext cx="1438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FFFF00"/>
                </a:solidFill>
              </a:rPr>
              <a:t>lw</a:t>
            </a:r>
            <a:r>
              <a:rPr lang="en-US" sz="1400" dirty="0">
                <a:solidFill>
                  <a:srgbClr val="FFFF00"/>
                </a:solidFill>
              </a:rPr>
              <a:t> = line width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98F7BC-E390-271E-3383-0BCCEE688451}"/>
              </a:ext>
            </a:extLst>
          </p:cNvPr>
          <p:cNvSpPr/>
          <p:nvPr/>
        </p:nvSpPr>
        <p:spPr>
          <a:xfrm>
            <a:off x="1717806" y="4522591"/>
            <a:ext cx="239331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2EDD25-EA3A-152D-4A17-B6F750049D30}"/>
              </a:ext>
            </a:extLst>
          </p:cNvPr>
          <p:cNvSpPr txBox="1"/>
          <p:nvPr/>
        </p:nvSpPr>
        <p:spPr>
          <a:xfrm>
            <a:off x="5690972" y="4472285"/>
            <a:ext cx="1795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\n = newline char</a:t>
            </a:r>
            <a:endParaRPr lang="en-US" sz="1400" b="1" dirty="0">
              <a:solidFill>
                <a:srgbClr val="FFFF00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791675-136E-3779-BB6B-4A2F451C9F4A}"/>
              </a:ext>
            </a:extLst>
          </p:cNvPr>
          <p:cNvGrpSpPr/>
          <p:nvPr/>
        </p:nvGrpSpPr>
        <p:grpSpPr>
          <a:xfrm>
            <a:off x="4867792" y="4451349"/>
            <a:ext cx="1068643" cy="369332"/>
            <a:chOff x="3647644" y="5359159"/>
            <a:chExt cx="106864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249606C-BE8F-6292-6762-489FCC4EA908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DBA8E08-496F-4E0A-E477-BD3679435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5E10250-8C1F-1AC7-2FAF-3E3383946A8B}"/>
              </a:ext>
            </a:extLst>
          </p:cNvPr>
          <p:cNvGrpSpPr/>
          <p:nvPr/>
        </p:nvGrpSpPr>
        <p:grpSpPr>
          <a:xfrm>
            <a:off x="3954216" y="4901313"/>
            <a:ext cx="1076632" cy="369332"/>
            <a:chOff x="2157212" y="5356391"/>
            <a:chExt cx="1076632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DDC203E-BE1A-F1FE-B39F-3460138F98B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18D9E81-87D5-8D71-C060-291F6D27C1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0D5CC3-6AB5-F6CF-FE2D-8989F334023F}"/>
              </a:ext>
            </a:extLst>
          </p:cNvPr>
          <p:cNvGrpSpPr/>
          <p:nvPr/>
        </p:nvGrpSpPr>
        <p:grpSpPr>
          <a:xfrm>
            <a:off x="2915028" y="5358506"/>
            <a:ext cx="1076632" cy="369332"/>
            <a:chOff x="2157212" y="5356391"/>
            <a:chExt cx="107663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BDC911-875E-E52A-7EB0-DC73A3B047B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B0642D7-EA70-E294-80E7-1841BDA7F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B0C807-D9D5-5069-4D6C-034B94C79A96}"/>
              </a:ext>
            </a:extLst>
          </p:cNvPr>
          <p:cNvGrpSpPr/>
          <p:nvPr/>
        </p:nvGrpSpPr>
        <p:grpSpPr>
          <a:xfrm>
            <a:off x="2175278" y="5605366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DD1A808-E7B3-3F3F-0D3B-175F53BD71C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56C4311-AD42-7DE5-D02E-FC65DA38C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E146978C-114B-A4BE-CBED-F7A5FD0AFDC7}"/>
              </a:ext>
            </a:extLst>
          </p:cNvPr>
          <p:cNvSpPr/>
          <p:nvPr/>
        </p:nvSpPr>
        <p:spPr>
          <a:xfrm>
            <a:off x="4352447" y="2478167"/>
            <a:ext cx="1737178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71884FC-FC1C-EAA4-442D-856B3488702A}"/>
              </a:ext>
            </a:extLst>
          </p:cNvPr>
          <p:cNvSpPr/>
          <p:nvPr/>
        </p:nvSpPr>
        <p:spPr>
          <a:xfrm>
            <a:off x="4352447" y="2693941"/>
            <a:ext cx="1434980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9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/>
      <p:bldP spid="41" grpId="0"/>
      <p:bldP spid="45" grpId="0" animBg="1"/>
      <p:bldP spid="46" grpId="0"/>
      <p:bldP spid="59" grpId="0" animBg="1"/>
      <p:bldP spid="6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FFDF-BBA5-17E3-F992-8978109F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2E7A8D-7E6B-B801-107A-6FE375D3BC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63" y="1473350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03C221-CCCD-1850-14AE-07254F47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archimedes_spiral.py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0E35E-EB16-2C4E-3571-FB440BDCF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2D6338-EC97-3D30-A83F-AC9F4EEF2B99}"/>
                  </a:ext>
                </a:extLst>
              </p:cNvPr>
              <p:cNvSpPr txBox="1"/>
              <p:nvPr/>
            </p:nvSpPr>
            <p:spPr>
              <a:xfrm>
                <a:off x="4966509" y="4362303"/>
                <a:ext cx="3822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2D6338-EC97-3D30-A83F-AC9F4EEF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509" y="4362303"/>
                <a:ext cx="38224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9E181-60B0-9011-4A04-058218711186}"/>
                  </a:ext>
                </a:extLst>
              </p:cNvPr>
              <p:cNvSpPr txBox="1"/>
              <p:nvPr/>
            </p:nvSpPr>
            <p:spPr>
              <a:xfrm>
                <a:off x="5348758" y="4362303"/>
                <a:ext cx="3822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9E181-60B0-9011-4A04-058218711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758" y="4362303"/>
                <a:ext cx="38224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E267A4-2B80-D656-CFD8-DBF83379CAFA}"/>
                  </a:ext>
                </a:extLst>
              </p:cNvPr>
              <p:cNvSpPr txBox="1"/>
              <p:nvPr/>
            </p:nvSpPr>
            <p:spPr>
              <a:xfrm>
                <a:off x="5768561" y="4362303"/>
                <a:ext cx="3822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E267A4-2B80-D656-CFD8-DBF83379C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561" y="4362303"/>
                <a:ext cx="38224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039142-AB50-9C7B-46EA-0D8ECCBE430A}"/>
                  </a:ext>
                </a:extLst>
              </p:cNvPr>
              <p:cNvSpPr txBox="1"/>
              <p:nvPr/>
            </p:nvSpPr>
            <p:spPr>
              <a:xfrm>
                <a:off x="6075701" y="4304784"/>
                <a:ext cx="3822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1400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1039142-AB50-9C7B-46EA-0D8ECCBE4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701" y="4304784"/>
                <a:ext cx="38224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06CAF04-3CB2-14E9-C9B4-8948462855C1}"/>
              </a:ext>
            </a:extLst>
          </p:cNvPr>
          <p:cNvGrpSpPr/>
          <p:nvPr/>
        </p:nvGrpSpPr>
        <p:grpSpPr>
          <a:xfrm>
            <a:off x="5862482" y="2367107"/>
            <a:ext cx="1076632" cy="369332"/>
            <a:chOff x="4968362" y="2079211"/>
            <a:chExt cx="1076632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58B51DB-5F9E-CA8C-DA21-D9CE5029C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8B3487-7633-7B5B-5AFC-FD3DC089BCB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A0B05E46-5D7B-C6E8-0DBC-9ECA23D06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637" y="2979720"/>
            <a:ext cx="4181292" cy="89855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0F9E87F-DE5D-A207-EEA0-56518D0293D2}"/>
              </a:ext>
            </a:extLst>
          </p:cNvPr>
          <p:cNvSpPr/>
          <p:nvPr/>
        </p:nvSpPr>
        <p:spPr>
          <a:xfrm>
            <a:off x="6315075" y="3312319"/>
            <a:ext cx="333999" cy="509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2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2" grpId="0"/>
      <p:bldP spid="23" grpId="0"/>
      <p:bldP spid="3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 Using Polar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you to plot </a:t>
                </a:r>
                <a:r>
                  <a:rPr lang="en-US" sz="2400" u="sng" dirty="0"/>
                  <a:t>three</a:t>
                </a:r>
                <a:r>
                  <a:rPr lang="en-US" sz="2400" dirty="0"/>
                  <a:t> </a:t>
                </a:r>
                <a:r>
                  <a:rPr lang="en-US" sz="2400" b="1" dirty="0"/>
                  <a:t>parametric curves</a:t>
                </a:r>
                <a:r>
                  <a:rPr lang="en-US" sz="2400" dirty="0"/>
                  <a:t> using the built-in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polar graph </a:t>
                </a:r>
                <a:r>
                  <a:rPr lang="en-US" sz="2400" dirty="0"/>
                  <a:t>capability of matplotlib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=4+4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000" b="1" dirty="0">
                  <a:solidFill>
                    <a:srgbClr val="0070C0"/>
                  </a:solidFill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Use </a:t>
                </a:r>
                <a:r>
                  <a:rPr lang="en-US" sz="2400" b="1" dirty="0"/>
                  <a:t>1,000</a:t>
                </a:r>
                <a:r>
                  <a:rPr lang="en-US" sz="2400" dirty="0"/>
                  <a:t> radian intervals between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Before the computer shows the plots, can you predict ahead of time what each curve will look like?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Developing a </a:t>
                </a:r>
                <a:r>
                  <a:rPr lang="en-US" sz="2400" b="1" dirty="0"/>
                  <a:t>visual intuition</a:t>
                </a:r>
                <a:r>
                  <a:rPr lang="en-US" sz="2400" dirty="0"/>
                  <a:t> for how functions behave is a very valuable skill that will aid you in future math classes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  <a:blipFill>
                <a:blip r:embed="rId3"/>
                <a:stretch>
                  <a:fillRect l="-1005" t="-1889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3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2697-5F01-04B0-3FA6-CFA369E8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BC01-65DD-075A-551D-F6B6D461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B733B-59B4-1632-8588-BCA2D49D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235FA-3467-2A80-6DB9-F90E3B90F156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75F2C-EAC5-10B8-1EC3-14913FEAB4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71" y="1690689"/>
            <a:ext cx="8542857" cy="389523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AC2FBA-88F3-98FE-AB01-8D74A6A154D2}"/>
              </a:ext>
            </a:extLst>
          </p:cNvPr>
          <p:cNvGrpSpPr/>
          <p:nvPr/>
        </p:nvGrpSpPr>
        <p:grpSpPr>
          <a:xfrm>
            <a:off x="3156232" y="1642563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127B0D1-550D-3931-1A15-5196D6277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2C6EA5-45F9-6B33-8E39-6999A42B2EF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2A30FE-757A-C20D-7110-4F06B36B6850}"/>
              </a:ext>
            </a:extLst>
          </p:cNvPr>
          <p:cNvGrpSpPr/>
          <p:nvPr/>
        </p:nvGrpSpPr>
        <p:grpSpPr>
          <a:xfrm>
            <a:off x="5827244" y="3017251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2D361C-AAB5-F970-A67F-C28B8A2C78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3EC7E4-7348-32D0-AF3D-FD4E3CDB493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88042-147B-067A-1004-C7735440B1BA}"/>
              </a:ext>
            </a:extLst>
          </p:cNvPr>
          <p:cNvSpPr/>
          <p:nvPr/>
        </p:nvSpPr>
        <p:spPr>
          <a:xfrm>
            <a:off x="3384884" y="3098333"/>
            <a:ext cx="502808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5DE27E-95D5-F6DE-87CC-17403B51DB48}"/>
              </a:ext>
            </a:extLst>
          </p:cNvPr>
          <p:cNvGrpSpPr/>
          <p:nvPr/>
        </p:nvGrpSpPr>
        <p:grpSpPr>
          <a:xfrm>
            <a:off x="5130090" y="3244334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F3AC0AC-18BB-1126-9FED-1B4E766EAC3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E704E63-C057-C32A-5708-BC2783C2E3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620AC87-1019-1F85-9BD0-DCA6369DBC7A}"/>
              </a:ext>
            </a:extLst>
          </p:cNvPr>
          <p:cNvSpPr/>
          <p:nvPr/>
        </p:nvSpPr>
        <p:spPr>
          <a:xfrm>
            <a:off x="2485394" y="3327557"/>
            <a:ext cx="693173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4A4CA0-9B0E-69C8-A4C3-CA14C0EE2F45}"/>
              </a:ext>
            </a:extLst>
          </p:cNvPr>
          <p:cNvSpPr/>
          <p:nvPr/>
        </p:nvSpPr>
        <p:spPr>
          <a:xfrm>
            <a:off x="3735559" y="4473019"/>
            <a:ext cx="4943220" cy="2071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E4A085-14FE-2CB8-A624-9AD7737ACFFB}"/>
              </a:ext>
            </a:extLst>
          </p:cNvPr>
          <p:cNvGrpSpPr/>
          <p:nvPr/>
        </p:nvGrpSpPr>
        <p:grpSpPr>
          <a:xfrm>
            <a:off x="1183055" y="3654350"/>
            <a:ext cx="1064340" cy="369332"/>
            <a:chOff x="3647644" y="5421073"/>
            <a:chExt cx="1064340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7643ED-F630-8FDE-C7A7-B003EDF906B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76FDB62-6BC0-CAEC-CD8C-2B991C1B93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676995-2E2D-AF42-DAE0-2F0A9B66080F}"/>
              </a:ext>
            </a:extLst>
          </p:cNvPr>
          <p:cNvGrpSpPr/>
          <p:nvPr/>
        </p:nvGrpSpPr>
        <p:grpSpPr>
          <a:xfrm>
            <a:off x="1183055" y="5264721"/>
            <a:ext cx="1068643" cy="369332"/>
            <a:chOff x="3647644" y="5359159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3B4738-C549-05F6-89D8-9CF85DA643B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BCE165E-501D-6425-0468-093B685FA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392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 animBg="1"/>
      <p:bldP spid="21" grpId="0" animBg="1"/>
      <p:bldP spid="2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166A-567B-FF68-75E9-F31AD306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5E6DCFF-5D9E-1CE8-9A8F-C8BEA0298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706" y="1665811"/>
            <a:ext cx="6626589" cy="38336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756AE7-B2FF-DA2B-923B-EFEFC450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AEAC1-68C6-BA95-A750-C6C501AB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F52405-953F-E5B0-C40D-DC3C8B2031D2}"/>
              </a:ext>
            </a:extLst>
          </p:cNvPr>
          <p:cNvGrpSpPr>
            <a:grpSpLocks/>
          </p:cNvGrpSpPr>
          <p:nvPr/>
        </p:nvGrpSpPr>
        <p:grpSpPr>
          <a:xfrm>
            <a:off x="6397514" y="1669941"/>
            <a:ext cx="1076632" cy="369332"/>
            <a:chOff x="4968362" y="2079211"/>
            <a:chExt cx="10766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DAC67D-19F2-3556-E2E3-BC087DB743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950D24-DF86-3425-4844-08B444BD06B2}"/>
                </a:ext>
              </a:extLst>
            </p:cNvPr>
            <p:cNvSpPr txBox="1">
              <a:spLocks/>
            </p:cNvSpPr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F8F39FB-321E-55F5-9853-261871D57B6A}"/>
              </a:ext>
            </a:extLst>
          </p:cNvPr>
          <p:cNvSpPr>
            <a:spLocks/>
          </p:cNvSpPr>
          <p:nvPr/>
        </p:nvSpPr>
        <p:spPr>
          <a:xfrm>
            <a:off x="3540666" y="1731424"/>
            <a:ext cx="1178972" cy="2463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1A2D97-83AB-DD02-F33E-E3CD9E7FEE56}"/>
              </a:ext>
            </a:extLst>
          </p:cNvPr>
          <p:cNvGrpSpPr>
            <a:grpSpLocks/>
          </p:cNvGrpSpPr>
          <p:nvPr/>
        </p:nvGrpSpPr>
        <p:grpSpPr>
          <a:xfrm>
            <a:off x="6744101" y="1977791"/>
            <a:ext cx="1076632" cy="369332"/>
            <a:chOff x="4704120" y="2356972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1EFCAA1-CFDC-DC69-3F6E-A3D74D35F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829310-6C54-8BED-F9F9-86E73DCB340B}"/>
                </a:ext>
              </a:extLst>
            </p:cNvPr>
            <p:cNvSpPr txBox="1">
              <a:spLocks/>
            </p:cNvSpPr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225A2BC-1481-ADC7-AADA-26C2C4AE708E}"/>
              </a:ext>
            </a:extLst>
          </p:cNvPr>
          <p:cNvSpPr>
            <a:spLocks/>
          </p:cNvSpPr>
          <p:nvPr/>
        </p:nvSpPr>
        <p:spPr>
          <a:xfrm>
            <a:off x="4902864" y="1737468"/>
            <a:ext cx="1397924" cy="2463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E24945-35A4-CC94-159D-D015408F4C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16928" y="2341720"/>
                <a:ext cx="23581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=4+4</m:t>
                      </m:r>
                      <m:func>
                        <m:funcPr>
                          <m:ctrlP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E24945-35A4-CC94-159D-D015408F4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928" y="2341720"/>
                <a:ext cx="23581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AFAFA5-BA0E-6871-2497-B9B47A9BA3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16928" y="3564534"/>
                <a:ext cx="2638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DAFAFA5-BA0E-6871-2497-B9B47A9BA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928" y="3564534"/>
                <a:ext cx="263892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189E83-C12A-295E-3D5B-1EA4389EDD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16927" y="4799882"/>
                <a:ext cx="2358189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189E83-C12A-295E-3D5B-1EA4389ED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927" y="4799882"/>
                <a:ext cx="2358189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10B7477-5678-52F0-8EBA-4643D9454A2B}"/>
              </a:ext>
            </a:extLst>
          </p:cNvPr>
          <p:cNvGrpSpPr>
            <a:grpSpLocks/>
          </p:cNvGrpSpPr>
          <p:nvPr/>
        </p:nvGrpSpPr>
        <p:grpSpPr>
          <a:xfrm>
            <a:off x="6450214" y="2933962"/>
            <a:ext cx="1068643" cy="369332"/>
            <a:chOff x="3647644" y="4910075"/>
            <a:chExt cx="1068643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909CEF8-BEA1-E12E-8C67-D57E77B65A89}"/>
                </a:ext>
              </a:extLst>
            </p:cNvPr>
            <p:cNvSpPr txBox="1">
              <a:spLocks/>
            </p:cNvSpPr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F2A0191-DFE5-6CDA-4D42-2FD08AF6A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1D3587-95B3-1475-F71C-7F855BB57619}"/>
              </a:ext>
            </a:extLst>
          </p:cNvPr>
          <p:cNvGrpSpPr>
            <a:grpSpLocks/>
          </p:cNvGrpSpPr>
          <p:nvPr/>
        </p:nvGrpSpPr>
        <p:grpSpPr>
          <a:xfrm>
            <a:off x="6451444" y="4205603"/>
            <a:ext cx="1064340" cy="369332"/>
            <a:chOff x="3647644" y="5421073"/>
            <a:chExt cx="1064340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E49692-FCDD-BBD6-C1C2-57B5F7AC89C1}"/>
                </a:ext>
              </a:extLst>
            </p:cNvPr>
            <p:cNvSpPr txBox="1">
              <a:spLocks/>
            </p:cNvSpPr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D3551E2-A906-E0BB-27BE-9E5270235C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7C9FC81-D3AA-FE9D-B2B5-A805C32986F1}"/>
              </a:ext>
            </a:extLst>
          </p:cNvPr>
          <p:cNvSpPr txBox="1"/>
          <p:nvPr/>
        </p:nvSpPr>
        <p:spPr>
          <a:xfrm>
            <a:off x="2233059" y="5684151"/>
            <a:ext cx="4973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Typing hinting </a:t>
            </a:r>
            <a:r>
              <a:rPr lang="en-US" dirty="0">
                <a:solidFill>
                  <a:srgbClr val="7030A0"/>
                </a:solidFill>
              </a:rPr>
              <a:t>is </a:t>
            </a:r>
            <a:r>
              <a:rPr lang="en-US" i="1" dirty="0">
                <a:solidFill>
                  <a:srgbClr val="7030A0"/>
                </a:solidFill>
              </a:rPr>
              <a:t>optional</a:t>
            </a:r>
            <a:r>
              <a:rPr lang="en-US" dirty="0">
                <a:solidFill>
                  <a:srgbClr val="7030A0"/>
                </a:solidFill>
              </a:rPr>
              <a:t> in Python, but it can help clarify whether a variable is a </a:t>
            </a:r>
            <a:r>
              <a:rPr lang="en-US" b="1" dirty="0">
                <a:solidFill>
                  <a:srgbClr val="7030A0"/>
                </a:solidFill>
              </a:rPr>
              <a:t>scalar</a:t>
            </a:r>
            <a:r>
              <a:rPr lang="en-US" dirty="0">
                <a:solidFill>
                  <a:srgbClr val="7030A0"/>
                </a:solidFill>
              </a:rPr>
              <a:t> or an </a:t>
            </a:r>
            <a:r>
              <a:rPr lang="en-US" b="1" dirty="0">
                <a:solidFill>
                  <a:srgbClr val="7030A0"/>
                </a:solidFill>
              </a:rPr>
              <a:t>array</a:t>
            </a:r>
            <a:r>
              <a:rPr lang="en-US" dirty="0">
                <a:solidFill>
                  <a:srgbClr val="7030A0"/>
                </a:solidFill>
              </a:rPr>
              <a:t>, and what </a:t>
            </a:r>
            <a:r>
              <a:rPr lang="en-US" u="sng" dirty="0">
                <a:solidFill>
                  <a:srgbClr val="7030A0"/>
                </a:solidFill>
              </a:rPr>
              <a:t>type</a:t>
            </a:r>
            <a:r>
              <a:rPr lang="en-US" dirty="0">
                <a:solidFill>
                  <a:srgbClr val="7030A0"/>
                </a:solidFill>
              </a:rPr>
              <a:t> of value a function will return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84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  <p:bldP spid="34" grpId="0"/>
      <p:bldP spid="35" grpId="0"/>
      <p:bldP spid="36" grpId="0"/>
      <p:bldP spid="4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43D7-C4BD-D483-0AF6-A95BFEBC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42C5BE9-B984-B183-CFEA-853744012B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1" y="1767373"/>
            <a:ext cx="7495238" cy="417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074AF8-3BB3-8A23-E159-75767166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A9D9C-02A4-7C02-E132-23CE4154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E7F6E5-01CD-A41E-D080-A587BB5BE6F9}"/>
              </a:ext>
            </a:extLst>
          </p:cNvPr>
          <p:cNvGrpSpPr/>
          <p:nvPr/>
        </p:nvGrpSpPr>
        <p:grpSpPr>
          <a:xfrm>
            <a:off x="3847593" y="5401153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91F8D8-7E28-16BB-E389-42733ABE4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095747-427F-631A-E10B-BBCA1F8427B1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E8D517-6B73-DAEE-9463-0A1CD7768318}"/>
              </a:ext>
            </a:extLst>
          </p:cNvPr>
          <p:cNvGrpSpPr/>
          <p:nvPr/>
        </p:nvGrpSpPr>
        <p:grpSpPr>
          <a:xfrm>
            <a:off x="2338087" y="5606320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0D13CA2-4755-8FAB-AE27-8311C61869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B31F42-B2A3-B2E5-4A92-608EE7BB130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F68824-018C-E76B-A21B-307A07BFEF4D}"/>
              </a:ext>
            </a:extLst>
          </p:cNvPr>
          <p:cNvGrpSpPr/>
          <p:nvPr/>
        </p:nvGrpSpPr>
        <p:grpSpPr>
          <a:xfrm>
            <a:off x="3169957" y="3801025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C45DE0-CED9-6CE9-764B-C9566C9C1E3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FC432DD-9F50-A067-564A-82DD15744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0404C-9A01-1C76-2890-EE090F406AAE}"/>
              </a:ext>
            </a:extLst>
          </p:cNvPr>
          <p:cNvGrpSpPr/>
          <p:nvPr/>
        </p:nvGrpSpPr>
        <p:grpSpPr>
          <a:xfrm>
            <a:off x="5462541" y="4245243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B8BED9-5AB2-5561-5100-D78E156DDE9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9DE1790-1FCE-3573-00ED-CC943E7767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3DF167-0037-E1D1-A399-027A9A9935BE}"/>
              </a:ext>
            </a:extLst>
          </p:cNvPr>
          <p:cNvGrpSpPr/>
          <p:nvPr/>
        </p:nvGrpSpPr>
        <p:grpSpPr>
          <a:xfrm>
            <a:off x="2524596" y="4475417"/>
            <a:ext cx="1068643" cy="369332"/>
            <a:chOff x="3647644" y="5359159"/>
            <a:chExt cx="1068643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FEB1D3-DB99-9898-07DF-43EAB12454B6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8D016A-A691-A269-C76C-CD00A0929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71BF8F-381D-B0A8-B622-361FE62F498C}"/>
              </a:ext>
            </a:extLst>
          </p:cNvPr>
          <p:cNvGrpSpPr/>
          <p:nvPr/>
        </p:nvGrpSpPr>
        <p:grpSpPr>
          <a:xfrm>
            <a:off x="5462541" y="1965300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B0ACB4-61EC-AED0-78BA-B6F2423E52C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1519A2E-3D0B-E8A1-3855-7B25EB633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16B5A2-C418-4816-D48D-A5856E4A0868}"/>
              </a:ext>
            </a:extLst>
          </p:cNvPr>
          <p:cNvGrpSpPr/>
          <p:nvPr/>
        </p:nvGrpSpPr>
        <p:grpSpPr>
          <a:xfrm>
            <a:off x="6926471" y="2179962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B5302B3-5577-97E0-B14D-65AD68F29E7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B57B74D-2F6C-75A3-A467-28A7C6CB90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F5609C-7DE0-6743-F693-F923C607518A}"/>
              </a:ext>
            </a:extLst>
          </p:cNvPr>
          <p:cNvGrpSpPr/>
          <p:nvPr/>
        </p:nvGrpSpPr>
        <p:grpSpPr>
          <a:xfrm>
            <a:off x="3909945" y="1730523"/>
            <a:ext cx="1076632" cy="369332"/>
            <a:chOff x="2157212" y="5356391"/>
            <a:chExt cx="1076632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591C5E5-1A1A-6298-C216-21F14A5438F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D3BACF9-4C70-2E6A-FF11-C71AE32DEB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6DB376-1C11-7B5B-3BB4-CC51E1FEACDF}"/>
              </a:ext>
            </a:extLst>
          </p:cNvPr>
          <p:cNvGrpSpPr/>
          <p:nvPr/>
        </p:nvGrpSpPr>
        <p:grpSpPr>
          <a:xfrm>
            <a:off x="4351238" y="2867485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40DFA7-5E1F-86D6-2CCE-5398CA6A2D0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15D3806-3A05-EFC2-A7CA-2D9D745C2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43C1A6-6E6A-41C4-94DC-05551195BC32}"/>
              </a:ext>
            </a:extLst>
          </p:cNvPr>
          <p:cNvGrpSpPr/>
          <p:nvPr/>
        </p:nvGrpSpPr>
        <p:grpSpPr>
          <a:xfrm>
            <a:off x="2700716" y="4678446"/>
            <a:ext cx="1076632" cy="369332"/>
            <a:chOff x="2157212" y="5356391"/>
            <a:chExt cx="1076632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11BC4C-89DF-AA22-FF08-BA80049C3E0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AE69B4E-B719-E622-2DC4-7419DB247B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EB7AFED-8F6E-292A-24AA-525F20D28D8F}"/>
              </a:ext>
            </a:extLst>
          </p:cNvPr>
          <p:cNvSpPr/>
          <p:nvPr/>
        </p:nvSpPr>
        <p:spPr>
          <a:xfrm>
            <a:off x="1709286" y="4322822"/>
            <a:ext cx="812934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8DB61C-5232-7C94-ECC4-C61D3AC6D5A7}"/>
              </a:ext>
            </a:extLst>
          </p:cNvPr>
          <p:cNvSpPr/>
          <p:nvPr/>
        </p:nvSpPr>
        <p:spPr>
          <a:xfrm>
            <a:off x="2729342" y="4322822"/>
            <a:ext cx="2698528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F0D280-2252-8FAB-DF6A-65E78654CA18}"/>
              </a:ext>
            </a:extLst>
          </p:cNvPr>
          <p:cNvSpPr/>
          <p:nvPr/>
        </p:nvSpPr>
        <p:spPr>
          <a:xfrm>
            <a:off x="1682015" y="2263856"/>
            <a:ext cx="730901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0DDCB0C-671F-6F84-EADF-E793FEBC7470}"/>
              </a:ext>
            </a:extLst>
          </p:cNvPr>
          <p:cNvSpPr/>
          <p:nvPr/>
        </p:nvSpPr>
        <p:spPr>
          <a:xfrm>
            <a:off x="1682015" y="2024187"/>
            <a:ext cx="573505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78BB9D-8EB4-2016-B679-2FD2364A4C06}"/>
                  </a:ext>
                </a:extLst>
              </p:cNvPr>
              <p:cNvSpPr txBox="1"/>
              <p:nvPr/>
            </p:nvSpPr>
            <p:spPr>
              <a:xfrm>
                <a:off x="6477539" y="1958446"/>
                <a:ext cx="13984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  <m:r>
                        <a:rPr lang="en-US" sz="1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78BB9D-8EB4-2016-B679-2FD2364A4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539" y="1958446"/>
                <a:ext cx="13984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00B1C-F64C-2733-6E18-7BA3F49FC2FB}"/>
              </a:ext>
            </a:extLst>
          </p:cNvPr>
          <p:cNvSpPr/>
          <p:nvPr/>
        </p:nvSpPr>
        <p:spPr>
          <a:xfrm>
            <a:off x="3106090" y="2263856"/>
            <a:ext cx="879170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48C387-5895-BD9A-C2A7-341E3D08DAB6}"/>
              </a:ext>
            </a:extLst>
          </p:cNvPr>
          <p:cNvSpPr/>
          <p:nvPr/>
        </p:nvSpPr>
        <p:spPr>
          <a:xfrm>
            <a:off x="1706302" y="2945386"/>
            <a:ext cx="1205340" cy="21656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6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5" grpId="0"/>
      <p:bldP spid="11" grpId="0" animBg="1"/>
      <p:bldP spid="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EC35-821B-243A-5884-7FD7CAEE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F36913-A9B7-EE52-F97A-0B068899C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19" y="1567095"/>
            <a:ext cx="7504762" cy="424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DC7E03-2FB1-6743-602B-3EA61A72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Matplotlib </a:t>
            </a:r>
            <a:r>
              <a:rPr lang="en-US" sz="3200" b="1" dirty="0">
                <a:solidFill>
                  <a:srgbClr val="00B050"/>
                </a:solidFill>
                <a:latin typeface="+mn-lt"/>
              </a:rPr>
              <a:t>plt</a:t>
            </a:r>
            <a:r>
              <a:rPr lang="en-US" sz="3200" dirty="0">
                <a:latin typeface="+mn-lt"/>
              </a:rPr>
              <a:t> versus 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axes</a:t>
            </a:r>
            <a:r>
              <a:rPr lang="en-US" sz="3200" dirty="0">
                <a:latin typeface="+mn-lt"/>
              </a:rPr>
              <a:t>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71DB0-FEB7-BD19-357F-7616185CF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CC3ED-9F51-B52A-A7A6-6863DBFD94D9}"/>
              </a:ext>
            </a:extLst>
          </p:cNvPr>
          <p:cNvSpPr txBox="1"/>
          <p:nvPr/>
        </p:nvSpPr>
        <p:spPr>
          <a:xfrm>
            <a:off x="1367590" y="5927717"/>
            <a:ext cx="6408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often call </a:t>
            </a:r>
            <a:r>
              <a:rPr lang="en-US" b="1" dirty="0" err="1">
                <a:solidFill>
                  <a:srgbClr val="00B050"/>
                </a:solidFill>
              </a:rPr>
              <a:t>plt.gca</a:t>
            </a:r>
            <a:r>
              <a:rPr lang="en-US" b="1" dirty="0">
                <a:solidFill>
                  <a:srgbClr val="00B050"/>
                </a:solidFill>
              </a:rPr>
              <a:t>() </a:t>
            </a:r>
            <a:r>
              <a:rPr lang="en-US" dirty="0"/>
              <a:t>to get the </a:t>
            </a:r>
            <a:r>
              <a:rPr lang="en-US" b="1" dirty="0">
                <a:solidFill>
                  <a:srgbClr val="0070C0"/>
                </a:solidFill>
              </a:rPr>
              <a:t>axes</a:t>
            </a:r>
            <a:r>
              <a:rPr lang="en-US" dirty="0"/>
              <a:t> object of</a:t>
            </a:r>
          </a:p>
          <a:p>
            <a:pPr algn="ctr"/>
            <a:r>
              <a:rPr lang="en-US" dirty="0"/>
              <a:t>the current plot to call the methods in the 2</a:t>
            </a:r>
            <a:r>
              <a:rPr lang="en-US" baseline="30000" dirty="0"/>
              <a:t>nd</a:t>
            </a:r>
            <a:r>
              <a:rPr lang="en-US" dirty="0"/>
              <a:t> column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EDDF10-6B07-F766-C27D-65DC8FA46796}"/>
              </a:ext>
            </a:extLst>
          </p:cNvPr>
          <p:cNvSpPr/>
          <p:nvPr/>
        </p:nvSpPr>
        <p:spPr>
          <a:xfrm>
            <a:off x="5646821" y="4347411"/>
            <a:ext cx="1443790" cy="3449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5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DA5A4-FC82-F13A-47AA-1B254C5B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201B46-AC42-A625-ADBB-47FBFF5C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69" y="1423520"/>
            <a:ext cx="6261862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33AC01-BB30-D30B-8B3E-7D40C192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BE1D0-A632-8F1E-5EC6-D87F6684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601672-0CC6-BB01-3C81-28FC5F55BB61}"/>
                  </a:ext>
                </a:extLst>
              </p:cNvPr>
              <p:cNvSpPr txBox="1"/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601672-0CC6-BB01-3C81-28FC5F55B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blipFill>
                <a:blip r:embed="rId3"/>
                <a:stretch>
                  <a:fillRect l="-4103" r="-4615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20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A93F-3AD4-C0B6-DD5F-B605601EE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EF0461-4CD0-6FEF-0734-D7C3DBC5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1" y="1767373"/>
            <a:ext cx="7495238" cy="417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8D8081-86D0-D079-7DAA-698B8C17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4755F-54A8-9514-58E7-99C36C23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88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B26401-9454-6346-0E93-DB33967293F4}"/>
              </a:ext>
            </a:extLst>
          </p:cNvPr>
          <p:cNvCxnSpPr/>
          <p:nvPr/>
        </p:nvCxnSpPr>
        <p:spPr>
          <a:xfrm>
            <a:off x="1243664" y="2594409"/>
            <a:ext cx="39303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EEB2CD-BC68-7E43-7E5D-5935820A4982}"/>
              </a:ext>
            </a:extLst>
          </p:cNvPr>
          <p:cNvSpPr txBox="1"/>
          <p:nvPr/>
        </p:nvSpPr>
        <p:spPr>
          <a:xfrm>
            <a:off x="5810450" y="1834816"/>
            <a:ext cx="23421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Uncomment line # 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D03B2-A991-7EF6-3021-63D8E23C617C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this code</a:t>
            </a:r>
          </a:p>
        </p:txBody>
      </p:sp>
    </p:spTree>
    <p:extLst>
      <p:ext uri="{BB962C8B-B14F-4D97-AF65-F5344CB8AC3E}">
        <p14:creationId xmlns:p14="http://schemas.microsoft.com/office/powerpoint/2010/main" val="145048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AF90-B287-1042-6132-6D98E3AA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CFFE1B-BC80-D2D7-EBF5-45506E79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70" y="1423520"/>
            <a:ext cx="6261862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BBFADD-14B4-C597-7A7C-368656EE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4AA70-0379-A2CD-059A-6ECE53A6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30443C-C6C3-74D8-1108-AEC8ADEC0669}"/>
                  </a:ext>
                </a:extLst>
              </p:cNvPr>
              <p:cNvSpPr txBox="1"/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30443C-C6C3-74D8-1108-AEC8ADEC0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blipFill>
                <a:blip r:embed="rId3"/>
                <a:stretch>
                  <a:fillRect l="-4103" r="-4615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71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8441-DCEA-47E1-E9A4-C3949D3A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8781CF-A8AB-3DBC-F6C3-D2D3EB05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81" y="1767372"/>
            <a:ext cx="7495238" cy="4171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2C2655-EDC4-85D3-5A6A-34C758068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BFD11-F453-437C-34A6-CCCAC894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90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327532-0294-CCB3-16DD-3C994849CC25}"/>
              </a:ext>
            </a:extLst>
          </p:cNvPr>
          <p:cNvCxnSpPr/>
          <p:nvPr/>
        </p:nvCxnSpPr>
        <p:spPr>
          <a:xfrm>
            <a:off x="1297004" y="2838249"/>
            <a:ext cx="39303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58234E-9B1C-14A2-D9EC-4F419963C2DE}"/>
              </a:ext>
            </a:extLst>
          </p:cNvPr>
          <p:cNvSpPr txBox="1"/>
          <p:nvPr/>
        </p:nvSpPr>
        <p:spPr>
          <a:xfrm>
            <a:off x="5810450" y="1834816"/>
            <a:ext cx="23421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Uncomment line # 36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65690-417D-E3D0-EDF3-E762E8F6F26E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this code</a:t>
            </a:r>
          </a:p>
        </p:txBody>
      </p:sp>
    </p:spTree>
    <p:extLst>
      <p:ext uri="{BB962C8B-B14F-4D97-AF65-F5344CB8AC3E}">
        <p14:creationId xmlns:p14="http://schemas.microsoft.com/office/powerpoint/2010/main" val="39305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972F6-B855-BCCF-A4E0-A4838306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32600A-8283-7C0B-AFBC-E8A9DF0C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69" y="1423520"/>
            <a:ext cx="6261862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5F569E-EBF8-6F58-BA70-00ED1D01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rose_curves.py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E56E6-FD72-877D-A943-18AB6D43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5F1FCE6-3586-CCEA-D253-2A4BD0E7827C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0AD656-6FF9-465D-B7B0-1CD0DD39CD23}" type="slidenum">
              <a:rPr lang="en-US" smtClean="0"/>
              <a:pPr/>
              <a:t>91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E5A033-F688-5C91-E557-41974BDB7FDB}"/>
                  </a:ext>
                </a:extLst>
              </p:cNvPr>
              <p:cNvSpPr txBox="1"/>
              <p:nvPr/>
            </p:nvSpPr>
            <p:spPr>
              <a:xfrm>
                <a:off x="512040" y="5125453"/>
                <a:ext cx="1852863" cy="83657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00B050"/>
                    </a:solidFill>
                  </a:rPr>
                  <a:t>Why are the three green petals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en-US" sz="1600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00B050"/>
                    </a:solidFill>
                  </a:rPr>
                  <a:t> apart?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E5A033-F688-5C91-E557-41974BDB7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40" y="5125453"/>
                <a:ext cx="1852863" cy="836576"/>
              </a:xfrm>
              <a:prstGeom prst="rect">
                <a:avLst/>
              </a:prstGeom>
              <a:blipFill>
                <a:blip r:embed="rId3"/>
                <a:stretch>
                  <a:fillRect t="-1429" b="-7143"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6C0CC3-97AD-813E-8999-8E204757A218}"/>
                  </a:ext>
                </a:extLst>
              </p:cNvPr>
              <p:cNvSpPr txBox="1"/>
              <p:nvPr/>
            </p:nvSpPr>
            <p:spPr>
              <a:xfrm>
                <a:off x="6772774" y="5248564"/>
                <a:ext cx="1852863" cy="59035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7D0A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7D0A"/>
                    </a:solidFill>
                  </a:rPr>
                  <a:t>Why are the orange petals tilted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n>
                              <a:solidFill>
                                <a:srgbClr val="FF7D0A"/>
                              </a:solidFill>
                            </a:ln>
                            <a:solidFill>
                              <a:srgbClr val="FF7D0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n>
                              <a:solidFill>
                                <a:srgbClr val="FF7D0A"/>
                              </a:solidFill>
                            </a:ln>
                            <a:solidFill>
                              <a:srgbClr val="FF7D0A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sz="1600" i="1" smtClean="0">
                            <a:ln>
                              <a:solidFill>
                                <a:srgbClr val="FF7D0A"/>
                              </a:solidFill>
                            </a:ln>
                            <a:solidFill>
                              <a:srgbClr val="FF7D0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FF7D0A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6C0CC3-97AD-813E-8999-8E204757A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774" y="5248564"/>
                <a:ext cx="1852863" cy="590354"/>
              </a:xfrm>
              <a:prstGeom prst="rect">
                <a:avLst/>
              </a:prstGeom>
              <a:blipFill>
                <a:blip r:embed="rId4"/>
                <a:stretch>
                  <a:fillRect t="-2000" r="-2932" b="-10000"/>
                </a:stretch>
              </a:blipFill>
              <a:ln w="19050">
                <a:solidFill>
                  <a:srgbClr val="FF7D0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47A102-5572-A24B-0CB9-6AEE07EFD9C7}"/>
                  </a:ext>
                </a:extLst>
              </p:cNvPr>
              <p:cNvSpPr txBox="1"/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≤4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47A102-5572-A24B-0CB9-6AEE07EFD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993" y="958516"/>
                <a:ext cx="1189878" cy="276999"/>
              </a:xfrm>
              <a:prstGeom prst="rect">
                <a:avLst/>
              </a:prstGeom>
              <a:blipFill>
                <a:blip r:embed="rId5"/>
                <a:stretch>
                  <a:fillRect l="-4103" r="-4615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8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Superposition of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Even just two simple sinusoids (waves) when placed in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superposition</a:t>
                </a:r>
                <a:r>
                  <a:rPr lang="en-US" sz="2400" dirty="0"/>
                  <a:t> (</a:t>
                </a:r>
                <a:r>
                  <a:rPr lang="en-US" sz="2400" b="1" i="1" dirty="0"/>
                  <a:t>added</a:t>
                </a:r>
                <a:r>
                  <a:rPr lang="en-US" sz="2400" dirty="0"/>
                  <a:t> together) can produce very complicated results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to study the behavior of this superposition: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=7+7</m:t>
                    </m:r>
                    <m:func>
                      <m:funcPr>
                        <m:ctrlPr>
                          <a:rPr lang="en-US" sz="2400" i="1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sz="240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But wait, that looks like the </a:t>
                </a:r>
                <a:r>
                  <a:rPr lang="en-US" sz="2400" b="1" dirty="0"/>
                  <a:t>product</a:t>
                </a:r>
                <a:r>
                  <a:rPr lang="en-US" sz="2400" dirty="0"/>
                  <a:t> of two sinusoids, </a:t>
                </a:r>
                <a:r>
                  <a:rPr lang="en-US" sz="2400" i="1" dirty="0"/>
                  <a:t>not</a:t>
                </a:r>
                <a:r>
                  <a:rPr lang="en-US" sz="2400" dirty="0"/>
                  <a:t> the </a:t>
                </a:r>
                <a:r>
                  <a:rPr lang="en-US" sz="2400" i="1" dirty="0"/>
                  <a:t>sum</a:t>
                </a:r>
                <a:r>
                  <a:rPr lang="en-US" sz="2400" dirty="0"/>
                  <a:t> of two sinusoids – so is that really a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superposition</a:t>
                </a:r>
                <a:r>
                  <a:rPr lang="en-US" sz="2400" dirty="0"/>
                  <a:t>?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There is a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trigonometry identity</a:t>
                </a:r>
                <a:r>
                  <a:rPr lang="en-US" sz="2400" dirty="0"/>
                  <a:t> called the "angle product formula" that allows us to represent the product of two sinusoids as the sum (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superposition</a:t>
                </a:r>
                <a:r>
                  <a:rPr lang="en-US" sz="2400" dirty="0"/>
                  <a:t>) of the two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individual wave functions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  <a:blipFill>
                <a:blip r:embed="rId3"/>
                <a:stretch>
                  <a:fillRect l="-1005" t="-1889" r="-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F7AB-1A10-C133-31D0-ED02ECDA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1E0B-C2BC-D181-B7C1-C51BEE0D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Superposition of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4FEA6-2EA4-25B4-3EBF-8ABCDDE77E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Even just two simple sinusoids (waves) when placed in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superposition</a:t>
                </a:r>
                <a:r>
                  <a:rPr lang="en-US" sz="2400" dirty="0"/>
                  <a:t> (</a:t>
                </a:r>
                <a:r>
                  <a:rPr lang="en-US" sz="2400" b="1" i="1" dirty="0"/>
                  <a:t>added</a:t>
                </a:r>
                <a:r>
                  <a:rPr lang="en-US" sz="2400" dirty="0"/>
                  <a:t> together) can produce very complicated results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to study the behavior of this superposition: </a:t>
                </a:r>
                <a14:m>
                  <m:oMath xmlns:m="http://schemas.openxmlformats.org/officeDocument/2006/math">
                    <m:r>
                      <a:rPr lang="en-US" sz="2400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=7+7</m:t>
                    </m:r>
                    <m:func>
                      <m:funcPr>
                        <m:ctrlPr>
                          <a:rPr lang="en-US" sz="2400" i="1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en-US" sz="2400" i="1">
                                    <a:ln>
                                      <a:solidFill>
                                        <a:srgbClr val="00B050"/>
                                      </a:solidFill>
                                    </a:ln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sz="240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400" i="1">
                                <a:ln>
                                  <a:solidFill>
                                    <a:srgbClr val="00B050"/>
                                  </a:solidFill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F4FEA6-2EA4-25B4-3EBF-8ABCDDE77E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  <a:blipFill>
                <a:blip r:embed="rId3"/>
                <a:stretch>
                  <a:fillRect l="-1005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1BE6-D34C-6CE8-0248-01C37BC7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FA1EA7-6157-92F6-184C-20220F89ACCB}"/>
                  </a:ext>
                </a:extLst>
              </p:cNvPr>
              <p:cNvSpPr txBox="1"/>
              <p:nvPr/>
            </p:nvSpPr>
            <p:spPr>
              <a:xfrm>
                <a:off x="3078605" y="4019990"/>
                <a:ext cx="29867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7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FA1EA7-6157-92F6-184C-20220F89A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605" y="4019990"/>
                <a:ext cx="29867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B23927-338F-5C47-0D2E-5691296EAAE4}"/>
                  </a:ext>
                </a:extLst>
              </p:cNvPr>
              <p:cNvSpPr txBox="1"/>
              <p:nvPr/>
            </p:nvSpPr>
            <p:spPr>
              <a:xfrm>
                <a:off x="2685362" y="4700919"/>
                <a:ext cx="3773277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B23927-338F-5C47-0D2E-5691296EA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62" y="4700919"/>
                <a:ext cx="3773277" cy="5357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1340421-B1D1-E1EC-27A6-E845F331ED46}"/>
              </a:ext>
            </a:extLst>
          </p:cNvPr>
          <p:cNvSpPr txBox="1"/>
          <p:nvPr/>
        </p:nvSpPr>
        <p:spPr>
          <a:xfrm>
            <a:off x="6781660" y="5444802"/>
            <a:ext cx="1607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Superposition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523E6-6050-4D8D-E11A-81C5B3378E17}"/>
              </a:ext>
            </a:extLst>
          </p:cNvPr>
          <p:cNvSpPr/>
          <p:nvPr/>
        </p:nvSpPr>
        <p:spPr>
          <a:xfrm>
            <a:off x="5514765" y="5531996"/>
            <a:ext cx="209862" cy="2740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7C88CC7-3D3B-F51A-2775-88CD33F4AA5B}"/>
              </a:ext>
            </a:extLst>
          </p:cNvPr>
          <p:cNvCxnSpPr>
            <a:stCxn id="10" idx="0"/>
            <a:endCxn id="9" idx="0"/>
          </p:cNvCxnSpPr>
          <p:nvPr/>
        </p:nvCxnSpPr>
        <p:spPr>
          <a:xfrm rot="5400000" flipH="1" flipV="1">
            <a:off x="6559060" y="4505438"/>
            <a:ext cx="87194" cy="1965923"/>
          </a:xfrm>
          <a:prstGeom prst="bentConnector3">
            <a:avLst>
              <a:gd name="adj1" fmla="val 362174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ABB7E4-6F05-3C30-BD69-7CBAADCC13BB}"/>
              </a:ext>
            </a:extLst>
          </p:cNvPr>
          <p:cNvCxnSpPr>
            <a:cxnSpLocks/>
          </p:cNvCxnSpPr>
          <p:nvPr/>
        </p:nvCxnSpPr>
        <p:spPr>
          <a:xfrm flipH="1">
            <a:off x="3188494" y="4360387"/>
            <a:ext cx="1555893" cy="563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F329E0-C7CE-428F-BA46-B2E41CB3817B}"/>
              </a:ext>
            </a:extLst>
          </p:cNvPr>
          <p:cNvCxnSpPr>
            <a:cxnSpLocks/>
          </p:cNvCxnSpPr>
          <p:nvPr/>
        </p:nvCxnSpPr>
        <p:spPr>
          <a:xfrm flipH="1">
            <a:off x="3719513" y="4369271"/>
            <a:ext cx="1851245" cy="5788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1C8950-FE64-78F8-9EC7-2EB63438D696}"/>
                  </a:ext>
                </a:extLst>
              </p:cNvPr>
              <p:cNvSpPr txBox="1"/>
              <p:nvPr/>
            </p:nvSpPr>
            <p:spPr>
              <a:xfrm>
                <a:off x="1779680" y="5370166"/>
                <a:ext cx="487620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7+7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1C8950-FE64-78F8-9EC7-2EB63438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680" y="5370166"/>
                <a:ext cx="4876207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FE8D076-D607-94BC-061B-91D377F7E72B}"/>
              </a:ext>
            </a:extLst>
          </p:cNvPr>
          <p:cNvSpPr txBox="1"/>
          <p:nvPr/>
        </p:nvSpPr>
        <p:spPr>
          <a:xfrm>
            <a:off x="251372" y="4811669"/>
            <a:ext cx="237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Angle Product Identity</a:t>
            </a:r>
          </a:p>
        </p:txBody>
      </p:sp>
    </p:spTree>
    <p:extLst>
      <p:ext uri="{BB962C8B-B14F-4D97-AF65-F5344CB8AC3E}">
        <p14:creationId xmlns:p14="http://schemas.microsoft.com/office/powerpoint/2010/main" val="61715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4" grpId="0"/>
      <p:bldP spid="1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51F3-816C-FB48-6CC1-472136BE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5BB8-D7BF-CA05-336F-6D37E1F7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Superposition of Waves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C564A6-641B-F52D-1AC3-A0EDF1527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Even just two simple sinusoids (waves) when placed in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superposition</a:t>
                </a:r>
                <a:r>
                  <a:rPr lang="en-US" sz="2400" dirty="0"/>
                  <a:t> (</a:t>
                </a:r>
                <a:r>
                  <a:rPr lang="en-US" sz="2400" b="1" i="1" dirty="0"/>
                  <a:t>added</a:t>
                </a:r>
                <a:r>
                  <a:rPr lang="en-US" sz="2400" dirty="0"/>
                  <a:t> together) can produce very complicated results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Your scientist wants to study the behavior of this superposition: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=7+7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dirty="0"/>
                  <a:t>Plot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with a </a:t>
                </a:r>
                <a:r>
                  <a:rPr lang="en-US" sz="2400" b="1" dirty="0"/>
                  <a:t>black pen </a:t>
                </a:r>
                <a:r>
                  <a:rPr lang="en-US" sz="2400" dirty="0"/>
                  <a:t>over the interval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C564A6-641B-F52D-1AC3-A0EDF1527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8459"/>
                <a:ext cx="7886700" cy="4517891"/>
              </a:xfrm>
              <a:blipFill>
                <a:blip r:embed="rId3"/>
                <a:stretch>
                  <a:fillRect l="-1005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4706C-0BF8-F241-21E2-26D7027C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61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6421-5CE2-A553-9F91-1309DB11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6561-EEA1-193D-A194-D1D3E998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plot_superposition.py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BA8D-B7A1-BF03-DD93-4DAB56A3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19FC3-724B-73BF-D8A6-41C8DC46DD99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4B1E6-1B25-9252-64AB-F4847FB25E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28" y="1629564"/>
            <a:ext cx="5657143" cy="460952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A73D4B6-95BB-C367-5703-9B760583200E}"/>
              </a:ext>
            </a:extLst>
          </p:cNvPr>
          <p:cNvGrpSpPr/>
          <p:nvPr/>
        </p:nvGrpSpPr>
        <p:grpSpPr>
          <a:xfrm>
            <a:off x="5538482" y="3410890"/>
            <a:ext cx="1076632" cy="369332"/>
            <a:chOff x="4968362" y="2079211"/>
            <a:chExt cx="1076632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B8971B0-DA46-A6EA-96C0-FB89DA3E4E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F947E2-6E00-9315-712A-3B07DE0FE8F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F88838-CCA9-F697-8FDC-940530799C48}"/>
              </a:ext>
            </a:extLst>
          </p:cNvPr>
          <p:cNvGrpSpPr/>
          <p:nvPr/>
        </p:nvGrpSpPr>
        <p:grpSpPr>
          <a:xfrm>
            <a:off x="7110630" y="3630125"/>
            <a:ext cx="1076632" cy="369332"/>
            <a:chOff x="4704120" y="2356972"/>
            <a:chExt cx="1076632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4CC9A7C-1ED5-7E6C-8DC8-B46CF9269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5B9752-F551-1A44-1E2B-2897DC46AD2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A003E-0642-A56F-8658-05301DCF75F6}"/>
                  </a:ext>
                </a:extLst>
              </p:cNvPr>
              <p:cNvSpPr txBox="1"/>
              <p:nvPr/>
            </p:nvSpPr>
            <p:spPr>
              <a:xfrm>
                <a:off x="4365356" y="2122581"/>
                <a:ext cx="3087297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8A003E-0642-A56F-8658-05301DCF7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356" y="2122581"/>
                <a:ext cx="3087297" cy="6090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B87AACB-1B0D-D862-741A-0D45ACB98E25}"/>
              </a:ext>
            </a:extLst>
          </p:cNvPr>
          <p:cNvGrpSpPr/>
          <p:nvPr/>
        </p:nvGrpSpPr>
        <p:grpSpPr>
          <a:xfrm>
            <a:off x="4816589" y="4093514"/>
            <a:ext cx="1068643" cy="369332"/>
            <a:chOff x="3647644" y="4910075"/>
            <a:chExt cx="1068643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AFA5315-87CE-1B28-C99D-4CF12B07CE9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E0429D3-BD0E-A3CC-395F-74656AA1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9DC046-C0A5-CD7D-C125-7F7CA8C150ED}"/>
              </a:ext>
            </a:extLst>
          </p:cNvPr>
          <p:cNvGrpSpPr/>
          <p:nvPr/>
        </p:nvGrpSpPr>
        <p:grpSpPr>
          <a:xfrm>
            <a:off x="4816589" y="4336812"/>
            <a:ext cx="1064340" cy="369332"/>
            <a:chOff x="3647644" y="5421073"/>
            <a:chExt cx="1064340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26E88B-ABD0-F7FA-F9DB-AE907B8FD0D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49D1E63-1B47-369C-9D06-05D3ADE8FA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19511F-516B-C6CD-AECE-E8FE8FF2E3AE}"/>
              </a:ext>
            </a:extLst>
          </p:cNvPr>
          <p:cNvGrpSpPr/>
          <p:nvPr/>
        </p:nvGrpSpPr>
        <p:grpSpPr>
          <a:xfrm>
            <a:off x="2810221" y="4561583"/>
            <a:ext cx="1068643" cy="369332"/>
            <a:chOff x="3647644" y="5359159"/>
            <a:chExt cx="1068643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B2B0FB-1440-CFEE-E677-4E8BCDB1AFD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910CE87-01E5-72A8-D862-4080C3A848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7FABCB4-599F-038E-8EC7-CFC4FC85C0C3}"/>
              </a:ext>
            </a:extLst>
          </p:cNvPr>
          <p:cNvGrpSpPr/>
          <p:nvPr/>
        </p:nvGrpSpPr>
        <p:grpSpPr>
          <a:xfrm>
            <a:off x="5504340" y="4767225"/>
            <a:ext cx="1076632" cy="369332"/>
            <a:chOff x="2157212" y="5356391"/>
            <a:chExt cx="107663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0EE2EB6-E0FE-B7DA-1DAF-CB2599FE083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9DCB09B-C400-8975-8CBA-A9D8730158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F482D8-F819-806C-7133-2A538CC693C7}"/>
              </a:ext>
            </a:extLst>
          </p:cNvPr>
          <p:cNvGrpSpPr/>
          <p:nvPr/>
        </p:nvGrpSpPr>
        <p:grpSpPr>
          <a:xfrm>
            <a:off x="7343335" y="4999828"/>
            <a:ext cx="1076632" cy="369332"/>
            <a:chOff x="2157212" y="5356391"/>
            <a:chExt cx="1076632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3CC6A1C-CE2E-AA6D-5A44-E9A4CB2809E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847AF57-3945-BF99-837E-B57F6C16F4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5880D25-2EFC-95BE-2CE6-36ADBCF4722F}"/>
              </a:ext>
            </a:extLst>
          </p:cNvPr>
          <p:cNvSpPr txBox="1"/>
          <p:nvPr/>
        </p:nvSpPr>
        <p:spPr>
          <a:xfrm>
            <a:off x="5539196" y="5296148"/>
            <a:ext cx="1947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Legends support LaTeX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A78E31-6110-873C-F578-61FFD638718A}"/>
              </a:ext>
            </a:extLst>
          </p:cNvPr>
          <p:cNvGrpSpPr/>
          <p:nvPr/>
        </p:nvGrpSpPr>
        <p:grpSpPr>
          <a:xfrm>
            <a:off x="4583071" y="5458057"/>
            <a:ext cx="1076632" cy="369332"/>
            <a:chOff x="2157212" y="5356391"/>
            <a:chExt cx="107663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EFDCED6-317B-C8BE-2953-1C10DAB9BC96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4927024-60BE-213A-2996-D551BCD71E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38E0E55-D291-E04F-4C8D-3D3A6363DD7E}"/>
              </a:ext>
            </a:extLst>
          </p:cNvPr>
          <p:cNvGrpSpPr/>
          <p:nvPr/>
        </p:nvGrpSpPr>
        <p:grpSpPr>
          <a:xfrm>
            <a:off x="3236441" y="5698870"/>
            <a:ext cx="1076632" cy="369332"/>
            <a:chOff x="2157212" y="5356391"/>
            <a:chExt cx="1076632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74B67AB-B66E-4754-B132-B6ECAB0936B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D89CE43-F92C-EDA2-0D8C-EB8ABB5B3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AC405EC9-61F7-3665-3BE9-F159D8FA9E1D}"/>
              </a:ext>
            </a:extLst>
          </p:cNvPr>
          <p:cNvSpPr txBox="1"/>
          <p:nvPr/>
        </p:nvSpPr>
        <p:spPr>
          <a:xfrm>
            <a:off x="4250059" y="5709991"/>
            <a:ext cx="3087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Polar graphs can have axis markers too!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5D18375-5137-3992-2129-20D1A8A278E5}"/>
              </a:ext>
            </a:extLst>
          </p:cNvPr>
          <p:cNvGrpSpPr/>
          <p:nvPr/>
        </p:nvGrpSpPr>
        <p:grpSpPr>
          <a:xfrm>
            <a:off x="2834758" y="5919939"/>
            <a:ext cx="1076632" cy="369332"/>
            <a:chOff x="2157212" y="5356391"/>
            <a:chExt cx="1076632" cy="3693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AD0E228-B59B-FEAF-E15E-39D443734ED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993EC4B-270B-3210-68FE-771236A90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6D96E8D-2A96-F652-D52D-4AF9C5ED76F2}"/>
              </a:ext>
            </a:extLst>
          </p:cNvPr>
          <p:cNvSpPr txBox="1"/>
          <p:nvPr/>
        </p:nvSpPr>
        <p:spPr>
          <a:xfrm>
            <a:off x="4816589" y="1890126"/>
            <a:ext cx="1993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Equivalent to:</a:t>
            </a:r>
          </a:p>
        </p:txBody>
      </p:sp>
    </p:spTree>
    <p:extLst>
      <p:ext uri="{BB962C8B-B14F-4D97-AF65-F5344CB8AC3E}">
        <p14:creationId xmlns:p14="http://schemas.microsoft.com/office/powerpoint/2010/main" val="234151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52" grpId="0"/>
      <p:bldP spid="59" grpId="0"/>
      <p:bldP spid="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38AF55-17CC-5BC6-5A76-04645AEA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521476"/>
            <a:ext cx="6114286" cy="52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plot_superposition.py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D7BE4-2256-8FEC-FBA5-52133050FEED}"/>
                  </a:ext>
                </a:extLst>
              </p:cNvPr>
              <p:cNvSpPr txBox="1"/>
              <p:nvPr/>
            </p:nvSpPr>
            <p:spPr>
              <a:xfrm>
                <a:off x="5138383" y="5706201"/>
                <a:ext cx="3177065" cy="6399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800" i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7∗</m:t>
                      </m:r>
                      <m:f>
                        <m:fPr>
                          <m:ctrlPr>
                            <a:rPr lang="en-US" sz="1800" b="0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ln>
                                            <a:solidFill>
                                              <a:srgbClr val="FF0000"/>
                                            </a:solidFill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>
                                          <a:ln>
                                            <a:solidFill>
                                              <a:srgbClr val="FF0000"/>
                                            </a:solidFill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i="1"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n>
                                        <a:solidFill>
                                          <a:schemeClr val="tx1"/>
                                        </a:solidFill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ln>
                                            <a:solidFill>
                                              <a:srgbClr val="FF0000"/>
                                            </a:solidFill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i="1">
                                          <a:ln>
                                            <a:solidFill>
                                              <a:schemeClr val="tx1"/>
                                            </a:solidFill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sz="1800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D7BE4-2256-8FEC-FBA5-52133050F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83" y="5706201"/>
                <a:ext cx="3177065" cy="639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1E49A8-D9FC-8906-FC75-3AEFE9EEA87D}"/>
              </a:ext>
            </a:extLst>
          </p:cNvPr>
          <p:cNvCxnSpPr>
            <a:cxnSpLocks/>
          </p:cNvCxnSpPr>
          <p:nvPr/>
        </p:nvCxnSpPr>
        <p:spPr>
          <a:xfrm>
            <a:off x="4177464" y="6050256"/>
            <a:ext cx="110690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C656B7-9FBA-21AF-0FE8-9900A9F22E64}"/>
              </a:ext>
            </a:extLst>
          </p:cNvPr>
          <p:cNvSpPr txBox="1"/>
          <p:nvPr/>
        </p:nvSpPr>
        <p:spPr>
          <a:xfrm>
            <a:off x="6614831" y="1897951"/>
            <a:ext cx="2232684" cy="1200329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Even </a:t>
            </a:r>
            <a:r>
              <a:rPr lang="en-US" b="1" dirty="0">
                <a:solidFill>
                  <a:srgbClr val="7030A0"/>
                </a:solidFill>
              </a:rPr>
              <a:t>just two simple waves </a:t>
            </a:r>
            <a:r>
              <a:rPr lang="en-US" dirty="0">
                <a:solidFill>
                  <a:srgbClr val="7030A0"/>
                </a:solidFill>
              </a:rPr>
              <a:t>when </a:t>
            </a:r>
            <a:r>
              <a:rPr lang="en-US" u="sng" dirty="0">
                <a:solidFill>
                  <a:srgbClr val="7030A0"/>
                </a:solidFill>
              </a:rPr>
              <a:t>added</a:t>
            </a:r>
            <a:r>
              <a:rPr lang="en-US" dirty="0">
                <a:solidFill>
                  <a:srgbClr val="7030A0"/>
                </a:solidFill>
              </a:rPr>
              <a:t> together can produce complicated results!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467378-6669-4FF1-9A1B-7BA9F8513BB5}"/>
                  </a:ext>
                </a:extLst>
              </p:cNvPr>
              <p:cNvSpPr txBox="1"/>
              <p:nvPr/>
            </p:nvSpPr>
            <p:spPr>
              <a:xfrm>
                <a:off x="320074" y="2505670"/>
                <a:ext cx="2209096" cy="120032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Why can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never</a:t>
                </a:r>
                <a:r>
                  <a:rPr lang="en-US" dirty="0">
                    <a:solidFill>
                      <a:srgbClr val="7030A0"/>
                    </a:solidFill>
                  </a:rPr>
                  <a:t> reach their extremes at the same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467378-6669-4FF1-9A1B-7BA9F8513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74" y="2505670"/>
                <a:ext cx="2209096" cy="1200329"/>
              </a:xfrm>
              <a:prstGeom prst="rect">
                <a:avLst/>
              </a:prstGeom>
              <a:blipFill>
                <a:blip r:embed="rId4"/>
                <a:stretch>
                  <a:fillRect l="-1370" t="-2000" r="-2740" b="-600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3B3FBE-8C9B-094E-68C0-723CCC5B58B2}"/>
              </a:ext>
            </a:extLst>
          </p:cNvPr>
          <p:cNvSpPr txBox="1"/>
          <p:nvPr/>
        </p:nvSpPr>
        <p:spPr>
          <a:xfrm>
            <a:off x="2841627" y="6048574"/>
            <a:ext cx="147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Never exactly 14?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981BEAC-2854-7CA3-A02F-1A4B609C54FC}"/>
                  </a:ext>
                </a:extLst>
              </p:cNvPr>
              <p:cNvSpPr/>
              <p:nvPr/>
            </p:nvSpPr>
            <p:spPr>
              <a:xfrm>
                <a:off x="420717" y="5669968"/>
                <a:ext cx="2209096" cy="75721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7+7∗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1+1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981BEAC-2854-7CA3-A02F-1A4B609C5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17" y="5669968"/>
                <a:ext cx="2209096" cy="7572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91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/>
      <p:bldP spid="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659A-DBDB-1603-DCA0-39F8D246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5F99-5982-80E1-557D-1E8CEF1D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Frequency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484A1-AB05-D999-E910-68D592FC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BEB128-2DA2-1A24-763D-52D4D449DCBE}"/>
                  </a:ext>
                </a:extLst>
              </p:cNvPr>
              <p:cNvSpPr txBox="1"/>
              <p:nvPr/>
            </p:nvSpPr>
            <p:spPr>
              <a:xfrm>
                <a:off x="3023937" y="2185482"/>
                <a:ext cx="2983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=7+7</m:t>
                      </m:r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BEB128-2DA2-1A24-763D-52D4D449D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937" y="2185482"/>
                <a:ext cx="29838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9AEB74-9D0D-8CB3-8DB0-AF557358DA9F}"/>
                  </a:ext>
                </a:extLst>
              </p:cNvPr>
              <p:cNvSpPr txBox="1"/>
              <p:nvPr/>
            </p:nvSpPr>
            <p:spPr>
              <a:xfrm>
                <a:off x="2983832" y="1536300"/>
                <a:ext cx="3224463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=7+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9AEB74-9D0D-8CB3-8DB0-AF557358D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832" y="1536300"/>
                <a:ext cx="3224463" cy="609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9DD9CB-6436-AD92-C074-6DAB6EF5DC25}"/>
                  </a:ext>
                </a:extLst>
              </p:cNvPr>
              <p:cNvSpPr txBox="1"/>
              <p:nvPr/>
            </p:nvSpPr>
            <p:spPr>
              <a:xfrm>
                <a:off x="1910374" y="2763253"/>
                <a:ext cx="5451492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±1→11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9DD9CB-6436-AD92-C074-6DAB6EF5D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374" y="2763253"/>
                <a:ext cx="5451492" cy="472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2ED61F-CA7A-FA81-51B6-BACC39D635AE}"/>
                  </a:ext>
                </a:extLst>
              </p:cNvPr>
              <p:cNvSpPr txBox="1"/>
              <p:nvPr/>
            </p:nvSpPr>
            <p:spPr>
              <a:xfrm>
                <a:off x="2068912" y="3350402"/>
                <a:ext cx="4409990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±1→5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2ED61F-CA7A-FA81-51B6-BACC39D63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912" y="3350402"/>
                <a:ext cx="4409990" cy="4744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D49295-FD67-AC54-461D-6182CEFCA519}"/>
                  </a:ext>
                </a:extLst>
              </p:cNvPr>
              <p:cNvSpPr txBox="1"/>
              <p:nvPr/>
            </p:nvSpPr>
            <p:spPr>
              <a:xfrm>
                <a:off x="2198954" y="4060447"/>
                <a:ext cx="4746092" cy="56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5+10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D49295-FD67-AC54-461D-6182CEFCA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8954" y="4060447"/>
                <a:ext cx="4746092" cy="5667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F84D6-F6A4-96ED-3E19-8F9374630270}"/>
                  </a:ext>
                </a:extLst>
              </p:cNvPr>
              <p:cNvSpPr txBox="1"/>
              <p:nvPr/>
            </p:nvSpPr>
            <p:spPr>
              <a:xfrm>
                <a:off x="2286000" y="4842051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5+10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𝑎𝑙𝑤𝑎𝑦𝑠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𝑜𝑑𝑑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AF84D6-F6A4-96ED-3E19-8F9374630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842051"/>
                <a:ext cx="457200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BC3D14-BF13-01A6-CD18-8A1D7978BDD8}"/>
                  </a:ext>
                </a:extLst>
              </p:cNvPr>
              <p:cNvSpPr txBox="1"/>
              <p:nvPr/>
            </p:nvSpPr>
            <p:spPr>
              <a:xfrm>
                <a:off x="2489149" y="5182603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𝑎𝑙𝑤𝑎𝑦𝑠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𝑒𝑣𝑒𝑛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BC3D14-BF13-01A6-CD18-8A1D7978B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49" y="5182603"/>
                <a:ext cx="457200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B81F44-84EA-2A28-0935-0D81D3F7519C}"/>
                  </a:ext>
                </a:extLst>
              </p:cNvPr>
              <p:cNvSpPr txBox="1"/>
              <p:nvPr/>
            </p:nvSpPr>
            <p:spPr>
              <a:xfrm>
                <a:off x="1099456" y="5710020"/>
                <a:ext cx="6945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can never attain extrema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at the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B81F44-84EA-2A28-0935-0D81D3F75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56" y="5710020"/>
                <a:ext cx="6945088" cy="369332"/>
              </a:xfrm>
              <a:prstGeom prst="rect">
                <a:avLst/>
              </a:prstGeom>
              <a:blipFill>
                <a:blip r:embed="rId10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1DB3BF1-2B6D-DC08-623C-C8A54319434F}"/>
              </a:ext>
            </a:extLst>
          </p:cNvPr>
          <p:cNvSpPr txBox="1"/>
          <p:nvPr/>
        </p:nvSpPr>
        <p:spPr>
          <a:xfrm>
            <a:off x="329502" y="4192055"/>
            <a:ext cx="1933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Multiply through by </a:t>
            </a:r>
            <a:r>
              <a:rPr lang="en-US" sz="1400" b="1" dirty="0">
                <a:solidFill>
                  <a:srgbClr val="7030A0"/>
                </a:solidFill>
              </a:rPr>
              <a:t>110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6CD519-8AB3-7675-DC7C-F8DB52783D0C}"/>
              </a:ext>
            </a:extLst>
          </p:cNvPr>
          <p:cNvCxnSpPr>
            <a:cxnSpLocks/>
          </p:cNvCxnSpPr>
          <p:nvPr/>
        </p:nvCxnSpPr>
        <p:spPr>
          <a:xfrm flipV="1">
            <a:off x="2390274" y="4081135"/>
            <a:ext cx="224589" cy="19873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DB2776-F856-1CAB-BBE6-2305E022DD7F}"/>
              </a:ext>
            </a:extLst>
          </p:cNvPr>
          <p:cNvCxnSpPr>
            <a:cxnSpLocks/>
          </p:cNvCxnSpPr>
          <p:nvPr/>
        </p:nvCxnSpPr>
        <p:spPr>
          <a:xfrm flipV="1">
            <a:off x="3023937" y="4081135"/>
            <a:ext cx="224589" cy="19873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A7ACE2-D1D1-6839-2F7A-6C386EAA3943}"/>
              </a:ext>
            </a:extLst>
          </p:cNvPr>
          <p:cNvCxnSpPr>
            <a:cxnSpLocks/>
          </p:cNvCxnSpPr>
          <p:nvPr/>
        </p:nvCxnSpPr>
        <p:spPr>
          <a:xfrm flipV="1">
            <a:off x="3646339" y="4081135"/>
            <a:ext cx="224589" cy="19873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62C3E57-81B0-191D-CAAA-230BE35B0240}"/>
              </a:ext>
            </a:extLst>
          </p:cNvPr>
          <p:cNvSpPr/>
          <p:nvPr/>
        </p:nvSpPr>
        <p:spPr>
          <a:xfrm>
            <a:off x="3408947" y="4842051"/>
            <a:ext cx="160421" cy="340552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B78AAE-1E9C-0FF5-AA27-D5E17FA300CE}"/>
              </a:ext>
            </a:extLst>
          </p:cNvPr>
          <p:cNvSpPr/>
          <p:nvPr/>
        </p:nvSpPr>
        <p:spPr>
          <a:xfrm>
            <a:off x="3750207" y="5234022"/>
            <a:ext cx="255054" cy="282641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0F8C7-9308-7839-730D-C0BEAAE9135E}"/>
              </a:ext>
            </a:extLst>
          </p:cNvPr>
          <p:cNvSpPr/>
          <p:nvPr/>
        </p:nvSpPr>
        <p:spPr>
          <a:xfrm>
            <a:off x="3750207" y="2687053"/>
            <a:ext cx="1375246" cy="5867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8FB563-766D-AC21-0695-2C7676E56FC8}"/>
              </a:ext>
            </a:extLst>
          </p:cNvPr>
          <p:cNvSpPr/>
          <p:nvPr/>
        </p:nvSpPr>
        <p:spPr>
          <a:xfrm>
            <a:off x="6039853" y="2687053"/>
            <a:ext cx="1375246" cy="5867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26EB0C-7700-E9A9-FC4E-9EF5AB2E906B}"/>
              </a:ext>
            </a:extLst>
          </p:cNvPr>
          <p:cNvSpPr/>
          <p:nvPr/>
        </p:nvSpPr>
        <p:spPr>
          <a:xfrm>
            <a:off x="5653819" y="3319993"/>
            <a:ext cx="883339" cy="56675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F00BBB-635D-E8BC-C016-1541DC047D19}"/>
              </a:ext>
            </a:extLst>
          </p:cNvPr>
          <p:cNvSpPr/>
          <p:nvPr/>
        </p:nvSpPr>
        <p:spPr>
          <a:xfrm>
            <a:off x="4082978" y="4215398"/>
            <a:ext cx="1570841" cy="3021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85FD2-F86F-DE19-6432-C99F18C0E428}"/>
              </a:ext>
            </a:extLst>
          </p:cNvPr>
          <p:cNvSpPr txBox="1"/>
          <p:nvPr/>
        </p:nvSpPr>
        <p:spPr>
          <a:xfrm>
            <a:off x="2390274" y="4826648"/>
            <a:ext cx="59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LHS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476037-6250-C9F9-EBB5-A72514A38BA2}"/>
              </a:ext>
            </a:extLst>
          </p:cNvPr>
          <p:cNvSpPr txBox="1"/>
          <p:nvPr/>
        </p:nvSpPr>
        <p:spPr>
          <a:xfrm>
            <a:off x="2390274" y="5184802"/>
            <a:ext cx="59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RHS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7BD809-9B49-271B-C63C-8B33CAB67063}"/>
              </a:ext>
            </a:extLst>
          </p:cNvPr>
          <p:cNvSpPr txBox="1"/>
          <p:nvPr/>
        </p:nvSpPr>
        <p:spPr>
          <a:xfrm>
            <a:off x="750746" y="2204280"/>
            <a:ext cx="2402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Angle </a:t>
            </a:r>
            <a:r>
              <a:rPr lang="en-US" sz="1400" b="1" dirty="0">
                <a:solidFill>
                  <a:srgbClr val="7030A0"/>
                </a:solidFill>
              </a:rPr>
              <a:t>Sum-to-Product</a:t>
            </a:r>
            <a:r>
              <a:rPr lang="en-US" sz="1400" dirty="0">
                <a:solidFill>
                  <a:srgbClr val="7030A0"/>
                </a:solidFill>
              </a:rPr>
              <a:t> Identity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83C848-ED73-6475-038E-A3FDE64BBE74}"/>
              </a:ext>
            </a:extLst>
          </p:cNvPr>
          <p:cNvSpPr txBox="1"/>
          <p:nvPr/>
        </p:nvSpPr>
        <p:spPr>
          <a:xfrm>
            <a:off x="1546535" y="6179830"/>
            <a:ext cx="605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Hence our superposition can never reach a radius of </a:t>
            </a:r>
            <a:r>
              <a:rPr lang="en-US" u="sng" dirty="0">
                <a:solidFill>
                  <a:srgbClr val="FF0000"/>
                </a:solidFill>
              </a:rPr>
              <a:t>exactly</a:t>
            </a:r>
            <a:r>
              <a:rPr lang="en-US" dirty="0">
                <a:solidFill>
                  <a:srgbClr val="FF0000"/>
                </a:solidFill>
              </a:rPr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16234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4" grpId="0"/>
      <p:bldP spid="16" grpId="0"/>
      <p:bldP spid="17" grpId="0"/>
      <p:bldP spid="18" grpId="0"/>
      <p:bldP spid="25" grpId="0"/>
      <p:bldP spid="9" grpId="0" animBg="1"/>
      <p:bldP spid="13" grpId="0" animBg="1"/>
      <p:bldP spid="3" grpId="0" animBg="1"/>
      <p:bldP spid="21" grpId="0" animBg="1"/>
      <p:bldP spid="22" grpId="0" animBg="1"/>
      <p:bldP spid="23" grpId="0" animBg="1"/>
      <p:bldP spid="24" grpId="0"/>
      <p:bldP spid="26" grpId="0"/>
      <p:bldP spid="27" grpId="0"/>
      <p:bldP spid="2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8674" y="1818182"/>
            <a:ext cx="4686652" cy="3350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4390" y="1448850"/>
            <a:ext cx="599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Field Induced Polarization of Dirac Valleys in Bismuth</a:t>
            </a:r>
            <a:r>
              <a:rPr lang="en-US" dirty="0"/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9813" y="6169896"/>
            <a:ext cx="648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*Bismuth is the element with the </a:t>
            </a:r>
            <a:r>
              <a:rPr lang="en-US" b="1" dirty="0">
                <a:solidFill>
                  <a:srgbClr val="FF0000"/>
                </a:solidFill>
              </a:rPr>
              <a:t>highest</a:t>
            </a:r>
            <a:r>
              <a:rPr lang="en-US" dirty="0"/>
              <a:t> atomic mass that is </a:t>
            </a:r>
            <a:r>
              <a:rPr lang="en-US" b="1" dirty="0">
                <a:solidFill>
                  <a:srgbClr val="0070C0"/>
                </a:solidFill>
              </a:rPr>
              <a:t>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EF8B20-B03E-4E6C-9597-EDA6DFFC2733}"/>
                  </a:ext>
                </a:extLst>
              </p:cNvPr>
              <p:cNvSpPr txBox="1"/>
              <p:nvPr/>
            </p:nvSpPr>
            <p:spPr>
              <a:xfrm>
                <a:off x="3350480" y="5375547"/>
                <a:ext cx="279313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EF8B20-B03E-4E6C-9597-EDA6DFFC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480" y="5375547"/>
                <a:ext cx="279313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6470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585C-EB7E-03EB-03D3-658B5FD9D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6C41-8FAA-A02A-4CB1-5CE718F1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07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DA96-5080-5C00-177B-C7DA77E3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use </a:t>
            </a:r>
            <a:r>
              <a:rPr lang="en-US" sz="2400" b="1" dirty="0">
                <a:solidFill>
                  <a:srgbClr val="FF0000"/>
                </a:solidFill>
              </a:rPr>
              <a:t>trigonometry</a:t>
            </a:r>
            <a:r>
              <a:rPr lang="en-US" sz="2400" dirty="0"/>
              <a:t> to convert Polar coordinates to Cartesian coordinates</a:t>
            </a:r>
          </a:p>
          <a:p>
            <a:r>
              <a:rPr lang="en-US" sz="2400" dirty="0"/>
              <a:t>How to create </a:t>
            </a:r>
            <a:r>
              <a:rPr lang="en-US" sz="2400" b="1" dirty="0">
                <a:solidFill>
                  <a:srgbClr val="0070C0"/>
                </a:solidFill>
              </a:rPr>
              <a:t>polar projection </a:t>
            </a:r>
            <a:r>
              <a:rPr lang="en-US" sz="2400" dirty="0"/>
              <a:t>graphs in matplotlib</a:t>
            </a:r>
          </a:p>
          <a:p>
            <a:r>
              <a:rPr lang="en-US" sz="2400" dirty="0"/>
              <a:t>How to use the </a:t>
            </a:r>
            <a:r>
              <a:rPr lang="en-US" sz="2400" b="1" dirty="0">
                <a:solidFill>
                  <a:srgbClr val="00B050"/>
                </a:solidFill>
              </a:rPr>
              <a:t>shoelace formula </a:t>
            </a:r>
            <a:r>
              <a:rPr lang="en-US" sz="2400" dirty="0"/>
              <a:t>to calculate the </a:t>
            </a:r>
            <a:r>
              <a:rPr lang="en-US" sz="2400" b="1" dirty="0"/>
              <a:t>area</a:t>
            </a:r>
            <a:r>
              <a:rPr lang="en-US" sz="2400" dirty="0"/>
              <a:t> enclosed by a polygon – with enough vertices, we can </a:t>
            </a:r>
            <a:r>
              <a:rPr lang="en-US" sz="2400" i="1" dirty="0"/>
              <a:t>approximate</a:t>
            </a:r>
            <a:r>
              <a:rPr lang="en-US" sz="2400" dirty="0"/>
              <a:t> the area of a </a:t>
            </a:r>
            <a:r>
              <a:rPr lang="en-US" sz="2400" b="1" dirty="0"/>
              <a:t>smooth, closed, curved</a:t>
            </a:r>
          </a:p>
          <a:p>
            <a:r>
              <a:rPr lang="en-US" sz="2400" dirty="0"/>
              <a:t>There </a:t>
            </a:r>
            <a:r>
              <a:rPr lang="en-US" sz="2400" b="1" dirty="0">
                <a:solidFill>
                  <a:srgbClr val="FF0000"/>
                </a:solidFill>
              </a:rPr>
              <a:t>is no formula </a:t>
            </a:r>
            <a:r>
              <a:rPr lang="en-US" sz="2400" dirty="0"/>
              <a:t>for the </a:t>
            </a:r>
            <a:r>
              <a:rPr lang="en-US" sz="2400" u="sng" dirty="0"/>
              <a:t>perimeter</a:t>
            </a:r>
            <a:r>
              <a:rPr lang="en-US" sz="2400" dirty="0"/>
              <a:t> of an </a:t>
            </a:r>
            <a:r>
              <a:rPr lang="en-US" sz="2400" i="1" dirty="0"/>
              <a:t>ellipse</a:t>
            </a:r>
          </a:p>
          <a:p>
            <a:r>
              <a:rPr lang="en-US" sz="2400" dirty="0"/>
              <a:t>That </a:t>
            </a:r>
            <a:r>
              <a:rPr lang="en-US" sz="2400" b="1" dirty="0"/>
              <a:t>sinusoidal</a:t>
            </a:r>
            <a:r>
              <a:rPr lang="en-US" sz="2400" dirty="0"/>
              <a:t> waves have amplitude, angular frequency, phase, and offsets</a:t>
            </a:r>
          </a:p>
          <a:p>
            <a:r>
              <a:rPr lang="en-US" sz="2400" dirty="0"/>
              <a:t>The addition (</a:t>
            </a:r>
            <a:r>
              <a:rPr lang="en-US" sz="2400" b="1" dirty="0">
                <a:solidFill>
                  <a:srgbClr val="7030A0"/>
                </a:solidFill>
              </a:rPr>
              <a:t>superposition</a:t>
            </a:r>
            <a:r>
              <a:rPr lang="en-US" sz="2400" dirty="0"/>
              <a:t>) of even just two waves can yield surprisingly complicated system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430D-F95D-07D2-4956-13C2B42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8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 program called </a:t>
            </a:r>
            <a:r>
              <a:rPr lang="en-US" sz="2400" b="1" dirty="0"/>
              <a:t>plot_heart.py </a:t>
            </a:r>
            <a:r>
              <a:rPr lang="en-US" sz="2400" dirty="0"/>
              <a:t>that uses a matplotlib polar projection to draw the equation on slide </a:t>
            </a:r>
            <a:r>
              <a:rPr lang="en-US" sz="2400" dirty="0">
                <a:hlinkClick r:id="rId2" action="ppaction://hlinksldjump"/>
              </a:rPr>
              <a:t>#76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6D7089-5CDE-B29A-E15D-8D58F952B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879" y="3226290"/>
            <a:ext cx="3490242" cy="304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2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12518</TotalTime>
  <Words>4228</Words>
  <Application>Microsoft Office PowerPoint</Application>
  <PresentationFormat>On-screen Show (4:3)</PresentationFormat>
  <Paragraphs>817</Paragraphs>
  <Slides>100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7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PowerPoint Presentation</vt:lpstr>
      <vt:lpstr>Session 07 – Goals</vt:lpstr>
      <vt:lpstr>Careful Proofs</vt:lpstr>
      <vt:lpstr>Completing What Square?</vt:lpstr>
      <vt:lpstr>Completing What Square?</vt:lpstr>
      <vt:lpstr>Completing What Square?</vt:lpstr>
      <vt:lpstr>Completing What Square?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Pythagorean Theorem</vt:lpstr>
      <vt:lpstr>Pythagorean Theorem</vt:lpstr>
      <vt:lpstr>The Generalized Pythagorean Theorem</vt:lpstr>
      <vt:lpstr>Analytic Geometry</vt:lpstr>
      <vt:lpstr>Polar Coordinates</vt:lpstr>
      <vt:lpstr>Polar Coordinates</vt:lpstr>
      <vt:lpstr>Polar Coordinates</vt:lpstr>
      <vt:lpstr>How Archimedes Found the Area of a Circle</vt:lpstr>
      <vt:lpstr>How Archimedes Found the Area of a Circle</vt:lpstr>
      <vt:lpstr>How Archimedes Found the Area of a Circle</vt:lpstr>
      <vt:lpstr>How Archimedes Found the Area of a Circle</vt:lpstr>
      <vt:lpstr>How Archimedes Found the Area of a Circle</vt:lpstr>
      <vt:lpstr>How Archimedes Found the Area of a Circle</vt:lpstr>
      <vt:lpstr>The Shoelace Formula</vt:lpstr>
      <vt:lpstr>Area of a Trapezoid</vt:lpstr>
      <vt:lpstr>The Shoelace Formula</vt:lpstr>
      <vt:lpstr>The Shoelace Formula</vt:lpstr>
      <vt:lpstr>The Shoelace Formula</vt:lpstr>
      <vt:lpstr>The Shoelace Formula</vt:lpstr>
      <vt:lpstr>The Shoelace Formula</vt:lpstr>
      <vt:lpstr>The Shoelace Formula</vt:lpstr>
      <vt:lpstr>PowerPoint Presentation</vt:lpstr>
      <vt:lpstr>Polar to Cartesian Coordinate Conversion</vt:lpstr>
      <vt:lpstr>Polar to Cartesian Coordinate Conversion</vt:lpstr>
      <vt:lpstr>Polar to Cartesian Coordinate Conversion</vt:lpstr>
      <vt:lpstr>Open trig_circle.py</vt:lpstr>
      <vt:lpstr>View trig_circle.py</vt:lpstr>
      <vt:lpstr>View trig_circle.py</vt:lpstr>
      <vt:lpstr>Run trig_circle.py</vt:lpstr>
      <vt:lpstr>Drawing the Olympic Rings</vt:lpstr>
      <vt:lpstr>Open olympic_rings.py</vt:lpstr>
      <vt:lpstr>Run olympic_rings.py</vt:lpstr>
      <vt:lpstr>Drawing the Olympic Rings</vt:lpstr>
      <vt:lpstr>Edit olympic_rings.py</vt:lpstr>
      <vt:lpstr>Run olympic_rings.py</vt:lpstr>
      <vt:lpstr>Deriving the Equation of an Ellipse</vt:lpstr>
      <vt:lpstr>Deriving the Equation of an Ellipse</vt:lpstr>
      <vt:lpstr>Deriving the Equation of an Ellipse</vt:lpstr>
      <vt:lpstr>The Perimeter of a Circle vs. an Ellipse</vt:lpstr>
      <vt:lpstr>The Perimeter of an Ellipse</vt:lpstr>
      <vt:lpstr>The Perimeter of an Ellipse</vt:lpstr>
      <vt:lpstr>Plotting an Ellipse</vt:lpstr>
      <vt:lpstr>Plotting an Ellipse</vt:lpstr>
      <vt:lpstr>Open trig_ellipse.py</vt:lpstr>
      <vt:lpstr>View trig_ellipse.py</vt:lpstr>
      <vt:lpstr>View trig_ellipse.py</vt:lpstr>
      <vt:lpstr>Run trig_ellipse.py</vt:lpstr>
      <vt:lpstr>Random Walks</vt:lpstr>
      <vt:lpstr>Open random_walk.py</vt:lpstr>
      <vt:lpstr>Run random_walk.py</vt:lpstr>
      <vt:lpstr>PowerPoint Presentation</vt:lpstr>
      <vt:lpstr>PowerPoint Presentation</vt:lpstr>
      <vt:lpstr>Uniform (Fair) Sampling in a Circle</vt:lpstr>
      <vt:lpstr>Open circle_sampling.py</vt:lpstr>
      <vt:lpstr>Run circle_sampling.py</vt:lpstr>
      <vt:lpstr>Uniform (Fair) Sampling in a Circle</vt:lpstr>
      <vt:lpstr>Edit circle_sampling.py</vt:lpstr>
      <vt:lpstr>Run circle_sampling.py</vt:lpstr>
      <vt:lpstr>Parametric Curves</vt:lpstr>
      <vt:lpstr>Parametric Curves</vt:lpstr>
      <vt:lpstr>Parametric Curves</vt:lpstr>
      <vt:lpstr>Using a Polar Projection</vt:lpstr>
      <vt:lpstr>PowerPoint Presentation</vt:lpstr>
      <vt:lpstr>Open archimedes_spiral.py</vt:lpstr>
      <vt:lpstr>View archimedes_spiral.py</vt:lpstr>
      <vt:lpstr>Run archimedes_spiral.py</vt:lpstr>
      <vt:lpstr>Parametric Curves Using Polar Graphs</vt:lpstr>
      <vt:lpstr>Open rose_curves.py</vt:lpstr>
      <vt:lpstr>View rose_curves.py</vt:lpstr>
      <vt:lpstr>View rose_curves.py</vt:lpstr>
      <vt:lpstr>Matplotlib plt versus axes methods</vt:lpstr>
      <vt:lpstr>Run rose_curves.py</vt:lpstr>
      <vt:lpstr>Edit rose_curves.py</vt:lpstr>
      <vt:lpstr>Run rose_curves.py</vt:lpstr>
      <vt:lpstr>Edit rose_curves.py</vt:lpstr>
      <vt:lpstr>Run rose_curves.py</vt:lpstr>
      <vt:lpstr>The Superposition of Waves</vt:lpstr>
      <vt:lpstr>The Superposition of Waves</vt:lpstr>
      <vt:lpstr>The Superposition of Waves</vt:lpstr>
      <vt:lpstr>Open plot_superposition.py</vt:lpstr>
      <vt:lpstr>Run plot_superposition.py</vt:lpstr>
      <vt:lpstr>Frequency Alignment</vt:lpstr>
      <vt:lpstr>Parametric Curves</vt:lpstr>
      <vt:lpstr>Session 07 – Now You Know…</vt:lpstr>
      <vt:lpstr>Task 07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1240</cp:revision>
  <cp:lastPrinted>2015-06-01T00:45:11Z</cp:lastPrinted>
  <dcterms:created xsi:type="dcterms:W3CDTF">2014-09-21T17:58:26Z</dcterms:created>
  <dcterms:modified xsi:type="dcterms:W3CDTF">2026-03-25T02:55:43Z</dcterms:modified>
</cp:coreProperties>
</file>