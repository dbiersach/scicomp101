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handoutMasterIdLst>
    <p:handoutMasterId r:id="rId10"/>
  </p:handoutMasterIdLst>
  <p:sldIdLst>
    <p:sldId id="1220" r:id="rId2"/>
    <p:sldId id="972" r:id="rId3"/>
    <p:sldId id="997" r:id="rId4"/>
    <p:sldId id="945" r:id="rId5"/>
    <p:sldId id="1019" r:id="rId6"/>
    <p:sldId id="416" r:id="rId7"/>
    <p:sldId id="995" r:id="rId8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NUL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06</a:t>
            </a:r>
          </a:p>
          <a:p>
            <a:pPr algn="ctr"/>
            <a:r>
              <a:rPr lang="en-US" dirty="0"/>
              <a:t>Infinite Series and Limits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06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Appreciate </a:t>
            </a:r>
            <a:r>
              <a:rPr lang="en-US" sz="2400" i="1" dirty="0"/>
              <a:t>functional equations</a:t>
            </a:r>
            <a:r>
              <a:rPr lang="en-US" sz="2400" dirty="0"/>
              <a:t> like Gauss Summation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94275" y="985781"/>
            <a:ext cx="4098937" cy="180684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904" y="999497"/>
            <a:ext cx="30625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Carl Friedrich Gauss</a:t>
            </a:r>
          </a:p>
          <a:p>
            <a:pPr algn="ctr"/>
            <a:r>
              <a:rPr lang="en-US" sz="2000" dirty="0"/>
              <a:t>(1777 – 1855)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1962" y="2048148"/>
            <a:ext cx="2438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Sum the integers from 1 to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A Shortcut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16908" y="3183946"/>
          <a:ext cx="609600" cy="29527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594919" y="3161635"/>
          <a:ext cx="1219200" cy="176022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6584" y="5142406"/>
            <a:ext cx="2146342" cy="82066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4209535" y="6054811"/>
            <a:ext cx="2998573" cy="453477"/>
            <a:chOff x="4209535" y="6054811"/>
            <a:chExt cx="2998573" cy="453477"/>
          </a:xfrm>
        </p:grpSpPr>
        <p:sp>
          <p:nvSpPr>
            <p:cNvPr id="15" name="TextBox 14"/>
            <p:cNvSpPr txBox="1"/>
            <p:nvPr/>
          </p:nvSpPr>
          <p:spPr>
            <a:xfrm>
              <a:off x="4209535" y="613895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 55</a:t>
              </a:r>
            </a:p>
          </p:txBody>
        </p:sp>
        <p:cxnSp>
          <p:nvCxnSpPr>
            <p:cNvPr id="17" name="Straight Connector 16"/>
            <p:cNvCxnSpPr/>
            <p:nvPr/>
          </p:nvCxnSpPr>
          <p:spPr>
            <a:xfrm>
              <a:off x="4300151" y="6054811"/>
              <a:ext cx="29079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3245707" y="3193240"/>
            <a:ext cx="4690273" cy="1815020"/>
            <a:chOff x="3245707" y="3193240"/>
            <a:chExt cx="4690273" cy="1815020"/>
          </a:xfrm>
        </p:grpSpPr>
        <p:sp>
          <p:nvSpPr>
            <p:cNvPr id="11" name="TextBox 10"/>
            <p:cNvSpPr txBox="1"/>
            <p:nvPr/>
          </p:nvSpPr>
          <p:spPr>
            <a:xfrm>
              <a:off x="4212477" y="3193240"/>
              <a:ext cx="37235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 = 10 </a:t>
              </a:r>
            </a:p>
            <a:p>
              <a:r>
                <a:rPr lang="en-US" dirty="0"/>
                <a:t>4 matched rows that each sum to 10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176584" y="431350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10 / 2 = 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176584" y="4638928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n = 10</a:t>
              </a:r>
            </a:p>
          </p:txBody>
        </p:sp>
        <p:cxnSp>
          <p:nvCxnSpPr>
            <p:cNvPr id="20" name="Straight Connector 19"/>
            <p:cNvCxnSpPr/>
            <p:nvPr/>
          </p:nvCxnSpPr>
          <p:spPr>
            <a:xfrm flipV="1">
              <a:off x="4110681" y="3196281"/>
              <a:ext cx="0" cy="98854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3245708" y="4493741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3245707" y="4802660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Arrow Connector 15"/>
          <p:cNvCxnSpPr/>
          <p:nvPr/>
        </p:nvCxnSpPr>
        <p:spPr>
          <a:xfrm>
            <a:off x="4394275" y="3788229"/>
            <a:ext cx="409954" cy="1589314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5595257" y="4638928"/>
            <a:ext cx="312057" cy="861986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5907314" y="4921855"/>
            <a:ext cx="166915" cy="528259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/>
              <p:nvPr/>
            </p:nvSpPr>
            <p:spPr>
              <a:xfrm>
                <a:off x="6321026" y="5191855"/>
                <a:ext cx="1559979" cy="61811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026" y="5191855"/>
                <a:ext cx="1559979" cy="618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1760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193" y="1067112"/>
            <a:ext cx="1990278" cy="7313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6119" y="1248129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first </a:t>
            </a:r>
            <a:r>
              <a:rPr lang="en-US" sz="2000" b="1" dirty="0"/>
              <a:t>n</a:t>
            </a:r>
          </a:p>
          <a:p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119" y="2161136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</a:t>
            </a:r>
            <a:r>
              <a:rPr lang="en-US" sz="2000" u="sng" dirty="0"/>
              <a:t>squares</a:t>
            </a:r>
            <a:r>
              <a:rPr lang="en-US" sz="2000" dirty="0"/>
              <a:t> of first </a:t>
            </a:r>
            <a:r>
              <a:rPr lang="en-US" sz="2000" b="1" dirty="0"/>
              <a:t>n </a:t>
            </a:r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1609" y="3677530"/>
            <a:ext cx="5246491" cy="761029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21492" y="3069259"/>
          <a:ext cx="1828800" cy="324802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n^2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Sum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Another Shortcut</a:t>
            </a:r>
          </a:p>
        </p:txBody>
      </p:sp>
      <p:sp>
        <p:nvSpPr>
          <p:cNvPr id="2" name="Rectangle 1"/>
          <p:cNvSpPr/>
          <p:nvPr/>
        </p:nvSpPr>
        <p:spPr>
          <a:xfrm>
            <a:off x="7086600" y="3677530"/>
            <a:ext cx="1541206" cy="7610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3424664" y="2605262"/>
            <a:ext cx="3543949" cy="10154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5D462-EEF0-4521-8D42-3C1F7E373AD1}"/>
              </a:ext>
            </a:extLst>
          </p:cNvPr>
          <p:cNvSpPr txBox="1"/>
          <p:nvPr/>
        </p:nvSpPr>
        <p:spPr>
          <a:xfrm>
            <a:off x="4295193" y="4735735"/>
            <a:ext cx="38273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These are </a:t>
            </a:r>
            <a:r>
              <a:rPr lang="en-US" sz="2000" b="1" u="sng" dirty="0">
                <a:solidFill>
                  <a:srgbClr val="7030A0"/>
                </a:solidFill>
              </a:rPr>
              <a:t>functional equations</a:t>
            </a:r>
            <a:r>
              <a:rPr lang="en-US" sz="2000" b="1" dirty="0">
                <a:solidFill>
                  <a:srgbClr val="7030A0"/>
                </a:solidFill>
              </a:rPr>
              <a:t> - </a:t>
            </a:r>
          </a:p>
          <a:p>
            <a:pPr algn="ctr"/>
            <a:r>
              <a:rPr lang="en-US" sz="2000" b="1" dirty="0">
                <a:solidFill>
                  <a:srgbClr val="7030A0"/>
                </a:solidFill>
              </a:rPr>
              <a:t>we can now calculate the sums</a:t>
            </a:r>
          </a:p>
          <a:p>
            <a:pPr algn="ctr"/>
            <a:r>
              <a:rPr lang="en-US" sz="2000" b="1" i="1" dirty="0">
                <a:solidFill>
                  <a:srgbClr val="7030A0"/>
                </a:solidFill>
              </a:rPr>
              <a:t>immediately</a:t>
            </a:r>
            <a:r>
              <a:rPr lang="en-US" sz="2000" b="1" dirty="0">
                <a:solidFill>
                  <a:srgbClr val="7030A0"/>
                </a:solidFill>
              </a:rPr>
              <a:t> without having to loop over every element!</a:t>
            </a:r>
          </a:p>
        </p:txBody>
      </p:sp>
    </p:spTree>
    <p:extLst>
      <p:ext uri="{BB962C8B-B14F-4D97-AF65-F5344CB8AC3E}">
        <p14:creationId xmlns:p14="http://schemas.microsoft.com/office/powerpoint/2010/main" val="3555870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500"/>
                            </p:stCondLst>
                            <p:childTnLst>
                              <p:par>
                                <p:cTn id="3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" grpId="0" animBg="1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5AC1B974-3C7C-5D20-B04F-74D5CE1FD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990" y="1465652"/>
            <a:ext cx="7068856" cy="50403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gauss_summation.py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7EBBCE6-AA15-C402-6F26-07DD7ADAB4E2}"/>
              </a:ext>
            </a:extLst>
          </p:cNvPr>
          <p:cNvGrpSpPr/>
          <p:nvPr/>
        </p:nvGrpSpPr>
        <p:grpSpPr>
          <a:xfrm>
            <a:off x="1702083" y="2823484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29C69AA-0197-BBB0-A4D0-0DDB489AB1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C32F22-D326-E4C2-6D56-1D27E612F08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ABCD795-010D-BFD3-7C74-80EBB2E639A2}"/>
              </a:ext>
            </a:extLst>
          </p:cNvPr>
          <p:cNvGrpSpPr/>
          <p:nvPr/>
        </p:nvGrpSpPr>
        <p:grpSpPr>
          <a:xfrm>
            <a:off x="2969799" y="2986801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806855D-4D14-376E-33F9-89C4955DF8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C19183B-68A2-5AA5-F2E7-DA7E6F0FBFB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6A36694-B2A5-B87C-5FD9-20C4AAB1F6FE}"/>
              </a:ext>
            </a:extLst>
          </p:cNvPr>
          <p:cNvGrpSpPr/>
          <p:nvPr/>
        </p:nvGrpSpPr>
        <p:grpSpPr>
          <a:xfrm>
            <a:off x="1817577" y="3135255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8B35758-67F7-4020-B3C5-65D6E9B6EBC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3DD53AB-2CAF-10A7-7D50-7A7BD6A166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33CB4F5-92BF-0485-838C-EE1A5ADDD8DC}"/>
              </a:ext>
            </a:extLst>
          </p:cNvPr>
          <p:cNvGrpSpPr/>
          <p:nvPr/>
        </p:nvGrpSpPr>
        <p:grpSpPr>
          <a:xfrm>
            <a:off x="3917513" y="5281291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CE2B2B5-3449-145D-CAB0-89D89377571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7BADC94-A386-1934-B565-397F8FFCF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B4EFB76-E00A-3BDC-9B12-54179B8A275F}"/>
              </a:ext>
            </a:extLst>
          </p:cNvPr>
          <p:cNvGrpSpPr/>
          <p:nvPr/>
        </p:nvGrpSpPr>
        <p:grpSpPr>
          <a:xfrm>
            <a:off x="2456913" y="3447027"/>
            <a:ext cx="1068643" cy="369332"/>
            <a:chOff x="3647644" y="5359159"/>
            <a:chExt cx="1068643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51BB1C-9760-E6E2-CFF7-A52DC960129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93631400-627B-CDD2-7060-AD19147BEE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D83B3B1-FB8C-25A3-DF73-F3025953C1D8}"/>
              </a:ext>
            </a:extLst>
          </p:cNvPr>
          <p:cNvGrpSpPr/>
          <p:nvPr/>
        </p:nvGrpSpPr>
        <p:grpSpPr>
          <a:xfrm>
            <a:off x="1944213" y="3588642"/>
            <a:ext cx="1076632" cy="369332"/>
            <a:chOff x="2157212" y="5356391"/>
            <a:chExt cx="1076632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D4AAC0A-74E3-3A29-0BA6-B6BA08C9D99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A1C5F50-A11E-0833-0E37-0A0FBF9D7F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791532C-552F-A322-5B0F-4F8119BBA1CE}"/>
              </a:ext>
            </a:extLst>
          </p:cNvPr>
          <p:cNvGrpSpPr/>
          <p:nvPr/>
        </p:nvGrpSpPr>
        <p:grpSpPr>
          <a:xfrm>
            <a:off x="4093622" y="5399843"/>
            <a:ext cx="1076632" cy="369332"/>
            <a:chOff x="2157212" y="5356391"/>
            <a:chExt cx="1076632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0777A6B-167D-DC68-721C-DC1263D73E4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7297A5F-9ACE-8C2F-03D1-290189BB44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49BCC82-E2CB-5CF5-2456-1A7A8EFF49A1}"/>
              </a:ext>
            </a:extLst>
          </p:cNvPr>
          <p:cNvGrpSpPr/>
          <p:nvPr/>
        </p:nvGrpSpPr>
        <p:grpSpPr>
          <a:xfrm>
            <a:off x="2728907" y="3906177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B716C52-7EEC-C3C0-5F7F-E9CD3F413B2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8CFB0B8-AAA2-3E7B-ECB6-34B1B63CD2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3A775F8-31EC-152B-AB3E-E95DB1B35188}"/>
              </a:ext>
            </a:extLst>
          </p:cNvPr>
          <p:cNvGrpSpPr/>
          <p:nvPr/>
        </p:nvGrpSpPr>
        <p:grpSpPr>
          <a:xfrm>
            <a:off x="1889941" y="4063898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A660318-D56D-B8FE-1BFB-0E90B75D405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46119063-3D53-6955-96F9-2DDD4CBB61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4101E2E-0046-05B6-F3D4-00B19E98473B}"/>
              </a:ext>
            </a:extLst>
          </p:cNvPr>
          <p:cNvGrpSpPr/>
          <p:nvPr/>
        </p:nvGrpSpPr>
        <p:grpSpPr>
          <a:xfrm>
            <a:off x="3857689" y="5530559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A6B4D1A-4377-576E-A3D6-E78DBEB5477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100208A-42A8-20E0-DDFA-013024226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A07ACAF-944D-39A4-8BC7-3D7DA6FC8B15}"/>
              </a:ext>
            </a:extLst>
          </p:cNvPr>
          <p:cNvCxnSpPr>
            <a:cxnSpLocks/>
          </p:cNvCxnSpPr>
          <p:nvPr/>
        </p:nvCxnSpPr>
        <p:spPr>
          <a:xfrm flipH="1">
            <a:off x="3337121" y="4560655"/>
            <a:ext cx="69317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0EEE037-6C35-086D-8356-C6286697B7CC}"/>
              </a:ext>
            </a:extLst>
          </p:cNvPr>
          <p:cNvCxnSpPr>
            <a:cxnSpLocks/>
          </p:cNvCxnSpPr>
          <p:nvPr/>
        </p:nvCxnSpPr>
        <p:spPr>
          <a:xfrm flipH="1">
            <a:off x="1338689" y="5862416"/>
            <a:ext cx="69317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73B91A6-371D-BEC8-38F3-3A2E95197268}"/>
                  </a:ext>
                </a:extLst>
              </p:cNvPr>
              <p:cNvSpPr txBox="1"/>
              <p:nvPr/>
            </p:nvSpPr>
            <p:spPr>
              <a:xfrm>
                <a:off x="4442660" y="2507062"/>
                <a:ext cx="295821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600" dirty="0">
                    <a:solidFill>
                      <a:srgbClr val="7030A0"/>
                    </a:solidFill>
                  </a:rPr>
                  <a:t> is an </a:t>
                </a:r>
                <a:r>
                  <a:rPr lang="en-US" sz="1600" b="1" dirty="0">
                    <a:solidFill>
                      <a:srgbClr val="7030A0"/>
                    </a:solidFill>
                  </a:rPr>
                  <a:t>array</a:t>
                </a:r>
                <a:r>
                  <a:rPr lang="en-US" sz="1600" dirty="0">
                    <a:solidFill>
                      <a:srgbClr val="7030A0"/>
                    </a:solidFill>
                  </a:rPr>
                  <a:t> containing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1..10</m:t>
                    </m:r>
                  </m:oMath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73B91A6-371D-BEC8-38F3-3A2E95197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2660" y="2507062"/>
                <a:ext cx="2958215" cy="338554"/>
              </a:xfrm>
              <a:prstGeom prst="rect">
                <a:avLst/>
              </a:prstGeom>
              <a:blipFill>
                <a:blip r:embed="rId3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3362D4AF-60A0-8D0B-76C3-B7DB78C3A78D}"/>
              </a:ext>
            </a:extLst>
          </p:cNvPr>
          <p:cNvGrpSpPr/>
          <p:nvPr/>
        </p:nvGrpSpPr>
        <p:grpSpPr>
          <a:xfrm>
            <a:off x="4496185" y="3031849"/>
            <a:ext cx="2904690" cy="754694"/>
            <a:chOff x="4496185" y="3017531"/>
            <a:chExt cx="2904690" cy="7546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9E489D78-C6AC-6A88-2992-4FC794252E43}"/>
                    </a:ext>
                  </a:extLst>
                </p:cNvPr>
                <p:cNvSpPr txBox="1"/>
                <p:nvPr/>
              </p:nvSpPr>
              <p:spPr>
                <a:xfrm>
                  <a:off x="4496185" y="3017531"/>
                  <a:ext cx="1199431" cy="75469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1=</m:t>
                        </m:r>
                        <m:nary>
                          <m:naryPr>
                            <m:chr m:val="∑"/>
                            <m:ctrlPr>
                              <a:rPr lang="en-US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9E489D78-C6AC-6A88-2992-4FC794252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185" y="3017531"/>
                  <a:ext cx="1199431" cy="75469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A0552846-6B23-1083-0AF6-E8D4BBDBC5A9}"/>
                    </a:ext>
                  </a:extLst>
                </p:cNvPr>
                <p:cNvSpPr txBox="1"/>
                <p:nvPr/>
              </p:nvSpPr>
              <p:spPr>
                <a:xfrm>
                  <a:off x="5820428" y="3102491"/>
                  <a:ext cx="1580447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b="1" dirty="0">
                      <a:solidFill>
                        <a:srgbClr val="7030A0"/>
                      </a:solidFill>
                    </a:rPr>
                    <a:t>Cumulative</a:t>
                  </a:r>
                  <a:r>
                    <a:rPr lang="en-US" sz="1600" dirty="0">
                      <a:solidFill>
                        <a:srgbClr val="7030A0"/>
                      </a:solidFill>
                    </a:rPr>
                    <a:t> sum of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→1..10</m:t>
                      </m:r>
                    </m:oMath>
                  </a14:m>
                  <a:endParaRPr lang="en-US" sz="16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A0552846-6B23-1083-0AF6-E8D4BBDB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0428" y="3102491"/>
                  <a:ext cx="1580447" cy="584775"/>
                </a:xfrm>
                <a:prstGeom prst="rect">
                  <a:avLst/>
                </a:prstGeom>
                <a:blipFill>
                  <a:blip r:embed="rId5"/>
                  <a:stretch>
                    <a:fillRect l="-772" t="-3125" r="-347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D862588-6FFA-A487-3480-5F6D4BF1C3CD}"/>
              </a:ext>
            </a:extLst>
          </p:cNvPr>
          <p:cNvGrpSpPr/>
          <p:nvPr/>
        </p:nvGrpSpPr>
        <p:grpSpPr>
          <a:xfrm>
            <a:off x="4496185" y="3972776"/>
            <a:ext cx="3293975" cy="584775"/>
            <a:chOff x="4496185" y="3905321"/>
            <a:chExt cx="3293975" cy="5847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CD402A0-82FF-7B4D-D263-9FD378C8E8C0}"/>
                    </a:ext>
                  </a:extLst>
                </p:cNvPr>
                <p:cNvSpPr txBox="1"/>
                <p:nvPr/>
              </p:nvSpPr>
              <p:spPr>
                <a:xfrm>
                  <a:off x="4496185" y="3929846"/>
                  <a:ext cx="1693156" cy="5357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num>
                          <m:den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CD402A0-82FF-7B4D-D263-9FD378C8E8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185" y="3929846"/>
                  <a:ext cx="1693156" cy="53572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BEF5010D-3349-0E06-CEF3-566B97BF6522}"/>
                    </a:ext>
                  </a:extLst>
                </p:cNvPr>
                <p:cNvSpPr txBox="1"/>
                <p:nvPr/>
              </p:nvSpPr>
              <p:spPr>
                <a:xfrm>
                  <a:off x="6209713" y="3905321"/>
                  <a:ext cx="1580447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rgbClr val="7030A0"/>
                      </a:solidFill>
                    </a:rPr>
                    <a:t>Gauss sum of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→1..10</m:t>
                      </m:r>
                    </m:oMath>
                  </a14:m>
                  <a:endParaRPr lang="en-US" sz="16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BEF5010D-3349-0E06-CEF3-566B97BF65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9713" y="3905321"/>
                  <a:ext cx="1580447" cy="584775"/>
                </a:xfrm>
                <a:prstGeom prst="rect">
                  <a:avLst/>
                </a:prstGeom>
                <a:blipFill>
                  <a:blip r:embed="rId7"/>
                  <a:stretch>
                    <a:fillRect t="-3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09347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06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respects </a:t>
            </a:r>
            <a:r>
              <a:rPr lang="en-US" sz="2400" b="1" dirty="0"/>
              <a:t>PEMDAS</a:t>
            </a:r>
            <a:r>
              <a:rPr lang="en-US" sz="2400" dirty="0"/>
              <a:t> operator precedence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define variables in Python (</a:t>
            </a:r>
            <a:r>
              <a:rPr lang="en-US" sz="2400" b="1" dirty="0">
                <a:solidFill>
                  <a:srgbClr val="0070C0"/>
                </a:solidFill>
              </a:rPr>
              <a:t>snake_case</a:t>
            </a:r>
            <a:r>
              <a:rPr lang="en-US" sz="2400" dirty="0"/>
              <a:t>)</a:t>
            </a:r>
            <a:endParaRPr lang="en-US" sz="2400" b="1" dirty="0">
              <a:solidFill>
                <a:srgbClr val="7030A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use </a:t>
            </a:r>
            <a:r>
              <a:rPr lang="en-US" sz="2400" b="1" dirty="0"/>
              <a:t>print</a:t>
            </a:r>
            <a:r>
              <a:rPr lang="en-US" sz="2400" dirty="0"/>
              <a:t>()</a:t>
            </a:r>
            <a:r>
              <a:rPr lang="en-US" sz="2400" b="1" dirty="0"/>
              <a:t> </a:t>
            </a:r>
            <a:r>
              <a:rPr lang="en-US" sz="2400" dirty="0"/>
              <a:t>to show variable values on screen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install Python </a:t>
            </a:r>
            <a:r>
              <a:rPr lang="en-US" sz="2400" b="1" dirty="0">
                <a:solidFill>
                  <a:srgbClr val="7030A0"/>
                </a:solidFill>
              </a:rPr>
              <a:t>packages</a:t>
            </a:r>
            <a:r>
              <a:rPr lang="en-US" sz="2400" dirty="0"/>
              <a:t> into the Thonny IDE, such as </a:t>
            </a:r>
            <a:r>
              <a:rPr lang="en-US" sz="2400" b="1" dirty="0"/>
              <a:t>numpy</a:t>
            </a:r>
            <a:r>
              <a:rPr lang="en-US" sz="2400" dirty="0"/>
              <a:t>, which provides extensive mathematical functions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/>
              <a:t>np.linspace() </a:t>
            </a:r>
            <a:r>
              <a:rPr lang="en-US" sz="2400" dirty="0"/>
              <a:t>creates an </a:t>
            </a:r>
            <a:r>
              <a:rPr lang="en-US" sz="2400" b="1" dirty="0">
                <a:solidFill>
                  <a:srgbClr val="00B050"/>
                </a:solidFill>
              </a:rPr>
              <a:t>array</a:t>
            </a:r>
            <a:r>
              <a:rPr lang="en-US" sz="2400" dirty="0"/>
              <a:t> having a given </a:t>
            </a:r>
            <a:r>
              <a:rPr lang="en-US" sz="2400" i="1" dirty="0"/>
              <a:t>number of elements</a:t>
            </a:r>
            <a:r>
              <a:rPr lang="en-US" sz="2400" dirty="0"/>
              <a:t> with equal spacing within the </a:t>
            </a:r>
            <a:r>
              <a:rPr lang="en-US" sz="2400" b="1" dirty="0"/>
              <a:t>closed-closed</a:t>
            </a:r>
            <a:r>
              <a:rPr lang="en-US" sz="2400" dirty="0"/>
              <a:t> interval </a:t>
            </a:r>
            <a:r>
              <a:rPr lang="en-US" sz="2400" b="1" dirty="0">
                <a:solidFill>
                  <a:srgbClr val="FF0000"/>
                </a:solidFill>
              </a:rPr>
              <a:t>[start, stop]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7030A0"/>
                </a:solidFill>
              </a:rPr>
              <a:t>vectorized operation </a:t>
            </a:r>
            <a:r>
              <a:rPr lang="en-US" sz="2400" dirty="0"/>
              <a:t>will act on each individual element in one or more arrays and will return a new result </a:t>
            </a:r>
            <a:r>
              <a:rPr lang="en-US" sz="2400" b="1" dirty="0"/>
              <a:t>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279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7C4-7DE6-4E7A-C6B2-5ABB65AAF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FF2F9-4030-DA6C-06CA-A0EE555C3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r>
              <a:rPr lang="en-US" sz="2400" dirty="0"/>
              <a:t>Update the code in </a:t>
            </a:r>
            <a:r>
              <a:rPr lang="en-US" sz="2400" b="1" dirty="0"/>
              <a:t>age_in_seconds.py </a:t>
            </a:r>
            <a:r>
              <a:rPr lang="en-US" sz="2400" dirty="0"/>
              <a:t>to calculate and display your age in both years </a:t>
            </a:r>
            <a:r>
              <a:rPr lang="en-US" sz="2400" i="1" dirty="0"/>
              <a:t>and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B050"/>
                </a:solidFill>
              </a:rPr>
              <a:t>seconds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FDF3A-2C6D-91EB-88A5-0196BBE6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800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6075</TotalTime>
  <Words>353</Words>
  <Application>Microsoft Office PowerPoint</Application>
  <PresentationFormat>On-screen Show (4:3)</PresentationFormat>
  <Paragraphs>111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Cambria Math</vt:lpstr>
      <vt:lpstr>Wingdings</vt:lpstr>
      <vt:lpstr>Office Theme</vt:lpstr>
      <vt:lpstr>PowerPoint Presentation</vt:lpstr>
      <vt:lpstr>Session 06 – Goals</vt:lpstr>
      <vt:lpstr>PowerPoint Presentation</vt:lpstr>
      <vt:lpstr>PowerPoint Presentation</vt:lpstr>
      <vt:lpstr>Edit gauss_summation.py</vt:lpstr>
      <vt:lpstr>Session 06 – Now You Know…</vt:lpstr>
      <vt:lpstr>TASK 06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969</cp:revision>
  <cp:lastPrinted>2015-06-01T00:45:11Z</cp:lastPrinted>
  <dcterms:created xsi:type="dcterms:W3CDTF">2014-09-21T17:58:26Z</dcterms:created>
  <dcterms:modified xsi:type="dcterms:W3CDTF">2025-11-14T05:28:32Z</dcterms:modified>
</cp:coreProperties>
</file>