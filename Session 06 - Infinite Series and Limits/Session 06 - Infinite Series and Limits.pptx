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handoutMasterIdLst>
    <p:handoutMasterId r:id="rId62"/>
  </p:handoutMasterIdLst>
  <p:sldIdLst>
    <p:sldId id="1220" r:id="rId2"/>
    <p:sldId id="972" r:id="rId3"/>
    <p:sldId id="1303" r:id="rId4"/>
    <p:sldId id="1342" r:id="rId5"/>
    <p:sldId id="1444" r:id="rId6"/>
    <p:sldId id="1448" r:id="rId7"/>
    <p:sldId id="1449" r:id="rId8"/>
    <p:sldId id="943" r:id="rId9"/>
    <p:sldId id="945" r:id="rId10"/>
    <p:sldId id="1445" r:id="rId11"/>
    <p:sldId id="1343" r:id="rId12"/>
    <p:sldId id="1344" r:id="rId13"/>
    <p:sldId id="1314" r:id="rId14"/>
    <p:sldId id="1001" r:id="rId15"/>
    <p:sldId id="1446" r:id="rId16"/>
    <p:sldId id="1447" r:id="rId17"/>
    <p:sldId id="1030" r:id="rId18"/>
    <p:sldId id="1032" r:id="rId19"/>
    <p:sldId id="1451" r:id="rId20"/>
    <p:sldId id="375" r:id="rId21"/>
    <p:sldId id="1452" r:id="rId22"/>
    <p:sldId id="1450" r:id="rId23"/>
    <p:sldId id="1330" r:id="rId24"/>
    <p:sldId id="1453" r:id="rId25"/>
    <p:sldId id="1355" r:id="rId26"/>
    <p:sldId id="1357" r:id="rId27"/>
    <p:sldId id="1454" r:id="rId28"/>
    <p:sldId id="1358" r:id="rId29"/>
    <p:sldId id="1455" r:id="rId30"/>
    <p:sldId id="1456" r:id="rId31"/>
    <p:sldId id="1457" r:id="rId32"/>
    <p:sldId id="1458" r:id="rId33"/>
    <p:sldId id="1459" r:id="rId34"/>
    <p:sldId id="1460" r:id="rId35"/>
    <p:sldId id="1461" r:id="rId36"/>
    <p:sldId id="1462" r:id="rId37"/>
    <p:sldId id="1463" r:id="rId38"/>
    <p:sldId id="1464" r:id="rId39"/>
    <p:sldId id="1465" r:id="rId40"/>
    <p:sldId id="1466" r:id="rId41"/>
    <p:sldId id="1467" r:id="rId42"/>
    <p:sldId id="1469" r:id="rId43"/>
    <p:sldId id="1470" r:id="rId44"/>
    <p:sldId id="1471" r:id="rId45"/>
    <p:sldId id="1472" r:id="rId46"/>
    <p:sldId id="1473" r:id="rId47"/>
    <p:sldId id="1474" r:id="rId48"/>
    <p:sldId id="1475" r:id="rId49"/>
    <p:sldId id="1476" r:id="rId50"/>
    <p:sldId id="1477" r:id="rId51"/>
    <p:sldId id="1478" r:id="rId52"/>
    <p:sldId id="1479" r:id="rId53"/>
    <p:sldId id="1267" r:id="rId54"/>
    <p:sldId id="1480" r:id="rId55"/>
    <p:sldId id="1481" r:id="rId56"/>
    <p:sldId id="1482" r:id="rId57"/>
    <p:sldId id="1483" r:id="rId58"/>
    <p:sldId id="1434" r:id="rId59"/>
    <p:sldId id="1305" r:id="rId60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8E23"/>
    <a:srgbClr val="C7758A"/>
    <a:srgbClr val="D09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5" autoAdjust="0"/>
    <p:restoredTop sz="96723" autoAdjust="0"/>
  </p:normalViewPr>
  <p:slideViewPr>
    <p:cSldViewPr snapToGrid="0">
      <p:cViewPr varScale="1">
        <p:scale>
          <a:sx n="114" d="100"/>
          <a:sy n="114" d="100"/>
        </p:scale>
        <p:origin x="1506" y="318"/>
      </p:cViewPr>
      <p:guideLst/>
    </p:cSldViewPr>
  </p:slideViewPr>
  <p:outlineViewPr>
    <p:cViewPr>
      <p:scale>
        <a:sx n="33" d="100"/>
        <a:sy n="33" d="100"/>
      </p:scale>
      <p:origin x="0" y="-1079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0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97F1-CFA6-8C4E-1EB0-DFA2EFA9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6E8A6-8E83-2B90-D439-98A5F1D40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6B26D-985B-2592-D4C3-917B2EC78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88D7B-FD9E-0AB4-D44C-FF27AFB5C0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465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529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10" Type="http://schemas.microsoft.com/office/2007/relationships/hdphoto" Target="../media/hdphoto1.wdp"/><Relationship Id="rId4" Type="http://schemas.openxmlformats.org/officeDocument/2006/relationships/image" Target="../media/image350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CpRl0NzVu4?t=0" TargetMode="External"/><Relationship Id="rId2" Type="http://schemas.openxmlformats.org/officeDocument/2006/relationships/hyperlink" Target="https://www.youtube.com/watch?v=d-o3eB9sfls?t=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0.jpeg"/><Relationship Id="rId4" Type="http://schemas.openxmlformats.org/officeDocument/2006/relationships/image" Target="../media/image4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CpRl0NzVu4?t=0" TargetMode="External"/><Relationship Id="rId7" Type="http://schemas.openxmlformats.org/officeDocument/2006/relationships/image" Target="../media/image44.png"/><Relationship Id="rId2" Type="http://schemas.openxmlformats.org/officeDocument/2006/relationships/hyperlink" Target="https://www.youtube.com/watch?v=d-o3eB9sfls?t=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0.jpeg"/><Relationship Id="rId4" Type="http://schemas.openxmlformats.org/officeDocument/2006/relationships/image" Target="../media/image40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06</a:t>
            </a:r>
          </a:p>
          <a:p>
            <a:pPr algn="ctr"/>
            <a:r>
              <a:rPr lang="en-US" dirty="0"/>
              <a:t>Infinite Series and Limits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06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Use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numpy</a:t>
                </a:r>
                <a:r>
                  <a:rPr lang="en-US" sz="2400" dirty="0"/>
                  <a:t> arrays and </a:t>
                </a:r>
                <a:r>
                  <a:rPr lang="en-US" sz="2400" b="1" dirty="0"/>
                  <a:t>vectorized</a:t>
                </a:r>
                <a:r>
                  <a:rPr lang="en-US" sz="2400" dirty="0"/>
                  <a:t> operations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Create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matplotlib</a:t>
                </a:r>
                <a:r>
                  <a:rPr lang="en-US" sz="2400" dirty="0"/>
                  <a:t> graphs that </a:t>
                </a:r>
                <a:r>
                  <a:rPr lang="en-US" sz="2400" u="sng" dirty="0"/>
                  <a:t>clarify</a:t>
                </a:r>
                <a:r>
                  <a:rPr lang="en-US" sz="2400" dirty="0"/>
                  <a:t> a function’s behavior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Numerically </a:t>
                </a:r>
                <a:r>
                  <a:rPr lang="en-US" sz="2400" i="1" dirty="0"/>
                  <a:t>estimate</a:t>
                </a:r>
                <a:r>
                  <a:rPr lang="en-US" sz="2400" dirty="0"/>
                  <a:t> and visualize </a:t>
                </a:r>
                <a:r>
                  <a:rPr lang="en-US" sz="2400" b="1" dirty="0"/>
                  <a:t>infinite series </a:t>
                </a:r>
                <a:r>
                  <a:rPr lang="en-US" sz="2400" dirty="0"/>
                  <a:t>and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limits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Calculate the</a:t>
                </a:r>
                <a:r>
                  <a:rPr lang="en-US" sz="2400" b="1" dirty="0"/>
                  <a:t> Leibniz</a:t>
                </a:r>
                <a:r>
                  <a:rPr lang="en-US" sz="2400" dirty="0"/>
                  <a:t> Series for the value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Develop the functional equation for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Gaussian Summation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Evaluate the convergence of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Harmonic</a:t>
                </a:r>
                <a:r>
                  <a:rPr lang="en-US" sz="2400" dirty="0"/>
                  <a:t> and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Basel</a:t>
                </a:r>
                <a:r>
                  <a:rPr lang="en-US" sz="2400" dirty="0"/>
                  <a:t> Series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Plot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limits</a:t>
                </a:r>
                <a:r>
                  <a:rPr lang="en-US" sz="2400" dirty="0"/>
                  <a:t> that seem to require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division by zero</a:t>
                </a: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These topics are covered in standard high school </a:t>
                </a:r>
                <a:r>
                  <a:rPr lang="en-US" sz="2400" b="1" dirty="0"/>
                  <a:t>Algebra 2</a:t>
                </a:r>
                <a:r>
                  <a:rPr lang="en-US" sz="2400" dirty="0"/>
                  <a:t> (sophomore year) and </a:t>
                </a:r>
                <a:r>
                  <a:rPr lang="en-US" sz="2400" b="1" dirty="0"/>
                  <a:t>Precalculus</a:t>
                </a:r>
                <a:r>
                  <a:rPr lang="en-US" sz="2400" dirty="0"/>
                  <a:t> (junior year) courses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Leibniz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needs you to calculate the </a:t>
                </a:r>
                <a:r>
                  <a:rPr lang="en-US" sz="2400" b="1" dirty="0"/>
                  <a:t>Leibniz series </a:t>
                </a:r>
                <a:r>
                  <a:rPr lang="en-US" sz="2400" dirty="0"/>
                  <a:t>out to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one million terms</a:t>
                </a:r>
              </a:p>
              <a:p>
                <a:r>
                  <a:rPr lang="en-US" sz="2400" dirty="0"/>
                  <a:t>The Leibniz series is given by the sum: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r>
                  <a:rPr lang="en-US" sz="2400" dirty="0"/>
                  <a:t>Calculate and display the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E3C2D0-D398-FD7C-AEE3-7203E76328E5}"/>
                  </a:ext>
                </a:extLst>
              </p:cNvPr>
              <p:cNvSpPr txBox="1"/>
              <p:nvPr/>
            </p:nvSpPr>
            <p:spPr>
              <a:xfrm>
                <a:off x="4115117" y="4053973"/>
                <a:ext cx="4795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E3C2D0-D398-FD7C-AEE3-7203E7632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117" y="4053973"/>
                <a:ext cx="479554" cy="215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CB3948-FD2A-39D9-927A-10E9326C84D0}"/>
                  </a:ext>
                </a:extLst>
              </p:cNvPr>
              <p:cNvSpPr txBox="1"/>
              <p:nvPr/>
            </p:nvSpPr>
            <p:spPr>
              <a:xfrm>
                <a:off x="4647253" y="3020210"/>
                <a:ext cx="4795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CB3948-FD2A-39D9-927A-10E9326C8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253" y="3020210"/>
                <a:ext cx="479554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1A7669-EBC1-0DE8-35C4-E7C6586BB106}"/>
                  </a:ext>
                </a:extLst>
              </p:cNvPr>
              <p:cNvSpPr txBox="1"/>
              <p:nvPr/>
            </p:nvSpPr>
            <p:spPr>
              <a:xfrm>
                <a:off x="5189474" y="4060138"/>
                <a:ext cx="4795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1A7669-EBC1-0DE8-35C4-E7C6586BB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74" y="4060138"/>
                <a:ext cx="47955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1F3FCA-9258-8C48-395B-3E962F1A9AB8}"/>
                  </a:ext>
                </a:extLst>
              </p:cNvPr>
              <p:cNvSpPr txBox="1"/>
              <p:nvPr/>
            </p:nvSpPr>
            <p:spPr>
              <a:xfrm>
                <a:off x="5691699" y="3012810"/>
                <a:ext cx="4795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1F3FCA-9258-8C48-395B-3E962F1A9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699" y="3012810"/>
                <a:ext cx="479554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E19CB4-6870-BD18-61F9-E855B5841D2F}"/>
                  </a:ext>
                </a:extLst>
              </p:cNvPr>
              <p:cNvSpPr txBox="1"/>
              <p:nvPr/>
            </p:nvSpPr>
            <p:spPr>
              <a:xfrm>
                <a:off x="6218173" y="4053973"/>
                <a:ext cx="4795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E19CB4-6870-BD18-61F9-E855B5841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173" y="4053973"/>
                <a:ext cx="479554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9E0B7D-F124-E172-AAE5-8B7FC592A477}"/>
                  </a:ext>
                </a:extLst>
              </p:cNvPr>
              <p:cNvSpPr txBox="1"/>
              <p:nvPr/>
            </p:nvSpPr>
            <p:spPr>
              <a:xfrm>
                <a:off x="6803841" y="3020210"/>
                <a:ext cx="53245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9E0B7D-F124-E172-AAE5-8B7FC592A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841" y="3020210"/>
                <a:ext cx="532453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5E0DF7E-158E-9D07-E038-0567BF43543A}"/>
              </a:ext>
            </a:extLst>
          </p:cNvPr>
          <p:cNvGrpSpPr/>
          <p:nvPr/>
        </p:nvGrpSpPr>
        <p:grpSpPr>
          <a:xfrm>
            <a:off x="5429251" y="5051184"/>
            <a:ext cx="3041130" cy="1471898"/>
            <a:chOff x="5429251" y="5051184"/>
            <a:chExt cx="3041130" cy="14718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20DC41-DD7A-4C57-FFC6-399257C9B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29251" y="5051184"/>
              <a:ext cx="1190506" cy="147189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F0086F-20B1-97D6-6309-A3FD02800F7A}"/>
                </a:ext>
              </a:extLst>
            </p:cNvPr>
            <p:cNvSpPr txBox="1"/>
            <p:nvPr/>
          </p:nvSpPr>
          <p:spPr>
            <a:xfrm>
              <a:off x="6664725" y="5325468"/>
              <a:ext cx="18056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Gottfried Wilhelm Leibniz</a:t>
              </a:r>
            </a:p>
            <a:p>
              <a:pPr algn="ctr"/>
              <a:r>
                <a:rPr lang="en-US" dirty="0"/>
                <a:t>(1646-1716)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284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853AD-3087-C6D0-9ACC-6B19AE78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79FECF-9AB9-E00B-1E98-F02B1BCD6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768" y="1826930"/>
            <a:ext cx="3422464" cy="323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1B9DF3-EB23-CF8D-7E6F-38AD982D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leibniz_formula.py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96369-A575-C346-3FBC-00E01FF3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E9EDA8-E803-177E-E492-735D3D39AE55}"/>
              </a:ext>
            </a:extLst>
          </p:cNvPr>
          <p:cNvGrpSpPr/>
          <p:nvPr/>
        </p:nvGrpSpPr>
        <p:grpSpPr>
          <a:xfrm>
            <a:off x="5505902" y="2615268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9E6D81-620B-FC8F-4CD6-F18ED3F6B7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249CAA-CC83-C745-B527-CF634143876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1598A-3630-ED3F-2B86-6BDD6B135DD3}"/>
              </a:ext>
            </a:extLst>
          </p:cNvPr>
          <p:cNvGrpSpPr/>
          <p:nvPr/>
        </p:nvGrpSpPr>
        <p:grpSpPr>
          <a:xfrm>
            <a:off x="6109271" y="3119704"/>
            <a:ext cx="1076632" cy="369332"/>
            <a:chOff x="4704120" y="2356972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6D6BDB2-22E7-3B10-DB72-EA45A555ED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0D973D1-BAE0-DB45-30CA-EB9F2A4390A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293624-7418-1932-1ADA-2DFDE3BD2CDB}"/>
              </a:ext>
            </a:extLst>
          </p:cNvPr>
          <p:cNvGrpSpPr/>
          <p:nvPr/>
        </p:nvGrpSpPr>
        <p:grpSpPr>
          <a:xfrm>
            <a:off x="5021677" y="3654188"/>
            <a:ext cx="1068643" cy="369332"/>
            <a:chOff x="3647644" y="4910075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E153F5-4567-D6A8-F353-9DBF79E0C2D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FA9FBB9-01AD-8BE7-E400-99E943782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7F10EC-868E-67AA-4E00-054EFE2C77BF}"/>
              </a:ext>
            </a:extLst>
          </p:cNvPr>
          <p:cNvGrpSpPr/>
          <p:nvPr/>
        </p:nvGrpSpPr>
        <p:grpSpPr>
          <a:xfrm>
            <a:off x="5021677" y="3933372"/>
            <a:ext cx="1064340" cy="369332"/>
            <a:chOff x="3647644" y="5421073"/>
            <a:chExt cx="1064340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D0102A-972A-7893-ADF2-84F11BD0DD3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1E91598-3A4C-E3AC-E8AA-513D8E8A5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E711C5-9665-2B7E-1442-9354B0C16E46}"/>
              </a:ext>
            </a:extLst>
          </p:cNvPr>
          <p:cNvGrpSpPr/>
          <p:nvPr/>
        </p:nvGrpSpPr>
        <p:grpSpPr>
          <a:xfrm>
            <a:off x="6126056" y="4462540"/>
            <a:ext cx="1068643" cy="369332"/>
            <a:chOff x="3647644" y="5359159"/>
            <a:chExt cx="1068643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328568-A269-C778-8853-26D4ECD5FC8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19C79E0-0D4B-3D1C-F05F-3D26DFE5F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D060346-B43B-FFE5-452F-7227D79D15B3}"/>
              </a:ext>
            </a:extLst>
          </p:cNvPr>
          <p:cNvSpPr txBox="1"/>
          <p:nvPr/>
        </p:nvSpPr>
        <p:spPr>
          <a:xfrm>
            <a:off x="6602475" y="1342689"/>
            <a:ext cx="1996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It is </a:t>
            </a:r>
            <a:r>
              <a:rPr lang="en-US" b="1" dirty="0">
                <a:solidFill>
                  <a:srgbClr val="7030A0"/>
                </a:solidFill>
              </a:rPr>
              <a:t>optional</a:t>
            </a:r>
            <a:r>
              <a:rPr lang="en-US" dirty="0">
                <a:solidFill>
                  <a:srgbClr val="7030A0"/>
                </a:solidFill>
              </a:rPr>
              <a:t> to separate the </a:t>
            </a:r>
            <a:r>
              <a:rPr lang="en-US" i="1" dirty="0">
                <a:solidFill>
                  <a:srgbClr val="7030A0"/>
                </a:solidFill>
              </a:rPr>
              <a:t>thousandths</a:t>
            </a:r>
            <a:r>
              <a:rPr lang="en-US" dirty="0">
                <a:solidFill>
                  <a:srgbClr val="7030A0"/>
                </a:solidFill>
              </a:rPr>
              <a:t> with </a:t>
            </a:r>
            <a:r>
              <a:rPr lang="en-US" u="sng" dirty="0">
                <a:solidFill>
                  <a:srgbClr val="7030A0"/>
                </a:solidFill>
              </a:rPr>
              <a:t>underscores</a:t>
            </a:r>
            <a:r>
              <a:rPr lang="en-US" dirty="0">
                <a:solidFill>
                  <a:srgbClr val="7030A0"/>
                </a:solidFill>
              </a:rPr>
              <a:t>, but it does help a human read the number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379870-C6D9-AFA1-D67D-060279C4D513}"/>
              </a:ext>
            </a:extLst>
          </p:cNvPr>
          <p:cNvSpPr/>
          <p:nvPr/>
        </p:nvSpPr>
        <p:spPr>
          <a:xfrm>
            <a:off x="5305174" y="4527132"/>
            <a:ext cx="601579" cy="2357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2530D3-DA2A-32AC-D59C-BB0775E32FA0}"/>
              </a:ext>
            </a:extLst>
          </p:cNvPr>
          <p:cNvSpPr/>
          <p:nvPr/>
        </p:nvSpPr>
        <p:spPr>
          <a:xfrm>
            <a:off x="4530301" y="4527464"/>
            <a:ext cx="727499" cy="2357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705EA-5417-9BB8-C9BD-50EADB40CDEC}"/>
              </a:ext>
            </a:extLst>
          </p:cNvPr>
          <p:cNvSpPr/>
          <p:nvPr/>
        </p:nvSpPr>
        <p:spPr>
          <a:xfrm>
            <a:off x="4105275" y="4527796"/>
            <a:ext cx="377652" cy="2357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95C5B8-E0EF-CEF9-6E09-B4AF6C3D2D3D}"/>
                  </a:ext>
                </a:extLst>
              </p:cNvPr>
              <p:cNvSpPr txBox="1"/>
              <p:nvPr/>
            </p:nvSpPr>
            <p:spPr>
              <a:xfrm>
                <a:off x="6390805" y="3503857"/>
                <a:ext cx="23842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Don’t forget </a:t>
                </a:r>
                <a:r>
                  <a:rPr lang="en-US" b="1" dirty="0">
                    <a:solidFill>
                      <a:srgbClr val="7030A0"/>
                    </a:solidFill>
                  </a:rPr>
                  <a:t>PEMDAS!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95C5B8-E0EF-CEF9-6E09-B4AF6C3D2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805" y="3503857"/>
                <a:ext cx="2384227" cy="1200329"/>
              </a:xfrm>
              <a:prstGeom prst="rect">
                <a:avLst/>
              </a:prstGeom>
              <a:blipFill>
                <a:blip r:embed="rId3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D92926-56AB-397E-4E88-A67A5ED83E69}"/>
              </a:ext>
            </a:extLst>
          </p:cNvPr>
          <p:cNvSpPr txBox="1"/>
          <p:nvPr/>
        </p:nvSpPr>
        <p:spPr>
          <a:xfrm>
            <a:off x="245608" y="3515688"/>
            <a:ext cx="2384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>
                <a:solidFill>
                  <a:srgbClr val="7030A0"/>
                </a:solidFill>
              </a:rPr>
              <a:t> is an array, so now </a:t>
            </a:r>
            <a:r>
              <a:rPr lang="en-US" b="1" dirty="0">
                <a:solidFill>
                  <a:srgbClr val="7030A0"/>
                </a:solidFill>
              </a:rPr>
              <a:t>x</a:t>
            </a:r>
            <a:r>
              <a:rPr lang="en-US" dirty="0">
                <a:solidFill>
                  <a:srgbClr val="7030A0"/>
                </a:solidFill>
              </a:rPr>
              <a:t> is an array too!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426925-5E1E-13EA-F7D7-5C244E2E1D09}"/>
              </a:ext>
            </a:extLst>
          </p:cNvPr>
          <p:cNvSpPr txBox="1"/>
          <p:nvPr/>
        </p:nvSpPr>
        <p:spPr>
          <a:xfrm>
            <a:off x="308335" y="4221269"/>
            <a:ext cx="2384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dirty="0">
                <a:solidFill>
                  <a:srgbClr val="7030A0"/>
                </a:solidFill>
              </a:rPr>
              <a:t> also has 1M items!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23A64B-2B8C-DB3C-1A74-483194DE216B}"/>
                  </a:ext>
                </a:extLst>
              </p:cNvPr>
              <p:cNvSpPr txBox="1"/>
              <p:nvPr/>
            </p:nvSpPr>
            <p:spPr>
              <a:xfrm>
                <a:off x="1658448" y="5388516"/>
                <a:ext cx="5682727" cy="847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→4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=4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23A64B-2B8C-DB3C-1A74-483194DE2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448" y="5388516"/>
                <a:ext cx="5682727" cy="847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F9506206-76DA-4346-FFBA-92898E045F84}"/>
              </a:ext>
            </a:extLst>
          </p:cNvPr>
          <p:cNvSpPr/>
          <p:nvPr/>
        </p:nvSpPr>
        <p:spPr>
          <a:xfrm>
            <a:off x="4636168" y="5502442"/>
            <a:ext cx="385509" cy="6185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176F51-6523-14BB-E4BC-3B4A84506E78}"/>
              </a:ext>
            </a:extLst>
          </p:cNvPr>
          <p:cNvSpPr/>
          <p:nvPr/>
        </p:nvSpPr>
        <p:spPr>
          <a:xfrm>
            <a:off x="5220455" y="5512838"/>
            <a:ext cx="201778" cy="6185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FB070E-E894-86C9-FFB4-EF1DB23547F5}"/>
              </a:ext>
            </a:extLst>
          </p:cNvPr>
          <p:cNvSpPr/>
          <p:nvPr/>
        </p:nvSpPr>
        <p:spPr>
          <a:xfrm>
            <a:off x="5434896" y="5512838"/>
            <a:ext cx="385509" cy="6185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735AEC-F97B-771A-6412-24F9F984A081}"/>
              </a:ext>
            </a:extLst>
          </p:cNvPr>
          <p:cNvSpPr/>
          <p:nvPr/>
        </p:nvSpPr>
        <p:spPr>
          <a:xfrm>
            <a:off x="6025167" y="5503172"/>
            <a:ext cx="201778" cy="6185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99E248-E248-C7EB-4DFE-3C464DA689D8}"/>
              </a:ext>
            </a:extLst>
          </p:cNvPr>
          <p:cNvSpPr/>
          <p:nvPr/>
        </p:nvSpPr>
        <p:spPr>
          <a:xfrm>
            <a:off x="4416043" y="5503172"/>
            <a:ext cx="201778" cy="6185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CAD54-4358-6A16-1EEB-6D0AD036E913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181228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32" grpId="0" animBg="1"/>
      <p:bldP spid="33" grpId="0" animBg="1"/>
      <p:bldP spid="34" grpId="0" animBg="1"/>
      <p:bldP spid="35" grpId="0" animBg="1"/>
      <p:bldP spid="36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leibniz_formula.py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3BC7F24-8A08-C1BB-760C-679DD20C048E}"/>
                  </a:ext>
                </a:extLst>
              </p:cNvPr>
              <p:cNvSpPr txBox="1"/>
              <p:nvPr/>
            </p:nvSpPr>
            <p:spPr>
              <a:xfrm>
                <a:off x="1730637" y="5388516"/>
                <a:ext cx="5682727" cy="847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→4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=4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3BC7F24-8A08-C1BB-760C-679DD20C0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637" y="5388516"/>
                <a:ext cx="5682727" cy="8478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35D2A3E-8BAC-573A-86AD-905EB1FEAE56}"/>
              </a:ext>
            </a:extLst>
          </p:cNvPr>
          <p:cNvGrpSpPr/>
          <p:nvPr/>
        </p:nvGrpSpPr>
        <p:grpSpPr>
          <a:xfrm>
            <a:off x="7680001" y="4877044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DB371DD-DFA6-C3CE-8998-1FD0E138DC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5D4E10-76BD-40CE-71AD-73B1A608987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84DAE96-F4C5-4BDA-E761-AD312D9F44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60768" y="1826930"/>
            <a:ext cx="3422464" cy="3234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4C2A06-3001-C15F-698E-3ACEE4342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186" y="4852402"/>
            <a:ext cx="3422464" cy="456329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3630C23-2457-C64B-CB99-BE42E815130F}"/>
              </a:ext>
            </a:extLst>
          </p:cNvPr>
          <p:cNvSpPr/>
          <p:nvPr/>
        </p:nvSpPr>
        <p:spPr>
          <a:xfrm>
            <a:off x="7122694" y="5453709"/>
            <a:ext cx="274626" cy="749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35DB28-ADD2-B026-66EB-607371E8F74E}"/>
              </a:ext>
            </a:extLst>
          </p:cNvPr>
          <p:cNvGrpSpPr/>
          <p:nvPr/>
        </p:nvGrpSpPr>
        <p:grpSpPr>
          <a:xfrm>
            <a:off x="508257" y="1826930"/>
            <a:ext cx="1655847" cy="2467390"/>
            <a:chOff x="6909057" y="1838288"/>
            <a:chExt cx="1655847" cy="246739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734B003-9B4B-4843-EE12-A56A125CD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09057" y="1838288"/>
              <a:ext cx="1655846" cy="165584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A0A0A8-E57D-EE11-8E29-3DF65EC936FD}"/>
                </a:ext>
              </a:extLst>
            </p:cNvPr>
            <p:cNvSpPr txBox="1"/>
            <p:nvPr/>
          </p:nvSpPr>
          <p:spPr>
            <a:xfrm>
              <a:off x="6909057" y="3474681"/>
              <a:ext cx="16558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Gottfried Wilhelm Leibniz</a:t>
              </a:r>
            </a:p>
            <a:p>
              <a:pPr algn="ctr"/>
              <a:r>
                <a:rPr lang="en-US" sz="1400" dirty="0"/>
                <a:t>(1646-1716)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4008E7B-8745-D3A6-125E-1FC7EB0F34A6}"/>
              </a:ext>
            </a:extLst>
          </p:cNvPr>
          <p:cNvSpPr txBox="1"/>
          <p:nvPr/>
        </p:nvSpPr>
        <p:spPr>
          <a:xfrm>
            <a:off x="5676420" y="6280577"/>
            <a:ext cx="2350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Leibniz, </a:t>
            </a:r>
            <a:r>
              <a:rPr lang="en-US" sz="1400" b="1" dirty="0">
                <a:solidFill>
                  <a:srgbClr val="7030A0"/>
                </a:solidFill>
              </a:rPr>
              <a:t>1673</a:t>
            </a:r>
            <a:r>
              <a:rPr lang="en-US" sz="1400" dirty="0">
                <a:solidFill>
                  <a:srgbClr val="7030A0"/>
                </a:solidFill>
              </a:rPr>
              <a:t> (27 years old)</a:t>
            </a:r>
          </a:p>
        </p:txBody>
      </p:sp>
    </p:spTree>
    <p:extLst>
      <p:ext uri="{BB962C8B-B14F-4D97-AF65-F5344CB8AC3E}">
        <p14:creationId xmlns:p14="http://schemas.microsoft.com/office/powerpoint/2010/main" val="376730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3E0E-562A-682A-C63F-E5C64ACF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AAAA-8661-087E-5CEE-5DFBEC93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Gaussian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1D21-5B50-034B-933D-6A575F45F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Carl Friedrich </a:t>
            </a:r>
            <a:r>
              <a:rPr lang="en-US" sz="2400" b="1" dirty="0"/>
              <a:t>Gauss</a:t>
            </a:r>
            <a:r>
              <a:rPr lang="en-US" sz="2400" dirty="0"/>
              <a:t> (1777-1855) is widely considered to be the most </a:t>
            </a:r>
            <a:r>
              <a:rPr lang="en-US" sz="2400" b="1" dirty="0">
                <a:solidFill>
                  <a:srgbClr val="FF0000"/>
                </a:solidFill>
              </a:rPr>
              <a:t>impactful</a:t>
            </a:r>
            <a:r>
              <a:rPr lang="en-US" sz="2400" dirty="0"/>
              <a:t> mathematician </a:t>
            </a:r>
            <a:r>
              <a:rPr lang="en-US" sz="2400" b="1" dirty="0">
                <a:solidFill>
                  <a:srgbClr val="0070C0"/>
                </a:solidFill>
              </a:rPr>
              <a:t>who has ever lived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He didn’t just solve problems; he </a:t>
            </a:r>
            <a:r>
              <a:rPr lang="en-US" sz="2400" b="1" dirty="0">
                <a:solidFill>
                  <a:srgbClr val="00B050"/>
                </a:solidFill>
              </a:rPr>
              <a:t>created</a:t>
            </a:r>
            <a:r>
              <a:rPr lang="en-US" sz="2400" dirty="0"/>
              <a:t> or reshaped entire fields: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Number Theory </a:t>
            </a:r>
            <a:r>
              <a:rPr lang="en-US" sz="2000" dirty="0"/>
              <a:t>(Congruence, Quadratic Reciprocity)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Complex Analysis </a:t>
            </a:r>
            <a:r>
              <a:rPr lang="en-US" sz="2000" dirty="0"/>
              <a:t>(Fundamental Theorem of Algebra, </a:t>
            </a:r>
            <a:r>
              <a:rPr lang="en-US" sz="2000" b="1" dirty="0">
                <a:solidFill>
                  <a:srgbClr val="7030A0"/>
                </a:solidFill>
              </a:rPr>
              <a:t>FFT</a:t>
            </a:r>
            <a:r>
              <a:rPr lang="en-US" sz="2000" dirty="0"/>
              <a:t>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Linear Algebra </a:t>
            </a:r>
            <a:r>
              <a:rPr lang="en-US" sz="2000" dirty="0"/>
              <a:t>(Gaussian Elimination, PCA)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Probability &amp; Statistics 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Normal</a:t>
            </a:r>
            <a:r>
              <a:rPr lang="en-US" sz="2000" dirty="0"/>
              <a:t> distribution, CLT)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Physics &amp; Electromagnetism </a:t>
            </a:r>
            <a:r>
              <a:rPr lang="en-US" sz="2000" dirty="0"/>
              <a:t>(Gauss’s Law, Flux/Divergence)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Astronomy &amp; Geodesy 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Method of Least Squares</a:t>
            </a:r>
            <a:r>
              <a:rPr lang="en-US" sz="2000" dirty="0"/>
              <a:t>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Differential Geometry  </a:t>
            </a:r>
            <a:r>
              <a:rPr lang="en-US" sz="2000" dirty="0"/>
              <a:t>(Gaussian Curvature)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740CE-D438-84B4-CD9B-32324185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9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EEE8-9E82-C37E-2A5E-DE15A58A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FE6C-71D1-AF68-AFD7-41AA785C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Gaussian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17236-5BA2-41C5-D643-12EDB24ED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One spring day, when </a:t>
            </a:r>
            <a:r>
              <a:rPr lang="en-US" sz="2400" b="1" dirty="0">
                <a:solidFill>
                  <a:srgbClr val="00B050"/>
                </a:solidFill>
              </a:rPr>
              <a:t>Gauss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b="1" dirty="0">
                <a:solidFill>
                  <a:srgbClr val="00B050"/>
                </a:solidFill>
              </a:rPr>
              <a:t>was 11 years old</a:t>
            </a:r>
            <a:r>
              <a:rPr lang="en-US" sz="2400" dirty="0"/>
              <a:t>, he was sitting in his elementary school class. His classmates were </a:t>
            </a:r>
            <a:r>
              <a:rPr lang="en-US" sz="2400" b="1" dirty="0">
                <a:solidFill>
                  <a:srgbClr val="FF0000"/>
                </a:solidFill>
              </a:rPr>
              <a:t>misbehaving</a:t>
            </a:r>
            <a:r>
              <a:rPr lang="en-US" sz="2400" dirty="0"/>
              <a:t>, so his schoolteacher thought of a task she hoped would teach the students a lesson in </a:t>
            </a:r>
            <a:r>
              <a:rPr lang="en-US" sz="2400" b="1" dirty="0">
                <a:solidFill>
                  <a:srgbClr val="0070C0"/>
                </a:solidFill>
              </a:rPr>
              <a:t>self-control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while simultaneously </a:t>
            </a:r>
            <a:r>
              <a:rPr lang="en-US" sz="2400" b="1" dirty="0"/>
              <a:t>reinforcing their basic addition skills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She said they could not play outside during recess until </a:t>
            </a:r>
            <a:r>
              <a:rPr lang="en-US" sz="2400" b="1" dirty="0"/>
              <a:t>one</a:t>
            </a:r>
            <a:r>
              <a:rPr lang="en-US" sz="2400" dirty="0"/>
              <a:t> of them had </a:t>
            </a:r>
            <a:r>
              <a:rPr lang="en-US" sz="2400" b="1" dirty="0">
                <a:solidFill>
                  <a:srgbClr val="7030A0"/>
                </a:solidFill>
              </a:rPr>
              <a:t>summed the natural numbers up to 100</a:t>
            </a:r>
            <a:r>
              <a:rPr lang="en-US" sz="2400" dirty="0"/>
              <a:t>. She assumed this task would take quite some time. The students all grumbled and pulled out their </a:t>
            </a:r>
            <a:r>
              <a:rPr lang="en-US" sz="2400" i="1" dirty="0"/>
              <a:t>chalk slates</a:t>
            </a:r>
            <a:r>
              <a:rPr lang="en-US" sz="2400" dirty="0"/>
              <a:t> to start the arduous process of adding together each successive integer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B050"/>
                </a:solidFill>
              </a:rPr>
              <a:t>young Gauss </a:t>
            </a:r>
            <a:r>
              <a:rPr lang="en-US" sz="2400" dirty="0"/>
              <a:t>thought for </a:t>
            </a:r>
            <a:r>
              <a:rPr lang="en-US" sz="2400" u="sng" dirty="0"/>
              <a:t>just a moment</a:t>
            </a:r>
            <a:r>
              <a:rPr lang="en-US" sz="2400" dirty="0"/>
              <a:t> and then immediately wrote down the </a:t>
            </a:r>
            <a:r>
              <a:rPr lang="en-US" sz="2400" b="1" dirty="0"/>
              <a:t>correct</a:t>
            </a:r>
            <a:r>
              <a:rPr lang="en-US" sz="2400" dirty="0"/>
              <a:t> answer, but never actually added up all the numbers. </a:t>
            </a:r>
            <a:r>
              <a:rPr lang="en-US" sz="2400" b="1" dirty="0">
                <a:solidFill>
                  <a:srgbClr val="FF0000"/>
                </a:solidFill>
              </a:rPr>
              <a:t>How did he do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42AA8-4AE1-6172-E680-4AA3ACA6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4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6" t="4242"/>
          <a:stretch>
            <a:fillRect/>
          </a:stretch>
        </p:blipFill>
        <p:spPr>
          <a:xfrm>
            <a:off x="4459705" y="1062433"/>
            <a:ext cx="4033507" cy="17301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969904" y="999497"/>
            <a:ext cx="3062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Carl Friedrich Gauss</a:t>
            </a:r>
          </a:p>
          <a:p>
            <a:pPr algn="ctr"/>
            <a:r>
              <a:rPr lang="en-US" sz="2000" dirty="0"/>
              <a:t>(1777 – 1855)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1962" y="2048148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Sum the integers from 1 to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008" y="321818"/>
            <a:ext cx="4242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Gaussian Summation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16908" y="3183946"/>
          <a:ext cx="609600" cy="29527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94919" y="3161635"/>
          <a:ext cx="1219200" cy="176022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584" y="5142406"/>
            <a:ext cx="2146342" cy="82066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209535" y="6054811"/>
            <a:ext cx="2998573" cy="453477"/>
            <a:chOff x="4209535" y="6054811"/>
            <a:chExt cx="2998573" cy="453477"/>
          </a:xfrm>
        </p:grpSpPr>
        <p:sp>
          <p:nvSpPr>
            <p:cNvPr id="15" name="TextBox 14"/>
            <p:cNvSpPr txBox="1"/>
            <p:nvPr/>
          </p:nvSpPr>
          <p:spPr>
            <a:xfrm>
              <a:off x="4209535" y="6138956"/>
              <a:ext cx="2924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 (</a:t>
              </a:r>
              <a:r>
                <a:rPr lang="en-US" b="1" dirty="0">
                  <a:solidFill>
                    <a:srgbClr val="7030A0"/>
                  </a:solidFill>
                </a:rPr>
                <a:t>40</a:t>
              </a:r>
              <a:r>
                <a:rPr lang="en-US" dirty="0"/>
                <a:t> + </a:t>
              </a:r>
              <a:r>
                <a:rPr lang="en-US" b="1" dirty="0">
                  <a:solidFill>
                    <a:srgbClr val="7030A0"/>
                  </a:solidFill>
                </a:rPr>
                <a:t>5</a:t>
              </a:r>
              <a:r>
                <a:rPr lang="en-US" dirty="0"/>
                <a:t> + </a:t>
              </a:r>
              <a:r>
                <a:rPr lang="en-US" b="1" dirty="0">
                  <a:solidFill>
                    <a:srgbClr val="7030A0"/>
                  </a:solidFill>
                </a:rPr>
                <a:t>10</a:t>
              </a:r>
              <a:r>
                <a:rPr lang="en-US" dirty="0"/>
                <a:t>) = </a:t>
              </a:r>
              <a:r>
                <a:rPr lang="en-US" b="1" dirty="0"/>
                <a:t>55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300151" y="6054811"/>
              <a:ext cx="29079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3245707" y="3233345"/>
            <a:ext cx="4690273" cy="1774915"/>
            <a:chOff x="3245707" y="3233345"/>
            <a:chExt cx="4690273" cy="1774915"/>
          </a:xfrm>
        </p:grpSpPr>
        <p:sp>
          <p:nvSpPr>
            <p:cNvPr id="11" name="TextBox 10"/>
            <p:cNvSpPr txBox="1"/>
            <p:nvPr/>
          </p:nvSpPr>
          <p:spPr>
            <a:xfrm>
              <a:off x="4212477" y="3233345"/>
              <a:ext cx="37235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</a:t>
              </a:r>
              <a:r>
                <a:rPr lang="en-US" dirty="0"/>
                <a:t> </a:t>
              </a:r>
              <a:r>
                <a:rPr lang="en-US" i="1" dirty="0"/>
                <a:t>matched</a:t>
              </a:r>
              <a:r>
                <a:rPr lang="en-US" dirty="0"/>
                <a:t> rows that </a:t>
              </a:r>
              <a:r>
                <a:rPr lang="en-US" u="sng" dirty="0"/>
                <a:t>each</a:t>
              </a:r>
              <a:r>
                <a:rPr lang="en-US" dirty="0"/>
                <a:t> sum to </a:t>
              </a:r>
              <a:r>
                <a:rPr lang="en-US" b="1" dirty="0">
                  <a:solidFill>
                    <a:srgbClr val="FF0000"/>
                  </a:solidFill>
                </a:rPr>
                <a:t>10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10</a:t>
              </a:r>
              <a:r>
                <a:rPr lang="en-US" dirty="0"/>
                <a:t> / 2 = 5      5 – 1 = </a:t>
              </a:r>
              <a:r>
                <a:rPr lang="en-US" b="1" dirty="0">
                  <a:solidFill>
                    <a:srgbClr val="0070C0"/>
                  </a:solidFill>
                </a:rPr>
                <a:t>4</a:t>
              </a:r>
              <a:r>
                <a:rPr lang="en-US" dirty="0"/>
                <a:t>      </a:t>
              </a:r>
              <a:r>
                <a:rPr lang="en-US" b="1" dirty="0">
                  <a:solidFill>
                    <a:srgbClr val="FF0000"/>
                  </a:solidFill>
                </a:rPr>
                <a:t>10</a:t>
              </a:r>
              <a:r>
                <a:rPr lang="en-US" dirty="0"/>
                <a:t> * </a:t>
              </a:r>
              <a:r>
                <a:rPr lang="en-US" b="1" dirty="0">
                  <a:solidFill>
                    <a:srgbClr val="0070C0"/>
                  </a:solidFill>
                </a:rPr>
                <a:t>4</a:t>
              </a:r>
              <a:r>
                <a:rPr lang="en-US" dirty="0"/>
                <a:t> = </a:t>
              </a:r>
              <a:r>
                <a:rPr lang="en-US" b="1" dirty="0">
                  <a:solidFill>
                    <a:srgbClr val="7030A0"/>
                  </a:solidFill>
                </a:rPr>
                <a:t>40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76584" y="4313506"/>
              <a:ext cx="2924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row that is = </a:t>
              </a:r>
              <a:r>
                <a:rPr lang="en-US" b="1" dirty="0">
                  <a:solidFill>
                    <a:srgbClr val="FF0000"/>
                  </a:solidFill>
                </a:rPr>
                <a:t>10</a:t>
              </a:r>
              <a:r>
                <a:rPr lang="en-US" dirty="0"/>
                <a:t> / 2 = </a:t>
              </a:r>
              <a:r>
                <a:rPr lang="en-US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76584" y="4638928"/>
              <a:ext cx="2924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row that is = n = </a:t>
              </a:r>
              <a:r>
                <a:rPr lang="en-US" b="1" dirty="0">
                  <a:solidFill>
                    <a:srgbClr val="7030A0"/>
                  </a:solidFill>
                </a:rPr>
                <a:t>10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V="1">
              <a:off x="4110681" y="3268470"/>
              <a:ext cx="0" cy="9885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245708" y="4493741"/>
              <a:ext cx="864973" cy="41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245707" y="4802660"/>
              <a:ext cx="864973" cy="41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/>
          <p:cNvCxnSpPr>
            <a:cxnSpLocks/>
          </p:cNvCxnSpPr>
          <p:nvPr/>
        </p:nvCxnSpPr>
        <p:spPr>
          <a:xfrm flipH="1">
            <a:off x="4804229" y="3879676"/>
            <a:ext cx="618003" cy="14978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595257" y="4638928"/>
            <a:ext cx="312057" cy="86198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907314" y="4921855"/>
            <a:ext cx="166915" cy="5282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29910B6-129F-4802-A1EF-C02BC39F0B76}"/>
                  </a:ext>
                </a:extLst>
              </p:cNvPr>
              <p:cNvSpPr/>
              <p:nvPr/>
            </p:nvSpPr>
            <p:spPr>
              <a:xfrm>
                <a:off x="6276275" y="5192844"/>
                <a:ext cx="1559979" cy="618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29910B6-129F-4802-A1EF-C02BC39F0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275" y="5192844"/>
                <a:ext cx="1559979" cy="618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B71629D-0A7A-E409-EE55-717B6636A22C}"/>
                  </a:ext>
                </a:extLst>
              </p:cNvPr>
              <p:cNvSpPr/>
              <p:nvPr/>
            </p:nvSpPr>
            <p:spPr>
              <a:xfrm>
                <a:off x="6731624" y="4373441"/>
                <a:ext cx="2209259" cy="610936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B71629D-0A7A-E409-EE55-717B6636A2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624" y="4373441"/>
                <a:ext cx="2209259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8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193" y="1067112"/>
            <a:ext cx="1990278" cy="7313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6119" y="1248129"/>
            <a:ext cx="3155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Sum of first </a:t>
            </a:r>
            <a:r>
              <a:rPr lang="en-US" sz="2000" b="1" dirty="0"/>
              <a:t>n</a:t>
            </a:r>
          </a:p>
          <a:p>
            <a:r>
              <a:rPr lang="en-US" sz="2000" i="1" dirty="0"/>
              <a:t>natural</a:t>
            </a:r>
            <a:r>
              <a:rPr lang="en-US" sz="2000" dirty="0"/>
              <a:t> numbers: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119" y="2161136"/>
            <a:ext cx="3155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Sum of </a:t>
            </a:r>
            <a:r>
              <a:rPr lang="en-US" sz="2000" u="sng" dirty="0"/>
              <a:t>squares</a:t>
            </a:r>
            <a:r>
              <a:rPr lang="en-US" sz="2000" dirty="0"/>
              <a:t> of first </a:t>
            </a:r>
            <a:r>
              <a:rPr lang="en-US" sz="2000" b="1" dirty="0"/>
              <a:t>n </a:t>
            </a:r>
            <a:r>
              <a:rPr lang="en-US" sz="2000" i="1" dirty="0"/>
              <a:t>natural</a:t>
            </a:r>
            <a:r>
              <a:rPr lang="en-US" sz="2000" dirty="0"/>
              <a:t> numbers: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609" y="3677530"/>
            <a:ext cx="5246491" cy="761029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21492" y="3069259"/>
          <a:ext cx="1828800" cy="32480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n^2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78008" y="321818"/>
            <a:ext cx="4242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Gaussian Summation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7086600" y="3677530"/>
            <a:ext cx="1541206" cy="761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424664" y="2605262"/>
            <a:ext cx="3543949" cy="10154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5D462-EEF0-4521-8D42-3C1F7E373AD1}"/>
              </a:ext>
            </a:extLst>
          </p:cNvPr>
          <p:cNvSpPr txBox="1"/>
          <p:nvPr/>
        </p:nvSpPr>
        <p:spPr>
          <a:xfrm>
            <a:off x="4295193" y="4735735"/>
            <a:ext cx="38273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These are </a:t>
            </a:r>
            <a:r>
              <a:rPr lang="en-US" sz="2000" b="1" u="sng" dirty="0">
                <a:solidFill>
                  <a:srgbClr val="7030A0"/>
                </a:solidFill>
              </a:rPr>
              <a:t>functional equations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We can now calculate the sums</a:t>
            </a:r>
          </a:p>
          <a:p>
            <a:pPr algn="ctr"/>
            <a:r>
              <a:rPr lang="en-US" sz="2000" b="1" i="1" dirty="0">
                <a:solidFill>
                  <a:srgbClr val="7030A0"/>
                </a:solidFill>
              </a:rPr>
              <a:t>immediately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u="sng" dirty="0">
                <a:solidFill>
                  <a:srgbClr val="7030A0"/>
                </a:solidFill>
              </a:rPr>
              <a:t>without</a:t>
            </a:r>
            <a:r>
              <a:rPr lang="en-US" sz="2000" b="1" dirty="0">
                <a:solidFill>
                  <a:srgbClr val="7030A0"/>
                </a:solidFill>
              </a:rPr>
              <a:t> having to loop over every element!</a:t>
            </a:r>
          </a:p>
        </p:txBody>
      </p:sp>
    </p:spTree>
    <p:extLst>
      <p:ext uri="{BB962C8B-B14F-4D97-AF65-F5344CB8AC3E}">
        <p14:creationId xmlns:p14="http://schemas.microsoft.com/office/powerpoint/2010/main" val="23536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Gaussian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Your scientist needs you to demonstrate the </a:t>
            </a:r>
            <a:r>
              <a:rPr lang="en-US" sz="2400" b="1" dirty="0"/>
              <a:t>equivalence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00B050"/>
                </a:solidFill>
              </a:rPr>
              <a:t>Gaussian functional equation for summation </a:t>
            </a:r>
            <a:r>
              <a:rPr lang="en-US" sz="2400" i="1" dirty="0"/>
              <a:t>versus</a:t>
            </a:r>
            <a:r>
              <a:rPr lang="en-US" sz="2400" dirty="0"/>
              <a:t> the manual approach of term-by-term summation</a:t>
            </a:r>
          </a:p>
          <a:p>
            <a:r>
              <a:rPr lang="en-US" sz="2400" dirty="0"/>
              <a:t>Calculate the </a:t>
            </a:r>
            <a:r>
              <a:rPr lang="en-US" sz="2400" b="1" dirty="0">
                <a:solidFill>
                  <a:srgbClr val="7030A0"/>
                </a:solidFill>
              </a:rPr>
              <a:t>cumulative sum</a:t>
            </a:r>
            <a:r>
              <a:rPr lang="en-US" sz="2400" dirty="0"/>
              <a:t> series of the first </a:t>
            </a:r>
            <a:r>
              <a:rPr lang="en-US" sz="2400" b="1" dirty="0">
                <a:solidFill>
                  <a:srgbClr val="FF0000"/>
                </a:solidFill>
              </a:rPr>
              <a:t>10 natural numbers</a:t>
            </a:r>
            <a:r>
              <a:rPr lang="en-US" sz="2400" dirty="0"/>
              <a:t> and show, term-by-term, the equivalence of these </a:t>
            </a:r>
            <a:r>
              <a:rPr lang="en-US" sz="2400" i="1" dirty="0"/>
              <a:t>partial</a:t>
            </a:r>
            <a:r>
              <a:rPr lang="en-US" sz="2400" dirty="0"/>
              <a:t> </a:t>
            </a:r>
            <a:r>
              <a:rPr lang="en-US" sz="2400" i="1" dirty="0"/>
              <a:t>sums</a:t>
            </a:r>
            <a:r>
              <a:rPr lang="en-US" sz="2400" dirty="0"/>
              <a:t> compared to the corresponding </a:t>
            </a:r>
            <a:r>
              <a:rPr lang="en-US" sz="2400" b="1" dirty="0"/>
              <a:t>Gaussian summation</a:t>
            </a:r>
            <a:r>
              <a:rPr lang="en-US" sz="2400" dirty="0"/>
              <a:t>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3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C066-30E0-4ED9-A40A-A5544B2E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59F0A2B-C95F-729D-4CB6-018461DA70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760" y="1825046"/>
            <a:ext cx="4390476" cy="36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91AF7-E5C6-7E8F-A1F3-CFDBE17A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gauss_summation.py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ED79F-E433-9CA8-023F-89AAFFB9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46A4F3-D8F7-0524-8DEB-86880D62EE01}"/>
              </a:ext>
            </a:extLst>
          </p:cNvPr>
          <p:cNvGrpSpPr/>
          <p:nvPr/>
        </p:nvGrpSpPr>
        <p:grpSpPr>
          <a:xfrm>
            <a:off x="4216573" y="2454566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5C4D8E-80A2-9CBF-D5F3-82B4AA775B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EBBDB2-AEAB-01D4-38ED-29D6E4A6249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2622CB-E504-5EBC-0770-4918BF9778F5}"/>
              </a:ext>
            </a:extLst>
          </p:cNvPr>
          <p:cNvGrpSpPr/>
          <p:nvPr/>
        </p:nvGrpSpPr>
        <p:grpSpPr>
          <a:xfrm>
            <a:off x="3090625" y="2902962"/>
            <a:ext cx="1076632" cy="369332"/>
            <a:chOff x="4704120" y="2356972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B173BDF-0195-1CED-8FB6-F7375993B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27075A-BADE-8BBF-4C39-D266E06184C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432196-7974-115C-D964-7E849B6EC5F0}"/>
              </a:ext>
            </a:extLst>
          </p:cNvPr>
          <p:cNvGrpSpPr/>
          <p:nvPr/>
        </p:nvGrpSpPr>
        <p:grpSpPr>
          <a:xfrm>
            <a:off x="4673668" y="3133551"/>
            <a:ext cx="1068643" cy="369332"/>
            <a:chOff x="3647644" y="4910075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CB77DA-D54F-CF0C-E095-A20419676D4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CE0F314-ABD4-85B9-8573-3559044BC0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D7BB80-078F-7490-3166-866EAE4CC1CA}"/>
              </a:ext>
            </a:extLst>
          </p:cNvPr>
          <p:cNvGrpSpPr/>
          <p:nvPr/>
        </p:nvGrpSpPr>
        <p:grpSpPr>
          <a:xfrm>
            <a:off x="4129605" y="3368956"/>
            <a:ext cx="1064340" cy="369332"/>
            <a:chOff x="3647644" y="5421073"/>
            <a:chExt cx="1064340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566478-7E5F-4F85-4969-8AE2B37645F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AD6C511-5A4E-58A7-6316-A51CF8556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D3AF14-F2DB-1A20-42B7-D44AE33947F5}"/>
              </a:ext>
            </a:extLst>
          </p:cNvPr>
          <p:cNvGrpSpPr/>
          <p:nvPr/>
        </p:nvGrpSpPr>
        <p:grpSpPr>
          <a:xfrm>
            <a:off x="4104402" y="3820170"/>
            <a:ext cx="1068643" cy="369332"/>
            <a:chOff x="3647644" y="5359159"/>
            <a:chExt cx="1068643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BB7B4F-1BB5-F1E9-88DA-38C52AFBBE8E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500680-8E32-0C10-560A-87D16005BD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5D6CC1-8E7C-550B-3012-0EE2CF7316C6}"/>
              </a:ext>
            </a:extLst>
          </p:cNvPr>
          <p:cNvGrpSpPr/>
          <p:nvPr/>
        </p:nvGrpSpPr>
        <p:grpSpPr>
          <a:xfrm>
            <a:off x="4288428" y="4046263"/>
            <a:ext cx="1076632" cy="369332"/>
            <a:chOff x="2157212" y="5356391"/>
            <a:chExt cx="1076632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20D2F7-E907-F9B8-BFEB-6689539C31F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8ED22BB-13B2-176A-C126-89F2053B6F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3F88688-F03C-0A54-536B-57E5EF00B4D6}"/>
              </a:ext>
            </a:extLst>
          </p:cNvPr>
          <p:cNvGrpSpPr/>
          <p:nvPr/>
        </p:nvGrpSpPr>
        <p:grpSpPr>
          <a:xfrm>
            <a:off x="4430991" y="4509014"/>
            <a:ext cx="1076632" cy="369332"/>
            <a:chOff x="2157212" y="5356391"/>
            <a:chExt cx="1076632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A7985F-D13F-DDF0-E1FC-BC1423A92DC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8E6799F-F1CA-558C-6B80-D069F2C061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378BAB-E389-6BF6-C601-F8BBF5BADFB4}"/>
              </a:ext>
            </a:extLst>
          </p:cNvPr>
          <p:cNvGrpSpPr/>
          <p:nvPr/>
        </p:nvGrpSpPr>
        <p:grpSpPr>
          <a:xfrm>
            <a:off x="4310411" y="4733785"/>
            <a:ext cx="1076632" cy="369332"/>
            <a:chOff x="2157212" y="5356391"/>
            <a:chExt cx="1076632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677127-CA96-F556-D106-38A12B6C957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C3270D9-D107-9C76-0369-56798EAA47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99E4436-FD14-F9CB-3E2F-2A6C9217BB80}"/>
              </a:ext>
            </a:extLst>
          </p:cNvPr>
          <p:cNvGrpSpPr/>
          <p:nvPr/>
        </p:nvGrpSpPr>
        <p:grpSpPr>
          <a:xfrm>
            <a:off x="6734243" y="5183036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AAD79A-C159-FBDF-0CB3-08862C7AF85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E6F183B-6D92-973E-1E4C-7F7B2A356B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7CE15B8-8F2F-A0C2-BFBD-632C23F5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62" y="4355417"/>
            <a:ext cx="1990278" cy="73136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C7BD7BE-B09B-CBD1-9725-92F8C154F60A}"/>
              </a:ext>
            </a:extLst>
          </p:cNvPr>
          <p:cNvSpPr/>
          <p:nvPr/>
        </p:nvSpPr>
        <p:spPr>
          <a:xfrm>
            <a:off x="2871537" y="3900487"/>
            <a:ext cx="1224844" cy="2190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CD53E0-D342-4307-1196-E8658722A8CE}"/>
              </a:ext>
            </a:extLst>
          </p:cNvPr>
          <p:cNvSpPr txBox="1"/>
          <p:nvPr/>
        </p:nvSpPr>
        <p:spPr>
          <a:xfrm>
            <a:off x="5557075" y="3608648"/>
            <a:ext cx="2165684" cy="646331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Returns an array of the </a:t>
            </a:r>
            <a:r>
              <a:rPr lang="en-US" b="1" dirty="0">
                <a:solidFill>
                  <a:srgbClr val="7030A0"/>
                </a:solidFill>
              </a:rPr>
              <a:t>partial sums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1A9BA9-D684-DB12-C97B-9F9A21ADCDAE}"/>
              </a:ext>
            </a:extLst>
          </p:cNvPr>
          <p:cNvSpPr txBox="1"/>
          <p:nvPr/>
        </p:nvSpPr>
        <p:spPr>
          <a:xfrm>
            <a:off x="236358" y="4370514"/>
            <a:ext cx="1976571" cy="646331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y2 is now an array with 10 items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407704-4A27-8C5D-9B90-D8FECE810315}"/>
              </a:ext>
            </a:extLst>
          </p:cNvPr>
          <p:cNvSpPr/>
          <p:nvPr/>
        </p:nvSpPr>
        <p:spPr>
          <a:xfrm>
            <a:off x="4305648" y="5277853"/>
            <a:ext cx="1361727" cy="2061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682C8-29B7-258E-EE01-937C9188BA6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38906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4D394-A629-3883-8F2A-F0ACB32D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C139514-BFDC-4486-CD9F-4D65A8D0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718" y="3265540"/>
            <a:ext cx="4057143" cy="857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2A0AB6-C6C2-741A-E2C4-3852004914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32" y="2018428"/>
            <a:ext cx="4390476" cy="36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94C924-2A14-0B40-339F-B83CBEC3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gauss_summation.py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C09AD-C24D-1F06-8D83-6DC408BC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8850" y="6356351"/>
            <a:ext cx="716500" cy="365125"/>
          </a:xfrm>
        </p:spPr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AA4B84-37DD-6916-AD3F-9203C5DC3FF6}"/>
              </a:ext>
            </a:extLst>
          </p:cNvPr>
          <p:cNvSpPr/>
          <p:nvPr/>
        </p:nvSpPr>
        <p:spPr>
          <a:xfrm>
            <a:off x="1476256" y="3616774"/>
            <a:ext cx="317395" cy="2789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92ABFF-A907-36F2-5DAD-18529DB4F970}"/>
              </a:ext>
            </a:extLst>
          </p:cNvPr>
          <p:cNvSpPr/>
          <p:nvPr/>
        </p:nvSpPr>
        <p:spPr>
          <a:xfrm>
            <a:off x="1588153" y="4304673"/>
            <a:ext cx="380304" cy="2789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89AD92-A938-7F15-F85E-6CCC89B11E14}"/>
              </a:ext>
            </a:extLst>
          </p:cNvPr>
          <p:cNvSpPr/>
          <p:nvPr/>
        </p:nvSpPr>
        <p:spPr>
          <a:xfrm>
            <a:off x="1588153" y="4980292"/>
            <a:ext cx="380304" cy="27895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DB4107-966C-4A2B-77F5-BEB860035EDB}"/>
              </a:ext>
            </a:extLst>
          </p:cNvPr>
          <p:cNvSpPr/>
          <p:nvPr/>
        </p:nvSpPr>
        <p:spPr>
          <a:xfrm>
            <a:off x="2143125" y="5464174"/>
            <a:ext cx="2270125" cy="2222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167B75-22A7-7AB4-2CDE-D625E372BE84}"/>
              </a:ext>
            </a:extLst>
          </p:cNvPr>
          <p:cNvSpPr/>
          <p:nvPr/>
        </p:nvSpPr>
        <p:spPr>
          <a:xfrm>
            <a:off x="4904401" y="3291905"/>
            <a:ext cx="317395" cy="206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EFFD1C-7004-FE58-C7AF-FE2E840554FA}"/>
              </a:ext>
            </a:extLst>
          </p:cNvPr>
          <p:cNvSpPr/>
          <p:nvPr/>
        </p:nvSpPr>
        <p:spPr>
          <a:xfrm>
            <a:off x="4904401" y="3498761"/>
            <a:ext cx="317395" cy="206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B7208B-B170-C131-E5EC-EA6A3FDAF828}"/>
              </a:ext>
            </a:extLst>
          </p:cNvPr>
          <p:cNvSpPr/>
          <p:nvPr/>
        </p:nvSpPr>
        <p:spPr>
          <a:xfrm>
            <a:off x="4904401" y="3705617"/>
            <a:ext cx="317395" cy="206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EBCDC5-CE14-373E-BC86-B2DEF757CDB0}"/>
              </a:ext>
            </a:extLst>
          </p:cNvPr>
          <p:cNvSpPr/>
          <p:nvPr/>
        </p:nvSpPr>
        <p:spPr>
          <a:xfrm>
            <a:off x="4904401" y="3912473"/>
            <a:ext cx="317395" cy="206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DAB8607-3496-1421-AC99-0F40F140F330}"/>
              </a:ext>
            </a:extLst>
          </p:cNvPr>
          <p:cNvCxnSpPr>
            <a:stCxn id="35" idx="3"/>
            <a:endCxn id="39" idx="1"/>
          </p:cNvCxnSpPr>
          <p:nvPr/>
        </p:nvCxnSpPr>
        <p:spPr>
          <a:xfrm flipV="1">
            <a:off x="1793651" y="3394981"/>
            <a:ext cx="3110750" cy="36127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C2913AA-0FD3-A9C2-A7FB-50296DEB94EB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 flipV="1">
            <a:off x="1968457" y="3601837"/>
            <a:ext cx="2935944" cy="842313"/>
          </a:xfrm>
          <a:prstGeom prst="bentConnector3">
            <a:avLst>
              <a:gd name="adj1" fmla="val 5846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4598587-EF9F-C863-16E2-16F1673C5058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flipV="1">
            <a:off x="1968457" y="3808693"/>
            <a:ext cx="2935944" cy="1311076"/>
          </a:xfrm>
          <a:prstGeom prst="bentConnector3">
            <a:avLst>
              <a:gd name="adj1" fmla="val 7595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1C61D3E-495B-D069-6AD6-CB7A1B441A3B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 flipV="1">
            <a:off x="4413250" y="4015549"/>
            <a:ext cx="491151" cy="1559750"/>
          </a:xfrm>
          <a:prstGeom prst="bentConnector3">
            <a:avLst>
              <a:gd name="adj1" fmla="val 3856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6CFA60-7674-6DD2-234C-3AC832096A23}"/>
              </a:ext>
            </a:extLst>
          </p:cNvPr>
          <p:cNvGrpSpPr/>
          <p:nvPr/>
        </p:nvGrpSpPr>
        <p:grpSpPr>
          <a:xfrm>
            <a:off x="4904401" y="4394803"/>
            <a:ext cx="3743805" cy="1961548"/>
            <a:chOff x="5239683" y="4409175"/>
            <a:chExt cx="3743805" cy="196154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0D2D497-E1B5-09D4-1821-6DCA07135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7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39683" y="4409175"/>
              <a:ext cx="1542097" cy="196154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A6F4E2-E955-90F0-E550-72082625D079}"/>
                </a:ext>
              </a:extLst>
            </p:cNvPr>
            <p:cNvSpPr txBox="1"/>
            <p:nvPr/>
          </p:nvSpPr>
          <p:spPr>
            <a:xfrm>
              <a:off x="6895296" y="4730022"/>
              <a:ext cx="208819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Carl Friedrich Gauss</a:t>
              </a:r>
            </a:p>
            <a:p>
              <a:pPr algn="ctr"/>
              <a:r>
                <a:rPr lang="en-US" sz="1600" dirty="0"/>
                <a:t>(1777-1855)</a:t>
              </a:r>
              <a:endParaRPr lang="en-US" dirty="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8AD02CF-E785-BF93-2B5E-217A9FB09AF2}"/>
              </a:ext>
            </a:extLst>
          </p:cNvPr>
          <p:cNvSpPr/>
          <p:nvPr/>
        </p:nvSpPr>
        <p:spPr>
          <a:xfrm>
            <a:off x="5864517" y="3911769"/>
            <a:ext cx="463459" cy="1782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1B356-B7AD-01C0-A9D9-42C077E0A432}"/>
              </a:ext>
            </a:extLst>
          </p:cNvPr>
          <p:cNvSpPr txBox="1"/>
          <p:nvPr/>
        </p:nvSpPr>
        <p:spPr>
          <a:xfrm>
            <a:off x="5155660" y="1584346"/>
            <a:ext cx="3561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What is the sum of the first </a:t>
            </a:r>
            <a:r>
              <a:rPr lang="en-US" sz="2000" b="1" dirty="0">
                <a:solidFill>
                  <a:srgbClr val="7030A0"/>
                </a:solidFill>
              </a:rPr>
              <a:t>300 quadrillion </a:t>
            </a:r>
            <a:r>
              <a:rPr lang="en-US" sz="2000" dirty="0">
                <a:solidFill>
                  <a:srgbClr val="7030A0"/>
                </a:solidFill>
              </a:rPr>
              <a:t>natural numbers?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44304-0881-8479-4DDA-C20081DC4F54}"/>
              </a:ext>
            </a:extLst>
          </p:cNvPr>
          <p:cNvSpPr txBox="1"/>
          <p:nvPr/>
        </p:nvSpPr>
        <p:spPr>
          <a:xfrm>
            <a:off x="5155660" y="2371609"/>
            <a:ext cx="356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i="1" dirty="0">
                <a:solidFill>
                  <a:srgbClr val="FF0000"/>
                </a:solidFill>
              </a:rPr>
              <a:t>naïve</a:t>
            </a:r>
            <a:r>
              <a:rPr lang="en-US" dirty="0">
                <a:solidFill>
                  <a:srgbClr val="FF0000"/>
                </a:solidFill>
              </a:rPr>
              <a:t> way would take </a:t>
            </a:r>
            <a:r>
              <a:rPr lang="en-US" b="1" dirty="0">
                <a:solidFill>
                  <a:srgbClr val="FF0000"/>
                </a:solidFill>
              </a:rPr>
              <a:t>7.4 years </a:t>
            </a:r>
            <a:r>
              <a:rPr lang="en-US" dirty="0">
                <a:solidFill>
                  <a:srgbClr val="FF0000"/>
                </a:solidFill>
              </a:rPr>
              <a:t>to find the answer on a fast PC!</a:t>
            </a:r>
          </a:p>
        </p:txBody>
      </p:sp>
    </p:spTree>
    <p:extLst>
      <p:ext uri="{BB962C8B-B14F-4D97-AF65-F5344CB8AC3E}">
        <p14:creationId xmlns:p14="http://schemas.microsoft.com/office/powerpoint/2010/main" val="132162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0" grpId="0" animBg="1"/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Infinite Series (Sums)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950ECE8-DFE7-44E7-9270-B3537A93207A}"/>
                  </a:ext>
                </a:extLst>
              </p:cNvPr>
              <p:cNvSpPr/>
              <p:nvPr/>
            </p:nvSpPr>
            <p:spPr>
              <a:xfrm>
                <a:off x="1784555" y="1468581"/>
                <a:ext cx="5574890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950ECE8-DFE7-44E7-9270-B3537A932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55" y="1468581"/>
                <a:ext cx="5574890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90DE5C3-A6B0-DFF8-D482-72B46FE94AE0}"/>
              </a:ext>
            </a:extLst>
          </p:cNvPr>
          <p:cNvSpPr txBox="1">
            <a:spLocks/>
          </p:cNvSpPr>
          <p:nvPr/>
        </p:nvSpPr>
        <p:spPr>
          <a:xfrm>
            <a:off x="726086" y="2536007"/>
            <a:ext cx="7886700" cy="1264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This sum is called the </a:t>
            </a:r>
            <a:r>
              <a:rPr lang="en-US" sz="2400" b="1" dirty="0">
                <a:solidFill>
                  <a:srgbClr val="0070C0"/>
                </a:solidFill>
              </a:rPr>
              <a:t>Harmonic series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Does this series </a:t>
            </a:r>
            <a:r>
              <a:rPr lang="en-US" sz="2400" b="1" dirty="0">
                <a:solidFill>
                  <a:srgbClr val="00B050"/>
                </a:solidFill>
              </a:rPr>
              <a:t>converge</a:t>
            </a:r>
            <a:r>
              <a:rPr lang="en-US" sz="2400" dirty="0"/>
              <a:t> to a single value or </a:t>
            </a:r>
            <a:r>
              <a:rPr lang="en-US" sz="2400" b="1" dirty="0">
                <a:solidFill>
                  <a:srgbClr val="FF0000"/>
                </a:solidFill>
              </a:rPr>
              <a:t>diverge</a:t>
            </a:r>
            <a:r>
              <a:rPr lang="en-US" sz="2400" dirty="0"/>
              <a:t> (grow without bounds)?</a:t>
            </a:r>
          </a:p>
        </p:txBody>
      </p:sp>
    </p:spTree>
    <p:extLst>
      <p:ext uri="{BB962C8B-B14F-4D97-AF65-F5344CB8AC3E}">
        <p14:creationId xmlns:p14="http://schemas.microsoft.com/office/powerpoint/2010/main" val="346255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A4614F-6CA5-44D7-AD07-09DC5228602C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The Harmonic Series Diverges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385B50-2CC9-EBF9-84CC-418CF8C24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587"/>
          <a:stretch/>
        </p:blipFill>
        <p:spPr>
          <a:xfrm>
            <a:off x="1609662" y="2393746"/>
            <a:ext cx="5251235" cy="5668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213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A4614F-6CA5-44D7-AD07-09DC5228602C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The Harmonic Series Diverges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385B50-2CC9-EBF9-84CC-418CF8C24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451"/>
          <a:stretch/>
        </p:blipFill>
        <p:spPr>
          <a:xfrm>
            <a:off x="1609662" y="2393745"/>
            <a:ext cx="5251235" cy="103525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97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A4614F-6CA5-44D7-AD07-09DC5228602C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The Harmonic Series Diverges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385B50-2CC9-EBF9-84CC-418CF8C24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728"/>
          <a:stretch/>
        </p:blipFill>
        <p:spPr>
          <a:xfrm>
            <a:off x="1609662" y="2393745"/>
            <a:ext cx="5251235" cy="1458727"/>
          </a:xfrm>
          <a:prstGeom prst="rect">
            <a:avLst/>
          </a:prstGeom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79CD987-0823-8B3A-D0DA-51D3F12BCE58}"/>
              </a:ext>
            </a:extLst>
          </p:cNvPr>
          <p:cNvCxnSpPr/>
          <p:nvPr/>
        </p:nvCxnSpPr>
        <p:spPr>
          <a:xfrm flipV="1">
            <a:off x="1027506" y="3395109"/>
            <a:ext cx="651878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79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A4614F-6CA5-44D7-AD07-09DC5228602C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The Harmonic Series Diverges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385B50-2CC9-EBF9-84CC-418CF8C24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622"/>
          <a:stretch/>
        </p:blipFill>
        <p:spPr>
          <a:xfrm>
            <a:off x="1609662" y="2393745"/>
            <a:ext cx="5251235" cy="1460712"/>
          </a:xfrm>
          <a:prstGeom prst="rect">
            <a:avLst/>
          </a:prstGeom>
          <a:ln>
            <a:noFill/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860BB5C-049F-E75E-5481-17AB5432D470}"/>
              </a:ext>
            </a:extLst>
          </p:cNvPr>
          <p:cNvSpPr/>
          <p:nvPr/>
        </p:nvSpPr>
        <p:spPr>
          <a:xfrm>
            <a:off x="3260646" y="2917519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C21C31-A4B6-7144-530C-40BC0687C4DD}"/>
              </a:ext>
            </a:extLst>
          </p:cNvPr>
          <p:cNvSpPr/>
          <p:nvPr/>
        </p:nvSpPr>
        <p:spPr>
          <a:xfrm>
            <a:off x="4179962" y="2902873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173E63-6034-F07D-B39A-D922BF4531D5}"/>
              </a:ext>
            </a:extLst>
          </p:cNvPr>
          <p:cNvSpPr/>
          <p:nvPr/>
        </p:nvSpPr>
        <p:spPr>
          <a:xfrm>
            <a:off x="4564243" y="2888552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78C59-2B78-18FF-EC67-CF9DEE71AAAD}"/>
              </a:ext>
            </a:extLst>
          </p:cNvPr>
          <p:cNvSpPr/>
          <p:nvPr/>
        </p:nvSpPr>
        <p:spPr>
          <a:xfrm>
            <a:off x="4909551" y="2878631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4F91882-0577-BA2C-D6FD-A32C77479D9B}"/>
              </a:ext>
            </a:extLst>
          </p:cNvPr>
          <p:cNvCxnSpPr/>
          <p:nvPr/>
        </p:nvCxnSpPr>
        <p:spPr>
          <a:xfrm flipV="1">
            <a:off x="1027506" y="3395109"/>
            <a:ext cx="651878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95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A4614F-6CA5-44D7-AD07-09DC5228602C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The Harmonic Series Diverges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385B50-2CC9-EBF9-84CC-418CF8C24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62" y="2393745"/>
            <a:ext cx="5251235" cy="1863674"/>
          </a:xfrm>
          <a:prstGeom prst="rect">
            <a:avLst/>
          </a:prstGeom>
          <a:ln>
            <a:noFill/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A46FD09-C212-82B2-6A8A-8436A511A35A}"/>
              </a:ext>
            </a:extLst>
          </p:cNvPr>
          <p:cNvSpPr/>
          <p:nvPr/>
        </p:nvSpPr>
        <p:spPr>
          <a:xfrm>
            <a:off x="2048035" y="3400263"/>
            <a:ext cx="234087" cy="4901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60BB5C-049F-E75E-5481-17AB5432D470}"/>
              </a:ext>
            </a:extLst>
          </p:cNvPr>
          <p:cNvSpPr/>
          <p:nvPr/>
        </p:nvSpPr>
        <p:spPr>
          <a:xfrm>
            <a:off x="3260646" y="2917519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C21C31-A4B6-7144-530C-40BC0687C4DD}"/>
              </a:ext>
            </a:extLst>
          </p:cNvPr>
          <p:cNvSpPr/>
          <p:nvPr/>
        </p:nvSpPr>
        <p:spPr>
          <a:xfrm>
            <a:off x="4179962" y="2902873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173E63-6034-F07D-B39A-D922BF4531D5}"/>
              </a:ext>
            </a:extLst>
          </p:cNvPr>
          <p:cNvSpPr/>
          <p:nvPr/>
        </p:nvSpPr>
        <p:spPr>
          <a:xfrm>
            <a:off x="4564243" y="2888552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78C59-2B78-18FF-EC67-CF9DEE71AAAD}"/>
              </a:ext>
            </a:extLst>
          </p:cNvPr>
          <p:cNvSpPr/>
          <p:nvPr/>
        </p:nvSpPr>
        <p:spPr>
          <a:xfrm>
            <a:off x="4909551" y="2878631"/>
            <a:ext cx="234087" cy="980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901C85-0EFD-E9AD-62B4-A492E40B74BF}"/>
              </a:ext>
            </a:extLst>
          </p:cNvPr>
          <p:cNvSpPr/>
          <p:nvPr/>
        </p:nvSpPr>
        <p:spPr>
          <a:xfrm>
            <a:off x="3192292" y="3417231"/>
            <a:ext cx="716757" cy="441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2AC426-C505-4375-BAB2-01E5BA505505}"/>
              </a:ext>
            </a:extLst>
          </p:cNvPr>
          <p:cNvSpPr/>
          <p:nvPr/>
        </p:nvSpPr>
        <p:spPr>
          <a:xfrm>
            <a:off x="3374583" y="3854458"/>
            <a:ext cx="372541" cy="441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9EFBB2-F216-14FD-3593-1F986B2E8A48}"/>
              </a:ext>
            </a:extLst>
          </p:cNvPr>
          <p:cNvSpPr/>
          <p:nvPr/>
        </p:nvSpPr>
        <p:spPr>
          <a:xfrm>
            <a:off x="4137183" y="3427153"/>
            <a:ext cx="1453028" cy="441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822E19-047A-1968-9669-E068DA8AD112}"/>
              </a:ext>
            </a:extLst>
          </p:cNvPr>
          <p:cNvSpPr/>
          <p:nvPr/>
        </p:nvSpPr>
        <p:spPr>
          <a:xfrm>
            <a:off x="4700374" y="3854457"/>
            <a:ext cx="372541" cy="441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4F91882-0577-BA2C-D6FD-A32C77479D9B}"/>
              </a:ext>
            </a:extLst>
          </p:cNvPr>
          <p:cNvCxnSpPr/>
          <p:nvPr/>
        </p:nvCxnSpPr>
        <p:spPr>
          <a:xfrm flipV="1">
            <a:off x="1027506" y="3395109"/>
            <a:ext cx="651878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4AFDF9E-079B-44DC-D042-CC25954688BD}"/>
              </a:ext>
            </a:extLst>
          </p:cNvPr>
          <p:cNvSpPr/>
          <p:nvPr/>
        </p:nvSpPr>
        <p:spPr>
          <a:xfrm>
            <a:off x="6412396" y="3826844"/>
            <a:ext cx="516855" cy="441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016291-C3EB-2B40-0DDE-8884496E8795}"/>
              </a:ext>
            </a:extLst>
          </p:cNvPr>
          <p:cNvSpPr/>
          <p:nvPr/>
        </p:nvSpPr>
        <p:spPr>
          <a:xfrm>
            <a:off x="1492618" y="2293571"/>
            <a:ext cx="611520" cy="72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ounded Rectangular Callout 6">
            <a:extLst>
              <a:ext uri="{FF2B5EF4-FFF2-40B4-BE49-F238E27FC236}">
                <a16:creationId xmlns:a16="http://schemas.microsoft.com/office/drawing/2014/main" id="{91AF97C9-2048-6127-5006-AF18CEF64405}"/>
              </a:ext>
            </a:extLst>
          </p:cNvPr>
          <p:cNvSpPr/>
          <p:nvPr/>
        </p:nvSpPr>
        <p:spPr>
          <a:xfrm>
            <a:off x="7085750" y="4411194"/>
            <a:ext cx="1712656" cy="718958"/>
          </a:xfrm>
          <a:prstGeom prst="wedgeRoundRectCallout">
            <a:avLst>
              <a:gd name="adj1" fmla="val -50598"/>
              <a:gd name="adj2" fmla="val -83662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harmonic series diverges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A0EE1-E352-56CA-D7F1-F3388C20C1EF}"/>
              </a:ext>
            </a:extLst>
          </p:cNvPr>
          <p:cNvSpPr/>
          <p:nvPr/>
        </p:nvSpPr>
        <p:spPr>
          <a:xfrm>
            <a:off x="2603332" y="3858366"/>
            <a:ext cx="372541" cy="441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569C9F-EEC9-4A9C-DD9F-E470B885ED96}"/>
              </a:ext>
            </a:extLst>
          </p:cNvPr>
          <p:cNvGrpSpPr/>
          <p:nvPr/>
        </p:nvGrpSpPr>
        <p:grpSpPr>
          <a:xfrm>
            <a:off x="2501771" y="4839440"/>
            <a:ext cx="4140459" cy="1507832"/>
            <a:chOff x="2104138" y="4839440"/>
            <a:chExt cx="4140459" cy="15078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7EEC211-A974-330A-F5B8-D0CB74A81857}"/>
                </a:ext>
              </a:extLst>
            </p:cNvPr>
            <p:cNvSpPr txBox="1"/>
            <p:nvPr/>
          </p:nvSpPr>
          <p:spPr>
            <a:xfrm>
              <a:off x="3808590" y="5408690"/>
              <a:ext cx="243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Nicole Oresme (c. </a:t>
              </a:r>
              <a:r>
                <a:rPr lang="en-US" b="1" dirty="0"/>
                <a:t>1360</a:t>
              </a:r>
              <a:r>
                <a:rPr lang="en-US" dirty="0"/>
                <a:t>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F28D635-EBFA-2077-A67A-6B6CAD94E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4138" y="4839440"/>
              <a:ext cx="1507832" cy="1507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9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8" grpId="0" animBg="1"/>
      <p:bldP spid="49" grpId="0" animBg="1"/>
      <p:bldP spid="51" grpId="0" animBg="1"/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B920-47A0-48CA-5DE0-EC0DD9FD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8147-B147-0C5D-618A-D9385673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Infinite Series (Sums)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0F6546-FD4D-FE1D-2473-A0C274B7F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6086" y="5102971"/>
                <a:ext cx="7886700" cy="125338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This sum is called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Basel series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Mathematicians knew that the sum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converges</a:t>
                </a:r>
                <a:r>
                  <a:rPr lang="en-US" sz="2400" dirty="0"/>
                  <a:t>, but they wanted to know the </a:t>
                </a:r>
                <a:r>
                  <a:rPr lang="en-US" sz="2400" b="1" dirty="0"/>
                  <a:t>exact</a:t>
                </a:r>
                <a:r>
                  <a:rPr lang="en-US" sz="2400" dirty="0"/>
                  <a:t> value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0F6546-FD4D-FE1D-2473-A0C274B7F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6086" y="5102971"/>
                <a:ext cx="7886700" cy="1253380"/>
              </a:xfrm>
              <a:blipFill>
                <a:blip r:embed="rId3"/>
                <a:stretch>
                  <a:fillRect l="-1005" t="-6796" b="-9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056EF-29B3-3D4E-C460-DED63A06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E6A8DE1-1273-52C3-0416-A813393C0299}"/>
                  </a:ext>
                </a:extLst>
              </p:cNvPr>
              <p:cNvSpPr/>
              <p:nvPr/>
            </p:nvSpPr>
            <p:spPr>
              <a:xfrm>
                <a:off x="1784555" y="1468581"/>
                <a:ext cx="5574890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E6A8DE1-1273-52C3-0416-A813393C02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55" y="1468581"/>
                <a:ext cx="5574890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F8D2F93-2626-A577-9319-D1F8C1ADBD91}"/>
                  </a:ext>
                </a:extLst>
              </p:cNvPr>
              <p:cNvSpPr/>
              <p:nvPr/>
            </p:nvSpPr>
            <p:spPr>
              <a:xfrm>
                <a:off x="1660524" y="3936404"/>
                <a:ext cx="5822953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F8D2F93-2626-A577-9319-D1F8C1ADB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24" y="3936404"/>
                <a:ext cx="5822953" cy="931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9F89DC-8924-D29A-FC0A-76BEF9A2B7F0}"/>
              </a:ext>
            </a:extLst>
          </p:cNvPr>
          <p:cNvSpPr txBox="1">
            <a:spLocks/>
          </p:cNvSpPr>
          <p:nvPr/>
        </p:nvSpPr>
        <p:spPr>
          <a:xfrm>
            <a:off x="726086" y="2536007"/>
            <a:ext cx="7886700" cy="1264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This sum is called the </a:t>
            </a:r>
            <a:r>
              <a:rPr lang="en-US" sz="2400" b="1" dirty="0">
                <a:solidFill>
                  <a:srgbClr val="0070C0"/>
                </a:solidFill>
              </a:rPr>
              <a:t>Harmonic series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Oresme proved that the sum </a:t>
            </a:r>
            <a:r>
              <a:rPr lang="en-US" sz="2400" b="1" dirty="0">
                <a:solidFill>
                  <a:srgbClr val="FF0000"/>
                </a:solidFill>
              </a:rPr>
              <a:t>diverges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273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15" y="686257"/>
            <a:ext cx="7160971" cy="54854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56007" y="1964044"/>
            <a:ext cx="1916267" cy="258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644445" y="5855110"/>
            <a:ext cx="442452" cy="213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B424C-D58D-4E4C-AF8F-BB7A5125B509}"/>
              </a:ext>
            </a:extLst>
          </p:cNvPr>
          <p:cNvSpPr/>
          <p:nvPr/>
        </p:nvSpPr>
        <p:spPr>
          <a:xfrm>
            <a:off x="6130137" y="3525926"/>
            <a:ext cx="1726387" cy="19019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BAD1E-08D1-4885-AEDF-2B24C64CE799}"/>
              </a:ext>
            </a:extLst>
          </p:cNvPr>
          <p:cNvSpPr/>
          <p:nvPr/>
        </p:nvSpPr>
        <p:spPr>
          <a:xfrm>
            <a:off x="1124257" y="3772205"/>
            <a:ext cx="6732268" cy="46329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3C1341-57D9-4231-A5B7-5594CEC93F28}"/>
              </a:ext>
            </a:extLst>
          </p:cNvPr>
          <p:cNvCxnSpPr/>
          <p:nvPr/>
        </p:nvCxnSpPr>
        <p:spPr>
          <a:xfrm>
            <a:off x="6130137" y="3964838"/>
            <a:ext cx="1024129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9308EC2-DCD7-11F9-3392-148376B7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50AD656-6FF9-465D-B7B0-1CD0DD39CD2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19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0899-EA79-F927-CCA6-74C5BE3B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7259-1980-22D0-B1C7-2390281F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Basel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C0BB4-742D-AE93-1C41-12FACD761C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needs you to calculate the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partial sums</a:t>
                </a:r>
                <a:r>
                  <a:rPr lang="en-US" sz="2400" dirty="0"/>
                  <a:t> of the </a:t>
                </a:r>
                <a:r>
                  <a:rPr lang="en-US" sz="2400" b="1" dirty="0"/>
                  <a:t>Basel Series </a:t>
                </a:r>
                <a:r>
                  <a:rPr lang="en-US" sz="2400" dirty="0"/>
                  <a:t>out to the first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en-US" sz="2400" dirty="0"/>
                  <a:t> terms</a:t>
                </a:r>
              </a:p>
              <a:p>
                <a:r>
                  <a:rPr lang="en-US" sz="2400" dirty="0"/>
                  <a:t>Recall the Basel Series is given by the sum: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endParaRPr lang="en-US" sz="2400" dirty="0"/>
              </a:p>
              <a:p>
                <a:r>
                  <a:rPr lang="en-US" sz="2400" dirty="0"/>
                  <a:t>Then she needs you to display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square root of six times the </a:t>
                </a:r>
                <a:r>
                  <a:rPr lang="en-US" sz="2400" b="1" u="sng" dirty="0">
                    <a:solidFill>
                      <a:srgbClr val="0070C0"/>
                    </a:solidFill>
                  </a:rPr>
                  <a:t>final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sum</a:t>
                </a:r>
                <a:r>
                  <a:rPr lang="en-US" sz="2400" dirty="0"/>
                  <a:t> of the first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100,000</m:t>
                    </m:r>
                  </m:oMath>
                </a14:m>
                <a:r>
                  <a:rPr lang="en-US" sz="2400" dirty="0"/>
                  <a:t> terms</a:t>
                </a:r>
              </a:p>
              <a:p>
                <a:r>
                  <a:rPr lang="en-US" sz="2400" dirty="0"/>
                  <a:t>She also needs you to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plot</a:t>
                </a:r>
                <a:r>
                  <a:rPr lang="en-US" sz="2400" dirty="0"/>
                  <a:t> the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partial sums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of both the </a:t>
                </a:r>
                <a:r>
                  <a:rPr lang="en-US" sz="2400" b="1" dirty="0"/>
                  <a:t>Basel Series </a:t>
                </a:r>
                <a:r>
                  <a:rPr lang="en-US" sz="2400" dirty="0"/>
                  <a:t>and the </a:t>
                </a:r>
                <a:r>
                  <a:rPr lang="en-US" sz="2400" b="1" dirty="0"/>
                  <a:t>Harmonic Series</a:t>
                </a:r>
                <a:r>
                  <a:rPr lang="en-US" sz="2400" dirty="0"/>
                  <a:t>, to </a:t>
                </a:r>
                <a:r>
                  <a:rPr lang="en-US" sz="2400" u="sng" dirty="0"/>
                  <a:t>visually</a:t>
                </a:r>
                <a:r>
                  <a:rPr lang="en-US" sz="2400" dirty="0"/>
                  <a:t> compare the behavior of each series</a:t>
                </a:r>
                <a:endParaRPr lang="en-US" sz="2400" u="sng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C0BB4-742D-AE93-1C41-12FACD761C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7E2CF-270A-6FA6-1409-27D22D1B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D4931BB-2832-E2E7-8C03-969D669A56CE}"/>
                  </a:ext>
                </a:extLst>
              </p:cNvPr>
              <p:cNvSpPr/>
              <p:nvPr/>
            </p:nvSpPr>
            <p:spPr>
              <a:xfrm>
                <a:off x="1660524" y="2963231"/>
                <a:ext cx="5822953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D4931BB-2832-E2E7-8C03-969D669A56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24" y="2963231"/>
                <a:ext cx="5822953" cy="931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37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01D9-4703-53F4-02C0-C1ADC8D6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FB68-9733-5266-58F6-505D5EA8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basel_problem.py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3DD87-5FA8-607F-3B6C-BBAFEF9E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77934-AA01-89AA-B635-CA49DD79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021" y="1622753"/>
            <a:ext cx="4165957" cy="44922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8D214F-272A-894E-34A2-3FD21F00047F}"/>
              </a:ext>
            </a:extLst>
          </p:cNvPr>
          <p:cNvSpPr/>
          <p:nvPr/>
        </p:nvSpPr>
        <p:spPr>
          <a:xfrm>
            <a:off x="2935705" y="3986463"/>
            <a:ext cx="2045369" cy="11470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43A32D-5408-B703-8803-4192C34D715B}"/>
                  </a:ext>
                </a:extLst>
              </p:cNvPr>
              <p:cNvSpPr/>
              <p:nvPr/>
            </p:nvSpPr>
            <p:spPr>
              <a:xfrm>
                <a:off x="547224" y="3640290"/>
                <a:ext cx="1558339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43A32D-5408-B703-8803-4192C34D7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24" y="3640290"/>
                <a:ext cx="1558339" cy="931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276E9F-5528-8911-C19F-7C4E3EE26308}"/>
                  </a:ext>
                </a:extLst>
              </p:cNvPr>
              <p:cNvSpPr/>
              <p:nvPr/>
            </p:nvSpPr>
            <p:spPr>
              <a:xfrm>
                <a:off x="495965" y="4716205"/>
                <a:ext cx="1785285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276E9F-5528-8911-C19F-7C4E3EE2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65" y="4716205"/>
                <a:ext cx="1785285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0697180-09EB-1F37-ADB5-67CD870BA859}"/>
              </a:ext>
            </a:extLst>
          </p:cNvPr>
          <p:cNvSpPr txBox="1"/>
          <p:nvPr/>
        </p:nvSpPr>
        <p:spPr>
          <a:xfrm>
            <a:off x="5256797" y="4248661"/>
            <a:ext cx="2229853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This is </a:t>
            </a:r>
            <a:r>
              <a:rPr lang="en-US" b="1" dirty="0">
                <a:solidFill>
                  <a:srgbClr val="7030A0"/>
                </a:solidFill>
              </a:rPr>
              <a:t>NOT</a:t>
            </a:r>
            <a:r>
              <a:rPr lang="en-US" dirty="0">
                <a:solidFill>
                  <a:srgbClr val="7030A0"/>
                </a:solidFill>
              </a:rPr>
              <a:t> what your scientists wanted</a:t>
            </a:r>
          </a:p>
        </p:txBody>
      </p:sp>
    </p:spTree>
    <p:extLst>
      <p:ext uri="{BB962C8B-B14F-4D97-AF65-F5344CB8AC3E}">
        <p14:creationId xmlns:p14="http://schemas.microsoft.com/office/powerpoint/2010/main" val="102525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0CE5-2547-D203-2446-C4CBF3F1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9B1377-F8C4-6A38-200D-AF60E5F08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021" y="1622753"/>
            <a:ext cx="4165957" cy="44922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D0A8E8-9000-46E3-6DF3-FEC31A2D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basel_problem.py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D9ABB-7ECF-7766-A10C-3BA3D149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07C4A-C2C5-1C8C-2196-4E4AF85B99F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FF733A-D1C2-7B9E-D397-BD938245E015}"/>
              </a:ext>
            </a:extLst>
          </p:cNvPr>
          <p:cNvGrpSpPr/>
          <p:nvPr/>
        </p:nvGrpSpPr>
        <p:grpSpPr>
          <a:xfrm>
            <a:off x="4359387" y="3944926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DE2F6BD-48F0-E9B6-FB1C-EB162B17A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6B9E79-7ADE-F334-0004-3772DE173AD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FF44914-864C-90D2-0067-D20D6FC6F81E}"/>
                  </a:ext>
                </a:extLst>
              </p:cNvPr>
              <p:cNvSpPr/>
              <p:nvPr/>
            </p:nvSpPr>
            <p:spPr>
              <a:xfrm>
                <a:off x="547224" y="3640290"/>
                <a:ext cx="1558339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FF44914-864C-90D2-0067-D20D6FC6F8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24" y="3640290"/>
                <a:ext cx="1558339" cy="931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5EAF87A-BAF7-B9EC-3DA1-C21DB131D537}"/>
                  </a:ext>
                </a:extLst>
              </p:cNvPr>
              <p:cNvSpPr/>
              <p:nvPr/>
            </p:nvSpPr>
            <p:spPr>
              <a:xfrm>
                <a:off x="495965" y="4716205"/>
                <a:ext cx="1785285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5EAF87A-BAF7-B9EC-3DA1-C21DB131D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65" y="4716205"/>
                <a:ext cx="1785285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5E49B85-8CF9-0284-EC60-D717DF134B8C}"/>
              </a:ext>
            </a:extLst>
          </p:cNvPr>
          <p:cNvGrpSpPr/>
          <p:nvPr/>
        </p:nvGrpSpPr>
        <p:grpSpPr>
          <a:xfrm>
            <a:off x="5665551" y="4203707"/>
            <a:ext cx="1076632" cy="369332"/>
            <a:chOff x="4704120" y="2356972"/>
            <a:chExt cx="1076632" cy="36933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66F1C9-2847-36AA-0EDE-7A1FDA485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1C292B-18EE-3FEF-5985-1B5FE3029C7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67FE27-BD7C-1DBF-DFB0-D16B5706B7D2}"/>
                  </a:ext>
                </a:extLst>
              </p:cNvPr>
              <p:cNvSpPr txBox="1"/>
              <p:nvPr/>
            </p:nvSpPr>
            <p:spPr>
              <a:xfrm>
                <a:off x="6895608" y="3921392"/>
                <a:ext cx="1503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→10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0,000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67FE27-BD7C-1DBF-DFB0-D16B5706B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608" y="3921392"/>
                <a:ext cx="15034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A284FF-1FF0-ADBC-8B23-D16852EBDFF2}"/>
                  </a:ext>
                </a:extLst>
              </p:cNvPr>
              <p:cNvSpPr txBox="1"/>
              <p:nvPr/>
            </p:nvSpPr>
            <p:spPr>
              <a:xfrm>
                <a:off x="6895608" y="5349112"/>
                <a:ext cx="1752427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𝑙𝑎𝑠𝑡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A284FF-1FF0-ADBC-8B23-D16852EBD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608" y="5349112"/>
                <a:ext cx="1752427" cy="656013"/>
              </a:xfrm>
              <a:prstGeom prst="rect">
                <a:avLst/>
              </a:prstGeom>
              <a:blipFill>
                <a:blip r:embed="rId6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DF95AE-1DC8-A8DB-CA23-65F602B19DED}"/>
                  </a:ext>
                </a:extLst>
              </p:cNvPr>
              <p:cNvSpPr txBox="1"/>
              <p:nvPr/>
            </p:nvSpPr>
            <p:spPr>
              <a:xfrm>
                <a:off x="6895608" y="4388373"/>
                <a:ext cx="2057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cumulative </a:t>
                </a:r>
                <a:r>
                  <a:rPr lang="en-US" b="1" dirty="0">
                    <a:solidFill>
                      <a:srgbClr val="7030A0"/>
                    </a:solidFill>
                  </a:rPr>
                  <a:t>(partial)</a:t>
                </a:r>
                <a:r>
                  <a:rPr lang="en-US" dirty="0"/>
                  <a:t> sums of each series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DF95AE-1DC8-A8DB-CA23-65F602B19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608" y="4388373"/>
                <a:ext cx="2057400" cy="923330"/>
              </a:xfrm>
              <a:prstGeom prst="rect">
                <a:avLst/>
              </a:prstGeom>
              <a:blipFill>
                <a:blip r:embed="rId7"/>
                <a:stretch>
                  <a:fillRect l="-2367" t="-3974" r="-1479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D5882C7-A548-C749-217C-B71CC20A84B7}"/>
              </a:ext>
            </a:extLst>
          </p:cNvPr>
          <p:cNvGrpSpPr/>
          <p:nvPr/>
        </p:nvGrpSpPr>
        <p:grpSpPr>
          <a:xfrm>
            <a:off x="5586335" y="4531539"/>
            <a:ext cx="1068643" cy="369332"/>
            <a:chOff x="3647644" y="4910075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32CEFE-F910-636F-D4E8-6D02EE78009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6DBFE3A-92E1-F0C3-402A-7CD3C47FA8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8E2B01-8A99-558C-EEC0-FF00C3185438}"/>
              </a:ext>
            </a:extLst>
          </p:cNvPr>
          <p:cNvGrpSpPr/>
          <p:nvPr/>
        </p:nvGrpSpPr>
        <p:grpSpPr>
          <a:xfrm>
            <a:off x="5925780" y="5528698"/>
            <a:ext cx="1064340" cy="369332"/>
            <a:chOff x="3647644" y="5421073"/>
            <a:chExt cx="1064340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6673F8-B0FB-38C2-C2D6-A6B2074006C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55BF77D-8CC2-30BA-DEC1-ADFD353D3C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218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2E11-3207-E25B-D4A9-B3A31617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7F7E-186C-DE05-5C6E-B930C0D3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basel_problem.py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8FB1F-9B2E-5820-7E99-91FC9801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A52CEF-6756-1D3A-A46A-369F91D664D5}"/>
                  </a:ext>
                </a:extLst>
              </p:cNvPr>
              <p:cNvSpPr/>
              <p:nvPr/>
            </p:nvSpPr>
            <p:spPr>
              <a:xfrm>
                <a:off x="547224" y="1907746"/>
                <a:ext cx="1558339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A52CEF-6756-1D3A-A46A-369F91D664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24" y="1907746"/>
                <a:ext cx="1558339" cy="9315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D2C26A-174E-2B53-2580-B3FC30712335}"/>
                  </a:ext>
                </a:extLst>
              </p:cNvPr>
              <p:cNvSpPr/>
              <p:nvPr/>
            </p:nvSpPr>
            <p:spPr>
              <a:xfrm>
                <a:off x="495965" y="2983661"/>
                <a:ext cx="1785285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D2C26A-174E-2B53-2580-B3FC30712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65" y="2983661"/>
                <a:ext cx="1785285" cy="9315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32F76E2-BE6A-403A-AF4B-0B50B6CFC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021" y="1645430"/>
            <a:ext cx="4165957" cy="262222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CEDD6A7-5007-91D2-CC47-B462286FF876}"/>
              </a:ext>
            </a:extLst>
          </p:cNvPr>
          <p:cNvGrpSpPr/>
          <p:nvPr/>
        </p:nvGrpSpPr>
        <p:grpSpPr>
          <a:xfrm>
            <a:off x="6148083" y="2120425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09327E2-D236-7989-E1BF-4BFBEA106A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5ED721-928A-9415-B6BD-335A83F605B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D7F971-7230-3E4C-661A-E678D7C02862}"/>
              </a:ext>
            </a:extLst>
          </p:cNvPr>
          <p:cNvGrpSpPr/>
          <p:nvPr/>
        </p:nvGrpSpPr>
        <p:grpSpPr>
          <a:xfrm>
            <a:off x="6475539" y="2382747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E7A7216-B862-4CA1-A5D4-68202F4DC0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FFF9BF-5A1E-4688-3BDE-63F770E56D0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B7A51B-E97A-930B-1B24-5E10E3AFA8C7}"/>
              </a:ext>
            </a:extLst>
          </p:cNvPr>
          <p:cNvGrpSpPr/>
          <p:nvPr/>
        </p:nvGrpSpPr>
        <p:grpSpPr>
          <a:xfrm>
            <a:off x="6109496" y="2892978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42E4E5-9980-7360-C059-3D873A90D93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C567DE2-ABEA-7EAF-845D-61C54D230B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623EA5-D3FE-EA35-080C-5F4FE51B84F5}"/>
              </a:ext>
            </a:extLst>
          </p:cNvPr>
          <p:cNvGrpSpPr/>
          <p:nvPr/>
        </p:nvGrpSpPr>
        <p:grpSpPr>
          <a:xfrm>
            <a:off x="6090670" y="3156752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E15BC7-FA9C-CD97-64FE-89133BB072A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5989AA5-63AA-A674-1F6E-CF22AF2CA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454407-8F39-A33F-8C93-5B6E5D65D7EF}"/>
              </a:ext>
            </a:extLst>
          </p:cNvPr>
          <p:cNvGrpSpPr/>
          <p:nvPr/>
        </p:nvGrpSpPr>
        <p:grpSpPr>
          <a:xfrm>
            <a:off x="4367411" y="3396916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0BB757E-D7F3-6999-8000-6D9E6F6B9AF7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D38F6BD-0437-5793-87B9-74EC40F335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470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A04B-845F-E663-2C47-48FF975B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986DBD-4CA9-501D-0A8B-90E28E7F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4731D-9A45-B1C0-6CBD-3AE189C0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basel_series.py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418B-5019-07BF-A596-A0E7FC32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64E5F-50F5-1A67-32FC-3382324CAF44}"/>
              </a:ext>
            </a:extLst>
          </p:cNvPr>
          <p:cNvSpPr txBox="1"/>
          <p:nvPr/>
        </p:nvSpPr>
        <p:spPr>
          <a:xfrm>
            <a:off x="3598117" y="5011891"/>
            <a:ext cx="285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Basel</a:t>
            </a:r>
            <a:r>
              <a:rPr lang="en-US" dirty="0">
                <a:solidFill>
                  <a:srgbClr val="7030A0"/>
                </a:solidFill>
              </a:rPr>
              <a:t> series converges to a specific number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A73ADA-6EA7-FCD9-93FA-FAE75379AB58}"/>
                  </a:ext>
                </a:extLst>
              </p:cNvPr>
              <p:cNvSpPr txBox="1"/>
              <p:nvPr/>
            </p:nvSpPr>
            <p:spPr>
              <a:xfrm>
                <a:off x="4795084" y="2896178"/>
                <a:ext cx="2184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The </a:t>
                </a:r>
                <a:r>
                  <a:rPr lang="en-US" b="1" dirty="0">
                    <a:solidFill>
                      <a:srgbClr val="7030A0"/>
                    </a:solidFill>
                  </a:rPr>
                  <a:t>harmonic</a:t>
                </a:r>
                <a:r>
                  <a:rPr lang="en-US" dirty="0">
                    <a:solidFill>
                      <a:srgbClr val="7030A0"/>
                    </a:solidFill>
                  </a:rPr>
                  <a:t> series diverges (very slowly) towards </a:t>
                </a:r>
                <a14:m>
                  <m:oMath xmlns:m="http://schemas.openxmlformats.org/officeDocument/2006/math">
                    <m:r>
                      <a:rPr lang="en-US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A73ADA-6EA7-FCD9-93FA-FAE75379A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84" y="2896178"/>
                <a:ext cx="2184775" cy="923330"/>
              </a:xfrm>
              <a:prstGeom prst="rect">
                <a:avLst/>
              </a:prstGeom>
              <a:blipFill>
                <a:blip r:embed="rId3"/>
                <a:stretch>
                  <a:fillRect l="-2514" t="-3289" r="-3911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5188BE-C95D-3CCD-5E0C-AB5EDC9EC39C}"/>
              </a:ext>
            </a:extLst>
          </p:cNvPr>
          <p:cNvCxnSpPr/>
          <p:nvPr/>
        </p:nvCxnSpPr>
        <p:spPr>
          <a:xfrm>
            <a:off x="2256923" y="5756178"/>
            <a:ext cx="52297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71C4959-430F-8104-0C1A-6DB38973A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624" y="4501868"/>
            <a:ext cx="3337746" cy="412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127D53-F56C-B3AF-562C-20ECB7499E44}"/>
                  </a:ext>
                </a:extLst>
              </p:cNvPr>
              <p:cNvSpPr txBox="1"/>
              <p:nvPr/>
            </p:nvSpPr>
            <p:spPr>
              <a:xfrm>
                <a:off x="3799549" y="4540194"/>
                <a:ext cx="988347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127D53-F56C-B3AF-562C-20ECB7499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549" y="4540194"/>
                <a:ext cx="988347" cy="335413"/>
              </a:xfrm>
              <a:prstGeom prst="rect">
                <a:avLst/>
              </a:prstGeom>
              <a:blipFill>
                <a:blip r:embed="rId5"/>
                <a:stretch>
                  <a:fillRect r="-2469" b="-1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6D6C73C-5952-5D56-F07D-9A98DF82F990}"/>
                  </a:ext>
                </a:extLst>
              </p:cNvPr>
              <p:cNvSpPr/>
              <p:nvPr/>
            </p:nvSpPr>
            <p:spPr>
              <a:xfrm>
                <a:off x="3136171" y="3599718"/>
                <a:ext cx="1785285" cy="847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6D6C73C-5952-5D56-F07D-9A98DF82F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171" y="3599718"/>
                <a:ext cx="1785285" cy="847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1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B340F-C303-7926-51BE-BDA3EDAA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FDDA-7248-F97C-2EF9-0CA969D4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Basel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B2BB0-FF7C-5A24-66DB-2F16D7E0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2F6E9-DC54-5C4D-DA64-EE6460F02915}"/>
              </a:ext>
            </a:extLst>
          </p:cNvPr>
          <p:cNvSpPr txBox="1"/>
          <p:nvPr/>
        </p:nvSpPr>
        <p:spPr>
          <a:xfrm>
            <a:off x="1660159" y="2888709"/>
            <a:ext cx="2437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YouTube - 3Blue1Brown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D0157-57CB-5FFF-1D21-B9E1A0DC5F9E}"/>
              </a:ext>
            </a:extLst>
          </p:cNvPr>
          <p:cNvSpPr txBox="1"/>
          <p:nvPr/>
        </p:nvSpPr>
        <p:spPr>
          <a:xfrm>
            <a:off x="4449430" y="2888709"/>
            <a:ext cx="2152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>
                <a:hlinkClick r:id="rId3"/>
              </a:rPr>
              <a:t>YouTube - ZetaMath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4C6A298-7DDA-F84E-0D03-D7B7F3610887}"/>
                  </a:ext>
                </a:extLst>
              </p:cNvPr>
              <p:cNvSpPr/>
              <p:nvPr/>
            </p:nvSpPr>
            <p:spPr>
              <a:xfrm>
                <a:off x="1219366" y="1745570"/>
                <a:ext cx="5822953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4C6A298-7DDA-F84E-0D03-D7B7F3610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366" y="1745570"/>
                <a:ext cx="5822953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1004C854-8E51-C8EA-3799-2D475AC9E715}"/>
              </a:ext>
            </a:extLst>
          </p:cNvPr>
          <p:cNvSpPr/>
          <p:nvPr/>
        </p:nvSpPr>
        <p:spPr>
          <a:xfrm>
            <a:off x="6562891" y="1826208"/>
            <a:ext cx="374651" cy="7609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8F5162-A071-C4D6-B641-38582663110C}"/>
              </a:ext>
            </a:extLst>
          </p:cNvPr>
          <p:cNvSpPr txBox="1"/>
          <p:nvPr/>
        </p:nvSpPr>
        <p:spPr>
          <a:xfrm>
            <a:off x="7216275" y="1688380"/>
            <a:ext cx="1416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Euler proved this in 1734 when he was </a:t>
            </a:r>
            <a:r>
              <a:rPr lang="en-US" b="1" dirty="0">
                <a:solidFill>
                  <a:srgbClr val="7030A0"/>
                </a:solidFill>
              </a:rPr>
              <a:t>27 years </a:t>
            </a:r>
            <a:r>
              <a:rPr lang="en-US" dirty="0">
                <a:solidFill>
                  <a:srgbClr val="7030A0"/>
                </a:solidFill>
              </a:rPr>
              <a:t>old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F6D11B-4DFD-3D07-396E-76E58191A7FA}"/>
              </a:ext>
            </a:extLst>
          </p:cNvPr>
          <p:cNvGrpSpPr/>
          <p:nvPr/>
        </p:nvGrpSpPr>
        <p:grpSpPr>
          <a:xfrm>
            <a:off x="628650" y="3866350"/>
            <a:ext cx="2057400" cy="2284165"/>
            <a:chOff x="1008275" y="4004686"/>
            <a:chExt cx="2057400" cy="228416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C8B43C6-F839-C981-7D6E-E3B0E4CA5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230" y="4004686"/>
              <a:ext cx="1993491" cy="16137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381854-470B-9779-C031-F0BEE8935DDC}"/>
                </a:ext>
              </a:extLst>
            </p:cNvPr>
            <p:cNvSpPr txBox="1"/>
            <p:nvPr/>
          </p:nvSpPr>
          <p:spPr>
            <a:xfrm>
              <a:off x="1008275" y="5673298"/>
              <a:ext cx="20574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Leonhard Euler</a:t>
              </a:r>
            </a:p>
            <a:p>
              <a:pPr algn="ctr"/>
              <a:r>
                <a:rPr lang="en-US" sz="1600" dirty="0"/>
                <a:t>(1707 – 1783)</a:t>
              </a:r>
              <a:endParaRPr lang="en-US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17C8A3F-A07D-88C6-299C-494393F6A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193" y="3609455"/>
            <a:ext cx="3922430" cy="2687074"/>
          </a:xfrm>
          <a:prstGeom prst="rect">
            <a:avLst/>
          </a:prstGeom>
          <a:ln w="1905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A7ACBB8-9BFE-78CB-0B4B-9D0ACE0DC1C1}"/>
              </a:ext>
            </a:extLst>
          </p:cNvPr>
          <p:cNvSpPr/>
          <p:nvPr/>
        </p:nvSpPr>
        <p:spPr>
          <a:xfrm>
            <a:off x="6358328" y="4617774"/>
            <a:ext cx="1394086" cy="74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214F3-A707-9782-603B-CEE0F1200286}"/>
              </a:ext>
            </a:extLst>
          </p:cNvPr>
          <p:cNvSpPr/>
          <p:nvPr/>
        </p:nvSpPr>
        <p:spPr>
          <a:xfrm>
            <a:off x="4111556" y="4617774"/>
            <a:ext cx="1394086" cy="74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CB58E4-B559-02EB-41A9-1D7B634B421F}"/>
              </a:ext>
            </a:extLst>
          </p:cNvPr>
          <p:cNvSpPr/>
          <p:nvPr/>
        </p:nvSpPr>
        <p:spPr>
          <a:xfrm>
            <a:off x="4488886" y="5479521"/>
            <a:ext cx="2701395" cy="74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57B561-F429-C427-00C6-003AEE815180}"/>
              </a:ext>
            </a:extLst>
          </p:cNvPr>
          <p:cNvSpPr txBox="1"/>
          <p:nvPr/>
        </p:nvSpPr>
        <p:spPr>
          <a:xfrm>
            <a:off x="7216275" y="3705409"/>
            <a:ext cx="1416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Only </a:t>
            </a:r>
            <a:r>
              <a:rPr lang="en-US" b="1" dirty="0">
                <a:solidFill>
                  <a:srgbClr val="FF0000"/>
                </a:solidFill>
              </a:rPr>
              <a:t>even</a:t>
            </a:r>
            <a:r>
              <a:rPr lang="en-US" dirty="0">
                <a:solidFill>
                  <a:srgbClr val="FF0000"/>
                </a:solidFill>
              </a:rPr>
              <a:t> exponents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69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 animBg="1"/>
      <p:bldP spid="22" grpId="0"/>
      <p:bldP spid="24" grpId="0" animBg="1"/>
      <p:bldP spid="25" grpId="0" animBg="1"/>
      <p:bldP spid="26" grpId="0" animBg="1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88D5-87DB-A6D7-7A9D-339701B7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EDBE-A1A0-7970-C541-38C62A9A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Basel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8CEE5-6220-D50E-E616-39608A44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25F58-D141-53DC-9FF8-75CC88312454}"/>
              </a:ext>
            </a:extLst>
          </p:cNvPr>
          <p:cNvSpPr txBox="1"/>
          <p:nvPr/>
        </p:nvSpPr>
        <p:spPr>
          <a:xfrm>
            <a:off x="1660159" y="2888709"/>
            <a:ext cx="2437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YouTube - 3Blue1Brown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697FC-8F9E-4AF0-82BD-5989F03E5DBB}"/>
              </a:ext>
            </a:extLst>
          </p:cNvPr>
          <p:cNvSpPr txBox="1"/>
          <p:nvPr/>
        </p:nvSpPr>
        <p:spPr>
          <a:xfrm>
            <a:off x="4449430" y="2888709"/>
            <a:ext cx="2152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>
                <a:hlinkClick r:id="rId3"/>
              </a:rPr>
              <a:t>YouTube - ZetaMath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C6C5C8-B54D-2AC1-43ED-DA1265C80813}"/>
                  </a:ext>
                </a:extLst>
              </p:cNvPr>
              <p:cNvSpPr/>
              <p:nvPr/>
            </p:nvSpPr>
            <p:spPr>
              <a:xfrm>
                <a:off x="1219366" y="1745570"/>
                <a:ext cx="5822953" cy="931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C6C5C8-B54D-2AC1-43ED-DA1265C80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366" y="1745570"/>
                <a:ext cx="5822953" cy="93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A69F459-1EDC-FD33-E1BC-CFAEA9DF6E38}"/>
              </a:ext>
            </a:extLst>
          </p:cNvPr>
          <p:cNvSpPr/>
          <p:nvPr/>
        </p:nvSpPr>
        <p:spPr>
          <a:xfrm>
            <a:off x="6562891" y="1826208"/>
            <a:ext cx="374651" cy="7609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388A13-D22F-624D-B37A-B083E169FF44}"/>
              </a:ext>
            </a:extLst>
          </p:cNvPr>
          <p:cNvGrpSpPr/>
          <p:nvPr/>
        </p:nvGrpSpPr>
        <p:grpSpPr>
          <a:xfrm>
            <a:off x="628650" y="3866350"/>
            <a:ext cx="2057400" cy="2284165"/>
            <a:chOff x="1008275" y="4004686"/>
            <a:chExt cx="2057400" cy="228416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9D87467-E7D9-8088-37D3-2633E6D8A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230" y="4004686"/>
              <a:ext cx="1993491" cy="16137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B21874-009D-FE58-630D-245FD079352A}"/>
                </a:ext>
              </a:extLst>
            </p:cNvPr>
            <p:cNvSpPr txBox="1"/>
            <p:nvPr/>
          </p:nvSpPr>
          <p:spPr>
            <a:xfrm>
              <a:off x="1008275" y="5673298"/>
              <a:ext cx="20574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Leonhard Euler</a:t>
              </a:r>
            </a:p>
            <a:p>
              <a:pPr algn="ctr"/>
              <a:r>
                <a:rPr lang="en-US" sz="1600" dirty="0"/>
                <a:t>(1707 – 1783)</a:t>
              </a:r>
              <a:endParaRPr lang="en-US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D0613-E06C-B04F-7046-53803566A592}"/>
              </a:ext>
            </a:extLst>
          </p:cNvPr>
          <p:cNvSpPr/>
          <p:nvPr/>
        </p:nvSpPr>
        <p:spPr>
          <a:xfrm>
            <a:off x="6358328" y="4617774"/>
            <a:ext cx="1394086" cy="74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1C6E68-B7AC-341E-DAB7-2219D632C5F8}"/>
              </a:ext>
            </a:extLst>
          </p:cNvPr>
          <p:cNvSpPr/>
          <p:nvPr/>
        </p:nvSpPr>
        <p:spPr>
          <a:xfrm>
            <a:off x="4111556" y="4617774"/>
            <a:ext cx="1394086" cy="743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E44E40-C6FD-3D1F-A3F6-55AB3C342BA3}"/>
              </a:ext>
            </a:extLst>
          </p:cNvPr>
          <p:cNvGrpSpPr/>
          <p:nvPr/>
        </p:nvGrpSpPr>
        <p:grpSpPr>
          <a:xfrm>
            <a:off x="2938800" y="3746120"/>
            <a:ext cx="2629323" cy="1860545"/>
            <a:chOff x="1688146" y="5174365"/>
            <a:chExt cx="6142271" cy="186054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7728C3-1C5A-9CC3-3695-BC8CBFA9870F}"/>
                </a:ext>
              </a:extLst>
            </p:cNvPr>
            <p:cNvSpPr txBox="1"/>
            <p:nvPr/>
          </p:nvSpPr>
          <p:spPr>
            <a:xfrm>
              <a:off x="1688146" y="5174365"/>
              <a:ext cx="61422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7030A0"/>
                  </a:solidFill>
                </a:rPr>
                <a:t>But 292 years later,</a:t>
              </a:r>
            </a:p>
            <a:p>
              <a:pPr algn="ctr"/>
              <a:r>
                <a:rPr lang="en-US" sz="2000" dirty="0">
                  <a:solidFill>
                    <a:srgbClr val="7030A0"/>
                  </a:solidFill>
                </a:rPr>
                <a:t>we still </a:t>
              </a:r>
              <a:r>
                <a:rPr lang="en-US" sz="2000" b="1" dirty="0">
                  <a:solidFill>
                    <a:srgbClr val="7030A0"/>
                  </a:solidFill>
                </a:rPr>
                <a:t>do not know</a:t>
              </a:r>
            </a:p>
            <a:p>
              <a:pPr algn="ctr"/>
              <a:r>
                <a:rPr lang="en-US" sz="2000" dirty="0">
                  <a:solidFill>
                    <a:srgbClr val="7030A0"/>
                  </a:solidFill>
                </a:rPr>
                <a:t>the exact value of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B068BDD-F086-E2BE-8752-7F927BCB3C50}"/>
                    </a:ext>
                  </a:extLst>
                </p:cNvPr>
                <p:cNvSpPr txBox="1"/>
                <p:nvPr/>
              </p:nvSpPr>
              <p:spPr>
                <a:xfrm>
                  <a:off x="2590124" y="6187306"/>
                  <a:ext cx="3824604" cy="8476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d>
                          <m:dPr>
                            <m:ctrlPr>
                              <a:rPr lang="en-US" sz="1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1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18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B068BDD-F086-E2BE-8752-7F927BCB3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124" y="6187306"/>
                  <a:ext cx="3824604" cy="84760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34356A5-2D77-BFB5-DC9A-99005319004C}"/>
              </a:ext>
            </a:extLst>
          </p:cNvPr>
          <p:cNvSpPr txBox="1"/>
          <p:nvPr/>
        </p:nvSpPr>
        <p:spPr>
          <a:xfrm>
            <a:off x="7216275" y="1688380"/>
            <a:ext cx="1416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Euler proved this in 1734 when he was </a:t>
            </a:r>
            <a:r>
              <a:rPr lang="en-US" b="1" dirty="0">
                <a:solidFill>
                  <a:srgbClr val="7030A0"/>
                </a:solidFill>
              </a:rPr>
              <a:t>27 years </a:t>
            </a:r>
            <a:r>
              <a:rPr lang="en-US" dirty="0">
                <a:solidFill>
                  <a:srgbClr val="7030A0"/>
                </a:solidFill>
              </a:rPr>
              <a:t>old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CB076A-7458-0117-9704-0A9AB1DFBEDB}"/>
                  </a:ext>
                </a:extLst>
              </p:cNvPr>
              <p:cNvSpPr txBox="1"/>
              <p:nvPr/>
            </p:nvSpPr>
            <p:spPr>
              <a:xfrm>
                <a:off x="5852827" y="3718679"/>
                <a:ext cx="299987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That value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d>
                      <m:d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appears in so many places in </a:t>
                </a:r>
                <a:r>
                  <a:rPr lang="en-US" b="1" dirty="0">
                    <a:solidFill>
                      <a:srgbClr val="00B050"/>
                    </a:solidFill>
                  </a:rPr>
                  <a:t>Physics</a:t>
                </a:r>
                <a:r>
                  <a:rPr lang="en-US" dirty="0">
                    <a:solidFill>
                      <a:srgbClr val="00B050"/>
                    </a:solidFill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B050"/>
                    </a:solidFill>
                  </a:rPr>
                  <a:t>Quantum Electrodynamics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B050"/>
                    </a:solidFill>
                  </a:rPr>
                  <a:t>Stefan-Boltzmann Statistical Mechanics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B050"/>
                    </a:solidFill>
                  </a:rPr>
                  <a:t>Fermi-Dirac Distribution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B050"/>
                    </a:solidFill>
                  </a:rPr>
                  <a:t>String Theory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B050"/>
                    </a:solidFill>
                  </a:rPr>
                  <a:t>Apéry proved in 1978 that it is </a:t>
                </a:r>
                <a:r>
                  <a:rPr lang="en-US" i="1" dirty="0">
                    <a:solidFill>
                      <a:srgbClr val="00B050"/>
                    </a:solidFill>
                  </a:rPr>
                  <a:t>irrational</a:t>
                </a:r>
                <a:r>
                  <a:rPr lang="en-US" dirty="0">
                    <a:solidFill>
                      <a:srgbClr val="00B050"/>
                    </a:solidFill>
                  </a:rPr>
                  <a:t>, but that is all we know about it</a:t>
                </a:r>
              </a:p>
              <a:p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CB076A-7458-0117-9704-0A9AB1DFB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827" y="3718679"/>
                <a:ext cx="2999872" cy="3139321"/>
              </a:xfrm>
              <a:prstGeom prst="rect">
                <a:avLst/>
              </a:prstGeom>
              <a:blipFill>
                <a:blip r:embed="rId7"/>
                <a:stretch>
                  <a:fillRect l="-1626" t="-971" r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320BB1F-7970-334D-73FC-1F09EFFCB772}"/>
              </a:ext>
            </a:extLst>
          </p:cNvPr>
          <p:cNvSpPr txBox="1"/>
          <p:nvPr/>
        </p:nvSpPr>
        <p:spPr>
          <a:xfrm>
            <a:off x="3545101" y="5753396"/>
            <a:ext cx="1416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Or </a:t>
            </a:r>
            <a:r>
              <a:rPr lang="en-US" u="sng" dirty="0">
                <a:solidFill>
                  <a:srgbClr val="FF0000"/>
                </a:solidFill>
              </a:rPr>
              <a:t>any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odd </a:t>
            </a:r>
            <a:r>
              <a:rPr lang="en-US" dirty="0">
                <a:solidFill>
                  <a:srgbClr val="FF0000"/>
                </a:solidFill>
              </a:rPr>
              <a:t>exponents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9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C7B8-7F62-24F0-A17D-CDE851AD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E418-AD42-57DB-367F-BFCA46AC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Impress 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1B05D-29BB-2441-4DEE-B9706F92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D82569-574D-8F6E-0C0C-9C6916309547}"/>
              </a:ext>
            </a:extLst>
          </p:cNvPr>
          <p:cNvSpPr txBox="1"/>
          <p:nvPr/>
        </p:nvSpPr>
        <p:spPr>
          <a:xfrm>
            <a:off x="2743375" y="4618873"/>
            <a:ext cx="4018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Al-Karaji </a:t>
            </a:r>
            <a:r>
              <a:rPr lang="en-US" dirty="0"/>
              <a:t> proved this in 1000 AD</a:t>
            </a:r>
            <a:endParaRPr lang="en-US" dirty="0">
              <a:solidFill>
                <a:srgbClr val="FF0000"/>
              </a:solidFill>
              <a:latin typeface="Segoe Print" panose="02000600000000000000" pitchFamily="2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It’s 2026 – can </a:t>
            </a:r>
            <a:r>
              <a:rPr lang="en-US" b="1" u="sng" dirty="0">
                <a:solidFill>
                  <a:srgbClr val="FF0000"/>
                </a:solidFill>
                <a:latin typeface="Segoe Print" panose="02000600000000000000" pitchFamily="2" charset="0"/>
              </a:rPr>
              <a:t>you</a:t>
            </a:r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 prove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9C5940-21D5-6074-05FA-C018887CC55F}"/>
                  </a:ext>
                </a:extLst>
              </p:cNvPr>
              <p:cNvSpPr txBox="1"/>
              <p:nvPr/>
            </p:nvSpPr>
            <p:spPr>
              <a:xfrm>
                <a:off x="3534857" y="3279134"/>
                <a:ext cx="2074286" cy="899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9C5940-21D5-6074-05FA-C018887CC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857" y="3279134"/>
                <a:ext cx="2074286" cy="89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9CE1801-DCE0-26BB-A549-863BE88CB060}"/>
              </a:ext>
            </a:extLst>
          </p:cNvPr>
          <p:cNvSpPr txBox="1"/>
          <p:nvPr/>
        </p:nvSpPr>
        <p:spPr>
          <a:xfrm>
            <a:off x="2766846" y="1781562"/>
            <a:ext cx="3610308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Demonstrate</a:t>
            </a:r>
            <a:r>
              <a:rPr lang="en-US" sz="2000" dirty="0">
                <a:solidFill>
                  <a:srgbClr val="7030A0"/>
                </a:solidFill>
              </a:rPr>
              <a:t> in Python that the sum of the </a:t>
            </a:r>
            <a:r>
              <a:rPr lang="en-US" sz="2000" u="sng" dirty="0">
                <a:solidFill>
                  <a:srgbClr val="7030A0"/>
                </a:solidFill>
              </a:rPr>
              <a:t>cubes</a:t>
            </a:r>
            <a:r>
              <a:rPr lang="en-US" sz="2000" dirty="0">
                <a:solidFill>
                  <a:srgbClr val="7030A0"/>
                </a:solidFill>
              </a:rPr>
              <a:t> of the natural numbers equals the </a:t>
            </a:r>
            <a:r>
              <a:rPr lang="en-US" sz="2000" u="sng" dirty="0">
                <a:solidFill>
                  <a:srgbClr val="7030A0"/>
                </a:solidFill>
              </a:rPr>
              <a:t>square</a:t>
            </a:r>
            <a:r>
              <a:rPr lang="en-US" sz="2000" dirty="0">
                <a:solidFill>
                  <a:srgbClr val="7030A0"/>
                </a:solidFill>
              </a:rPr>
              <a:t> of the sum of the natural numbers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F45F5-5918-894F-E0B3-2A491FF48026}"/>
              </a:ext>
            </a:extLst>
          </p:cNvPr>
          <p:cNvGrpSpPr/>
          <p:nvPr/>
        </p:nvGrpSpPr>
        <p:grpSpPr>
          <a:xfrm>
            <a:off x="591854" y="1690689"/>
            <a:ext cx="1864292" cy="2488435"/>
            <a:chOff x="584069" y="1690689"/>
            <a:chExt cx="1864292" cy="24884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7295AA1-B00B-DA32-FE33-760872696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069" y="1690689"/>
              <a:ext cx="1864292" cy="19885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99A54B-73A7-B572-F733-E40CA2D7BA9A}"/>
                </a:ext>
              </a:extLst>
            </p:cNvPr>
            <p:cNvSpPr txBox="1"/>
            <p:nvPr/>
          </p:nvSpPr>
          <p:spPr>
            <a:xfrm>
              <a:off x="584069" y="3686681"/>
              <a:ext cx="1864292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Nicomachus of Gerasa</a:t>
              </a:r>
            </a:p>
            <a:p>
              <a:pPr algn="ctr"/>
              <a:r>
                <a:rPr lang="en-US" sz="1200" dirty="0"/>
                <a:t>(AD 60-120)</a:t>
              </a:r>
              <a:endParaRPr lang="en-US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13696D-DF9A-06AA-1721-6213B531B0FE}"/>
              </a:ext>
            </a:extLst>
          </p:cNvPr>
          <p:cNvGrpSpPr/>
          <p:nvPr/>
        </p:nvGrpSpPr>
        <p:grpSpPr>
          <a:xfrm>
            <a:off x="6780022" y="1698103"/>
            <a:ext cx="1635767" cy="2511798"/>
            <a:chOff x="7066155" y="1698103"/>
            <a:chExt cx="1635767" cy="251179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2CF12AB-6617-E1F8-320C-E55691C82D69}"/>
                </a:ext>
              </a:extLst>
            </p:cNvPr>
            <p:cNvSpPr txBox="1"/>
            <p:nvPr/>
          </p:nvSpPr>
          <p:spPr>
            <a:xfrm>
              <a:off x="7066155" y="3686681"/>
              <a:ext cx="1635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Al-Karaji</a:t>
              </a:r>
            </a:p>
            <a:p>
              <a:pPr algn="ctr"/>
              <a:r>
                <a:rPr lang="en-US" sz="1400" dirty="0"/>
                <a:t>(953–1029 AD)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5BF68E9-626B-CF7C-1C9C-133B2432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6156" y="1698103"/>
              <a:ext cx="1635766" cy="19885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8104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88E2-D3E4-9EE0-15E6-A7092886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D509-0FE9-398E-36A9-2755937F8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1D3C5-F96B-4071-62B5-5A5FD721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Consider a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variable</a:t>
                </a:r>
                <a:r>
                  <a:rPr lang="en-US" sz="2400" dirty="0"/>
                  <a:t> getting close to </a:t>
                </a:r>
                <a:r>
                  <a:rPr lang="en-US" sz="2400" b="1" dirty="0"/>
                  <a:t>zero</a:t>
                </a:r>
                <a:r>
                  <a:rPr lang="en-US" sz="2400" dirty="0"/>
                  <a:t> on the number line (aka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approaching the limit</a:t>
                </a:r>
                <a:r>
                  <a:rPr lang="en-US" sz="2400" dirty="0"/>
                  <a:t>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If we insert that variable into an expression containing a fraction, we risk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divide-by-zero</a:t>
                </a:r>
                <a:r>
                  <a:rPr lang="en-US" sz="2400" dirty="0"/>
                  <a:t> situation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Consider this limit: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As x approaches zero, we get an </a:t>
                </a:r>
                <a:r>
                  <a:rPr lang="en-US" sz="2400" b="1" dirty="0"/>
                  <a:t>indeterminate form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numerator and denominator are “racing to zero together” and the question is who </a:t>
                </a:r>
                <a:r>
                  <a:rPr lang="en-US" sz="2400" b="1" dirty="0"/>
                  <a:t>wins</a:t>
                </a:r>
                <a:r>
                  <a:rPr lang="en-US" sz="2400" dirty="0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1D3C5-F96B-4071-62B5-5A5FD721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 r="-7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B2C0E-64A9-5849-0C87-36181689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4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B1E6-5BF1-9608-73B9-E9BBACE0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2160-B93B-0759-52EC-18594ED0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7F7C-6468-6303-B0C1-89235D370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fr-FR" sz="2400" dirty="0"/>
              <a:t>In 1691, Guillaume François Antoine, Marquis de </a:t>
            </a:r>
            <a:r>
              <a:rPr lang="fr-FR" sz="2400" b="1" dirty="0"/>
              <a:t>L'Hôpital</a:t>
            </a:r>
            <a:r>
              <a:rPr lang="fr-FR" sz="2400" dirty="0"/>
              <a:t> (1661-1704)</a:t>
            </a:r>
            <a:r>
              <a:rPr lang="en-US" sz="2400" dirty="0"/>
              <a:t> hired </a:t>
            </a:r>
            <a:r>
              <a:rPr lang="en-US" sz="2400" b="1" dirty="0">
                <a:solidFill>
                  <a:srgbClr val="7030A0"/>
                </a:solidFill>
              </a:rPr>
              <a:t>Johann Bernoulli</a:t>
            </a:r>
            <a:r>
              <a:rPr lang="en-US" sz="2400" dirty="0"/>
              <a:t>, a brilliant young Swiss mathematician, as his private tutor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fr-FR" sz="2400" b="1" dirty="0"/>
              <a:t>L'Hôpital</a:t>
            </a:r>
            <a:r>
              <a:rPr lang="en-US" sz="2400" dirty="0"/>
              <a:t> proposed that </a:t>
            </a:r>
            <a:r>
              <a:rPr lang="en-US" sz="2400" b="1" dirty="0">
                <a:solidFill>
                  <a:srgbClr val="7030A0"/>
                </a:solidFill>
              </a:rPr>
              <a:t>Bernoulli</a:t>
            </a:r>
            <a:r>
              <a:rPr lang="en-US" sz="2400" dirty="0"/>
              <a:t> teach </a:t>
            </a:r>
            <a:r>
              <a:rPr lang="fr-FR" sz="2400" dirty="0"/>
              <a:t>L'Hôpital about </a:t>
            </a:r>
            <a:r>
              <a:rPr lang="en-US" sz="2400" noProof="0" dirty="0"/>
              <a:t>calculus</a:t>
            </a:r>
            <a:r>
              <a:rPr lang="fr-FR" sz="2400" dirty="0"/>
              <a:t>, and</a:t>
            </a:r>
            <a:r>
              <a:rPr lang="fr-FR" sz="2400" b="1" dirty="0"/>
              <a:t> </a:t>
            </a:r>
            <a:r>
              <a:rPr lang="fr-FR" sz="2400" dirty="0"/>
              <a:t>L'Hôpital </a:t>
            </a:r>
            <a:r>
              <a:rPr lang="en-US" sz="2400" noProof="0" dirty="0"/>
              <a:t>would</a:t>
            </a:r>
            <a:r>
              <a:rPr lang="fr-FR" sz="2400" dirty="0"/>
              <a:t> not </a:t>
            </a:r>
            <a:r>
              <a:rPr lang="en-US" sz="2400" noProof="0" dirty="0"/>
              <a:t>publish</a:t>
            </a:r>
            <a:r>
              <a:rPr lang="fr-FR" sz="2400" dirty="0"/>
              <a:t> Bernoulli’s work. Bernoulli, </a:t>
            </a:r>
            <a:r>
              <a:rPr lang="en-US" sz="2400" noProof="0" dirty="0"/>
              <a:t>who</a:t>
            </a:r>
            <a:r>
              <a:rPr lang="fr-FR" sz="2400" dirty="0"/>
              <a:t> at the time </a:t>
            </a:r>
            <a:r>
              <a:rPr lang="en-US" sz="2400" noProof="0" dirty="0"/>
              <a:t>needed </a:t>
            </a:r>
            <a:r>
              <a:rPr lang="fr-FR" sz="2400" dirty="0"/>
              <a:t>money, agreed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</a:t>
            </a:r>
            <a:r>
              <a:rPr lang="en-US" sz="2400" b="1" dirty="0"/>
              <a:t>1696</a:t>
            </a:r>
            <a:r>
              <a:rPr lang="en-US" sz="2400" dirty="0"/>
              <a:t>, L’Hôpital published </a:t>
            </a:r>
            <a:r>
              <a:rPr lang="en-US" sz="2400" b="1" i="1" dirty="0">
                <a:solidFill>
                  <a:srgbClr val="FF0000"/>
                </a:solidFill>
              </a:rPr>
              <a:t>Analysis of the Infinitely Small for the Understanding of Curved Lines</a:t>
            </a:r>
            <a:r>
              <a:rPr lang="en-US" sz="2400" dirty="0"/>
              <a:t>, which was the first textbook on differential calculus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That book contained </a:t>
            </a:r>
            <a:r>
              <a:rPr lang="en-US" sz="2400" b="1" dirty="0">
                <a:solidFill>
                  <a:srgbClr val="7030A0"/>
                </a:solidFill>
              </a:rPr>
              <a:t>Bernoulli’s original technique for evaluating indeterminate limits</a:t>
            </a:r>
            <a:r>
              <a:rPr lang="en-US" sz="2400" dirty="0"/>
              <a:t>. Unfortunately, this is now called </a:t>
            </a:r>
            <a:r>
              <a:rPr lang="fr-FR" sz="2400" b="1" dirty="0"/>
              <a:t>L'</a:t>
            </a:r>
            <a:r>
              <a:rPr lang="en-US" sz="2400" b="1" noProof="0" dirty="0"/>
              <a:t>Hôpital’s</a:t>
            </a:r>
            <a:r>
              <a:rPr lang="fr-FR" sz="2400" b="1" dirty="0"/>
              <a:t> Rule</a:t>
            </a:r>
            <a:r>
              <a:rPr lang="fr-FR" sz="2400" dirty="0"/>
              <a:t> (</a:t>
            </a:r>
            <a:r>
              <a:rPr lang="en-US" sz="2400" b="1" noProof="0" dirty="0">
                <a:solidFill>
                  <a:srgbClr val="00B050"/>
                </a:solidFill>
              </a:rPr>
              <a:t>verified</a:t>
            </a:r>
            <a:r>
              <a:rPr lang="fr-FR" sz="2400" b="1" dirty="0">
                <a:solidFill>
                  <a:srgbClr val="00B050"/>
                </a:solidFill>
              </a:rPr>
              <a:t> in 1922</a:t>
            </a:r>
            <a:r>
              <a:rPr lang="fr-FR" sz="2400" dirty="0"/>
              <a:t>)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43952-69BA-A3C1-1C10-AFE9CEF7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3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B533F-3376-C360-4CBE-B9A076C2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68E1-AF24-B594-6F68-35E1896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B5CF7-4047-D209-2D14-979A5D68D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Bernoulli’s insight was that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near zero</a:t>
                </a:r>
                <a:r>
                  <a:rPr lang="en-US" sz="2400" dirty="0"/>
                  <a:t>, a well-behaved function looks almost like </a:t>
                </a:r>
                <a:r>
                  <a:rPr lang="en-US" sz="2400" b="1" dirty="0"/>
                  <a:t>a straight line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If you zoom in far enough on any smooth curve at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zero</a:t>
                </a:r>
                <a:r>
                  <a:rPr lang="en-US" sz="2400" dirty="0"/>
                  <a:t>, it starts to look like its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tangent</a:t>
                </a:r>
                <a:r>
                  <a:rPr lang="en-US" sz="2400" dirty="0"/>
                  <a:t> line. That tangent line has a </a:t>
                </a:r>
                <a:r>
                  <a:rPr lang="en-US" sz="2400" u="sng" dirty="0"/>
                  <a:t>slope</a:t>
                </a:r>
                <a:r>
                  <a:rPr lang="en-US" sz="2400" dirty="0"/>
                  <a:t>, and that slope is called its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derivative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More generally,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near zero: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Thus </a:t>
                </a:r>
                <a:r>
                  <a:rPr lang="fr-FR" sz="2400" b="1" dirty="0"/>
                  <a:t>L'</a:t>
                </a:r>
                <a:r>
                  <a:rPr lang="en-US" sz="2400" b="1" dirty="0"/>
                  <a:t>Hôpital’s</a:t>
                </a:r>
                <a:r>
                  <a:rPr lang="fr-FR" sz="2400" b="1" dirty="0"/>
                  <a:t> Rule</a:t>
                </a:r>
                <a:r>
                  <a:rPr lang="en-US" sz="2400" dirty="0"/>
                  <a:t> states: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B5CF7-4047-D209-2D14-979A5D68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AC22B-60E1-044B-954D-CD5ABBF9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80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19B8-CB80-B850-379B-BE48652B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9F3E-E2C7-48BB-CBC9-4B8927B4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45F0-F893-7077-1916-5668DDFFD7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Consider the </a:t>
                </a:r>
                <a:r>
                  <a:rPr lang="en-US" sz="2400" b="1" dirty="0" err="1"/>
                  <a:t>sinc</a:t>
                </a:r>
                <a:r>
                  <a:rPr lang="en-US" sz="2400" dirty="0"/>
                  <a:t> function: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𝑠𝑖𝑛𝑐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, the </a:t>
                </a:r>
                <a:r>
                  <a:rPr lang="en-US" sz="2400" b="1" dirty="0"/>
                  <a:t>limit</a:t>
                </a:r>
                <a:r>
                  <a:rPr lang="en-US" sz="2400" dirty="0"/>
                  <a:t> has an 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indeterminate</a:t>
                </a:r>
                <a:r>
                  <a:rPr lang="en-US" sz="2400" dirty="0"/>
                  <a:t> form</a:t>
                </a:r>
                <a:endParaRPr lang="en-US" sz="2400" i="1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Now, consider that the derivative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and the derivative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24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By applying </a:t>
                </a:r>
                <a:r>
                  <a:rPr lang="fr-FR" sz="2400" b="1" dirty="0"/>
                  <a:t>L'</a:t>
                </a:r>
                <a:r>
                  <a:rPr lang="en-US" sz="2400" b="1" dirty="0"/>
                  <a:t>Hôpital’s</a:t>
                </a:r>
                <a:r>
                  <a:rPr lang="fr-FR" sz="2400" b="1" dirty="0"/>
                  <a:t> Rule</a:t>
                </a:r>
                <a:r>
                  <a:rPr lang="en-US" sz="2400" dirty="0"/>
                  <a:t> we get: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Another way to evaluate difficult limits is by using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squeeze</a:t>
                </a:r>
                <a:r>
                  <a:rPr lang="en-US" sz="2400" dirty="0"/>
                  <a:t> (sandwich) theorem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45F0-F893-7077-1916-5668DDFFD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 r="-2009" b="-3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DCF4C-4C28-82C1-F52E-5274B1B5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28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4775-B640-F46B-53C0-6D7CC10F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6EA3-4AF1-AF8F-5A24-D081382C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Squeeze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85FF0-4506-E496-36D0-B5D61C15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71CF9-EF26-6234-1DF7-DB5A91FF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30" r="16336" b="5596"/>
          <a:stretch>
            <a:fillRect/>
          </a:stretch>
        </p:blipFill>
        <p:spPr>
          <a:xfrm>
            <a:off x="1493502" y="1500698"/>
            <a:ext cx="6156996" cy="485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34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C30A-6951-5959-1F0E-D5BB7587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056E-6EBA-6A2A-0EFB-8DC6EBC9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C00B-1278-E453-C0AD-110619FD3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 will cover all these topics in your high school </a:t>
            </a:r>
            <a:r>
              <a:rPr lang="en-US" sz="2400" b="1" dirty="0">
                <a:solidFill>
                  <a:srgbClr val="00B050"/>
                </a:solidFill>
              </a:rPr>
              <a:t>precalculus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calculus</a:t>
            </a:r>
            <a:r>
              <a:rPr lang="en-US" sz="2400" dirty="0"/>
              <a:t> courses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For now, we will just </a:t>
            </a:r>
            <a:r>
              <a:rPr lang="en-US" sz="2400" b="1" dirty="0"/>
              <a:t>plot each function </a:t>
            </a:r>
            <a:r>
              <a:rPr lang="en-US" sz="2400" dirty="0"/>
              <a:t>and observe the value of the function (the </a:t>
            </a:r>
            <a:r>
              <a:rPr lang="en-US" sz="2400" b="1" dirty="0">
                <a:solidFill>
                  <a:srgbClr val="0070C0"/>
                </a:solidFill>
              </a:rPr>
              <a:t>limit</a:t>
            </a:r>
            <a:r>
              <a:rPr lang="en-US" sz="2400" dirty="0"/>
              <a:t>) at the </a:t>
            </a:r>
            <a:r>
              <a:rPr lang="en-US" sz="2400" b="1" dirty="0">
                <a:solidFill>
                  <a:srgbClr val="FF0000"/>
                </a:solidFill>
              </a:rPr>
              <a:t>critical</a:t>
            </a:r>
            <a:r>
              <a:rPr lang="en-US" sz="2400" dirty="0"/>
              <a:t> value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However, graphing provides only a </a:t>
            </a:r>
            <a:r>
              <a:rPr lang="en-US" sz="2400" b="1" dirty="0"/>
              <a:t>qualitative</a:t>
            </a:r>
            <a:r>
              <a:rPr lang="en-US" sz="2400" dirty="0"/>
              <a:t> </a:t>
            </a:r>
            <a:r>
              <a:rPr lang="en-US" sz="2400" i="1" dirty="0"/>
              <a:t>assessment</a:t>
            </a:r>
            <a:r>
              <a:rPr lang="en-US" sz="2400" dirty="0"/>
              <a:t>, not a </a:t>
            </a:r>
            <a:r>
              <a:rPr lang="en-US" sz="2400" b="1" dirty="0"/>
              <a:t>quantitative</a:t>
            </a:r>
            <a:r>
              <a:rPr lang="en-US" sz="2400" dirty="0"/>
              <a:t> </a:t>
            </a:r>
            <a:r>
              <a:rPr lang="en-US" sz="2400" u="sng" dirty="0"/>
              <a:t>proof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01791-41BC-F2D6-2EF7-01BCA106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F24A85-DE6F-CFC9-08CA-A503232AA2C7}"/>
              </a:ext>
            </a:extLst>
          </p:cNvPr>
          <p:cNvGrpSpPr/>
          <p:nvPr/>
        </p:nvGrpSpPr>
        <p:grpSpPr>
          <a:xfrm>
            <a:off x="1256866" y="4533730"/>
            <a:ext cx="6630269" cy="1698335"/>
            <a:chOff x="1406257" y="4533730"/>
            <a:chExt cx="6630269" cy="169833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655C13-527E-089B-8744-AC0E4B3BF698}"/>
                </a:ext>
              </a:extLst>
            </p:cNvPr>
            <p:cNvGrpSpPr/>
            <p:nvPr/>
          </p:nvGrpSpPr>
          <p:grpSpPr>
            <a:xfrm>
              <a:off x="1406257" y="4533730"/>
              <a:ext cx="3114535" cy="1698335"/>
              <a:chOff x="1406257" y="4523080"/>
              <a:chExt cx="3114535" cy="169833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640DAE0-8F50-DD38-2189-37110A5F26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06257" y="4523080"/>
                <a:ext cx="1369625" cy="1698335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B4EACF-F11B-6A10-E7BA-177BC9E8EA15}"/>
                  </a:ext>
                </a:extLst>
              </p:cNvPr>
              <p:cNvSpPr txBox="1"/>
              <p:nvPr/>
            </p:nvSpPr>
            <p:spPr>
              <a:xfrm>
                <a:off x="2775882" y="5079860"/>
                <a:ext cx="17449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Johann Bernoulli</a:t>
                </a:r>
              </a:p>
              <a:p>
                <a:pPr algn="ctr"/>
                <a:r>
                  <a:rPr lang="en-US" sz="1600" dirty="0"/>
                  <a:t>(1667-1748)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B982244-189D-3945-B40E-5C8B725C9DF3}"/>
                </a:ext>
              </a:extLst>
            </p:cNvPr>
            <p:cNvGrpSpPr/>
            <p:nvPr/>
          </p:nvGrpSpPr>
          <p:grpSpPr>
            <a:xfrm>
              <a:off x="4879374" y="4533730"/>
              <a:ext cx="3157152" cy="1698335"/>
              <a:chOff x="5358198" y="4388144"/>
              <a:chExt cx="3157152" cy="169833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E96C1EE-A48E-AC36-CD15-0C77B3911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8783" t="4647" r="9485" b="25347"/>
              <a:stretch>
                <a:fillRect/>
              </a:stretch>
            </p:blipFill>
            <p:spPr>
              <a:xfrm>
                <a:off x="5358198" y="4388144"/>
                <a:ext cx="1412242" cy="1698335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ACAD15-D8A4-F0B8-7583-ACAFE8F110B5}"/>
                  </a:ext>
                </a:extLst>
              </p:cNvPr>
              <p:cNvSpPr txBox="1"/>
              <p:nvPr/>
            </p:nvSpPr>
            <p:spPr>
              <a:xfrm>
                <a:off x="6770440" y="4791035"/>
                <a:ext cx="1744910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Guillaume de L'Hôpital</a:t>
                </a:r>
                <a:endParaRPr lang="en-US" sz="1600" b="1" dirty="0"/>
              </a:p>
              <a:p>
                <a:pPr algn="ctr"/>
                <a:r>
                  <a:rPr lang="en-US" sz="1600" dirty="0"/>
                  <a:t>(1667-1748)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58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595C-719E-777D-1DB6-A41C6540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A3E908E6-023E-986A-7211-D09F508BFF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19" y="1682300"/>
            <a:ext cx="8304762" cy="3561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EC329E-0F93-9905-9C47-A6C0D429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limit_sinc.py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39A7E-8DB4-F73C-9E1D-EA803B6C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F41700-43AB-F4A9-3284-C9CB1D164E5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60171B2-21A4-E23A-D432-F6DA6BFAE3E4}"/>
              </a:ext>
            </a:extLst>
          </p:cNvPr>
          <p:cNvGrpSpPr/>
          <p:nvPr/>
        </p:nvGrpSpPr>
        <p:grpSpPr>
          <a:xfrm>
            <a:off x="4723739" y="1891951"/>
            <a:ext cx="1076632" cy="369332"/>
            <a:chOff x="4968362" y="2079211"/>
            <a:chExt cx="1076632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ED89850-5C23-E0DB-5AF2-C7DBFA0415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9CF835-47FA-5118-C567-5C0EFF6373B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A28771-365E-B5DD-222B-09DFD5FD81F5}"/>
                  </a:ext>
                </a:extLst>
              </p:cNvPr>
              <p:cNvSpPr txBox="1"/>
              <p:nvPr/>
            </p:nvSpPr>
            <p:spPr>
              <a:xfrm>
                <a:off x="5629014" y="1766166"/>
                <a:ext cx="28863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FF00"/>
                    </a:solidFill>
                  </a:rPr>
                  <a:t>Using an </a:t>
                </a:r>
                <a:r>
                  <a:rPr lang="en-US" sz="1600" u="sng" dirty="0">
                    <a:solidFill>
                      <a:srgbClr val="FFFF00"/>
                    </a:solidFill>
                  </a:rPr>
                  <a:t>even</a:t>
                </a:r>
                <a:r>
                  <a:rPr lang="en-US" sz="1600" dirty="0">
                    <a:solidFill>
                      <a:srgbClr val="FFFF00"/>
                    </a:solidFill>
                  </a:rPr>
                  <a:t> number of intervals over the span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 </a:t>
                </a:r>
                <a:r>
                  <a:rPr lang="en-US" sz="1600" b="1" dirty="0">
                    <a:solidFill>
                      <a:srgbClr val="FFFF00"/>
                    </a:solidFill>
                  </a:rPr>
                  <a:t>avoids</a:t>
                </a:r>
                <a:r>
                  <a:rPr lang="en-US" sz="16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A28771-365E-B5DD-222B-09DFD5FD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014" y="1766166"/>
                <a:ext cx="2886336" cy="830997"/>
              </a:xfrm>
              <a:prstGeom prst="rect">
                <a:avLst/>
              </a:prstGeom>
              <a:blipFill>
                <a:blip r:embed="rId3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94A85568-D991-6922-25D4-DAF3F6457F5D}"/>
              </a:ext>
            </a:extLst>
          </p:cNvPr>
          <p:cNvGrpSpPr/>
          <p:nvPr/>
        </p:nvGrpSpPr>
        <p:grpSpPr>
          <a:xfrm>
            <a:off x="2240032" y="2110173"/>
            <a:ext cx="1076632" cy="369332"/>
            <a:chOff x="4704120" y="2356972"/>
            <a:chExt cx="1076632" cy="369332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CC70D38-4C29-93D7-B0B1-AE0A69F8A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FDF722E-64B7-F7A5-D85F-9DCB7975C42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913F440-37C8-FA10-002D-1EDF72123C50}"/>
              </a:ext>
            </a:extLst>
          </p:cNvPr>
          <p:cNvGrpSpPr/>
          <p:nvPr/>
        </p:nvGrpSpPr>
        <p:grpSpPr>
          <a:xfrm>
            <a:off x="5152301" y="2798030"/>
            <a:ext cx="1068643" cy="369332"/>
            <a:chOff x="3647644" y="4910075"/>
            <a:chExt cx="1068643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CD40C70-4606-6175-8D4E-8BE83489778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DCFA68D-CA10-8C28-FEBA-19475E5C3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CAA7B075-BC5C-9CF4-F9E1-78F20991F5F3}"/>
              </a:ext>
            </a:extLst>
          </p:cNvPr>
          <p:cNvSpPr/>
          <p:nvPr/>
        </p:nvSpPr>
        <p:spPr>
          <a:xfrm>
            <a:off x="3501837" y="2876549"/>
            <a:ext cx="1460690" cy="221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EAE5B5-9B5C-B361-6D42-19F610CF369F}"/>
              </a:ext>
            </a:extLst>
          </p:cNvPr>
          <p:cNvGrpSpPr/>
          <p:nvPr/>
        </p:nvGrpSpPr>
        <p:grpSpPr>
          <a:xfrm>
            <a:off x="5721292" y="3607266"/>
            <a:ext cx="873148" cy="491737"/>
            <a:chOff x="3680162" y="5264628"/>
            <a:chExt cx="873148" cy="49173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047898-6F90-E2CE-3169-E2454F63DCAC}"/>
                </a:ext>
              </a:extLst>
            </p:cNvPr>
            <p:cNvSpPr txBox="1"/>
            <p:nvPr/>
          </p:nvSpPr>
          <p:spPr>
            <a:xfrm>
              <a:off x="4169852" y="538703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5182076-25FE-C4A1-C2D4-99F01E6FC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0162" y="5264628"/>
              <a:ext cx="499652" cy="23093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5E43C9E-05A1-2B88-D9C0-461E0DC48CC2}"/>
              </a:ext>
            </a:extLst>
          </p:cNvPr>
          <p:cNvGrpSpPr/>
          <p:nvPr/>
        </p:nvGrpSpPr>
        <p:grpSpPr>
          <a:xfrm>
            <a:off x="2694325" y="4160273"/>
            <a:ext cx="1068643" cy="369332"/>
            <a:chOff x="3647644" y="5359159"/>
            <a:chExt cx="1068643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CDA2EC2-8BA0-1AB3-F1C3-32B9FFB261B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5A856AD-CF4A-354E-8702-A0D4CB8593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1D46FD1-9770-A9A1-47EA-633E37BC8C10}"/>
              </a:ext>
            </a:extLst>
          </p:cNvPr>
          <p:cNvSpPr/>
          <p:nvPr/>
        </p:nvSpPr>
        <p:spPr>
          <a:xfrm>
            <a:off x="2196048" y="4711503"/>
            <a:ext cx="429677" cy="221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A17BCA-E9B6-A64C-78FE-C9852E5D7C09}"/>
              </a:ext>
            </a:extLst>
          </p:cNvPr>
          <p:cNvSpPr txBox="1"/>
          <p:nvPr/>
        </p:nvSpPr>
        <p:spPr>
          <a:xfrm>
            <a:off x="2196048" y="4891997"/>
            <a:ext cx="288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 = red color, o = circle marker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D00756A-001D-8585-FE38-361FA2E61174}"/>
              </a:ext>
            </a:extLst>
          </p:cNvPr>
          <p:cNvSpPr/>
          <p:nvPr/>
        </p:nvSpPr>
        <p:spPr>
          <a:xfrm>
            <a:off x="4179093" y="1967984"/>
            <a:ext cx="429061" cy="221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A0D754D-64D8-B263-2007-545E382BA700}"/>
                  </a:ext>
                </a:extLst>
              </p:cNvPr>
              <p:cNvSpPr txBox="1"/>
              <p:nvPr/>
            </p:nvSpPr>
            <p:spPr>
              <a:xfrm>
                <a:off x="963821" y="2325617"/>
                <a:ext cx="21611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FF00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𝑠𝑖𝑛𝑐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 function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A0D754D-64D8-B263-2007-545E382B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21" y="2325617"/>
                <a:ext cx="2161114" cy="338554"/>
              </a:xfrm>
              <a:prstGeom prst="rect">
                <a:avLst/>
              </a:prstGeom>
              <a:blipFill>
                <a:blip r:embed="rId4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47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4" grpId="0"/>
      <p:bldP spid="53" grpId="0" animBg="1"/>
      <p:bldP spid="62" grpId="0" animBg="1"/>
      <p:bldP spid="63" grpId="0"/>
      <p:bldP spid="64" grpId="0" animBg="1"/>
      <p:bldP spid="6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F6FD-BB9D-3BAC-0B18-1C136C5E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E75F-74F1-F60D-B287-E261FEF7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limit_sinc.py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407CC-8073-8DE4-DEE1-02A5C40F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41A25-3988-952E-881A-BFA987A640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557"/>
          <a:stretch>
            <a:fillRect/>
          </a:stretch>
        </p:blipFill>
        <p:spPr>
          <a:xfrm>
            <a:off x="599223" y="1590021"/>
            <a:ext cx="7945554" cy="77567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4741AF0-5004-0FD7-2838-B9436665F5F2}"/>
              </a:ext>
            </a:extLst>
          </p:cNvPr>
          <p:cNvGrpSpPr/>
          <p:nvPr/>
        </p:nvGrpSpPr>
        <p:grpSpPr>
          <a:xfrm>
            <a:off x="2400711" y="1819828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18748E2-2F8F-35A0-47B8-41BA8B0CEA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0A3E6F-3A01-6B19-EA10-98B3783CAEB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846A88F-12CC-9FDE-A4AC-89911D05F254}"/>
              </a:ext>
            </a:extLst>
          </p:cNvPr>
          <p:cNvSpPr/>
          <p:nvPr/>
        </p:nvSpPr>
        <p:spPr>
          <a:xfrm>
            <a:off x="3578241" y="1616076"/>
            <a:ext cx="1149334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E04C15-0F58-11E1-45A6-E3FC7017A560}"/>
              </a:ext>
            </a:extLst>
          </p:cNvPr>
          <p:cNvGrpSpPr/>
          <p:nvPr/>
        </p:nvGrpSpPr>
        <p:grpSpPr>
          <a:xfrm>
            <a:off x="7014026" y="2083299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A17F1CA-8026-267F-8921-6606505EA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BC1CFB-A674-6633-9901-2F7E5891084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F73A1CAF-482A-F3D8-9428-3D7FDDC7D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56" y="2656334"/>
            <a:ext cx="6808287" cy="38365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8321EBC-23F6-7B23-F22E-B7BF7E16CD3A}"/>
              </a:ext>
            </a:extLst>
          </p:cNvPr>
          <p:cNvSpPr/>
          <p:nvPr/>
        </p:nvSpPr>
        <p:spPr>
          <a:xfrm>
            <a:off x="1432057" y="1617054"/>
            <a:ext cx="1386643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49E3AF-564F-BB6B-1C2A-B40286CAB705}"/>
              </a:ext>
            </a:extLst>
          </p:cNvPr>
          <p:cNvSpPr txBox="1"/>
          <p:nvPr/>
        </p:nvSpPr>
        <p:spPr>
          <a:xfrm>
            <a:off x="3369069" y="1826649"/>
            <a:ext cx="4457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Find successive differences between adjacent terms</a:t>
            </a:r>
          </a:p>
        </p:txBody>
      </p:sp>
    </p:spTree>
    <p:extLst>
      <p:ext uri="{BB962C8B-B14F-4D97-AF65-F5344CB8AC3E}">
        <p14:creationId xmlns:p14="http://schemas.microsoft.com/office/powerpoint/2010/main" val="12023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1" grpId="0" animBg="1"/>
      <p:bldP spid="7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AC35-A8B5-AFDD-2C81-23C29946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ACF8-A78D-E1D5-2661-C604F13C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limit_sinc.py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3576D-8023-D49D-CC1D-C5754A87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E1F57-9874-1F70-2481-40B4E4C4A0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23" y="1590021"/>
            <a:ext cx="7945554" cy="420583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6F04E3B-11D8-89CB-EF38-704E38FA6D97}"/>
              </a:ext>
            </a:extLst>
          </p:cNvPr>
          <p:cNvGrpSpPr/>
          <p:nvPr/>
        </p:nvGrpSpPr>
        <p:grpSpPr>
          <a:xfrm>
            <a:off x="2400711" y="1819828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3E9C0C8-ED89-21EE-93A5-3BF2E1904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07ACCA-3572-22FA-A1B6-74383BC307D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9316CD2-5499-115E-DFB1-3EBFB8AC6EFF}"/>
              </a:ext>
            </a:extLst>
          </p:cNvPr>
          <p:cNvSpPr/>
          <p:nvPr/>
        </p:nvSpPr>
        <p:spPr>
          <a:xfrm>
            <a:off x="3578241" y="1616076"/>
            <a:ext cx="1149334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CFCCF8-FC45-021B-6B97-FCABB71F3E08}"/>
              </a:ext>
            </a:extLst>
          </p:cNvPr>
          <p:cNvGrpSpPr/>
          <p:nvPr/>
        </p:nvGrpSpPr>
        <p:grpSpPr>
          <a:xfrm>
            <a:off x="7014026" y="2083299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0505119-E04B-25B3-5D68-6974988C96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BD8C01-758F-782A-D194-5AE0FE010B9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777F9D-0DC0-0EF3-CA43-FBDEA3D53AF5}"/>
              </a:ext>
            </a:extLst>
          </p:cNvPr>
          <p:cNvGrpSpPr/>
          <p:nvPr/>
        </p:nvGrpSpPr>
        <p:grpSpPr>
          <a:xfrm>
            <a:off x="3938472" y="2340468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DC7E94-BA42-0477-C222-658390142B0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CB8227-B853-3E80-DB9E-B6AF45BF0A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566460C-D14A-7D2A-F48F-A440588D460E}"/>
              </a:ext>
            </a:extLst>
          </p:cNvPr>
          <p:cNvSpPr txBox="1"/>
          <p:nvPr/>
        </p:nvSpPr>
        <p:spPr>
          <a:xfrm>
            <a:off x="2642495" y="2567738"/>
            <a:ext cx="1642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Boolean Indexing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6D6E29-6372-A119-7E57-E3C9499A5765}"/>
              </a:ext>
            </a:extLst>
          </p:cNvPr>
          <p:cNvGrpSpPr/>
          <p:nvPr/>
        </p:nvGrpSpPr>
        <p:grpSpPr>
          <a:xfrm>
            <a:off x="4468463" y="2881862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09CAC72-42F3-8BFC-D0E7-A92E3F610E0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5253D86-C870-8E3D-0E27-984794C98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6447C9-0140-325C-A33F-857FD590DE46}"/>
              </a:ext>
            </a:extLst>
          </p:cNvPr>
          <p:cNvGrpSpPr/>
          <p:nvPr/>
        </p:nvGrpSpPr>
        <p:grpSpPr>
          <a:xfrm>
            <a:off x="6989489" y="3119791"/>
            <a:ext cx="1068643" cy="369332"/>
            <a:chOff x="3647644" y="5359159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A6D723-63F4-A68A-028C-4D873EBA910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66D1447-56AE-C9F3-CEC3-881DD0272B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42E6DE0-4C77-7CBE-DA89-37F09210BCC4}"/>
              </a:ext>
            </a:extLst>
          </p:cNvPr>
          <p:cNvSpPr/>
          <p:nvPr/>
        </p:nvSpPr>
        <p:spPr>
          <a:xfrm>
            <a:off x="3991787" y="3176733"/>
            <a:ext cx="823599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B255C2-6098-9761-1FAB-9603D33B1C9B}"/>
              </a:ext>
            </a:extLst>
          </p:cNvPr>
          <p:cNvGrpSpPr/>
          <p:nvPr/>
        </p:nvGrpSpPr>
        <p:grpSpPr>
          <a:xfrm>
            <a:off x="4362264" y="3373939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81269AD-A26C-E373-DBAD-4F0F815A5C8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44C494B-A29C-EBA5-799C-E852F33FCD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B7D255-0455-6D73-F28B-EECCA1251ED0}"/>
              </a:ext>
            </a:extLst>
          </p:cNvPr>
          <p:cNvGrpSpPr/>
          <p:nvPr/>
        </p:nvGrpSpPr>
        <p:grpSpPr>
          <a:xfrm>
            <a:off x="3784897" y="3634106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B74487-915C-6680-395E-0567D4A92A3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EE21AA9-64BF-7688-57B0-3453E3EB85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4393B95-CC53-2377-2A55-C487DDFA43A8}"/>
              </a:ext>
            </a:extLst>
          </p:cNvPr>
          <p:cNvGrpSpPr/>
          <p:nvPr/>
        </p:nvGrpSpPr>
        <p:grpSpPr>
          <a:xfrm>
            <a:off x="3208427" y="4299509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83AC1F-2CA3-2917-6623-BA78D1BD87F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4989251-D162-D22F-8FD2-E973B29662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23D8490-C5E4-5AE0-5B38-68F6975632AD}"/>
              </a:ext>
            </a:extLst>
          </p:cNvPr>
          <p:cNvSpPr txBox="1"/>
          <p:nvPr/>
        </p:nvSpPr>
        <p:spPr>
          <a:xfrm>
            <a:off x="2919096" y="4663563"/>
            <a:ext cx="288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g = green color, o = circle marker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B032751-5D36-D67A-2B2B-F9FCA0D582A8}"/>
              </a:ext>
            </a:extLst>
          </p:cNvPr>
          <p:cNvGrpSpPr/>
          <p:nvPr/>
        </p:nvGrpSpPr>
        <p:grpSpPr>
          <a:xfrm>
            <a:off x="1771536" y="4673795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790B38-2ED6-FBA9-3B25-151883745A1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F981F7D-86F5-D658-076F-1AAC513944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07A8AEF-03EE-3973-7F04-F92C80C2514E}"/>
              </a:ext>
            </a:extLst>
          </p:cNvPr>
          <p:cNvGrpSpPr/>
          <p:nvPr/>
        </p:nvGrpSpPr>
        <p:grpSpPr>
          <a:xfrm>
            <a:off x="7519816" y="5168572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4EBC096-A043-A1AA-1A55-E232F39114A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AEBD801-673C-FC31-C92C-9CA129805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5A9E8C7-5602-1390-E055-706D506AB7E7}"/>
              </a:ext>
            </a:extLst>
          </p:cNvPr>
          <p:cNvSpPr/>
          <p:nvPr/>
        </p:nvSpPr>
        <p:spPr>
          <a:xfrm>
            <a:off x="1432057" y="1617054"/>
            <a:ext cx="1386643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C590A2-78B9-F6D7-F1CB-1683819E92F8}"/>
              </a:ext>
            </a:extLst>
          </p:cNvPr>
          <p:cNvSpPr txBox="1"/>
          <p:nvPr/>
        </p:nvSpPr>
        <p:spPr>
          <a:xfrm>
            <a:off x="3369069" y="1826649"/>
            <a:ext cx="4457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Find successive differences between adjacent terms</a:t>
            </a:r>
          </a:p>
        </p:txBody>
      </p:sp>
    </p:spTree>
    <p:extLst>
      <p:ext uri="{BB962C8B-B14F-4D97-AF65-F5344CB8AC3E}">
        <p14:creationId xmlns:p14="http://schemas.microsoft.com/office/powerpoint/2010/main" val="23022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animBg="1"/>
      <p:bldP spid="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ABC7-4311-A3EC-91E2-05D9FA4A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F4A5-5C47-D738-5854-EEA49054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limit_sinc.py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F3FAB-1057-4215-3BE7-CFE8E644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D57648-51CE-35C0-7E88-9A55B8091E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59" y="1779800"/>
            <a:ext cx="7368081" cy="3673043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CAA6506-E498-387D-AA02-31A48581FEDD}"/>
              </a:ext>
            </a:extLst>
          </p:cNvPr>
          <p:cNvGrpSpPr/>
          <p:nvPr/>
        </p:nvGrpSpPr>
        <p:grpSpPr>
          <a:xfrm>
            <a:off x="6410649" y="2156525"/>
            <a:ext cx="1076632" cy="369332"/>
            <a:chOff x="4968362" y="2079211"/>
            <a:chExt cx="1076632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4E0E92-1783-FA44-6601-600DD5FCE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F0A9B0-05DA-6587-C5BD-9815BE6CAEB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623A8BB-DD78-261B-7068-6E52414AB0A4}"/>
              </a:ext>
            </a:extLst>
          </p:cNvPr>
          <p:cNvGrpSpPr/>
          <p:nvPr/>
        </p:nvGrpSpPr>
        <p:grpSpPr>
          <a:xfrm>
            <a:off x="7585107" y="3059668"/>
            <a:ext cx="1076632" cy="369332"/>
            <a:chOff x="4704120" y="2356972"/>
            <a:chExt cx="1076632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BACDA1D-ADD9-AD85-7AE5-80CC4956D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974550B-156A-58DE-051B-DE97EB336FA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69C932-3C03-7E42-814D-552369C95ADE}"/>
              </a:ext>
            </a:extLst>
          </p:cNvPr>
          <p:cNvGrpSpPr/>
          <p:nvPr/>
        </p:nvGrpSpPr>
        <p:grpSpPr>
          <a:xfrm>
            <a:off x="7585107" y="3753344"/>
            <a:ext cx="1068643" cy="369332"/>
            <a:chOff x="3647644" y="4910075"/>
            <a:chExt cx="1068643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C18E5C6-3BFE-2733-D98A-D6ED9469DF5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7B42998-3EFD-93A4-7FF4-DFE09D6F6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9F209DA-BD76-3AC8-4CC1-5AA286BF2342}"/>
              </a:ext>
            </a:extLst>
          </p:cNvPr>
          <p:cNvGrpSpPr/>
          <p:nvPr/>
        </p:nvGrpSpPr>
        <p:grpSpPr>
          <a:xfrm>
            <a:off x="2341988" y="4022562"/>
            <a:ext cx="1064340" cy="369332"/>
            <a:chOff x="3647644" y="5421073"/>
            <a:chExt cx="1064340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31B2196-5509-B8B3-71B4-4D1C976E3830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1A7DCC0-9F96-74BC-C556-131A910ED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43F69C-90C2-A15B-9372-A7744199D4F5}"/>
              </a:ext>
            </a:extLst>
          </p:cNvPr>
          <p:cNvGrpSpPr/>
          <p:nvPr/>
        </p:nvGrpSpPr>
        <p:grpSpPr>
          <a:xfrm>
            <a:off x="2075435" y="4270387"/>
            <a:ext cx="1068643" cy="369332"/>
            <a:chOff x="3647644" y="5359159"/>
            <a:chExt cx="1068643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192B140-AE9E-0FC2-53BB-2A1CE2D5235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F1724A7-4BF0-4693-BBC3-C895A00F52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3C163FE-68B0-FA44-724E-8CF883B6B208}"/>
              </a:ext>
            </a:extLst>
          </p:cNvPr>
          <p:cNvSpPr txBox="1"/>
          <p:nvPr/>
        </p:nvSpPr>
        <p:spPr>
          <a:xfrm>
            <a:off x="3084693" y="4277912"/>
            <a:ext cx="288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g = black color, o = circle marker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1D1C4C3-B21D-FE57-1791-13476704CC37}"/>
              </a:ext>
            </a:extLst>
          </p:cNvPr>
          <p:cNvGrpSpPr/>
          <p:nvPr/>
        </p:nvGrpSpPr>
        <p:grpSpPr>
          <a:xfrm>
            <a:off x="6516864" y="4774213"/>
            <a:ext cx="1076632" cy="369332"/>
            <a:chOff x="2157212" y="5356391"/>
            <a:chExt cx="1076632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54909F-F801-6A01-F1D8-DFD98C091B0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1087E8-FAD9-0C70-183A-9F8A473922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1785F8B-E404-C6B4-05B3-F73E9B99219D}"/>
              </a:ext>
            </a:extLst>
          </p:cNvPr>
          <p:cNvSpPr txBox="1"/>
          <p:nvPr/>
        </p:nvSpPr>
        <p:spPr>
          <a:xfrm>
            <a:off x="4865219" y="5064556"/>
            <a:ext cx="288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LaTeX \pm = plus-minus symbol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A5484A-4DA2-6132-1A9E-3A43EF02C031}"/>
              </a:ext>
            </a:extLst>
          </p:cNvPr>
          <p:cNvSpPr txBox="1"/>
          <p:nvPr/>
        </p:nvSpPr>
        <p:spPr>
          <a:xfrm>
            <a:off x="3338954" y="4034175"/>
            <a:ext cx="3662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An array of two 0 values for y coordinates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EE8E34A-8B8D-EE8A-1FEA-799BBFC9E60D}"/>
              </a:ext>
            </a:extLst>
          </p:cNvPr>
          <p:cNvSpPr/>
          <p:nvPr/>
        </p:nvSpPr>
        <p:spPr>
          <a:xfrm>
            <a:off x="4658774" y="2224004"/>
            <a:ext cx="1139478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0" grpId="0"/>
      <p:bldP spid="61" grpId="0"/>
      <p:bldP spid="6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CC1E-48B7-F8F9-1E89-87A8018E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A994-754E-3CA4-640D-C76E75E9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limit_sinc.py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380F0-A044-DA74-8FEE-54B7F818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912CD-9AF7-651D-07B4-BF19D433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8" y="1403970"/>
            <a:ext cx="8257143" cy="495238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D6F7488-C2E3-84C7-5C4D-C01514BA83B2}"/>
              </a:ext>
            </a:extLst>
          </p:cNvPr>
          <p:cNvGrpSpPr/>
          <p:nvPr/>
        </p:nvGrpSpPr>
        <p:grpSpPr>
          <a:xfrm>
            <a:off x="2174208" y="2089413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954FA72-76B7-0D1A-F3BD-A2E5DA66B1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A78740-9082-DEF2-D911-F9E619F9FE2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33DFFA1-4E8C-BC82-E9E8-7028EF7C204A}"/>
              </a:ext>
            </a:extLst>
          </p:cNvPr>
          <p:cNvGrpSpPr/>
          <p:nvPr/>
        </p:nvGrpSpPr>
        <p:grpSpPr>
          <a:xfrm>
            <a:off x="3524838" y="3009334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7991B93-2BB1-93B7-B52A-63B37B6653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8447C8-CB66-F72D-44F5-5CCEDA142FE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CFE5D8-30B6-9498-BD48-8EEB8A9CE01C}"/>
              </a:ext>
            </a:extLst>
          </p:cNvPr>
          <p:cNvGrpSpPr/>
          <p:nvPr/>
        </p:nvGrpSpPr>
        <p:grpSpPr>
          <a:xfrm>
            <a:off x="2610436" y="3244334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F96D9C-C3A3-0BD2-088F-5D89C976332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996547B-9785-30ED-7502-8F5D1763B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FAEEFBA-6293-E020-84B1-A58292CEA2FF}"/>
              </a:ext>
            </a:extLst>
          </p:cNvPr>
          <p:cNvSpPr txBox="1"/>
          <p:nvPr/>
        </p:nvSpPr>
        <p:spPr>
          <a:xfrm>
            <a:off x="3571614" y="3244334"/>
            <a:ext cx="288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Give “room” on top &amp; bottom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B8E499-09E8-E333-9146-245D85FCA0E5}"/>
              </a:ext>
            </a:extLst>
          </p:cNvPr>
          <p:cNvGrpSpPr/>
          <p:nvPr/>
        </p:nvGrpSpPr>
        <p:grpSpPr>
          <a:xfrm>
            <a:off x="6410648" y="3939545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FB5D15-BB75-49FE-9D50-A22E17525FE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4B74E26-87CE-462F-CB55-D639A1AAF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C83C8B2-ED24-F44A-56B7-5FBE201DCC2A}"/>
              </a:ext>
            </a:extLst>
          </p:cNvPr>
          <p:cNvSpPr/>
          <p:nvPr/>
        </p:nvSpPr>
        <p:spPr>
          <a:xfrm>
            <a:off x="4028914" y="3982933"/>
            <a:ext cx="2170550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82E198-FD28-5B04-3B2B-4A29ADC5ACF3}"/>
              </a:ext>
            </a:extLst>
          </p:cNvPr>
          <p:cNvGrpSpPr/>
          <p:nvPr/>
        </p:nvGrpSpPr>
        <p:grpSpPr>
          <a:xfrm>
            <a:off x="4019389" y="4162454"/>
            <a:ext cx="1068643" cy="369332"/>
            <a:chOff x="3647644" y="5359159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2918B3-E45F-A1B9-6703-F7870F671F1E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2D13C5E-2D3F-E765-0B31-98F16943F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FF8F15-B4F6-E25B-E0D4-799AE43D1099}"/>
              </a:ext>
            </a:extLst>
          </p:cNvPr>
          <p:cNvGrpSpPr/>
          <p:nvPr/>
        </p:nvGrpSpPr>
        <p:grpSpPr>
          <a:xfrm>
            <a:off x="7769664" y="4383016"/>
            <a:ext cx="917241" cy="369332"/>
            <a:chOff x="2157212" y="5356391"/>
            <a:chExt cx="917241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5B8A8F-AD09-D992-3B8D-6398EBCB1733}"/>
                </a:ext>
              </a:extLst>
            </p:cNvPr>
            <p:cNvSpPr txBox="1"/>
            <p:nvPr/>
          </p:nvSpPr>
          <p:spPr>
            <a:xfrm>
              <a:off x="2690995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80C1E59-5633-0841-BB2E-4BB3C94802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57738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EDA82D-FE92-2722-5DBE-31481EC22B23}"/>
              </a:ext>
            </a:extLst>
          </p:cNvPr>
          <p:cNvGrpSpPr/>
          <p:nvPr/>
        </p:nvGrpSpPr>
        <p:grpSpPr>
          <a:xfrm>
            <a:off x="6223211" y="4834337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D2A5F4-F8C9-57DE-B7F5-264032CEA98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F5B3BDA-EC49-B3BE-FAC3-AA97205598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E774AF-7EBB-6551-52E2-1AD08EE8F168}"/>
              </a:ext>
            </a:extLst>
          </p:cNvPr>
          <p:cNvGrpSpPr/>
          <p:nvPr/>
        </p:nvGrpSpPr>
        <p:grpSpPr>
          <a:xfrm>
            <a:off x="2235367" y="5520823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D42F16A-11E0-A17E-F849-0D97B74AAD1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D60DF2D-DDBA-7CC7-622D-1A1D777FEC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3B44168-1E64-BC56-BB33-283554A313C7}"/>
              </a:ext>
            </a:extLst>
          </p:cNvPr>
          <p:cNvSpPr/>
          <p:nvPr/>
        </p:nvSpPr>
        <p:spPr>
          <a:xfrm>
            <a:off x="1034730" y="3757733"/>
            <a:ext cx="1139478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9CEFAB-EF78-30F1-ADFF-27708CD54F3E}"/>
              </a:ext>
            </a:extLst>
          </p:cNvPr>
          <p:cNvSpPr/>
          <p:nvPr/>
        </p:nvSpPr>
        <p:spPr>
          <a:xfrm>
            <a:off x="857216" y="4459456"/>
            <a:ext cx="1651092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D9B874-F4CA-0B29-6435-3B1EA4C7D3B0}"/>
              </a:ext>
            </a:extLst>
          </p:cNvPr>
          <p:cNvSpPr/>
          <p:nvPr/>
        </p:nvSpPr>
        <p:spPr>
          <a:xfrm>
            <a:off x="523115" y="5818666"/>
            <a:ext cx="3155963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9884FE-1E0E-5544-7DF4-AA5CF7A1ECE2}"/>
              </a:ext>
            </a:extLst>
          </p:cNvPr>
          <p:cNvSpPr/>
          <p:nvPr/>
        </p:nvSpPr>
        <p:spPr>
          <a:xfrm>
            <a:off x="821532" y="3305922"/>
            <a:ext cx="507462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A87F5C-A779-4A63-E170-EFFCCB36313F}"/>
              </a:ext>
            </a:extLst>
          </p:cNvPr>
          <p:cNvSpPr/>
          <p:nvPr/>
        </p:nvSpPr>
        <p:spPr>
          <a:xfrm>
            <a:off x="4028914" y="4896146"/>
            <a:ext cx="2063911" cy="24991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3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EF56-E7C6-F4B5-BC80-01DEDA94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6AD73-51B8-46AE-D071-03463DF7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limit_sinc.py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42F09E7-6B18-185E-A7DA-616BB86B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76" y="1452246"/>
            <a:ext cx="7583648" cy="5040628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61D061-C3E3-9188-A94E-35345E4A51A2}"/>
              </a:ext>
            </a:extLst>
          </p:cNvPr>
          <p:cNvCxnSpPr>
            <a:cxnSpLocks/>
          </p:cNvCxnSpPr>
          <p:nvPr/>
        </p:nvCxnSpPr>
        <p:spPr>
          <a:xfrm flipH="1">
            <a:off x="3868783" y="2601532"/>
            <a:ext cx="693174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0B990A44-C634-C296-2DD3-A4F60E38330D}"/>
              </a:ext>
            </a:extLst>
          </p:cNvPr>
          <p:cNvSpPr/>
          <p:nvPr/>
        </p:nvSpPr>
        <p:spPr>
          <a:xfrm>
            <a:off x="1644243" y="2961315"/>
            <a:ext cx="1981260" cy="1417739"/>
          </a:xfrm>
          <a:prstGeom prst="wedgeRoundRectCallout">
            <a:avLst>
              <a:gd name="adj1" fmla="val 47317"/>
              <a:gd name="adj2" fmla="val 145340"/>
              <a:gd name="adj3" fmla="val 16667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There is no </a:t>
            </a:r>
            <a:r>
              <a:rPr lang="en-US" sz="1600" b="1" dirty="0">
                <a:solidFill>
                  <a:srgbClr val="7030A0"/>
                </a:solidFill>
              </a:rPr>
              <a:t>analytic</a:t>
            </a:r>
            <a:r>
              <a:rPr lang="en-US" sz="1600" dirty="0">
                <a:solidFill>
                  <a:srgbClr val="7030A0"/>
                </a:solidFill>
              </a:rPr>
              <a:t> (closed-form) solution – we can only </a:t>
            </a:r>
            <a:r>
              <a:rPr lang="en-US" sz="1600" i="1" dirty="0">
                <a:solidFill>
                  <a:srgbClr val="7030A0"/>
                </a:solidFill>
              </a:rPr>
              <a:t>numerically</a:t>
            </a:r>
            <a:r>
              <a:rPr lang="en-US" sz="1600" dirty="0">
                <a:solidFill>
                  <a:srgbClr val="7030A0"/>
                </a:solidFill>
              </a:rPr>
              <a:t> estimate this!</a:t>
            </a:r>
          </a:p>
        </p:txBody>
      </p:sp>
    </p:spTree>
    <p:extLst>
      <p:ext uri="{BB962C8B-B14F-4D97-AF65-F5344CB8AC3E}">
        <p14:creationId xmlns:p14="http://schemas.microsoft.com/office/powerpoint/2010/main" val="243308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E0FB-6925-3A78-F1D8-193F1CF9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4A59-B422-55B6-96C3-51B9E238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AFCC92-7B99-96ED-D858-F1BB8BFB3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Here is an interesting limit: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do you anticipate the limit will be?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happens if you plug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into the limit?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about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=−1→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</m:e>
                    </m:fun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about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=−2→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den>
                    </m:f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AFCC92-7B99-96ED-D858-F1BB8BFB3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B4D8B-DE2C-2CF5-21D8-0EE3A008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C2F93-A197-B48F-6F48-0C9ADD80F76A}"/>
              </a:ext>
            </a:extLst>
          </p:cNvPr>
          <p:cNvSpPr txBox="1"/>
          <p:nvPr/>
        </p:nvSpPr>
        <p:spPr>
          <a:xfrm>
            <a:off x="5226341" y="4169329"/>
            <a:ext cx="149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Divide by zero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7B8B-A865-6887-2478-AFD0666B24FC}"/>
              </a:ext>
            </a:extLst>
          </p:cNvPr>
          <p:cNvSpPr txBox="1"/>
          <p:nvPr/>
        </p:nvSpPr>
        <p:spPr>
          <a:xfrm>
            <a:off x="7215930" y="4950903"/>
            <a:ext cx="149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Divide by zero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A00D8-B5F7-B476-807E-B93F2F7080B3}"/>
              </a:ext>
            </a:extLst>
          </p:cNvPr>
          <p:cNvSpPr txBox="1"/>
          <p:nvPr/>
        </p:nvSpPr>
        <p:spPr>
          <a:xfrm>
            <a:off x="7119020" y="5852083"/>
            <a:ext cx="149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Imaginary</a:t>
            </a:r>
          </a:p>
        </p:txBody>
      </p:sp>
    </p:spTree>
    <p:extLst>
      <p:ext uri="{BB962C8B-B14F-4D97-AF65-F5344CB8AC3E}">
        <p14:creationId xmlns:p14="http://schemas.microsoft.com/office/powerpoint/2010/main" val="91963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388E-D7EE-C6D7-CAEA-2462AF4F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198A-04D2-E4C8-23EF-39B06450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limit_exp.py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0345-AE68-B52C-C803-AAE84502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5AE955-0F4F-0E09-2458-C954E5B161DA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15A5F-4EFB-D5A7-D51E-F436C08EB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33" y="1602972"/>
            <a:ext cx="8070733" cy="451509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9CF696F-64B3-2CA1-98D5-B897F63CAD65}"/>
              </a:ext>
            </a:extLst>
          </p:cNvPr>
          <p:cNvGrpSpPr/>
          <p:nvPr/>
        </p:nvGrpSpPr>
        <p:grpSpPr>
          <a:xfrm>
            <a:off x="5919634" y="1928973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D1D21C7-69F6-CBD7-4B31-1E37EC59AC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0333F6-A06B-E42F-B619-BFBE2877E9C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23C1EA1-6F15-961F-875C-1529951CA48F}"/>
              </a:ext>
            </a:extLst>
          </p:cNvPr>
          <p:cNvSpPr/>
          <p:nvPr/>
        </p:nvSpPr>
        <p:spPr>
          <a:xfrm>
            <a:off x="3774056" y="2000529"/>
            <a:ext cx="481238" cy="27928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5FBA03-0313-E81F-DD27-EF9A1A416C01}"/>
              </a:ext>
            </a:extLst>
          </p:cNvPr>
          <p:cNvGrpSpPr/>
          <p:nvPr/>
        </p:nvGrpSpPr>
        <p:grpSpPr>
          <a:xfrm>
            <a:off x="3195946" y="2212063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591BE12-75DB-96D2-D3AC-058888A9D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EC76A2-0F49-DC95-C09B-DB32C57006B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D3EC7B0-7B35-DD64-1F85-CFF64039B272}"/>
              </a:ext>
            </a:extLst>
          </p:cNvPr>
          <p:cNvSpPr/>
          <p:nvPr/>
        </p:nvSpPr>
        <p:spPr>
          <a:xfrm>
            <a:off x="2400309" y="2000529"/>
            <a:ext cx="636506" cy="27928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D681CF-3834-2C8C-75B6-956BD88B2362}"/>
              </a:ext>
            </a:extLst>
          </p:cNvPr>
          <p:cNvGrpSpPr/>
          <p:nvPr/>
        </p:nvGrpSpPr>
        <p:grpSpPr>
          <a:xfrm>
            <a:off x="8073044" y="3311446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9957C9-0CAB-54F5-9E7F-60FB9F0A904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B5458BF-2F86-642F-1C60-D9CADEA4E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45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9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C4AC-57A1-4093-8176-6A1D05B0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C5CB232-E3FA-C82D-34BB-362105EB5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14" y="1433508"/>
            <a:ext cx="7793372" cy="5180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1C1C18-5798-9D92-2492-CC2FFD76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limit_exp.py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0D6F31-6979-F84E-342F-FCC78B69C410}"/>
              </a:ext>
            </a:extLst>
          </p:cNvPr>
          <p:cNvCxnSpPr/>
          <p:nvPr/>
        </p:nvCxnSpPr>
        <p:spPr>
          <a:xfrm flipH="1">
            <a:off x="7210925" y="2793534"/>
            <a:ext cx="465002" cy="7550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4A4C78-2852-477C-845B-454A8879030F}"/>
              </a:ext>
            </a:extLst>
          </p:cNvPr>
          <p:cNvCxnSpPr/>
          <p:nvPr/>
        </p:nvCxnSpPr>
        <p:spPr>
          <a:xfrm flipH="1">
            <a:off x="2497710" y="5294852"/>
            <a:ext cx="465002" cy="7550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53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D986-028B-06D3-0F28-7EB7B483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09E275-D750-CE1F-1319-2EB2D864EB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:r>
                  <a:rPr lang="en-US" sz="3200" dirty="0">
                    <a:latin typeface="+mn-lt"/>
                  </a:rPr>
                  <a:t>Limit definition of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3200" dirty="0">
                  <a:solidFill>
                    <a:srgbClr val="00B05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09E275-D750-CE1F-1319-2EB2D864E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A8E4-9994-7021-E78E-62D5FB8A22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noProof="0" dirty="0"/>
                  <a:t>Recall</a:t>
                </a:r>
                <a:r>
                  <a:rPr lang="fr-FR" sz="2400" dirty="0"/>
                  <a:t> </a:t>
                </a:r>
                <a:r>
                  <a:rPr lang="fr-FR" sz="2400" dirty="0" err="1"/>
                  <a:t>that</a:t>
                </a:r>
                <a:r>
                  <a:rPr lang="fr-FR" sz="2400" dirty="0"/>
                  <a:t> </a:t>
                </a:r>
                <a:r>
                  <a:rPr lang="fr-FR" sz="2400" b="1" dirty="0"/>
                  <a:t>L'</a:t>
                </a:r>
                <a:r>
                  <a:rPr lang="en-US" sz="2400" b="1" dirty="0"/>
                  <a:t>Hôpital’s</a:t>
                </a:r>
                <a:r>
                  <a:rPr lang="fr-FR" sz="2400" b="1" dirty="0"/>
                  <a:t> Rule</a:t>
                </a:r>
                <a:r>
                  <a:rPr lang="en-US" sz="2400" dirty="0"/>
                  <a:t> only applies to ratios, not exponential forms, which is what we have here: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But if we take the log of both sides, we get a ratio: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e>
                                  </m:func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Taking the derivative of numerator and denominator: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A8E4-9994-7021-E78E-62D5FB8A2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3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45848-9290-8262-61FB-652D8D80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44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A0BF3D-2582-DCA0-AB85-8091C724CB07}"/>
              </a:ext>
            </a:extLst>
          </p:cNvPr>
          <p:cNvCxnSpPr>
            <a:cxnSpLocks/>
          </p:cNvCxnSpPr>
          <p:nvPr/>
        </p:nvCxnSpPr>
        <p:spPr>
          <a:xfrm flipH="1">
            <a:off x="6908921" y="5872294"/>
            <a:ext cx="6915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D00C35-9DE0-BB20-2DB5-1010FCA32E4A}"/>
              </a:ext>
            </a:extLst>
          </p:cNvPr>
          <p:cNvSpPr txBox="1"/>
          <p:nvPr/>
        </p:nvSpPr>
        <p:spPr>
          <a:xfrm>
            <a:off x="6908921" y="5152583"/>
            <a:ext cx="190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As we saw in the plot of limit_exp.py</a:t>
            </a:r>
          </a:p>
        </p:txBody>
      </p:sp>
    </p:spTree>
    <p:extLst>
      <p:ext uri="{BB962C8B-B14F-4D97-AF65-F5344CB8AC3E}">
        <p14:creationId xmlns:p14="http://schemas.microsoft.com/office/powerpoint/2010/main" val="412842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70B6-B937-3C88-2195-6DA09944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7CBD-7BE0-674F-3A2F-FB43C47F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31E10C-E4B4-6340-C306-993046E76E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about this limit: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happens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do you anticipate the limit will be?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is the </a:t>
                </a:r>
                <a:r>
                  <a:rPr lang="en-US" sz="2400" b="1" dirty="0"/>
                  <a:t>derivative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/>
                  <a:t> 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31E10C-E4B4-6340-C306-993046E76E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8777C-43DA-8FED-6B99-F610BDCD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31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B728-8D3D-65F8-C371-AE04A507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A775AE-C51C-F8AD-2D1A-053BC59473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905" y="1712047"/>
            <a:ext cx="7076190" cy="4380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24EDA2-61A6-A0B0-B151-10318933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limit_d_exp.py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2898-E2CE-0C05-4C27-F7DF04EF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44EA97-B141-431D-610C-BC22B7C4857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84C8AC-225B-8DBA-6FF9-D20942E96A7A}"/>
              </a:ext>
            </a:extLst>
          </p:cNvPr>
          <p:cNvGrpSpPr/>
          <p:nvPr/>
        </p:nvGrpSpPr>
        <p:grpSpPr>
          <a:xfrm>
            <a:off x="3838659" y="1868415"/>
            <a:ext cx="1076632" cy="369332"/>
            <a:chOff x="4968362" y="2079211"/>
            <a:chExt cx="1076632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6EA3F25-C833-C240-C85A-208426867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627A95-9E8E-2955-F86E-EE5E14300C1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C26E842-EF6C-6554-58B9-EAA00278623D}"/>
                  </a:ext>
                </a:extLst>
              </p:cNvPr>
              <p:cNvSpPr txBox="1"/>
              <p:nvPr/>
            </p:nvSpPr>
            <p:spPr>
              <a:xfrm>
                <a:off x="4826029" y="1747207"/>
                <a:ext cx="28863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FF00"/>
                    </a:solidFill>
                  </a:rPr>
                  <a:t>Using an </a:t>
                </a:r>
                <a:r>
                  <a:rPr lang="en-US" sz="1600" u="sng" dirty="0">
                    <a:solidFill>
                      <a:srgbClr val="FFFF00"/>
                    </a:solidFill>
                  </a:rPr>
                  <a:t>even</a:t>
                </a:r>
                <a:r>
                  <a:rPr lang="en-US" sz="1600" dirty="0">
                    <a:solidFill>
                      <a:srgbClr val="FFFF00"/>
                    </a:solidFill>
                  </a:rPr>
                  <a:t> number of intervals over the span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 </a:t>
                </a:r>
                <a:r>
                  <a:rPr lang="en-US" sz="1600" b="1" dirty="0">
                    <a:solidFill>
                      <a:srgbClr val="FFFF00"/>
                    </a:solidFill>
                  </a:rPr>
                  <a:t>avoids</a:t>
                </a:r>
                <a:r>
                  <a:rPr lang="en-US" sz="16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C26E842-EF6C-6554-58B9-EAA002786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29" y="1747207"/>
                <a:ext cx="2886336" cy="830997"/>
              </a:xfrm>
              <a:prstGeom prst="rect">
                <a:avLst/>
              </a:prstGeom>
              <a:blipFill>
                <a:blip r:embed="rId3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EE7A913-5F58-166C-FE52-7E8604214206}"/>
              </a:ext>
            </a:extLst>
          </p:cNvPr>
          <p:cNvGrpSpPr/>
          <p:nvPr/>
        </p:nvGrpSpPr>
        <p:grpSpPr>
          <a:xfrm>
            <a:off x="3414492" y="2110173"/>
            <a:ext cx="1076632" cy="369332"/>
            <a:chOff x="4704120" y="2356972"/>
            <a:chExt cx="1076632" cy="369332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E934987-D711-FDFC-F6C1-F0AECC4461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BB931BE-71AA-AE73-45E2-48470F7532E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273C28A-DD26-CFA8-4A1C-AD6725C98D91}"/>
              </a:ext>
            </a:extLst>
          </p:cNvPr>
          <p:cNvGrpSpPr/>
          <p:nvPr/>
        </p:nvGrpSpPr>
        <p:grpSpPr>
          <a:xfrm>
            <a:off x="8075357" y="3020080"/>
            <a:ext cx="724694" cy="369332"/>
            <a:chOff x="3647644" y="4910075"/>
            <a:chExt cx="724694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329F8C3-D6D2-AA74-60F8-3D91B3A04463}"/>
                </a:ext>
              </a:extLst>
            </p:cNvPr>
            <p:cNvSpPr txBox="1"/>
            <p:nvPr/>
          </p:nvSpPr>
          <p:spPr>
            <a:xfrm>
              <a:off x="3988880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96E364-53A5-7FFF-62F9-B7D070A11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38074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27655F0-208E-5CEF-16F4-FC1B5791A33B}"/>
              </a:ext>
            </a:extLst>
          </p:cNvPr>
          <p:cNvSpPr txBox="1"/>
          <p:nvPr/>
        </p:nvSpPr>
        <p:spPr>
          <a:xfrm>
            <a:off x="5098621" y="3735100"/>
            <a:ext cx="288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b = red color, - = </a:t>
            </a:r>
            <a:r>
              <a:rPr lang="en-US" sz="1600" b="1" dirty="0">
                <a:solidFill>
                  <a:srgbClr val="FFFF00"/>
                </a:solidFill>
              </a:rPr>
              <a:t>solid</a:t>
            </a:r>
            <a:r>
              <a:rPr lang="en-US" sz="1600" dirty="0">
                <a:solidFill>
                  <a:srgbClr val="FFFF00"/>
                </a:solidFill>
              </a:rPr>
              <a:t> line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D155A8-8539-2B1B-A620-0E2125A21F16}"/>
              </a:ext>
            </a:extLst>
          </p:cNvPr>
          <p:cNvSpPr/>
          <p:nvPr/>
        </p:nvSpPr>
        <p:spPr>
          <a:xfrm>
            <a:off x="3289638" y="1948389"/>
            <a:ext cx="429061" cy="221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0E1B9C-13F8-2C6B-AD1A-A5972C29B280}"/>
              </a:ext>
            </a:extLst>
          </p:cNvPr>
          <p:cNvGrpSpPr/>
          <p:nvPr/>
        </p:nvGrpSpPr>
        <p:grpSpPr>
          <a:xfrm>
            <a:off x="2023206" y="4497187"/>
            <a:ext cx="1064340" cy="369332"/>
            <a:chOff x="3647644" y="5421073"/>
            <a:chExt cx="106434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29D457-4D87-5620-E455-602E11BE5D9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1C7EB8C-C321-80F4-A774-C22ACE58F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CB73FB-4D62-7513-6DB4-B43F0FF30D8C}"/>
              </a:ext>
            </a:extLst>
          </p:cNvPr>
          <p:cNvGrpSpPr/>
          <p:nvPr/>
        </p:nvGrpSpPr>
        <p:grpSpPr>
          <a:xfrm>
            <a:off x="7481947" y="5763064"/>
            <a:ext cx="1068643" cy="369332"/>
            <a:chOff x="3647644" y="5359159"/>
            <a:chExt cx="106864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3EEEC0-BDFF-043B-9C5C-A360B18C151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9A0C5CA-CC18-29A6-0199-6FBB87F6BE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78D69BC-45AC-3DEF-B6F1-82F6763DD9FB}"/>
              </a:ext>
            </a:extLst>
          </p:cNvPr>
          <p:cNvSpPr/>
          <p:nvPr/>
        </p:nvSpPr>
        <p:spPr>
          <a:xfrm>
            <a:off x="2520898" y="3098779"/>
            <a:ext cx="429061" cy="22145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31AB81-F851-E923-0579-EF97FE566774}"/>
                  </a:ext>
                </a:extLst>
              </p:cNvPr>
              <p:cNvSpPr txBox="1"/>
              <p:nvPr/>
            </p:nvSpPr>
            <p:spPr>
              <a:xfrm>
                <a:off x="3150759" y="2387172"/>
                <a:ext cx="1572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31AB81-F851-E923-0579-EF97FE566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759" y="2387172"/>
                <a:ext cx="1572803" cy="276999"/>
              </a:xfrm>
              <a:prstGeom prst="rect">
                <a:avLst/>
              </a:prstGeom>
              <a:blipFill>
                <a:blip r:embed="rId4"/>
                <a:stretch>
                  <a:fillRect l="-3488" t="-4444" r="-1550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77ABB8-8B4A-6E3C-DEDD-B5A46402AB06}"/>
                  </a:ext>
                </a:extLst>
              </p:cNvPr>
              <p:cNvSpPr txBox="1"/>
              <p:nvPr/>
            </p:nvSpPr>
            <p:spPr>
              <a:xfrm>
                <a:off x="3042237" y="4490364"/>
                <a:ext cx="33853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FF00"/>
                    </a:solidFill>
                  </a:rPr>
                  <a:t>Plot a single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 coordinate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77ABB8-8B4A-6E3C-DEDD-B5A46402A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237" y="4490364"/>
                <a:ext cx="3385385" cy="338554"/>
              </a:xfrm>
              <a:prstGeom prst="rect">
                <a:avLst/>
              </a:prstGeom>
              <a:blipFill>
                <a:blip r:embed="rId5"/>
                <a:stretch>
                  <a:fillRect l="-901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41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4" grpId="0"/>
      <p:bldP spid="63" grpId="0"/>
      <p:bldP spid="64" grpId="0" animBg="1"/>
      <p:bldP spid="13" grpId="0" animBg="1"/>
      <p:bldP spid="14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F6DB-FA37-227B-EC68-343DCCDD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1FFB2C-30C2-E800-7E9D-ACC4999A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14" y="1433508"/>
            <a:ext cx="7793372" cy="5180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178372-E4F9-F65A-0C4A-86480213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limit_d_exp.py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A281D8-366C-064F-3DEE-2A149A316956}"/>
              </a:ext>
            </a:extLst>
          </p:cNvPr>
          <p:cNvCxnSpPr/>
          <p:nvPr/>
        </p:nvCxnSpPr>
        <p:spPr>
          <a:xfrm flipH="1">
            <a:off x="1363798" y="4278386"/>
            <a:ext cx="465002" cy="7550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8C74F0-6AB8-3938-40B2-5785C8298CE8}"/>
              </a:ext>
            </a:extLst>
          </p:cNvPr>
          <p:cNvCxnSpPr/>
          <p:nvPr/>
        </p:nvCxnSpPr>
        <p:spPr>
          <a:xfrm flipH="1">
            <a:off x="4803285" y="5329990"/>
            <a:ext cx="465002" cy="7550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1A54C8-AAD4-F77C-39C3-6FCC5CBB2096}"/>
                  </a:ext>
                </a:extLst>
              </p:cNvPr>
              <p:cNvSpPr txBox="1"/>
              <p:nvPr/>
            </p:nvSpPr>
            <p:spPr>
              <a:xfrm>
                <a:off x="2055303" y="3296873"/>
                <a:ext cx="3355596" cy="120032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The slope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at the origin is exactly </a:t>
                </a:r>
                <a:r>
                  <a: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rPr>
                  <a:t>1</a:t>
                </a:r>
                <a:r>
                  <a:rPr lang="en-US" dirty="0">
                    <a:solidFill>
                      <a:srgbClr val="7030A0"/>
                    </a:solidFill>
                  </a:rPr>
                  <a:t>, which is one of the special properties that makes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the “natural” base for exponents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1A54C8-AAD4-F77C-39C3-6FCC5CBB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303" y="3296873"/>
                <a:ext cx="3355596" cy="1200329"/>
              </a:xfrm>
              <a:prstGeom prst="rect">
                <a:avLst/>
              </a:prstGeom>
              <a:blipFill>
                <a:blip r:embed="rId3"/>
                <a:stretch>
                  <a:fillRect t="-1980" b="-5446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59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D13D-9938-BDF1-C23C-28A37379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F09C-6552-EFAC-60F9-544EF995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CAAD6-FF16-A7B7-7C2A-5766FBBDAE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about this limit: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Here we are taking the limit as </a:t>
                </a:r>
                <a:r>
                  <a:rPr lang="en-US" sz="2400" b="1" dirty="0"/>
                  <a:t>x</a:t>
                </a:r>
                <a:r>
                  <a:rPr lang="en-US" sz="2400" dirty="0"/>
                  <a:t> goes to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infinity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do you anticipate the limit will be?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This is an indeterminate form that </a:t>
                </a:r>
                <a:r>
                  <a:rPr lang="fr-FR" sz="2400" b="1" dirty="0"/>
                  <a:t>L'</a:t>
                </a:r>
                <a:r>
                  <a:rPr lang="en-US" sz="2400" b="1" dirty="0"/>
                  <a:t>Hôpital’s</a:t>
                </a:r>
                <a:r>
                  <a:rPr lang="fr-FR" sz="2400" b="1" dirty="0"/>
                  <a:t> Rule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can not</a:t>
                </a:r>
                <a:r>
                  <a:rPr lang="en-US" sz="2400" dirty="0"/>
                  <a:t> handle </a:t>
                </a:r>
                <a:r>
                  <a:rPr lang="en-US" sz="2400" i="1" dirty="0"/>
                  <a:t>directly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We must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transform</a:t>
                </a:r>
                <a:r>
                  <a:rPr lang="en-US" sz="2400" dirty="0"/>
                  <a:t> it first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For those with </a:t>
                </a:r>
                <a:r>
                  <a:rPr lang="en-US" sz="2400" b="1" dirty="0"/>
                  <a:t>Algebra 2 </a:t>
                </a:r>
                <a:r>
                  <a:rPr lang="en-US" sz="2400" dirty="0"/>
                  <a:t>experience, think about multiplying a polynomial by its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conjugate</a:t>
                </a:r>
                <a:r>
                  <a:rPr lang="en-US" sz="2400" dirty="0"/>
                  <a:t>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CAAD6-FF16-A7B7-7C2A-5766FBBDAE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BE587-E910-B21A-8E0C-A3EBB46B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78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A0DB-C962-F0CF-8DD2-B7DE986B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5927-1BDB-5B7F-C86D-3ED5124F6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Indeterminate Limits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34D06-B043-5138-1DFD-FE64C85C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33635F-B5C1-2940-77D8-26C45475D239}"/>
                  </a:ext>
                </a:extLst>
              </p:cNvPr>
              <p:cNvSpPr txBox="1"/>
              <p:nvPr/>
            </p:nvSpPr>
            <p:spPr>
              <a:xfrm>
                <a:off x="1471934" y="1663141"/>
                <a:ext cx="4717189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33635F-B5C1-2940-77D8-26C45475D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34" y="1663141"/>
                <a:ext cx="4717189" cy="7061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2600DE-549D-5B4F-539E-50CFBFF766A4}"/>
                  </a:ext>
                </a:extLst>
              </p:cNvPr>
              <p:cNvSpPr txBox="1"/>
              <p:nvPr/>
            </p:nvSpPr>
            <p:spPr>
              <a:xfrm>
                <a:off x="1625213" y="2722217"/>
                <a:ext cx="4410631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2600DE-549D-5B4F-539E-50CFBFF76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213" y="2722217"/>
                <a:ext cx="4410631" cy="706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B16306-6C1D-19BA-2693-B58D92810B2E}"/>
                  </a:ext>
                </a:extLst>
              </p:cNvPr>
              <p:cNvSpPr txBox="1"/>
              <p:nvPr/>
            </p:nvSpPr>
            <p:spPr>
              <a:xfrm>
                <a:off x="1614082" y="3781293"/>
                <a:ext cx="2788649" cy="526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B16306-6C1D-19BA-2693-B58D92810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82" y="3781293"/>
                <a:ext cx="2788649" cy="526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913DB3-AC69-78D6-D463-46D1DC5A2847}"/>
                  </a:ext>
                </a:extLst>
              </p:cNvPr>
              <p:cNvSpPr txBox="1"/>
              <p:nvPr/>
            </p:nvSpPr>
            <p:spPr>
              <a:xfrm>
                <a:off x="1538555" y="4660448"/>
                <a:ext cx="4719049" cy="636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913DB3-AC69-78D6-D463-46D1DC5A2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555" y="4660448"/>
                <a:ext cx="4719049" cy="6367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A6547-690C-6808-AA51-EB16A3EDF37C}"/>
                  </a:ext>
                </a:extLst>
              </p:cNvPr>
              <p:cNvSpPr txBox="1"/>
              <p:nvPr/>
            </p:nvSpPr>
            <p:spPr>
              <a:xfrm>
                <a:off x="2159654" y="5878348"/>
                <a:ext cx="3341749" cy="660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1+1/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A6547-690C-6808-AA51-EB16A3ED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654" y="5878348"/>
                <a:ext cx="3341749" cy="6605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3728552-47AB-2388-1FFD-F9E0F9D51B9A}"/>
              </a:ext>
            </a:extLst>
          </p:cNvPr>
          <p:cNvSpPr txBox="1"/>
          <p:nvPr/>
        </p:nvSpPr>
        <p:spPr>
          <a:xfrm>
            <a:off x="6414187" y="1678855"/>
            <a:ext cx="225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Multiply by the </a:t>
            </a:r>
            <a:r>
              <a:rPr lang="en-US" b="1" dirty="0">
                <a:solidFill>
                  <a:srgbClr val="7030A0"/>
                </a:solidFill>
              </a:rPr>
              <a:t>conjugate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A91325-8F16-4629-38EB-55B811C3A6F9}"/>
              </a:ext>
            </a:extLst>
          </p:cNvPr>
          <p:cNvGrpSpPr/>
          <p:nvPr/>
        </p:nvGrpSpPr>
        <p:grpSpPr>
          <a:xfrm>
            <a:off x="6414186" y="3549419"/>
            <a:ext cx="2253566" cy="773199"/>
            <a:chOff x="6545283" y="3431973"/>
            <a:chExt cx="2253566" cy="773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45083D3-33E1-90B8-DEB1-FB39DA9FB3F5}"/>
                    </a:ext>
                  </a:extLst>
                </p:cNvPr>
                <p:cNvSpPr txBox="1"/>
                <p:nvPr/>
              </p:nvSpPr>
              <p:spPr>
                <a:xfrm>
                  <a:off x="6545283" y="3841867"/>
                  <a:ext cx="2253566" cy="3633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1+1/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45083D3-33E1-90B8-DEB1-FB39DA9FB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283" y="3841867"/>
                  <a:ext cx="2253566" cy="363305"/>
                </a:xfrm>
                <a:prstGeom prst="rect">
                  <a:avLst/>
                </a:prstGeom>
                <a:blipFill>
                  <a:blip r:embed="rId7"/>
                  <a:stretch>
                    <a:fillRect b="-2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623F907-2C43-6F8F-B5CB-F1365E30BB35}"/>
                    </a:ext>
                  </a:extLst>
                </p:cNvPr>
                <p:cNvSpPr txBox="1"/>
                <p:nvPr/>
              </p:nvSpPr>
              <p:spPr>
                <a:xfrm>
                  <a:off x="6545283" y="3431973"/>
                  <a:ext cx="22535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7030A0"/>
                      </a:solidFill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 we can use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623F907-2C43-6F8F-B5CB-F1365E30B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283" y="3431973"/>
                  <a:ext cx="2253565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02177D-6A26-3780-ABA4-DA1692FB4D13}"/>
                  </a:ext>
                </a:extLst>
              </p:cNvPr>
              <p:cNvSpPr txBox="1"/>
              <p:nvPr/>
            </p:nvSpPr>
            <p:spPr>
              <a:xfrm>
                <a:off x="6359867" y="4691986"/>
                <a:ext cx="22535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Substitute in the above </a:t>
                </a:r>
                <a:r>
                  <a:rPr lang="en-US" b="1" dirty="0">
                    <a:solidFill>
                      <a:srgbClr val="7030A0"/>
                    </a:solidFill>
                  </a:rPr>
                  <a:t>identity</a:t>
                </a:r>
                <a:r>
                  <a:rPr lang="en-US" dirty="0">
                    <a:solidFill>
                      <a:srgbClr val="7030A0"/>
                    </a:solidFill>
                  </a:rPr>
                  <a:t> and then factor out an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02177D-6A26-3780-ABA4-DA1692FB4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867" y="4691986"/>
                <a:ext cx="2253565" cy="923330"/>
              </a:xfrm>
              <a:prstGeom prst="rect">
                <a:avLst/>
              </a:prstGeom>
              <a:blipFill>
                <a:blip r:embed="rId9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6E3E6A3-053B-B410-A178-98BAABFA8FDC}"/>
              </a:ext>
            </a:extLst>
          </p:cNvPr>
          <p:cNvSpPr txBox="1"/>
          <p:nvPr/>
        </p:nvSpPr>
        <p:spPr>
          <a:xfrm>
            <a:off x="6414187" y="5984684"/>
            <a:ext cx="225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Substitute in the </a:t>
            </a:r>
            <a:r>
              <a:rPr lang="en-US" b="1" dirty="0">
                <a:solidFill>
                  <a:srgbClr val="7030A0"/>
                </a:solidFill>
              </a:rPr>
              <a:t>limit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860C5-3471-A13C-C2C1-32362ED5E81C}"/>
              </a:ext>
            </a:extLst>
          </p:cNvPr>
          <p:cNvSpPr txBox="1"/>
          <p:nvPr/>
        </p:nvSpPr>
        <p:spPr>
          <a:xfrm>
            <a:off x="6414186" y="2798470"/>
            <a:ext cx="225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Simplify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2B5578-83C0-9BF6-B600-AF241C102063}"/>
              </a:ext>
            </a:extLst>
          </p:cNvPr>
          <p:cNvSpPr/>
          <p:nvPr/>
        </p:nvSpPr>
        <p:spPr>
          <a:xfrm>
            <a:off x="5231607" y="5836445"/>
            <a:ext cx="250032" cy="660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0CFEB0-E051-6C20-AA8B-C043E907701B}"/>
                  </a:ext>
                </a:extLst>
              </p:cNvPr>
              <p:cNvSpPr txBox="1"/>
              <p:nvPr/>
            </p:nvSpPr>
            <p:spPr>
              <a:xfrm>
                <a:off x="864071" y="5907425"/>
                <a:ext cx="67807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0CFEB0-E051-6C20-AA8B-C043E9077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71" y="5907425"/>
                <a:ext cx="678071" cy="5186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44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4" grpId="0"/>
      <p:bldP spid="15" grpId="0"/>
      <p:bldP spid="16" grpId="0"/>
      <p:bldP spid="17" grpId="0" animBg="1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AC2A-9D95-C24F-18A1-B2C4821D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7BA3-0398-098E-F74D-48F08A71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limit_conjugate.py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1D9C-E3FD-EDC2-13E2-CD1C7353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F730D5-959D-7C08-7E09-84D098FD295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422EA-3FD5-69A1-28D4-10ECF1C39B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86" y="1784497"/>
            <a:ext cx="7971428" cy="422857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BDBA769-EBB2-AB15-AAC0-DB1B476E59B4}"/>
              </a:ext>
            </a:extLst>
          </p:cNvPr>
          <p:cNvGrpSpPr/>
          <p:nvPr/>
        </p:nvGrpSpPr>
        <p:grpSpPr>
          <a:xfrm>
            <a:off x="3575170" y="2013912"/>
            <a:ext cx="1076632" cy="369332"/>
            <a:chOff x="4968362" y="2079211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DFBE768-68FA-0C62-994A-09ACF1F124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7A84E3-D684-4D71-6BC3-2F8FA5157D8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78C630-5D6C-2C8C-4C4E-3204F956D409}"/>
              </a:ext>
            </a:extLst>
          </p:cNvPr>
          <p:cNvGrpSpPr/>
          <p:nvPr/>
        </p:nvGrpSpPr>
        <p:grpSpPr>
          <a:xfrm>
            <a:off x="3138942" y="2240523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B3769FD-C1A5-58E9-1E42-03C485ED8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E6F0D1-BB6F-307E-4162-89CD6B254BA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63C792-24A0-460D-4930-79FEA40565D0}"/>
                  </a:ext>
                </a:extLst>
              </p:cNvPr>
              <p:cNvSpPr txBox="1"/>
              <p:nvPr/>
            </p:nvSpPr>
            <p:spPr>
              <a:xfrm>
                <a:off x="4460073" y="2120544"/>
                <a:ext cx="2504113" cy="525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sz="18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80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63C792-24A0-460D-4930-79FEA4056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073" y="2120544"/>
                <a:ext cx="2504113" cy="52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247D6CC-C3DD-2D57-32E1-3E43BD982D33}"/>
              </a:ext>
            </a:extLst>
          </p:cNvPr>
          <p:cNvGrpSpPr/>
          <p:nvPr/>
        </p:nvGrpSpPr>
        <p:grpSpPr>
          <a:xfrm>
            <a:off x="1763147" y="3826024"/>
            <a:ext cx="1068643" cy="369332"/>
            <a:chOff x="3647644" y="4910075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0CE885-6B8A-702E-7A9C-FCEB43381C37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F4CADE4-749D-3A5A-0655-65D9F731E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7C6628-A9CF-46D6-D570-A6837FA7DB01}"/>
              </a:ext>
            </a:extLst>
          </p:cNvPr>
          <p:cNvGrpSpPr/>
          <p:nvPr/>
        </p:nvGrpSpPr>
        <p:grpSpPr>
          <a:xfrm>
            <a:off x="7316659" y="5677292"/>
            <a:ext cx="1064340" cy="369332"/>
            <a:chOff x="3647644" y="5421073"/>
            <a:chExt cx="1064340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1580FE-0719-C055-21F3-B8AFCAEC95D0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BAA2876-3887-1E39-587B-D491C0DF0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265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0747-D0CB-6FEA-C21A-6A6E6B4B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430624-4FA0-8834-01B8-1C9379BE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14" y="1433507"/>
            <a:ext cx="7793372" cy="5180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F15006-E6CC-DCED-1C54-33589F53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limit_conjugate.py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A59769-64D9-EF59-F55C-BF690993B053}"/>
                  </a:ext>
                </a:extLst>
              </p:cNvPr>
              <p:cNvSpPr txBox="1"/>
              <p:nvPr/>
            </p:nvSpPr>
            <p:spPr>
              <a:xfrm>
                <a:off x="2117709" y="2851673"/>
                <a:ext cx="2148537" cy="5186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A59769-64D9-EF59-F55C-BF690993B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709" y="2851673"/>
                <a:ext cx="2148537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CA4139C-1867-09D6-5267-38A125F28B97}"/>
              </a:ext>
            </a:extLst>
          </p:cNvPr>
          <p:cNvSpPr txBox="1"/>
          <p:nvPr/>
        </p:nvSpPr>
        <p:spPr>
          <a:xfrm>
            <a:off x="3607265" y="4224164"/>
            <a:ext cx="38757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A conjugate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A rationalization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A radical difference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A square root asymptotic correction</a:t>
            </a:r>
          </a:p>
        </p:txBody>
      </p:sp>
    </p:spTree>
    <p:extLst>
      <p:ext uri="{BB962C8B-B14F-4D97-AF65-F5344CB8AC3E}">
        <p14:creationId xmlns:p14="http://schemas.microsoft.com/office/powerpoint/2010/main" val="9928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87EE-DA55-608E-B996-55D79C37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62CB-2310-B698-78EC-1AE2ACEAD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 Final Limit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3FE9D-9AF7-7442-4CB8-27B26A199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about this limit: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Here we are taking the limit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goes to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infinity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do you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anticipate</a:t>
                </a:r>
                <a:r>
                  <a:rPr lang="en-US" sz="2400" dirty="0"/>
                  <a:t> the limit will be?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This is an indeterminate form that </a:t>
                </a:r>
                <a:r>
                  <a:rPr lang="fr-FR" sz="2400" b="1" dirty="0"/>
                  <a:t>L'</a:t>
                </a:r>
                <a:r>
                  <a:rPr lang="en-US" sz="2400" b="1" dirty="0"/>
                  <a:t>Hôpital’s</a:t>
                </a:r>
                <a:r>
                  <a:rPr lang="fr-FR" sz="2400" b="1" dirty="0"/>
                  <a:t> Rule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can not</a:t>
                </a:r>
                <a:r>
                  <a:rPr lang="en-US" sz="2400" dirty="0"/>
                  <a:t> handle </a:t>
                </a:r>
                <a:r>
                  <a:rPr lang="en-US" sz="2400" i="1" dirty="0"/>
                  <a:t>directly </a:t>
                </a:r>
                <a:r>
                  <a:rPr lang="en-US" sz="2400" dirty="0"/>
                  <a:t>because the numerator is a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discrete function</a:t>
                </a:r>
                <a:r>
                  <a:rPr lang="en-US" sz="2400" dirty="0"/>
                  <a:t>, </a:t>
                </a:r>
                <a:r>
                  <a:rPr lang="en-US" sz="2400" u="sng" dirty="0"/>
                  <a:t>not</a:t>
                </a:r>
                <a:r>
                  <a:rPr lang="en-US" sz="2400" dirty="0"/>
                  <a:t> a continuous </a:t>
                </a:r>
                <a:r>
                  <a:rPr lang="en-US" sz="2400" b="1" dirty="0"/>
                  <a:t>differentiable</a:t>
                </a:r>
                <a:r>
                  <a:rPr lang="en-US" sz="2400" dirty="0"/>
                  <a:t> one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First, </a:t>
                </a:r>
                <a:r>
                  <a:rPr lang="en-US" sz="2400" b="1" dirty="0"/>
                  <a:t>let’s plot the limit </a:t>
                </a:r>
                <a:r>
                  <a:rPr lang="en-US" sz="2400" dirty="0"/>
                  <a:t>to see how it performs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Then, let’s think about how we could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transform</a:t>
                </a:r>
                <a:r>
                  <a:rPr lang="en-US" sz="2400" dirty="0"/>
                  <a:t> it</a:t>
                </a:r>
                <a:r>
                  <a:rPr lang="en-US" sz="2400" b="1" dirty="0"/>
                  <a:t> </a:t>
                </a:r>
                <a:r>
                  <a:rPr lang="en-US" sz="2400" dirty="0"/>
                  <a:t>in order to develop a formal proof of the limit value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3FE9D-9AF7-7442-4CB8-27B26A199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 b="-4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0E28E-6624-C1D5-7CC9-FB9040E2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2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 </a:t>
            </a:r>
            <a:r>
              <a:rPr lang="en-US" sz="3200" b="1" dirty="0">
                <a:latin typeface="+mn-lt"/>
              </a:rPr>
              <a:t>Numpy</a:t>
            </a:r>
            <a:r>
              <a:rPr lang="en-US" sz="3200" dirty="0">
                <a:latin typeface="+mn-lt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Array</a:t>
            </a:r>
            <a:r>
              <a:rPr lang="en-US" sz="3200" dirty="0">
                <a:latin typeface="+mn-lt"/>
              </a:rPr>
              <a:t> from a 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Range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53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05ED3BD-FDAE-2887-2058-323DF12E5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4" y="3779274"/>
            <a:ext cx="5825576" cy="25016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EC2514-7C57-DE66-51BB-AD4E62C08A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044"/>
          <a:stretch/>
        </p:blipFill>
        <p:spPr>
          <a:xfrm>
            <a:off x="2765334" y="1566412"/>
            <a:ext cx="3613333" cy="186659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F70808-80BC-5012-F4AB-16C44D646C40}"/>
              </a:ext>
            </a:extLst>
          </p:cNvPr>
          <p:cNvSpPr txBox="1"/>
          <p:nvPr/>
        </p:nvSpPr>
        <p:spPr>
          <a:xfrm>
            <a:off x="351020" y="1761044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Creates a "street" of </a:t>
            </a:r>
            <a:r>
              <a:rPr lang="en-US" i="1" dirty="0">
                <a:solidFill>
                  <a:srgbClr val="7030A0"/>
                </a:solidFill>
              </a:rPr>
              <a:t>mailboxes</a:t>
            </a:r>
            <a:r>
              <a:rPr lang="en-US" dirty="0">
                <a:solidFill>
                  <a:srgbClr val="7030A0"/>
                </a:solidFill>
              </a:rPr>
              <a:t> where the </a:t>
            </a:r>
            <a:r>
              <a:rPr lang="en-US" b="1" dirty="0">
                <a:solidFill>
                  <a:srgbClr val="7030A0"/>
                </a:solidFill>
              </a:rPr>
              <a:t>value</a:t>
            </a:r>
            <a:r>
              <a:rPr lang="en-US" dirty="0">
                <a:solidFill>
                  <a:srgbClr val="7030A0"/>
                </a:solidFill>
              </a:rPr>
              <a:t> inside each mailbox follows the requested </a:t>
            </a:r>
            <a:r>
              <a:rPr lang="en-US" b="1" dirty="0">
                <a:solidFill>
                  <a:srgbClr val="7030A0"/>
                </a:solidFill>
              </a:rPr>
              <a:t>range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1C0696-5D91-A6C8-8A0D-D782EA7627BD}"/>
              </a:ext>
            </a:extLst>
          </p:cNvPr>
          <p:cNvSpPr txBox="1"/>
          <p:nvPr/>
        </p:nvSpPr>
        <p:spPr>
          <a:xfrm>
            <a:off x="6506980" y="1622545"/>
            <a:ext cx="228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For np.arange()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i="1" dirty="0">
                <a:solidFill>
                  <a:srgbClr val="7030A0"/>
                </a:solidFill>
              </a:rPr>
              <a:t>default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start</a:t>
            </a:r>
            <a:r>
              <a:rPr lang="en-US" dirty="0">
                <a:solidFill>
                  <a:srgbClr val="7030A0"/>
                </a:solidFill>
              </a:rPr>
              <a:t> value is </a:t>
            </a:r>
            <a:r>
              <a:rPr lang="en-US" b="1" dirty="0">
                <a:solidFill>
                  <a:srgbClr val="7030A0"/>
                </a:solidFill>
              </a:rPr>
              <a:t>0</a:t>
            </a:r>
            <a:r>
              <a:rPr lang="en-US" dirty="0">
                <a:solidFill>
                  <a:srgbClr val="7030A0"/>
                </a:solidFill>
              </a:rPr>
              <a:t> and the </a:t>
            </a:r>
            <a:r>
              <a:rPr lang="en-US" i="1" dirty="0">
                <a:solidFill>
                  <a:srgbClr val="7030A0"/>
                </a:solidFill>
              </a:rPr>
              <a:t>default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step</a:t>
            </a:r>
            <a:r>
              <a:rPr lang="en-US" dirty="0">
                <a:solidFill>
                  <a:srgbClr val="7030A0"/>
                </a:solidFill>
              </a:rPr>
              <a:t> value is </a:t>
            </a:r>
            <a:r>
              <a:rPr lang="en-US" b="1" dirty="0">
                <a:solidFill>
                  <a:srgbClr val="7030A0"/>
                </a:solidFill>
              </a:rPr>
              <a:t>1</a:t>
            </a:r>
            <a:r>
              <a:rPr lang="en-US" dirty="0">
                <a:solidFill>
                  <a:srgbClr val="7030A0"/>
                </a:solidFill>
              </a:rPr>
              <a:t>, and the stop value is </a:t>
            </a:r>
            <a:r>
              <a:rPr lang="en-US" u="sng" dirty="0">
                <a:solidFill>
                  <a:srgbClr val="7030A0"/>
                </a:solidFill>
              </a:rPr>
              <a:t>exclusive</a:t>
            </a:r>
            <a:endParaRPr lang="en-US" b="1" u="sng" dirty="0">
              <a:solidFill>
                <a:srgbClr val="7030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2F8190-8CD4-8C44-5496-70F39B63E23D}"/>
              </a:ext>
            </a:extLst>
          </p:cNvPr>
          <p:cNvSpPr/>
          <p:nvPr/>
        </p:nvSpPr>
        <p:spPr>
          <a:xfrm>
            <a:off x="3822493" y="1650206"/>
            <a:ext cx="1499016" cy="3012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7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6A11-D924-9428-F417-46AD4C4F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4E01-6154-2239-2960-361DADE9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limit_gaussian_sum.py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EC1FE-4DF1-C68F-6209-D8DECF1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1B3705-49F2-D3B6-0F8D-411E63C2FE85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2C13C-78A6-1055-51F3-E5FED9F0CB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71" y="1971857"/>
            <a:ext cx="6742857" cy="29142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A859139-B354-AA89-0D2F-36A13E08534D}"/>
              </a:ext>
            </a:extLst>
          </p:cNvPr>
          <p:cNvGrpSpPr/>
          <p:nvPr/>
        </p:nvGrpSpPr>
        <p:grpSpPr>
          <a:xfrm>
            <a:off x="3189276" y="3629021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1518859-3797-9D1D-7EFC-239BC53232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9121D4-8DFF-FA78-BBD3-CE076C29B3C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30B990-B033-EC23-CBF9-16340E70A2DA}"/>
              </a:ext>
            </a:extLst>
          </p:cNvPr>
          <p:cNvGrpSpPr/>
          <p:nvPr/>
        </p:nvGrpSpPr>
        <p:grpSpPr>
          <a:xfrm>
            <a:off x="3801673" y="4082528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A9BF460-ABAE-5311-5031-CAE4BDB4E6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DEC8E8-4CE9-4F45-3B05-549183D313E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F87BBB0-7B1E-343E-ED7A-97F74EF3872C}"/>
              </a:ext>
            </a:extLst>
          </p:cNvPr>
          <p:cNvSpPr/>
          <p:nvPr/>
        </p:nvSpPr>
        <p:spPr>
          <a:xfrm>
            <a:off x="5382322" y="3934437"/>
            <a:ext cx="401732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6C1A28-FDAF-8BB0-5839-87B4C6D9AD60}"/>
              </a:ext>
            </a:extLst>
          </p:cNvPr>
          <p:cNvGrpSpPr/>
          <p:nvPr/>
        </p:nvGrpSpPr>
        <p:grpSpPr>
          <a:xfrm>
            <a:off x="3834690" y="4549286"/>
            <a:ext cx="1068643" cy="369332"/>
            <a:chOff x="3647644" y="4910075"/>
            <a:chExt cx="1068643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8B7006-35EA-A444-DEB8-B59065141B4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88BD32-5ABF-3362-45EF-7C696F4E13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4E8A474-1792-EB12-393B-89F9038181F4}"/>
              </a:ext>
            </a:extLst>
          </p:cNvPr>
          <p:cNvSpPr/>
          <p:nvPr/>
        </p:nvSpPr>
        <p:spPr>
          <a:xfrm>
            <a:off x="5119089" y="4375034"/>
            <a:ext cx="2148486" cy="23982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CE4852-F170-C100-C72D-BB61E85115EF}"/>
              </a:ext>
            </a:extLst>
          </p:cNvPr>
          <p:cNvSpPr/>
          <p:nvPr/>
        </p:nvSpPr>
        <p:spPr>
          <a:xfrm>
            <a:off x="2257625" y="4623475"/>
            <a:ext cx="1201596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8E46E45-9EA2-B014-D99E-F0754C5C4EAA}"/>
              </a:ext>
            </a:extLst>
          </p:cNvPr>
          <p:cNvGrpSpPr/>
          <p:nvPr/>
        </p:nvGrpSpPr>
        <p:grpSpPr>
          <a:xfrm>
            <a:off x="3589782" y="2041470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432975-9DBB-DB03-D6EC-80F7D93B3F6F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41984DA-2DB0-E022-115B-4D1A28686A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0D8D7232-A811-64F0-71B2-EC6D99F892E1}"/>
              </a:ext>
            </a:extLst>
          </p:cNvPr>
          <p:cNvSpPr/>
          <p:nvPr/>
        </p:nvSpPr>
        <p:spPr>
          <a:xfrm>
            <a:off x="1851489" y="2104711"/>
            <a:ext cx="598818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DA8E4F-A74B-EF33-6EE9-F7C469231140}"/>
              </a:ext>
            </a:extLst>
          </p:cNvPr>
          <p:cNvSpPr/>
          <p:nvPr/>
        </p:nvSpPr>
        <p:spPr>
          <a:xfrm>
            <a:off x="2870232" y="2104928"/>
            <a:ext cx="598818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DA2C3A-536B-276D-FFF6-014D090D7ACA}"/>
              </a:ext>
            </a:extLst>
          </p:cNvPr>
          <p:cNvGrpSpPr/>
          <p:nvPr/>
        </p:nvGrpSpPr>
        <p:grpSpPr>
          <a:xfrm>
            <a:off x="3622327" y="2484388"/>
            <a:ext cx="1068643" cy="369332"/>
            <a:chOff x="3647644" y="5359159"/>
            <a:chExt cx="1068643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4B9ACB-C4DF-D5AC-EF6A-6573B22D2F94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8A78B08-8E39-3AB7-BF3A-6E91295065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FA370824-8CA6-ED0D-5E56-BCDDE9921AF2}"/>
              </a:ext>
            </a:extLst>
          </p:cNvPr>
          <p:cNvSpPr/>
          <p:nvPr/>
        </p:nvSpPr>
        <p:spPr>
          <a:xfrm>
            <a:off x="2975564" y="2570106"/>
            <a:ext cx="510587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9A95C6-3A8E-C1B7-733C-A3155612A26C}"/>
              </a:ext>
            </a:extLst>
          </p:cNvPr>
          <p:cNvGrpSpPr/>
          <p:nvPr/>
        </p:nvGrpSpPr>
        <p:grpSpPr>
          <a:xfrm>
            <a:off x="3963361" y="2935655"/>
            <a:ext cx="1076632" cy="369332"/>
            <a:chOff x="2157212" y="5356391"/>
            <a:chExt cx="1076632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4AADB0-E166-AFB6-BE68-08A72AAA8FE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246417C-11DA-14BC-942C-A9FE1EB7BA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A14DECB-2AE0-4082-02F2-AB1FA14CE455}"/>
              </a:ext>
            </a:extLst>
          </p:cNvPr>
          <p:cNvSpPr/>
          <p:nvPr/>
        </p:nvSpPr>
        <p:spPr>
          <a:xfrm>
            <a:off x="2603129" y="3026895"/>
            <a:ext cx="598818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4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13" grpId="0" animBg="1"/>
      <p:bldP spid="30" grpId="0" animBg="1"/>
      <p:bldP spid="31" grpId="0" animBg="1"/>
      <p:bldP spid="35" grpId="0" animBg="1"/>
      <p:bldP spid="36" grpId="0" animBg="1"/>
      <p:bldP spid="41" grpId="0" animBg="1"/>
      <p:bldP spid="4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04F5-5658-CC33-6174-919F87F9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4ADC-8D94-6893-F072-723738ED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limit_gaussian_sum.py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89C29-ACBF-69F9-88AE-AD21EE4C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B0707E-DF2C-02A2-EF91-FAF7C8FAE3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66" y="1613494"/>
            <a:ext cx="7066667" cy="474285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0F6461E-8075-A18D-5926-3E6FA4B6F63B}"/>
              </a:ext>
            </a:extLst>
          </p:cNvPr>
          <p:cNvGrpSpPr/>
          <p:nvPr/>
        </p:nvGrpSpPr>
        <p:grpSpPr>
          <a:xfrm>
            <a:off x="4497959" y="3244334"/>
            <a:ext cx="1076632" cy="369332"/>
            <a:chOff x="4968362" y="2079211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5C944F-F373-4047-B9C3-34603D6AB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847DD6-CD1B-295F-1C4A-DFB1A4BC2C4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A4B7FB-C283-09CA-F5BE-6D0769D887DF}"/>
              </a:ext>
            </a:extLst>
          </p:cNvPr>
          <p:cNvGrpSpPr/>
          <p:nvPr/>
        </p:nvGrpSpPr>
        <p:grpSpPr>
          <a:xfrm>
            <a:off x="2929217" y="3477911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93734CC-28D3-2ED8-10BE-A56E758DDF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9F426B-B5F7-F725-F57E-89EA07D6302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593D1A-14AC-B591-206A-940B9BEDE5B5}"/>
              </a:ext>
            </a:extLst>
          </p:cNvPr>
          <p:cNvGrpSpPr/>
          <p:nvPr/>
        </p:nvGrpSpPr>
        <p:grpSpPr>
          <a:xfrm>
            <a:off x="6363157" y="3935081"/>
            <a:ext cx="1068643" cy="369332"/>
            <a:chOff x="3647644" y="4910075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16C7ACD-BF6B-0C8C-33F5-DA66F1CBB02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74522B2-D47B-D158-D9DE-849D52FB85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4C440B0-7E7C-E8D8-47D1-36CBFA96FFCF}"/>
              </a:ext>
            </a:extLst>
          </p:cNvPr>
          <p:cNvSpPr/>
          <p:nvPr/>
        </p:nvSpPr>
        <p:spPr>
          <a:xfrm>
            <a:off x="2612524" y="4017659"/>
            <a:ext cx="558515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3232CD-9E28-C6F4-255A-6A196824F930}"/>
              </a:ext>
            </a:extLst>
          </p:cNvPr>
          <p:cNvGrpSpPr/>
          <p:nvPr/>
        </p:nvGrpSpPr>
        <p:grpSpPr>
          <a:xfrm>
            <a:off x="6630456" y="4623022"/>
            <a:ext cx="1064340" cy="369332"/>
            <a:chOff x="3647644" y="5421073"/>
            <a:chExt cx="1064340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49E43E8-0E30-4969-FFFB-F1CC3953759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B7DD48F-2A07-7540-B80D-14A3CB569D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EF7480-135A-7F06-B574-1E54A6B2CEE6}"/>
              </a:ext>
            </a:extLst>
          </p:cNvPr>
          <p:cNvGrpSpPr/>
          <p:nvPr/>
        </p:nvGrpSpPr>
        <p:grpSpPr>
          <a:xfrm>
            <a:off x="8032406" y="4851940"/>
            <a:ext cx="1068643" cy="369332"/>
            <a:chOff x="3647644" y="5359159"/>
            <a:chExt cx="1068643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B5F3EC3-94C0-9D01-73DE-008B976331EB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228411A-FD07-26C6-082B-99CCC56EF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F533FAF0-039C-83F2-C4B5-990F0A78D0C7}"/>
              </a:ext>
            </a:extLst>
          </p:cNvPr>
          <p:cNvSpPr/>
          <p:nvPr/>
        </p:nvSpPr>
        <p:spPr>
          <a:xfrm>
            <a:off x="6802092" y="4922917"/>
            <a:ext cx="205133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8D0F84A-9B49-6EC0-3809-7BBD61700A37}"/>
              </a:ext>
            </a:extLst>
          </p:cNvPr>
          <p:cNvSpPr/>
          <p:nvPr/>
        </p:nvSpPr>
        <p:spPr>
          <a:xfrm>
            <a:off x="5571778" y="4931750"/>
            <a:ext cx="205133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B17983-55E9-2D30-9664-330B995BB668}"/>
              </a:ext>
            </a:extLst>
          </p:cNvPr>
          <p:cNvSpPr/>
          <p:nvPr/>
        </p:nvSpPr>
        <p:spPr>
          <a:xfrm>
            <a:off x="1864530" y="4922917"/>
            <a:ext cx="205133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120FD3-1ED3-07D6-BF93-7072EE6FA7D2}"/>
              </a:ext>
            </a:extLst>
          </p:cNvPr>
          <p:cNvSpPr/>
          <p:nvPr/>
        </p:nvSpPr>
        <p:spPr>
          <a:xfrm>
            <a:off x="4999000" y="4705600"/>
            <a:ext cx="1335125" cy="2041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3C7D8EE-061C-9978-1C88-E01A4C5D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502" y="5260000"/>
            <a:ext cx="1109679" cy="481721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9823B2E3-BEA8-604E-93E9-B84F9AE00616}"/>
              </a:ext>
            </a:extLst>
          </p:cNvPr>
          <p:cNvGrpSpPr/>
          <p:nvPr/>
        </p:nvGrpSpPr>
        <p:grpSpPr>
          <a:xfrm>
            <a:off x="2612524" y="5979894"/>
            <a:ext cx="1076632" cy="369332"/>
            <a:chOff x="2157212" y="5356391"/>
            <a:chExt cx="1076632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26BEFC-367B-D6C5-DF55-F2093E4AF9C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3133A57-F88D-0459-FBDB-23A7C16C5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67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E983-D14D-0531-2775-9124DB91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259B-62CF-BA4A-D749-ACE93BCA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limit_gaussian_sum.py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59623-8229-8C69-1532-6856DEC4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05BC8-2121-6B69-9C14-70DB259E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DEA5136-C307-A377-8199-BD5BAA922401}"/>
              </a:ext>
            </a:extLst>
          </p:cNvPr>
          <p:cNvGrpSpPr/>
          <p:nvPr/>
        </p:nvGrpSpPr>
        <p:grpSpPr>
          <a:xfrm>
            <a:off x="7090827" y="5772180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7FF1418-EA80-47C4-5A0A-EF772B79F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2EBBC2-CF2E-BF15-70BD-B054B21C0F5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40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B9116-ED8A-CAED-7FED-1C230C1C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9564-B4C5-EB09-843D-68120884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Proving a Limit</a:t>
            </a:r>
            <a:endParaRPr lang="en-US" sz="32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9DF27-4445-CC14-B21A-44BF4371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162A15-EAF1-5E25-D4F3-0CA9D1B7D25B}"/>
                  </a:ext>
                </a:extLst>
              </p:cNvPr>
              <p:cNvSpPr txBox="1"/>
              <p:nvPr/>
            </p:nvSpPr>
            <p:spPr>
              <a:xfrm>
                <a:off x="3105237" y="1888881"/>
                <a:ext cx="2715412" cy="1084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162A15-EAF1-5E25-D4F3-0CA9D1B7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237" y="1888881"/>
                <a:ext cx="2715412" cy="10840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969A22-8926-63AD-E508-CB8315EE5C2D}"/>
                  </a:ext>
                </a:extLst>
              </p:cNvPr>
              <p:cNvSpPr txBox="1"/>
              <p:nvPr/>
            </p:nvSpPr>
            <p:spPr>
              <a:xfrm>
                <a:off x="1582722" y="2119867"/>
                <a:ext cx="1781263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969A22-8926-63AD-E508-CB8315EE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722" y="2119867"/>
                <a:ext cx="1781263" cy="809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C32F2-12DE-E634-EFD9-8AB1A261CC7E}"/>
                  </a:ext>
                </a:extLst>
              </p:cNvPr>
              <p:cNvSpPr txBox="1"/>
              <p:nvPr/>
            </p:nvSpPr>
            <p:spPr>
              <a:xfrm>
                <a:off x="3264627" y="3222422"/>
                <a:ext cx="2329519" cy="866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C32F2-12DE-E634-EFD9-8AB1A261C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627" y="3222422"/>
                <a:ext cx="2329519" cy="866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4C9A7C-65F3-FA3D-AAC6-F31CDCAAEA83}"/>
                  </a:ext>
                </a:extLst>
              </p:cNvPr>
              <p:cNvSpPr txBox="1"/>
              <p:nvPr/>
            </p:nvSpPr>
            <p:spPr>
              <a:xfrm>
                <a:off x="3172870" y="4338147"/>
                <a:ext cx="2715413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4C9A7C-65F3-FA3D-AAC6-F31CDCAAE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870" y="4338147"/>
                <a:ext cx="2715413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68D9D6-8A08-B58C-5D07-68ECAECCC950}"/>
                  </a:ext>
                </a:extLst>
              </p:cNvPr>
              <p:cNvSpPr txBox="1"/>
              <p:nvPr/>
            </p:nvSpPr>
            <p:spPr>
              <a:xfrm>
                <a:off x="3298183" y="5509849"/>
                <a:ext cx="232952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68D9D6-8A08-B58C-5D07-68ECAECCC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183" y="5509849"/>
                <a:ext cx="2329520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6112655A-D805-BA61-7AFA-9FBB8ABF1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2906" y="1774557"/>
            <a:ext cx="2527487" cy="131266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6FAC51D-0051-FA45-6D6F-4DC47215A9BF}"/>
              </a:ext>
            </a:extLst>
          </p:cNvPr>
          <p:cNvSpPr/>
          <p:nvPr/>
        </p:nvSpPr>
        <p:spPr>
          <a:xfrm>
            <a:off x="4949505" y="5509849"/>
            <a:ext cx="644641" cy="849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7CB6DD-C690-9A8C-8AE0-97C4385F74A3}"/>
              </a:ext>
            </a:extLst>
          </p:cNvPr>
          <p:cNvSpPr/>
          <p:nvPr/>
        </p:nvSpPr>
        <p:spPr>
          <a:xfrm>
            <a:off x="4304864" y="1817716"/>
            <a:ext cx="1186299" cy="765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21B048-4513-332C-B4A4-FB642AB0A018}"/>
              </a:ext>
            </a:extLst>
          </p:cNvPr>
          <p:cNvSpPr/>
          <p:nvPr/>
        </p:nvSpPr>
        <p:spPr>
          <a:xfrm>
            <a:off x="2512088" y="2119867"/>
            <a:ext cx="540676" cy="458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1A3A505-0E89-30E7-A2C2-BD55EA5CE055}"/>
              </a:ext>
            </a:extLst>
          </p:cNvPr>
          <p:cNvCxnSpPr>
            <a:stCxn id="23" idx="0"/>
            <a:endCxn id="22" idx="0"/>
          </p:cNvCxnSpPr>
          <p:nvPr/>
        </p:nvCxnSpPr>
        <p:spPr>
          <a:xfrm rot="5400000" flipH="1" flipV="1">
            <a:off x="3689145" y="910998"/>
            <a:ext cx="302151" cy="2115588"/>
          </a:xfrm>
          <a:prstGeom prst="bentConnector3">
            <a:avLst>
              <a:gd name="adj1" fmla="val 17565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0030A9-0970-013F-0039-A3D2CF5F55B8}"/>
              </a:ext>
            </a:extLst>
          </p:cNvPr>
          <p:cNvSpPr txBox="1"/>
          <p:nvPr/>
        </p:nvSpPr>
        <p:spPr>
          <a:xfrm>
            <a:off x="5627703" y="5703519"/>
            <a:ext cx="713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5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21" grpId="0" animBg="1"/>
      <p:bldP spid="22" grpId="0" animBg="1"/>
      <p:bldP spid="23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585C-EB7E-03EB-03D3-658B5FD9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6C41-8FAA-A02A-4CB1-5CE718F1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06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3CDA96-5080-5C00-177B-C7DA77E302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Techniques for decorating your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matplotlib</a:t>
                </a:r>
                <a:r>
                  <a:rPr lang="en-US" sz="2400" dirty="0"/>
                  <a:t> graphs to draw the reader’s </a:t>
                </a:r>
                <a:r>
                  <a:rPr lang="en-US" sz="2400" i="1" dirty="0"/>
                  <a:t>attention</a:t>
                </a:r>
                <a:r>
                  <a:rPr lang="en-US" sz="2400" dirty="0"/>
                  <a:t> to important areas in the function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How to numerically </a:t>
                </a:r>
                <a:r>
                  <a:rPr lang="en-US" sz="2400" i="1" dirty="0"/>
                  <a:t>estimate</a:t>
                </a:r>
                <a:r>
                  <a:rPr lang="en-US" sz="2400" dirty="0"/>
                  <a:t> and </a:t>
                </a:r>
                <a:r>
                  <a:rPr lang="en-US" sz="2400" u="sng" dirty="0"/>
                  <a:t>visualize</a:t>
                </a:r>
                <a:r>
                  <a:rPr lang="en-US" sz="2400" dirty="0"/>
                  <a:t> </a:t>
                </a:r>
                <a:r>
                  <a:rPr lang="en-US" sz="2400" b="1" dirty="0"/>
                  <a:t>infinite series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limits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How to calculate the</a:t>
                </a:r>
                <a:r>
                  <a:rPr lang="en-US" sz="2400" b="1" dirty="0"/>
                  <a:t> Leibniz</a:t>
                </a:r>
                <a:r>
                  <a:rPr lang="en-US" sz="2400" dirty="0"/>
                  <a:t> Series for the value of </a:t>
                </a:r>
                <a14:m>
                  <m:oMath xmlns:m="http://schemas.openxmlformats.org/officeDocument/2006/math">
                    <m:r>
                      <a:rPr lang="en-US" sz="2400" i="1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history and value of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Gaussian Summation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That some series diverge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(Harmonic)</a:t>
                </a:r>
                <a:r>
                  <a:rPr lang="en-US" sz="2400" dirty="0"/>
                  <a:t> while some series converge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(Basel)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fr-FR" sz="2400" b="1" dirty="0"/>
                  <a:t>L'</a:t>
                </a:r>
                <a:r>
                  <a:rPr lang="en-US" sz="2400" b="1" dirty="0"/>
                  <a:t>Hôpital’s</a:t>
                </a:r>
                <a:r>
                  <a:rPr lang="fr-FR" sz="2400" b="1" dirty="0"/>
                  <a:t> Rule</a:t>
                </a:r>
                <a:r>
                  <a:rPr lang="en-US" sz="2400" dirty="0"/>
                  <a:t> allows us to find limits that otherwise might require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division by zero</a:t>
                </a:r>
                <a:endParaRPr lang="en-US" sz="2400" dirty="0"/>
              </a:p>
              <a:p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3CDA96-5080-5C00-177B-C7DA77E302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430D-F95D-07D2-4956-13C2B425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8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A133249-0616-F1A5-A56F-73093504D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80654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Your scientist needs you to calculate this sum: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Notice the bounds of the summation are 1 and 30 </a:t>
                </a:r>
                <a:r>
                  <a:rPr lang="en-US" sz="2400" b="1" dirty="0"/>
                  <a:t>inclusive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Then calculate and print this value: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A133249-0616-F1A5-A56F-73093504D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80654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87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12150</TotalTime>
  <Words>2661</Words>
  <Application>Microsoft Office PowerPoint</Application>
  <PresentationFormat>On-screen Show (4:3)</PresentationFormat>
  <Paragraphs>531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Segoe Print</vt:lpstr>
      <vt:lpstr>Wingdings</vt:lpstr>
      <vt:lpstr>Office Theme</vt:lpstr>
      <vt:lpstr>PowerPoint Presentation</vt:lpstr>
      <vt:lpstr>Session 06 – Goals</vt:lpstr>
      <vt:lpstr>The Leibniz Series</vt:lpstr>
      <vt:lpstr>Edit leibniz_formula.py </vt:lpstr>
      <vt:lpstr>Run leibniz_formula.py </vt:lpstr>
      <vt:lpstr>Gaussian Summation</vt:lpstr>
      <vt:lpstr>Gaussian Summation</vt:lpstr>
      <vt:lpstr>PowerPoint Presentation</vt:lpstr>
      <vt:lpstr>PowerPoint Presentation</vt:lpstr>
      <vt:lpstr>Gaussian Summation</vt:lpstr>
      <vt:lpstr>Open gauss_summation.py </vt:lpstr>
      <vt:lpstr>Run gauss_summation.py </vt:lpstr>
      <vt:lpstr>Infinite Series (Sums)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Infinite Series (Sums)</vt:lpstr>
      <vt:lpstr>PowerPoint Presentation</vt:lpstr>
      <vt:lpstr>The Basel Series</vt:lpstr>
      <vt:lpstr>Open basel_problem.py</vt:lpstr>
      <vt:lpstr>Edit basel_problem.py</vt:lpstr>
      <vt:lpstr>View basel_problem.py</vt:lpstr>
      <vt:lpstr>Run basel_series.py</vt:lpstr>
      <vt:lpstr>The Basel Problem</vt:lpstr>
      <vt:lpstr>The Basel Problem</vt:lpstr>
      <vt:lpstr>Impress Me</vt:lpstr>
      <vt:lpstr>Indeterminate Limits</vt:lpstr>
      <vt:lpstr>Indeterminate Limits</vt:lpstr>
      <vt:lpstr>Indeterminate Limits</vt:lpstr>
      <vt:lpstr>Indeterminate Limits</vt:lpstr>
      <vt:lpstr>The Squeeze Theorem</vt:lpstr>
      <vt:lpstr>Indeterminate Limits</vt:lpstr>
      <vt:lpstr>Open limit_sinc.py </vt:lpstr>
      <vt:lpstr>View limit_sinc.py </vt:lpstr>
      <vt:lpstr>View limit_sinc.py </vt:lpstr>
      <vt:lpstr>View limit_sinc.py </vt:lpstr>
      <vt:lpstr>View limit_sinc.py </vt:lpstr>
      <vt:lpstr>Run limit_sinc.py </vt:lpstr>
      <vt:lpstr>Indeterminate Limits</vt:lpstr>
      <vt:lpstr>Open limit_exp.py </vt:lpstr>
      <vt:lpstr>Run limit_exp.py </vt:lpstr>
      <vt:lpstr>Limit definition of e</vt:lpstr>
      <vt:lpstr>Indeterminate Limits</vt:lpstr>
      <vt:lpstr>Open limit_d_exp.py </vt:lpstr>
      <vt:lpstr>Run limit_d_exp.py </vt:lpstr>
      <vt:lpstr>Indeterminate Limits</vt:lpstr>
      <vt:lpstr>Indeterminate Limits</vt:lpstr>
      <vt:lpstr>Open limit_conjugate.py </vt:lpstr>
      <vt:lpstr>Run limit_conjugate.py </vt:lpstr>
      <vt:lpstr>A Final Limit</vt:lpstr>
      <vt:lpstr>A Numpy Array from a Range</vt:lpstr>
      <vt:lpstr>Open limit_gaussian_sum.py </vt:lpstr>
      <vt:lpstr>View limit_gaussian_sum.py </vt:lpstr>
      <vt:lpstr>Run limit_gaussian_sum.py </vt:lpstr>
      <vt:lpstr>Proving a Limit</vt:lpstr>
      <vt:lpstr>Session 06 – Now You Know…</vt:lpstr>
      <vt:lpstr>Task 06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1220</cp:revision>
  <cp:lastPrinted>2015-06-01T00:45:11Z</cp:lastPrinted>
  <dcterms:created xsi:type="dcterms:W3CDTF">2014-09-21T17:58:26Z</dcterms:created>
  <dcterms:modified xsi:type="dcterms:W3CDTF">2026-02-08T03:41:45Z</dcterms:modified>
</cp:coreProperties>
</file>