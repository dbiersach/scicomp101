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8"/>
  </p:notesMasterIdLst>
  <p:handoutMasterIdLst>
    <p:handoutMasterId r:id="rId49"/>
  </p:handoutMasterIdLst>
  <p:sldIdLst>
    <p:sldId id="1220" r:id="rId2"/>
    <p:sldId id="972" r:id="rId3"/>
    <p:sldId id="1045" r:id="rId4"/>
    <p:sldId id="1046" r:id="rId5"/>
    <p:sldId id="1047" r:id="rId6"/>
    <p:sldId id="1048" r:id="rId7"/>
    <p:sldId id="1049" r:id="rId8"/>
    <p:sldId id="1052" r:id="rId9"/>
    <p:sldId id="1053" r:id="rId10"/>
    <p:sldId id="1054" r:id="rId11"/>
    <p:sldId id="460" r:id="rId12"/>
    <p:sldId id="371" r:id="rId13"/>
    <p:sldId id="1050" r:id="rId14"/>
    <p:sldId id="1051" r:id="rId15"/>
    <p:sldId id="1567" r:id="rId16"/>
    <p:sldId id="1020" r:id="rId17"/>
    <p:sldId id="1573" r:id="rId18"/>
    <p:sldId id="1541" r:id="rId19"/>
    <p:sldId id="1565" r:id="rId20"/>
    <p:sldId id="1542" r:id="rId21"/>
    <p:sldId id="1024" r:id="rId22"/>
    <p:sldId id="1544" r:id="rId23"/>
    <p:sldId id="1545" r:id="rId24"/>
    <p:sldId id="1568" r:id="rId25"/>
    <p:sldId id="1569" r:id="rId26"/>
    <p:sldId id="1570" r:id="rId27"/>
    <p:sldId id="1057" r:id="rId28"/>
    <p:sldId id="1058" r:id="rId29"/>
    <p:sldId id="1030" r:id="rId30"/>
    <p:sldId id="1059" r:id="rId31"/>
    <p:sldId id="1031" r:id="rId32"/>
    <p:sldId id="1060" r:id="rId33"/>
    <p:sldId id="1061" r:id="rId34"/>
    <p:sldId id="1062" r:id="rId35"/>
    <p:sldId id="1063" r:id="rId36"/>
    <p:sldId id="1315" r:id="rId37"/>
    <p:sldId id="1064" r:id="rId38"/>
    <p:sldId id="1065" r:id="rId39"/>
    <p:sldId id="1066" r:id="rId40"/>
    <p:sldId id="472" r:id="rId41"/>
    <p:sldId id="1574" r:id="rId42"/>
    <p:sldId id="1575" r:id="rId43"/>
    <p:sldId id="1068" r:id="rId44"/>
    <p:sldId id="1571" r:id="rId45"/>
    <p:sldId id="1572" r:id="rId46"/>
    <p:sldId id="1312" r:id="rId47"/>
  </p:sldIdLst>
  <p:sldSz cx="9144000" cy="6858000" type="screen4x3"/>
  <p:notesSz cx="7077075" cy="93630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8BDBA"/>
    <a:srgbClr val="2ECC71"/>
    <a:srgbClr val="FF7D0A"/>
    <a:srgbClr val="95D4D6"/>
    <a:srgbClr val="B4C1CA"/>
    <a:srgbClr val="E74C3C"/>
    <a:srgbClr val="3297DB"/>
    <a:srgbClr val="9354AC"/>
    <a:srgbClr val="99CBEC"/>
    <a:srgbClr val="2FCC7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231E7D9-E8FD-4908-95BB-3604F3CA9764}" v="1" dt="2020-05-29T19:25:52.38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horzBarState="maximized">
    <p:restoredLeft sz="15987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1356" y="3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55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iersach, David" userId="14a9feb0-85a7-4da4-be8a-c1e22b637acc" providerId="ADAL" clId="{6231E7D9-E8FD-4908-95BB-3604F3CA9764}"/>
    <pc:docChg chg="custSel delSld modSld">
      <pc:chgData name="Biersach, David" userId="14a9feb0-85a7-4da4-be8a-c1e22b637acc" providerId="ADAL" clId="{6231E7D9-E8FD-4908-95BB-3604F3CA9764}" dt="2020-05-29T19:25:56.584" v="2" actId="2696"/>
      <pc:docMkLst>
        <pc:docMk/>
      </pc:docMkLst>
      <pc:sldChg chg="del">
        <pc:chgData name="Biersach, David" userId="14a9feb0-85a7-4da4-be8a-c1e22b637acc" providerId="ADAL" clId="{6231E7D9-E8FD-4908-95BB-3604F3CA9764}" dt="2020-05-29T19:25:56.584" v="2" actId="2696"/>
        <pc:sldMkLst>
          <pc:docMk/>
          <pc:sldMk cId="1150352350" sldId="278"/>
        </pc:sldMkLst>
      </pc:sldChg>
      <pc:sldChg chg="modSp">
        <pc:chgData name="Biersach, David" userId="14a9feb0-85a7-4da4-be8a-c1e22b637acc" providerId="ADAL" clId="{6231E7D9-E8FD-4908-95BB-3604F3CA9764}" dt="2020-05-29T19:25:52.552" v="0" actId="27636"/>
        <pc:sldMkLst>
          <pc:docMk/>
          <pc:sldMk cId="206124625" sldId="464"/>
        </pc:sldMkLst>
        <pc:spChg chg="mod">
          <ac:chgData name="Biersach, David" userId="14a9feb0-85a7-4da4-be8a-c1e22b637acc" providerId="ADAL" clId="{6231E7D9-E8FD-4908-95BB-3604F3CA9764}" dt="2020-05-29T19:25:52.552" v="0" actId="27636"/>
          <ac:spMkLst>
            <pc:docMk/>
            <pc:sldMk cId="206124625" sldId="464"/>
            <ac:spMk id="3" creationId="{00000000-0000-0000-0000-000000000000}"/>
          </ac:spMkLst>
        </pc:spChg>
      </pc:sldChg>
      <pc:sldChg chg="modSp">
        <pc:chgData name="Biersach, David" userId="14a9feb0-85a7-4da4-be8a-c1e22b637acc" providerId="ADAL" clId="{6231E7D9-E8FD-4908-95BB-3604F3CA9764}" dt="2020-05-29T19:25:52.649" v="1" actId="27636"/>
        <pc:sldMkLst>
          <pc:docMk/>
          <pc:sldMk cId="320308749" sldId="465"/>
        </pc:sldMkLst>
        <pc:spChg chg="mod">
          <ac:chgData name="Biersach, David" userId="14a9feb0-85a7-4da4-be8a-c1e22b637acc" providerId="ADAL" clId="{6231E7D9-E8FD-4908-95BB-3604F3CA9764}" dt="2020-05-29T19:25:52.649" v="1" actId="27636"/>
          <ac:spMkLst>
            <pc:docMk/>
            <pc:sldMk cId="320308749" sldId="465"/>
            <ac:spMk id="3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08705" y="1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/>
          <a:lstStyle>
            <a:lvl1pPr algn="r">
              <a:defRPr sz="1200"/>
            </a:lvl1pPr>
          </a:lstStyle>
          <a:p>
            <a:fld id="{A241AC98-512A-4A35-865E-757B6C1F07A2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93005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08705" y="8893005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 anchor="b"/>
          <a:lstStyle>
            <a:lvl1pPr algn="r">
              <a:defRPr sz="1200"/>
            </a:lvl1pPr>
          </a:lstStyle>
          <a:p>
            <a:fld id="{825528D0-251A-41BC-8967-C65EDA3BFD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19552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08705" y="1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/>
          <a:lstStyle>
            <a:lvl1pPr algn="r">
              <a:defRPr sz="1200"/>
            </a:lvl1pPr>
          </a:lstStyle>
          <a:p>
            <a:fld id="{3854CEE7-15DE-41D9-8CA2-D1E137B1D850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31925" y="1169988"/>
            <a:ext cx="4213225" cy="31607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638" tIns="46319" rIns="92638" bIns="4631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7708" y="4505662"/>
            <a:ext cx="5661660" cy="3687031"/>
          </a:xfrm>
          <a:prstGeom prst="rect">
            <a:avLst/>
          </a:prstGeom>
        </p:spPr>
        <p:txBody>
          <a:bodyPr vert="horz" lIns="92638" tIns="46319" rIns="92638" bIns="4631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93005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08705" y="8893005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 anchor="b"/>
          <a:lstStyle>
            <a:lvl1pPr algn="r">
              <a:defRPr sz="1200"/>
            </a:lvl1pPr>
          </a:lstStyle>
          <a:p>
            <a:fld id="{76317BBA-0BC6-419B-B826-0882096883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19215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003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6130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4304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7211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4355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5389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79952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13488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021053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277649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314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58550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E00B0D-1B2F-4303-F181-D821CF33EF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C57BED-5DE4-7D93-BCE7-2AB71364D1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B7EFD4-BDA6-CD43-30A0-18B9CA9D16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57FE73-DBE0-9E2F-366E-CAEBE899062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44434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493122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6493EC-2480-9298-4D4C-D07B878097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864C0A-69A6-C425-AE3D-9D24CD8596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D29D7F-E787-9FB1-FE01-AF1BBFAF7A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B5B16A-B363-1AAB-4BBE-52649EDA611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19624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8717F9-F461-65D3-3987-4C0F8E144C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4FB3A6-6D8C-EDD5-9F21-0E53F6FC10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FBB59D-83DA-F566-8E25-621CB2E8F3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9BD0D6-E2B1-662A-9FF2-3B3FC9CC1C9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63814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EF0D3A-E3B8-1E77-7EC1-02CABA7704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A6E937-649E-9D54-F5D3-EC1883AB05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F91374-7CA7-36CA-C0F2-4D137F8E56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DEC7E2-2B55-278E-E671-D2351D4F2FF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927115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AD3A18-C895-57FB-1D4A-3480408307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95E489-3B78-F4EA-18CB-5D0AFC6A3F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1E63F7-D9F1-4D78-6E0D-D0E92E89AB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7B94C3-F584-493B-7F66-664B67F1C9E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346926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93482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B93ECE-705A-E5A1-D5E2-EA4439F28D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507A1A-59A9-0EB0-6CCB-899EC8064F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8558A2-24E8-DF2B-3662-32E768D3C1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E49EEF-55A7-E67D-619C-AB901254074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6577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926129-4CC5-BFBC-61B1-4C0A3F22AD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B9A010-A9E1-4413-D035-A878EA4ECD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859310-0CFB-171A-FC95-78FCA9F7CA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AF140E-F396-3A16-C569-6F3551A945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24393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6FD205-41DC-3E39-9C9A-7E7A6284C2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D176CF-B8E1-0C17-6EF5-4315F28420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E89ACE-7D55-7C42-7FCC-D628E118B8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8EF1E3-4C75-DC82-B228-4324FCAC953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31498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88C21D-8569-5558-AD75-384BD673D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2CF97D-27B2-0277-098C-26FB07F48B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5254C7-5FCE-DFD8-D3FC-66D01E95D9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114D0B-A4DE-B96A-1BD0-824D62E71D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39425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FF0F8F-FF4C-F90E-F7C1-1230B16A84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FB0638-2E54-27CA-AAAB-6F28197D5B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B665AF-4B96-4DC1-A820-9C306620B4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25F02B-4117-C2E5-EE33-D3FD5C273B8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43359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18574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07181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01199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70719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46456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039465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368454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602276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728018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08036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283786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16475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14907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6317BBA-0BC6-419B-B826-08820968837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59354574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5C183E-5E89-889C-4D15-E89A433237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4E87CC-3FB3-D897-9365-8AE0B34850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21A794-66C0-F426-17BF-047965CD7A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49176A-C3D0-8D94-7C1D-3AB5609BFC5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043037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30CB15-2A62-A5AB-BBD1-B22F9B22BB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AF2F3D-E9A8-8F96-9BAF-EF8B4F5798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A85B8C-3FE6-1440-E19B-B50F10A3AA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45CDD8-FA49-B6A3-5CB9-A805F8F88C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532847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6317BBA-0BC6-419B-B826-08820968837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65617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311CF2-226A-014F-BF23-A985F184FA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7C8D77-C359-0E61-07E4-1577EF3E1C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2B955D-1CA3-A751-73C4-BEB6BBB310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D049CB-9D2A-5538-348D-6D6E2DCFE1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6529558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40921-9C60-FE79-8D12-67148FE54B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A2B567-24D7-ABC0-5E86-A3A6C01177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5A844F-3E6F-6A4B-A393-2418CF84A1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800A14-0D6A-2064-ADFF-E62E900AB0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6415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5EB2C-244D-4423-AD97-018ED6478B87}" type="datetime1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 b="1">
                <a:solidFill>
                  <a:schemeClr val="tx1"/>
                </a:solidFill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065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F632E-48CB-4EEB-A6B6-DEC7AD7CC976}" type="datetime1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 b="1">
                <a:solidFill>
                  <a:schemeClr val="tx1"/>
                </a:solidFill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2618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EE52C-3A57-458E-95F6-96B2FA9D1DD4}" type="datetime1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95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FC747-A48A-4FF2-8EE4-3E95ECD1C2A8}" type="datetime1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9272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F5758-AB7F-463D-B638-E1729B95E126}" type="datetime1">
              <a:rPr lang="en-US" smtClean="0"/>
              <a:t>4/15/2026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537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18C77-7DD0-4738-BF52-D0EC9F78A76E}" type="datetime1">
              <a:rPr lang="en-US" smtClean="0"/>
              <a:t>4/15/2026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4194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970CF-13D9-4E1D-A74F-2CFE4953FCDB}" type="datetime1">
              <a:rPr lang="en-US" smtClean="0"/>
              <a:t>4/15/2026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2740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C49B9-4E1C-4967-B9CF-0BF9FECBE837}" type="datetime1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694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38CBB-1F06-4333-9BBF-66628B15E581}" type="datetime1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9832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41D1F-7576-4C60-B4EB-5115BC56CF40}" type="datetime1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5902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D1398-4D56-44F9-BA35-34ACF3159A64}" type="datetime1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9322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5EC883-F03C-4CA3-AF62-BEF30EEA4F65}" type="datetime1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9697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mailto:dbiersach@bnl.gov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hyperlink" Target="https://www.youtube.com/watch?v=y7g6dKncO-I" TargetMode="Externa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en.wikipedia.org/wiki/M%C3%B3%C3%B0i_and_Magni" TargetMode="Externa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NUL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NUL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NUL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NUL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pyvista.org/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pyvista.org/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ythonpool.com/numpy-mgrid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NUL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NUL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4" Type="http://schemas.openxmlformats.org/officeDocument/2006/relationships/image" Target="NUL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4" Type="http://schemas.openxmlformats.org/officeDocument/2006/relationships/image" Target="NUL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4" Type="http://schemas.openxmlformats.org/officeDocument/2006/relationships/image" Target="NUL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4" Type="http://schemas.openxmlformats.org/officeDocument/2006/relationships/image" Target="NUL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5" Type="http://schemas.openxmlformats.org/officeDocument/2006/relationships/image" Target="NULL"/><Relationship Id="rId4" Type="http://schemas.openxmlformats.org/officeDocument/2006/relationships/image" Target="../media/image45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Relationship Id="rId4" Type="http://schemas.openxmlformats.org/officeDocument/2006/relationships/image" Target="NUL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9D8D1F-051C-48C7-91AB-482302FE3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1</a:t>
            </a:fld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6472228" y="2572099"/>
            <a:ext cx="204233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Dave Biersach</a:t>
            </a:r>
          </a:p>
          <a:p>
            <a:pPr algn="ctr"/>
            <a:r>
              <a:rPr lang="en-US" dirty="0">
                <a:hlinkClick r:id="rId2"/>
              </a:rPr>
              <a:t>dbiersach@bnl.gov</a:t>
            </a:r>
            <a:endParaRPr lang="en-US" dirty="0"/>
          </a:p>
          <a:p>
            <a:pPr algn="ctr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8BD1FE5-8CB5-4983-AA2B-0B6C1209F452}"/>
              </a:ext>
            </a:extLst>
          </p:cNvPr>
          <p:cNvSpPr txBox="1"/>
          <p:nvPr/>
        </p:nvSpPr>
        <p:spPr>
          <a:xfrm>
            <a:off x="6208139" y="1078065"/>
            <a:ext cx="257051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Foundations of</a:t>
            </a:r>
          </a:p>
          <a:p>
            <a:pPr algn="ctr"/>
            <a:r>
              <a:rPr lang="en-US" sz="2000" b="1" dirty="0"/>
              <a:t>Scientific Computing</a:t>
            </a:r>
          </a:p>
          <a:p>
            <a:pPr algn="ctr"/>
            <a:r>
              <a:rPr lang="en-US" sz="2000" dirty="0"/>
              <a:t>(SciComp 101)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96F49F3-90CB-4580-B6E1-688074D23599}"/>
              </a:ext>
            </a:extLst>
          </p:cNvPr>
          <p:cNvSpPr txBox="1"/>
          <p:nvPr/>
        </p:nvSpPr>
        <p:spPr>
          <a:xfrm>
            <a:off x="6422434" y="4355451"/>
            <a:ext cx="214192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Session 23 </a:t>
            </a:r>
            <a:r>
              <a:rPr lang="en-US" dirty="0"/>
              <a:t>Computational Earth &amp; Space Science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A02A7DBD-F029-4698-9BC7-351B5923220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97021" y="1006861"/>
            <a:ext cx="3572378" cy="871883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CCD3142-EDAA-8E9E-DF9C-D35BB409C6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351" y="2681046"/>
            <a:ext cx="5635719" cy="3170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17011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B6439-41E6-140A-FAE2-84DA1CCE9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+mn-lt"/>
              </a:rPr>
              <a:t>Session </a:t>
            </a:r>
            <a:r>
              <a:rPr lang="en-US" sz="3200" b="1" dirty="0">
                <a:latin typeface="+mn-lt"/>
              </a:rPr>
              <a:t>23</a:t>
            </a:r>
            <a:r>
              <a:rPr lang="en-US" sz="3200" dirty="0">
                <a:latin typeface="+mn-lt"/>
              </a:rPr>
              <a:t> – Goals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72E0DF-EA1E-2B29-FBAA-C77F1DA8F8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969918" cy="4351338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Implement methods for </a:t>
            </a:r>
            <a:r>
              <a:rPr lang="en-US" sz="2400" b="1" dirty="0">
                <a:solidFill>
                  <a:srgbClr val="00B050"/>
                </a:solidFill>
              </a:rPr>
              <a:t>interpolating multi-dimensional data</a:t>
            </a:r>
            <a:r>
              <a:rPr lang="en-US" sz="2400" dirty="0"/>
              <a:t> taken from randomly distributed locations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Analyze the mathematics of the </a:t>
            </a:r>
            <a:r>
              <a:rPr lang="en-US" sz="2400" b="1" dirty="0">
                <a:solidFill>
                  <a:srgbClr val="FF0000"/>
                </a:solidFill>
              </a:rPr>
              <a:t>Inverse Distance Weighting </a:t>
            </a:r>
            <a:r>
              <a:rPr lang="en-US" sz="2400" dirty="0"/>
              <a:t>(</a:t>
            </a:r>
            <a:r>
              <a:rPr lang="en-US" sz="2400" b="1" dirty="0"/>
              <a:t>IDW</a:t>
            </a:r>
            <a:r>
              <a:rPr lang="en-US" sz="2400" dirty="0"/>
              <a:t>) method to convert non-uniformly measured spatial data to a </a:t>
            </a:r>
            <a:r>
              <a:rPr lang="en-US" sz="2400" b="1" dirty="0">
                <a:solidFill>
                  <a:srgbClr val="0070C0"/>
                </a:solidFill>
              </a:rPr>
              <a:t>regular conforming mesh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Use the </a:t>
            </a:r>
            <a:r>
              <a:rPr lang="en-US" sz="2400" b="1" dirty="0">
                <a:solidFill>
                  <a:srgbClr val="FF0000"/>
                </a:solidFill>
              </a:rPr>
              <a:t>Root Mean Square Deviation </a:t>
            </a:r>
            <a:r>
              <a:rPr lang="en-US" sz="2400" dirty="0"/>
              <a:t>(</a:t>
            </a:r>
            <a:r>
              <a:rPr lang="en-US" sz="2400" b="1" dirty="0"/>
              <a:t>RMSD</a:t>
            </a:r>
            <a:r>
              <a:rPr lang="en-US" sz="2400" dirty="0"/>
              <a:t>) statistic as a measure of model accuracy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CC9F32-161F-C116-92EA-A6FCC6DD8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767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Interpolating Spatial Data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3</a:t>
            </a:fld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9611" y="2307662"/>
            <a:ext cx="7544779" cy="3280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40156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Interpolating Spatial Data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4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11778" y="1443359"/>
            <a:ext cx="4320444" cy="5129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81055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Interpolating Spatial Data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5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5477" y="1719792"/>
            <a:ext cx="5713046" cy="4768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58817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Interpolating Spatial Data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6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85662" y="3642377"/>
            <a:ext cx="4758997" cy="267693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9882" y="1697649"/>
            <a:ext cx="2193071" cy="359363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03970" y="5529873"/>
            <a:ext cx="214544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>
                <a:hlinkClick r:id="rId5"/>
              </a:rPr>
              <a:t>Jonsey Reports</a:t>
            </a:r>
            <a:endParaRPr lang="en-US" dirty="0"/>
          </a:p>
          <a:p>
            <a:pPr algn="ctr"/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85662" y="1580417"/>
            <a:ext cx="3053646" cy="1717676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11444" y="1505007"/>
            <a:ext cx="1908925" cy="1695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69323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Interpolating Spatial Data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7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24157" y="1746816"/>
            <a:ext cx="5895687" cy="294241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47662" y="2419304"/>
            <a:ext cx="6067688" cy="366106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0396" y="5455288"/>
            <a:ext cx="3434531" cy="369332"/>
          </a:xfrm>
          <a:prstGeom prst="rect">
            <a:avLst/>
          </a:prstGeom>
          <a:solidFill>
            <a:schemeClr val="bg1"/>
          </a:solidFill>
          <a:ln w="3810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it-IT" dirty="0">
                <a:hlinkClick r:id="rId5"/>
              </a:rPr>
              <a:t>Modi (Brave) and Magni (Strong)</a:t>
            </a:r>
            <a:endParaRPr lang="en-US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C6D3F21F-AE1F-947F-93FA-42997DD9BE23}"/>
              </a:ext>
            </a:extLst>
          </p:cNvPr>
          <p:cNvSpPr/>
          <p:nvPr/>
        </p:nvSpPr>
        <p:spPr>
          <a:xfrm>
            <a:off x="2919664" y="4002506"/>
            <a:ext cx="1724526" cy="449177"/>
          </a:xfrm>
          <a:custGeom>
            <a:avLst/>
            <a:gdLst>
              <a:gd name="connsiteX0" fmla="*/ 2029326 w 2029326"/>
              <a:gd name="connsiteY0" fmla="*/ 976 h 73165"/>
              <a:gd name="connsiteX1" fmla="*/ 0 w 2029326"/>
              <a:gd name="connsiteY1" fmla="*/ 73165 h 731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029326" h="73165">
                <a:moveTo>
                  <a:pt x="2029326" y="976"/>
                </a:moveTo>
                <a:cubicBezTo>
                  <a:pt x="1189121" y="-1698"/>
                  <a:pt x="348916" y="-4372"/>
                  <a:pt x="0" y="73165"/>
                </a:cubicBezTo>
              </a:path>
            </a:pathLst>
          </a:custGeom>
          <a:noFill/>
          <a:ln w="571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86068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The Inverse Distance Weighting (IDW)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3019" y="1825625"/>
            <a:ext cx="8007349" cy="4840898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IDW is a type of </a:t>
            </a:r>
            <a:r>
              <a:rPr lang="en-US" sz="2400" u="sng" dirty="0"/>
              <a:t>deterministic</a:t>
            </a:r>
            <a:r>
              <a:rPr lang="en-US" sz="2400" dirty="0"/>
              <a:t> method for </a:t>
            </a:r>
            <a:r>
              <a:rPr lang="en-US" sz="2400" b="1" dirty="0">
                <a:solidFill>
                  <a:srgbClr val="00B050"/>
                </a:solidFill>
              </a:rPr>
              <a:t>multivariate interpolation</a:t>
            </a:r>
            <a:r>
              <a:rPr lang="en-US" sz="2400" dirty="0"/>
              <a:t> of a set of </a:t>
            </a:r>
            <a:r>
              <a:rPr lang="en-US" sz="2400" i="1" dirty="0"/>
              <a:t>scattered</a:t>
            </a:r>
            <a:r>
              <a:rPr lang="en-US" sz="2400" dirty="0"/>
              <a:t> points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The value assigned to </a:t>
            </a:r>
            <a:r>
              <a:rPr lang="en-US" sz="2400" i="1" dirty="0"/>
              <a:t>unknown</a:t>
            </a:r>
            <a:r>
              <a:rPr lang="en-US" sz="2400" dirty="0"/>
              <a:t> points are calculated from a </a:t>
            </a:r>
            <a:r>
              <a:rPr lang="en-US" sz="2400" b="1" dirty="0"/>
              <a:t>weighted average </a:t>
            </a:r>
            <a:r>
              <a:rPr lang="en-US" sz="2400" dirty="0"/>
              <a:t>of the values at the </a:t>
            </a:r>
            <a:r>
              <a:rPr lang="en-US" sz="2400" i="1" dirty="0"/>
              <a:t>known</a:t>
            </a:r>
            <a:r>
              <a:rPr lang="en-US" sz="2400" dirty="0"/>
              <a:t> points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The theory is the farther away a known point is from the unknown point, the </a:t>
            </a:r>
            <a:r>
              <a:rPr lang="en-US" sz="2400" b="1" dirty="0">
                <a:solidFill>
                  <a:srgbClr val="FF0000"/>
                </a:solidFill>
              </a:rPr>
              <a:t>less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/>
              <a:t>that known distant point can contribute to the unknown height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i="1" dirty="0"/>
              <a:t>Closer</a:t>
            </a:r>
            <a:r>
              <a:rPr lang="en-US" sz="2400" dirty="0"/>
              <a:t> known points contribute </a:t>
            </a:r>
            <a:r>
              <a:rPr lang="en-US" sz="2400" i="1" dirty="0"/>
              <a:t>more</a:t>
            </a:r>
            <a:r>
              <a:rPr lang="en-US" sz="2400" dirty="0"/>
              <a:t> to the unknown height than known points that are farther away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Your contribution </a:t>
            </a:r>
            <a:r>
              <a:rPr lang="en-US" sz="2400" b="1" dirty="0">
                <a:solidFill>
                  <a:srgbClr val="FF0000"/>
                </a:solidFill>
              </a:rPr>
              <a:t>is inverse </a:t>
            </a:r>
            <a:r>
              <a:rPr lang="en-US" sz="2400" dirty="0"/>
              <a:t>to your distance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55286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The Inverse Distance Weighting (IDW) Method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9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8405" y="3271059"/>
            <a:ext cx="6887191" cy="2988360"/>
          </a:xfrm>
          <a:prstGeom prst="rect">
            <a:avLst/>
          </a:prstGeom>
        </p:spPr>
      </p:pic>
      <p:grpSp>
        <p:nvGrpSpPr>
          <p:cNvPr id="47" name="Group 46"/>
          <p:cNvGrpSpPr/>
          <p:nvPr/>
        </p:nvGrpSpPr>
        <p:grpSpPr>
          <a:xfrm>
            <a:off x="1630680" y="1285884"/>
            <a:ext cx="5882640" cy="1736279"/>
            <a:chOff x="2099310" y="1209684"/>
            <a:chExt cx="5882640" cy="1736279"/>
          </a:xfrm>
        </p:grpSpPr>
        <p:cxnSp>
          <p:nvCxnSpPr>
            <p:cNvPr id="5" name="Straight Connector 4"/>
            <p:cNvCxnSpPr/>
            <p:nvPr/>
          </p:nvCxnSpPr>
          <p:spPr>
            <a:xfrm>
              <a:off x="2194560" y="2933700"/>
              <a:ext cx="5707380" cy="0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>
              <a:stCxn id="22" idx="2"/>
            </p:cNvCxnSpPr>
            <p:nvPr/>
          </p:nvCxnSpPr>
          <p:spPr>
            <a:xfrm>
              <a:off x="5189220" y="2112265"/>
              <a:ext cx="0" cy="805421"/>
            </a:xfrm>
            <a:prstGeom prst="line">
              <a:avLst/>
            </a:prstGeom>
            <a:ln w="5715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>
              <a:off x="2331720" y="2630869"/>
              <a:ext cx="0" cy="296877"/>
            </a:xfrm>
            <a:prstGeom prst="line">
              <a:avLst/>
            </a:prstGeom>
            <a:ln w="5715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>
              <a:off x="7749540" y="1539240"/>
              <a:ext cx="0" cy="1406723"/>
            </a:xfrm>
            <a:prstGeom prst="line">
              <a:avLst/>
            </a:prstGeom>
            <a:ln w="5715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/>
            <p:cNvSpPr txBox="1"/>
            <p:nvPr/>
          </p:nvSpPr>
          <p:spPr>
            <a:xfrm>
              <a:off x="2099310" y="2317703"/>
              <a:ext cx="4648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rgbClr val="0070C0"/>
                  </a:solidFill>
                </a:rPr>
                <a:t>10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4956810" y="1742933"/>
              <a:ext cx="4648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rgbClr val="0070C0"/>
                  </a:solidFill>
                </a:rPr>
                <a:t>25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7517130" y="1209684"/>
              <a:ext cx="4648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rgbClr val="0070C0"/>
                  </a:solidFill>
                </a:rPr>
                <a:t>75</a:t>
              </a:r>
            </a:p>
          </p:txBody>
        </p:sp>
        <p:cxnSp>
          <p:nvCxnSpPr>
            <p:cNvPr id="31" name="Straight Connector 30"/>
            <p:cNvCxnSpPr/>
            <p:nvPr/>
          </p:nvCxnSpPr>
          <p:spPr>
            <a:xfrm flipH="1">
              <a:off x="3272790" y="2240372"/>
              <a:ext cx="0" cy="705591"/>
            </a:xfrm>
            <a:prstGeom prst="line">
              <a:avLst/>
            </a:prstGeom>
            <a:ln w="57150">
              <a:solidFill>
                <a:srgbClr val="FF000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TextBox 32"/>
            <p:cNvSpPr txBox="1"/>
            <p:nvPr/>
          </p:nvSpPr>
          <p:spPr>
            <a:xfrm>
              <a:off x="3044190" y="1871040"/>
              <a:ext cx="46482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0070C0"/>
                  </a:solidFill>
                </a:rPr>
                <a:t>X</a:t>
              </a:r>
            </a:p>
          </p:txBody>
        </p:sp>
        <p:cxnSp>
          <p:nvCxnSpPr>
            <p:cNvPr id="37" name="Straight Connector 36"/>
            <p:cNvCxnSpPr/>
            <p:nvPr/>
          </p:nvCxnSpPr>
          <p:spPr>
            <a:xfrm>
              <a:off x="2415540" y="2779307"/>
              <a:ext cx="800100" cy="0"/>
            </a:xfrm>
            <a:prstGeom prst="line">
              <a:avLst/>
            </a:prstGeom>
            <a:ln w="28575">
              <a:solidFill>
                <a:srgbClr val="7030A0"/>
              </a:solidFill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Box 38"/>
            <p:cNvSpPr txBox="1"/>
            <p:nvPr/>
          </p:nvSpPr>
          <p:spPr>
            <a:xfrm>
              <a:off x="2590800" y="2487172"/>
              <a:ext cx="464820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rgbClr val="7030A0"/>
                  </a:solidFill>
                </a:rPr>
                <a:t>2</a:t>
              </a:r>
            </a:p>
          </p:txBody>
        </p:sp>
        <p:cxnSp>
          <p:nvCxnSpPr>
            <p:cNvPr id="40" name="Straight Connector 39"/>
            <p:cNvCxnSpPr/>
            <p:nvPr/>
          </p:nvCxnSpPr>
          <p:spPr>
            <a:xfrm>
              <a:off x="3368040" y="2779307"/>
              <a:ext cx="4305300" cy="0"/>
            </a:xfrm>
            <a:prstGeom prst="line">
              <a:avLst/>
            </a:prstGeom>
            <a:ln w="28575">
              <a:solidFill>
                <a:srgbClr val="7030A0"/>
              </a:solidFill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Box 42"/>
            <p:cNvSpPr txBox="1"/>
            <p:nvPr/>
          </p:nvSpPr>
          <p:spPr>
            <a:xfrm>
              <a:off x="6240780" y="2457022"/>
              <a:ext cx="4648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rgbClr val="7030A0"/>
                  </a:solidFill>
                </a:rPr>
                <a:t>10</a:t>
              </a:r>
            </a:p>
          </p:txBody>
        </p:sp>
        <p:cxnSp>
          <p:nvCxnSpPr>
            <p:cNvPr id="44" name="Straight Connector 43"/>
            <p:cNvCxnSpPr/>
            <p:nvPr/>
          </p:nvCxnSpPr>
          <p:spPr>
            <a:xfrm>
              <a:off x="3368040" y="2323330"/>
              <a:ext cx="1752600" cy="0"/>
            </a:xfrm>
            <a:prstGeom prst="line">
              <a:avLst/>
            </a:prstGeom>
            <a:ln w="28575">
              <a:solidFill>
                <a:srgbClr val="7030A0"/>
              </a:solidFill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TextBox 44"/>
            <p:cNvSpPr txBox="1"/>
            <p:nvPr/>
          </p:nvSpPr>
          <p:spPr>
            <a:xfrm>
              <a:off x="4030979" y="1991882"/>
              <a:ext cx="4648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rgbClr val="7030A0"/>
                  </a:solidFill>
                </a:rPr>
                <a:t>5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/>
              <p:cNvSpPr txBox="1"/>
              <p:nvPr/>
            </p:nvSpPr>
            <p:spPr>
              <a:xfrm>
                <a:off x="4301534" y="5829300"/>
                <a:ext cx="1031116" cy="5527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ctrlP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4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𝟏𝟕</m:t>
                            </m:r>
                            <m:r>
                              <a:rPr lang="en-US" sz="24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en-US" sz="24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𝟓</m:t>
                            </m:r>
                          </m:num>
                          <m:den>
                            <m:r>
                              <a:rPr lang="en-US" sz="24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  <m:r>
                              <a:rPr lang="en-US" sz="24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en-US" sz="24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𝟖</m:t>
                            </m:r>
                          </m:den>
                        </m:f>
                      </m:e>
                    </m:d>
                  </m:oMath>
                </a14:m>
                <a:r>
                  <a:rPr lang="en-US" sz="2400" b="1" dirty="0">
                    <a:solidFill>
                      <a:srgbClr val="FF0000"/>
                    </a:solidFill>
                  </a:rPr>
                  <a:t>→</a:t>
                </a:r>
              </a:p>
            </p:txBody>
          </p:sp>
        </mc:Choice>
        <mc:Fallback xmlns="">
          <p:sp>
            <p:nvSpPr>
              <p:cNvPr id="49" name="TextBox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1534" y="5829300"/>
                <a:ext cx="1031116" cy="552715"/>
              </a:xfrm>
              <a:prstGeom prst="rect">
                <a:avLst/>
              </a:prstGeom>
              <a:blipFill rotWithShape="0">
                <a:blip r:embed="rId4"/>
                <a:stretch>
                  <a:fillRect r="-16568" b="-175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/>
          <p:cNvSpPr txBox="1"/>
          <p:nvPr/>
        </p:nvSpPr>
        <p:spPr>
          <a:xfrm>
            <a:off x="4488180" y="2981666"/>
            <a:ext cx="464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30680" y="2981666"/>
            <a:ext cx="464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8500" y="2981666"/>
            <a:ext cx="464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4F74F43-443E-4CE6-ABED-91346225CF7D}"/>
              </a:ext>
            </a:extLst>
          </p:cNvPr>
          <p:cNvSpPr/>
          <p:nvPr/>
        </p:nvSpPr>
        <p:spPr>
          <a:xfrm>
            <a:off x="1128405" y="4557252"/>
            <a:ext cx="7160189" cy="193562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95831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The Inverse Distance Weighting (IDW) Method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10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8405" y="3271059"/>
            <a:ext cx="6887191" cy="2988360"/>
          </a:xfrm>
          <a:prstGeom prst="rect">
            <a:avLst/>
          </a:prstGeom>
        </p:spPr>
      </p:pic>
      <p:grpSp>
        <p:nvGrpSpPr>
          <p:cNvPr id="47" name="Group 46"/>
          <p:cNvGrpSpPr/>
          <p:nvPr/>
        </p:nvGrpSpPr>
        <p:grpSpPr>
          <a:xfrm>
            <a:off x="1630680" y="1285884"/>
            <a:ext cx="5882640" cy="1736279"/>
            <a:chOff x="2099310" y="1209684"/>
            <a:chExt cx="5882640" cy="1736279"/>
          </a:xfrm>
        </p:grpSpPr>
        <p:cxnSp>
          <p:nvCxnSpPr>
            <p:cNvPr id="5" name="Straight Connector 4"/>
            <p:cNvCxnSpPr/>
            <p:nvPr/>
          </p:nvCxnSpPr>
          <p:spPr>
            <a:xfrm>
              <a:off x="2194560" y="2933700"/>
              <a:ext cx="5707380" cy="0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>
              <a:stCxn id="22" idx="2"/>
            </p:cNvCxnSpPr>
            <p:nvPr/>
          </p:nvCxnSpPr>
          <p:spPr>
            <a:xfrm>
              <a:off x="5189220" y="2112265"/>
              <a:ext cx="0" cy="805421"/>
            </a:xfrm>
            <a:prstGeom prst="line">
              <a:avLst/>
            </a:prstGeom>
            <a:ln w="5715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>
              <a:off x="2331720" y="2630869"/>
              <a:ext cx="0" cy="296877"/>
            </a:xfrm>
            <a:prstGeom prst="line">
              <a:avLst/>
            </a:prstGeom>
            <a:ln w="5715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>
              <a:off x="7749540" y="1539240"/>
              <a:ext cx="0" cy="1406723"/>
            </a:xfrm>
            <a:prstGeom prst="line">
              <a:avLst/>
            </a:prstGeom>
            <a:ln w="5715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/>
            <p:cNvSpPr txBox="1"/>
            <p:nvPr/>
          </p:nvSpPr>
          <p:spPr>
            <a:xfrm>
              <a:off x="2099310" y="2317703"/>
              <a:ext cx="4648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rgbClr val="0070C0"/>
                  </a:solidFill>
                </a:rPr>
                <a:t>10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4956810" y="1742933"/>
              <a:ext cx="4648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rgbClr val="0070C0"/>
                  </a:solidFill>
                </a:rPr>
                <a:t>25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7517130" y="1209684"/>
              <a:ext cx="4648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rgbClr val="0070C0"/>
                  </a:solidFill>
                </a:rPr>
                <a:t>75</a:t>
              </a:r>
            </a:p>
          </p:txBody>
        </p:sp>
        <p:cxnSp>
          <p:nvCxnSpPr>
            <p:cNvPr id="31" name="Straight Connector 30"/>
            <p:cNvCxnSpPr/>
            <p:nvPr/>
          </p:nvCxnSpPr>
          <p:spPr>
            <a:xfrm flipH="1">
              <a:off x="3272790" y="2240372"/>
              <a:ext cx="0" cy="705591"/>
            </a:xfrm>
            <a:prstGeom prst="line">
              <a:avLst/>
            </a:prstGeom>
            <a:ln w="57150">
              <a:solidFill>
                <a:srgbClr val="FF000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TextBox 32"/>
            <p:cNvSpPr txBox="1"/>
            <p:nvPr/>
          </p:nvSpPr>
          <p:spPr>
            <a:xfrm>
              <a:off x="3044190" y="1871040"/>
              <a:ext cx="46482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0070C0"/>
                  </a:solidFill>
                </a:rPr>
                <a:t>X</a:t>
              </a:r>
            </a:p>
          </p:txBody>
        </p:sp>
        <p:cxnSp>
          <p:nvCxnSpPr>
            <p:cNvPr id="37" name="Straight Connector 36"/>
            <p:cNvCxnSpPr/>
            <p:nvPr/>
          </p:nvCxnSpPr>
          <p:spPr>
            <a:xfrm>
              <a:off x="2415540" y="2779307"/>
              <a:ext cx="800100" cy="0"/>
            </a:xfrm>
            <a:prstGeom prst="line">
              <a:avLst/>
            </a:prstGeom>
            <a:ln w="28575">
              <a:solidFill>
                <a:srgbClr val="7030A0"/>
              </a:solidFill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Box 38"/>
            <p:cNvSpPr txBox="1"/>
            <p:nvPr/>
          </p:nvSpPr>
          <p:spPr>
            <a:xfrm>
              <a:off x="2590800" y="2487172"/>
              <a:ext cx="464820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rgbClr val="7030A0"/>
                  </a:solidFill>
                </a:rPr>
                <a:t>2</a:t>
              </a:r>
            </a:p>
          </p:txBody>
        </p:sp>
        <p:cxnSp>
          <p:nvCxnSpPr>
            <p:cNvPr id="40" name="Straight Connector 39"/>
            <p:cNvCxnSpPr/>
            <p:nvPr/>
          </p:nvCxnSpPr>
          <p:spPr>
            <a:xfrm>
              <a:off x="3368040" y="2779307"/>
              <a:ext cx="4305300" cy="0"/>
            </a:xfrm>
            <a:prstGeom prst="line">
              <a:avLst/>
            </a:prstGeom>
            <a:ln w="28575">
              <a:solidFill>
                <a:srgbClr val="7030A0"/>
              </a:solidFill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Box 42"/>
            <p:cNvSpPr txBox="1"/>
            <p:nvPr/>
          </p:nvSpPr>
          <p:spPr>
            <a:xfrm>
              <a:off x="6240780" y="2457022"/>
              <a:ext cx="4648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rgbClr val="7030A0"/>
                  </a:solidFill>
                </a:rPr>
                <a:t>10</a:t>
              </a:r>
            </a:p>
          </p:txBody>
        </p:sp>
        <p:cxnSp>
          <p:nvCxnSpPr>
            <p:cNvPr id="44" name="Straight Connector 43"/>
            <p:cNvCxnSpPr/>
            <p:nvPr/>
          </p:nvCxnSpPr>
          <p:spPr>
            <a:xfrm>
              <a:off x="3368040" y="2323330"/>
              <a:ext cx="1752600" cy="0"/>
            </a:xfrm>
            <a:prstGeom prst="line">
              <a:avLst/>
            </a:prstGeom>
            <a:ln w="28575">
              <a:solidFill>
                <a:srgbClr val="7030A0"/>
              </a:solidFill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TextBox 44"/>
            <p:cNvSpPr txBox="1"/>
            <p:nvPr/>
          </p:nvSpPr>
          <p:spPr>
            <a:xfrm>
              <a:off x="4030979" y="1991882"/>
              <a:ext cx="4648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rgbClr val="7030A0"/>
                  </a:solidFill>
                </a:rPr>
                <a:t>5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/>
              <p:cNvSpPr txBox="1"/>
              <p:nvPr/>
            </p:nvSpPr>
            <p:spPr>
              <a:xfrm>
                <a:off x="4301534" y="5829300"/>
                <a:ext cx="1031116" cy="5527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ctrlP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4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𝟏𝟕</m:t>
                            </m:r>
                            <m:r>
                              <a:rPr lang="en-US" sz="24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en-US" sz="24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𝟓</m:t>
                            </m:r>
                          </m:num>
                          <m:den>
                            <m:r>
                              <a:rPr lang="en-US" sz="24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  <m:r>
                              <a:rPr lang="en-US" sz="24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en-US" sz="24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𝟖</m:t>
                            </m:r>
                          </m:den>
                        </m:f>
                      </m:e>
                    </m:d>
                  </m:oMath>
                </a14:m>
                <a:r>
                  <a:rPr lang="en-US" sz="2400" b="1" dirty="0">
                    <a:solidFill>
                      <a:srgbClr val="FF0000"/>
                    </a:solidFill>
                  </a:rPr>
                  <a:t>→</a:t>
                </a:r>
              </a:p>
            </p:txBody>
          </p:sp>
        </mc:Choice>
        <mc:Fallback xmlns="">
          <p:sp>
            <p:nvSpPr>
              <p:cNvPr id="49" name="TextBox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1534" y="5829300"/>
                <a:ext cx="1031116" cy="552715"/>
              </a:xfrm>
              <a:prstGeom prst="rect">
                <a:avLst/>
              </a:prstGeom>
              <a:blipFill rotWithShape="0">
                <a:blip r:embed="rId4"/>
                <a:stretch>
                  <a:fillRect r="-16568" b="-175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/>
          <p:cNvSpPr txBox="1"/>
          <p:nvPr/>
        </p:nvSpPr>
        <p:spPr>
          <a:xfrm>
            <a:off x="4488180" y="2981666"/>
            <a:ext cx="464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30680" y="2981666"/>
            <a:ext cx="464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8500" y="2981666"/>
            <a:ext cx="464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789DAED-31DA-66EA-B89C-95D43487ED6D}"/>
              </a:ext>
            </a:extLst>
          </p:cNvPr>
          <p:cNvSpPr/>
          <p:nvPr/>
        </p:nvSpPr>
        <p:spPr>
          <a:xfrm>
            <a:off x="2575560" y="1947240"/>
            <a:ext cx="464820" cy="400110"/>
          </a:xfrm>
          <a:prstGeom prst="rect">
            <a:avLst/>
          </a:prstGeom>
          <a:noFill/>
          <a:ln w="28575">
            <a:solidFill>
              <a:srgbClr val="0070C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22D846A-B1C0-68A8-5F86-16427E4ECEF6}"/>
              </a:ext>
            </a:extLst>
          </p:cNvPr>
          <p:cNvSpPr/>
          <p:nvPr/>
        </p:nvSpPr>
        <p:spPr>
          <a:xfrm>
            <a:off x="7145149" y="5859309"/>
            <a:ext cx="870445" cy="400110"/>
          </a:xfrm>
          <a:prstGeom prst="rect">
            <a:avLst/>
          </a:prstGeom>
          <a:noFill/>
          <a:ln w="28575">
            <a:solidFill>
              <a:srgbClr val="0070C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F9919790-5107-8EE4-0C12-32414E33A73A}"/>
              </a:ext>
            </a:extLst>
          </p:cNvPr>
          <p:cNvCxnSpPr>
            <a:stCxn id="6" idx="3"/>
            <a:endCxn id="3" idx="0"/>
          </p:cNvCxnSpPr>
          <p:nvPr/>
        </p:nvCxnSpPr>
        <p:spPr>
          <a:xfrm flipH="1" flipV="1">
            <a:off x="2807970" y="1947240"/>
            <a:ext cx="5207624" cy="4112124"/>
          </a:xfrm>
          <a:prstGeom prst="bentConnector4">
            <a:avLst>
              <a:gd name="adj1" fmla="val -4390"/>
              <a:gd name="adj2" fmla="val 117067"/>
            </a:avLst>
          </a:prstGeom>
          <a:ln w="28575">
            <a:solidFill>
              <a:srgbClr val="0070C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63620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The Inverse Distance Weighting (IDW) Method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11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494" y="1986142"/>
            <a:ext cx="8254425" cy="3656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71009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12</a:t>
            </a:fld>
            <a:endParaRPr lang="en-US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2F89753C-AF02-4C48-BA01-2DD49BFB40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>
                <a:latin typeface="+mn-lt"/>
              </a:rPr>
              <a:t>SciComp As </a:t>
            </a:r>
            <a:r>
              <a:rPr lang="en-US" sz="3200" u="sng">
                <a:latin typeface="+mn-lt"/>
              </a:rPr>
              <a:t>Translational</a:t>
            </a:r>
            <a:r>
              <a:rPr lang="en-US" sz="3200">
                <a:latin typeface="+mn-lt"/>
              </a:rPr>
              <a:t> Science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0631" y="2488116"/>
            <a:ext cx="3570748" cy="197226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3F605471-EEBB-469B-9882-79A6574F69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0887" y="2539019"/>
            <a:ext cx="4242483" cy="2108228"/>
          </a:xfrm>
          <a:prstGeom prst="rect">
            <a:avLst/>
          </a:prstGeom>
        </p:spPr>
      </p:pic>
      <p:cxnSp>
        <p:nvCxnSpPr>
          <p:cNvPr id="11" name="Elbow Connector 10"/>
          <p:cNvCxnSpPr>
            <a:cxnSpLocks/>
            <a:stCxn id="17" idx="1"/>
            <a:endCxn id="16" idx="3"/>
          </p:cNvCxnSpPr>
          <p:nvPr/>
        </p:nvCxnSpPr>
        <p:spPr>
          <a:xfrm>
            <a:off x="4001502" y="3656503"/>
            <a:ext cx="1098289" cy="2653"/>
          </a:xfrm>
          <a:prstGeom prst="bentConnector3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Elbow Connector 17"/>
          <p:cNvCxnSpPr>
            <a:cxnSpLocks/>
            <a:stCxn id="26" idx="1"/>
            <a:endCxn id="15" idx="3"/>
          </p:cNvCxnSpPr>
          <p:nvPr/>
        </p:nvCxnSpPr>
        <p:spPr>
          <a:xfrm flipV="1">
            <a:off x="1874920" y="3989789"/>
            <a:ext cx="3224872" cy="309465"/>
          </a:xfrm>
          <a:prstGeom prst="bentConnector3">
            <a:avLst>
              <a:gd name="adj1" fmla="val 22103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Elbow Connector 19"/>
          <p:cNvCxnSpPr>
            <a:cxnSpLocks/>
            <a:stCxn id="19" idx="1"/>
            <a:endCxn id="14" idx="3"/>
          </p:cNvCxnSpPr>
          <p:nvPr/>
        </p:nvCxnSpPr>
        <p:spPr>
          <a:xfrm>
            <a:off x="2151259" y="2790676"/>
            <a:ext cx="2948534" cy="1371689"/>
          </a:xfrm>
          <a:prstGeom prst="bentConnector3">
            <a:avLst>
              <a:gd name="adj1" fmla="val 69007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Elbow Connector 23"/>
          <p:cNvCxnSpPr>
            <a:cxnSpLocks/>
            <a:stCxn id="29" idx="1"/>
            <a:endCxn id="6" idx="3"/>
          </p:cNvCxnSpPr>
          <p:nvPr/>
        </p:nvCxnSpPr>
        <p:spPr>
          <a:xfrm>
            <a:off x="2091650" y="3295224"/>
            <a:ext cx="3008143" cy="1039717"/>
          </a:xfrm>
          <a:prstGeom prst="bentConnector3">
            <a:avLst>
              <a:gd name="adj1" fmla="val 28918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Elbow Connector 35"/>
          <p:cNvCxnSpPr>
            <a:cxnSpLocks/>
            <a:stCxn id="22" idx="3"/>
            <a:endCxn id="25" idx="3"/>
          </p:cNvCxnSpPr>
          <p:nvPr/>
        </p:nvCxnSpPr>
        <p:spPr>
          <a:xfrm rot="10800000" flipH="1" flipV="1">
            <a:off x="623996" y="3156532"/>
            <a:ext cx="4226591" cy="1335817"/>
          </a:xfrm>
          <a:prstGeom prst="bentConnector3">
            <a:avLst>
              <a:gd name="adj1" fmla="val -5409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EC473409-C074-4F6D-8BAA-C5A2999A3E53}"/>
              </a:ext>
            </a:extLst>
          </p:cNvPr>
          <p:cNvSpPr/>
          <p:nvPr/>
        </p:nvSpPr>
        <p:spPr>
          <a:xfrm flipH="1" flipV="1">
            <a:off x="5099793" y="4256359"/>
            <a:ext cx="314237" cy="157164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9876096-EF53-41E1-B8AC-FC0BC5A60601}"/>
              </a:ext>
            </a:extLst>
          </p:cNvPr>
          <p:cNvSpPr/>
          <p:nvPr/>
        </p:nvSpPr>
        <p:spPr>
          <a:xfrm flipH="1" flipV="1">
            <a:off x="5099793" y="4083783"/>
            <a:ext cx="314237" cy="157164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FA0CBBC-B83F-43D5-A36C-71FBBE1510BD}"/>
              </a:ext>
            </a:extLst>
          </p:cNvPr>
          <p:cNvSpPr/>
          <p:nvPr/>
        </p:nvSpPr>
        <p:spPr>
          <a:xfrm flipH="1" flipV="1">
            <a:off x="5099792" y="3911207"/>
            <a:ext cx="314237" cy="157164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E6E589D-0ACD-4973-B69E-A9D333D97005}"/>
              </a:ext>
            </a:extLst>
          </p:cNvPr>
          <p:cNvSpPr/>
          <p:nvPr/>
        </p:nvSpPr>
        <p:spPr>
          <a:xfrm flipH="1" flipV="1">
            <a:off x="5099791" y="3580574"/>
            <a:ext cx="314237" cy="157164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56809B2-BE2C-4B49-9F03-A87D26340C79}"/>
              </a:ext>
            </a:extLst>
          </p:cNvPr>
          <p:cNvSpPr/>
          <p:nvPr/>
        </p:nvSpPr>
        <p:spPr>
          <a:xfrm flipH="1" flipV="1">
            <a:off x="3687265" y="3577921"/>
            <a:ext cx="314237" cy="157164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5BAF430-A278-4520-AE3F-7C8C9BA4C58F}"/>
              </a:ext>
            </a:extLst>
          </p:cNvPr>
          <p:cNvSpPr/>
          <p:nvPr/>
        </p:nvSpPr>
        <p:spPr>
          <a:xfrm flipH="1" flipV="1">
            <a:off x="1837022" y="2712094"/>
            <a:ext cx="314237" cy="157164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743397A-32E4-4131-AC86-85242EBA065C}"/>
              </a:ext>
            </a:extLst>
          </p:cNvPr>
          <p:cNvSpPr/>
          <p:nvPr/>
        </p:nvSpPr>
        <p:spPr>
          <a:xfrm flipH="1" flipV="1">
            <a:off x="623997" y="3077951"/>
            <a:ext cx="314237" cy="157164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367F5F1-F3E7-4408-B501-E92D2801DCA3}"/>
              </a:ext>
            </a:extLst>
          </p:cNvPr>
          <p:cNvSpPr/>
          <p:nvPr/>
        </p:nvSpPr>
        <p:spPr>
          <a:xfrm flipH="1" flipV="1">
            <a:off x="4850588" y="4413768"/>
            <a:ext cx="314237" cy="157164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D19A553-146F-4A2A-AE89-3C357E99C3F4}"/>
              </a:ext>
            </a:extLst>
          </p:cNvPr>
          <p:cNvSpPr/>
          <p:nvPr/>
        </p:nvSpPr>
        <p:spPr>
          <a:xfrm flipH="1" flipV="1">
            <a:off x="1560683" y="4220672"/>
            <a:ext cx="314237" cy="157164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39DDD28-DC06-498F-8D4C-FD37F0B6A2FE}"/>
              </a:ext>
            </a:extLst>
          </p:cNvPr>
          <p:cNvSpPr/>
          <p:nvPr/>
        </p:nvSpPr>
        <p:spPr>
          <a:xfrm flipH="1" flipV="1">
            <a:off x="1777413" y="3216642"/>
            <a:ext cx="314237" cy="157164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1C1B0C7-0A62-47C1-8801-7929154C6D67}"/>
              </a:ext>
            </a:extLst>
          </p:cNvPr>
          <p:cNvSpPr txBox="1"/>
          <p:nvPr/>
        </p:nvSpPr>
        <p:spPr>
          <a:xfrm>
            <a:off x="1318597" y="5181807"/>
            <a:ext cx="658348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SciComp is the ability to translate mathematical expressions of scientific concepts into correct and efficient software code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5AE3956-4167-4E5E-9EE7-076D569A2F17}"/>
              </a:ext>
            </a:extLst>
          </p:cNvPr>
          <p:cNvSpPr txBox="1"/>
          <p:nvPr/>
        </p:nvSpPr>
        <p:spPr>
          <a:xfrm>
            <a:off x="1382112" y="1741699"/>
            <a:ext cx="64564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"The algorithm that almost won the cold war"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3A37195-9DEA-943E-66B8-02E012E9377B}"/>
              </a:ext>
            </a:extLst>
          </p:cNvPr>
          <p:cNvSpPr txBox="1"/>
          <p:nvPr/>
        </p:nvSpPr>
        <p:spPr>
          <a:xfrm>
            <a:off x="4450887" y="4636050"/>
            <a:ext cx="42424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11</a:t>
            </a:r>
            <a:r>
              <a:rPr lang="en-US" dirty="0">
                <a:solidFill>
                  <a:srgbClr val="FF0000"/>
                </a:solidFill>
              </a:rPr>
              <a:t> lines of code can change the world!</a:t>
            </a:r>
          </a:p>
        </p:txBody>
      </p:sp>
    </p:spTree>
    <p:extLst>
      <p:ext uri="{BB962C8B-B14F-4D97-AF65-F5344CB8AC3E}">
        <p14:creationId xmlns:p14="http://schemas.microsoft.com/office/powerpoint/2010/main" val="14763010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3" grpId="0"/>
      <p:bldP spid="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F76F4A5-C23C-EC27-346B-5830CA030B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8941" y="2591207"/>
            <a:ext cx="4766117" cy="395532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An “Actual” Ocean Floor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13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1918325" y="1718719"/>
                <a:ext cx="5307350" cy="6223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=30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den>
                              </m:f>
                            </m:e>
                          </m:d>
                        </m:e>
                      </m:func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40</m:t>
                                  </m:r>
                                </m:den>
                              </m:f>
                            </m:e>
                          </m:d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+50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ad>
                                    <m:radPr>
                                      <m:degHide m:val="on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sSup>
                                        <m:sSup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p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p>
                                        <m:sSup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p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e>
                                  </m:rad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den>
                              </m:f>
                            </m:e>
                          </m:d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−800⁡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8325" y="1718719"/>
                <a:ext cx="5307350" cy="62235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267690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AB69E51-FBFE-A13E-ACBD-B5A60F8495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4537" y="1933073"/>
            <a:ext cx="4263692" cy="286881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Sample Ocean Depth Soundings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0573" y="1825625"/>
            <a:ext cx="3494285" cy="3896749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200" dirty="0"/>
              <a:t>The ocean area is square, </a:t>
            </a:r>
            <a:r>
              <a:rPr lang="en-US" sz="2200" b="1" dirty="0"/>
              <a:t>390</a:t>
            </a:r>
            <a:r>
              <a:rPr lang="en-US" sz="2200" dirty="0"/>
              <a:t> units (e.g., nautical mile) per side (152,100 total units)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200" dirty="0"/>
              <a:t>The area is subdivided into </a:t>
            </a:r>
            <a:r>
              <a:rPr lang="en-US" sz="2200" b="1" dirty="0"/>
              <a:t>65</a:t>
            </a:r>
            <a:r>
              <a:rPr lang="en-US" sz="2200" dirty="0"/>
              <a:t> intervals (grid lines) per side (4,225 total intervals, 6 units per interval)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200" dirty="0"/>
              <a:t>Depth samples (sonar timings) were taken from </a:t>
            </a:r>
            <a:r>
              <a:rPr lang="en-US" sz="2200" b="1" dirty="0"/>
              <a:t>220 random </a:t>
            </a:r>
            <a:r>
              <a:rPr lang="en-US" sz="2200" dirty="0"/>
              <a:t>locations (e.g., the </a:t>
            </a:r>
            <a:r>
              <a:rPr lang="en-US" sz="2200" b="1" dirty="0">
                <a:solidFill>
                  <a:srgbClr val="FF0000"/>
                </a:solidFill>
              </a:rPr>
              <a:t>red dots</a:t>
            </a:r>
            <a:r>
              <a:rPr lang="en-US" sz="2200" dirty="0"/>
              <a:t>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8239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F448C8-2B4C-A7AC-3CCD-9A257FA101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>
            <a:extLst>
              <a:ext uri="{FF2B5EF4-FFF2-40B4-BE49-F238E27FC236}">
                <a16:creationId xmlns:a16="http://schemas.microsoft.com/office/drawing/2014/main" id="{EC140EA2-8B48-2DC6-F36A-BD0FA382F73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rcRect t="516"/>
          <a:stretch>
            <a:fillRect/>
          </a:stretch>
        </p:blipFill>
        <p:spPr>
          <a:xfrm>
            <a:off x="1457715" y="1414462"/>
            <a:ext cx="6228571" cy="5078411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9C0582-39D8-8BF1-C3DC-37562F36B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15</a:t>
            </a:fld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C836F105-047E-4859-F8F9-F492D2AE97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0070C0"/>
                </a:solidFill>
                <a:latin typeface="+mn-lt"/>
              </a:rPr>
              <a:t>Open</a:t>
            </a:r>
            <a:r>
              <a:rPr lang="en-US" sz="3200" dirty="0">
                <a:latin typeface="+mn-lt"/>
              </a:rPr>
              <a:t> idw.py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A280D46C-FD62-D3FD-73BA-D2456B7443FA}"/>
              </a:ext>
            </a:extLst>
          </p:cNvPr>
          <p:cNvGrpSpPr/>
          <p:nvPr/>
        </p:nvGrpSpPr>
        <p:grpSpPr>
          <a:xfrm>
            <a:off x="4320646" y="1354086"/>
            <a:ext cx="1076632" cy="369332"/>
            <a:chOff x="4968362" y="2079211"/>
            <a:chExt cx="1076632" cy="369332"/>
          </a:xfrm>
        </p:grpSpPr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25782B6B-F5C1-FB29-8753-28942EB7E1F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8362" y="226387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350ACDD-32B3-3E5A-D2DC-938C61CB7607}"/>
                </a:ext>
              </a:extLst>
            </p:cNvPr>
            <p:cNvSpPr txBox="1"/>
            <p:nvPr/>
          </p:nvSpPr>
          <p:spPr>
            <a:xfrm>
              <a:off x="5661536" y="207921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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2AD7D40B-1C03-BA4B-9A75-D1926B149F4E}"/>
              </a:ext>
            </a:extLst>
          </p:cNvPr>
          <p:cNvGrpSpPr/>
          <p:nvPr/>
        </p:nvGrpSpPr>
        <p:grpSpPr>
          <a:xfrm>
            <a:off x="4079754" y="2283043"/>
            <a:ext cx="1076632" cy="369332"/>
            <a:chOff x="4704120" y="2356972"/>
            <a:chExt cx="1076632" cy="369332"/>
          </a:xfrm>
        </p:grpSpPr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98FD6348-988F-80C7-F6CF-9D06196706F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04120" y="2541638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3BA72A6-26F6-6AC0-DDD4-5FD3CEAB15A4}"/>
                </a:ext>
              </a:extLst>
            </p:cNvPr>
            <p:cNvSpPr txBox="1"/>
            <p:nvPr/>
          </p:nvSpPr>
          <p:spPr>
            <a:xfrm>
              <a:off x="5397294" y="2356972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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7551397-E7EC-CEE0-329F-9DA007BE9762}"/>
              </a:ext>
            </a:extLst>
          </p:cNvPr>
          <p:cNvGrpSpPr/>
          <p:nvPr/>
        </p:nvGrpSpPr>
        <p:grpSpPr>
          <a:xfrm>
            <a:off x="4200708" y="2498991"/>
            <a:ext cx="1068643" cy="369332"/>
            <a:chOff x="3647644" y="4910075"/>
            <a:chExt cx="1068643" cy="369332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0D3BB8E-C9B3-AF28-7DE4-5AEC5FCEE852}"/>
                </a:ext>
              </a:extLst>
            </p:cNvPr>
            <p:cNvSpPr txBox="1"/>
            <p:nvPr/>
          </p:nvSpPr>
          <p:spPr>
            <a:xfrm>
              <a:off x="4332829" y="4910075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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D6BA9CB5-F75E-B604-E157-F386628E8DA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094741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FB7C46E-E861-4337-D648-484BAE3A6BBE}"/>
              </a:ext>
            </a:extLst>
          </p:cNvPr>
          <p:cNvGrpSpPr/>
          <p:nvPr/>
        </p:nvGrpSpPr>
        <p:grpSpPr>
          <a:xfrm>
            <a:off x="4320646" y="3202547"/>
            <a:ext cx="1064340" cy="369332"/>
            <a:chOff x="3647644" y="5421073"/>
            <a:chExt cx="1064340" cy="369332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57E66D5-348B-F483-DD1B-A655AA3AAC41}"/>
                </a:ext>
              </a:extLst>
            </p:cNvPr>
            <p:cNvSpPr txBox="1"/>
            <p:nvPr/>
          </p:nvSpPr>
          <p:spPr>
            <a:xfrm>
              <a:off x="4328526" y="5421073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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F6A72B49-6A03-193C-738F-8E72CAF85CB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9443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5F1AE2D-A68D-94EA-33FE-1C5FC39DEAAB}"/>
              </a:ext>
            </a:extLst>
          </p:cNvPr>
          <p:cNvGrpSpPr/>
          <p:nvPr/>
        </p:nvGrpSpPr>
        <p:grpSpPr>
          <a:xfrm>
            <a:off x="4572000" y="3489321"/>
            <a:ext cx="782844" cy="585374"/>
            <a:chOff x="3868273" y="5281588"/>
            <a:chExt cx="782844" cy="585374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81DF4877-BC20-FA11-CD35-B80162F771A7}"/>
                </a:ext>
              </a:extLst>
            </p:cNvPr>
            <p:cNvSpPr txBox="1"/>
            <p:nvPr/>
          </p:nvSpPr>
          <p:spPr>
            <a:xfrm>
              <a:off x="4267659" y="5281588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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24B3EE14-F284-7023-2F17-936BAF540D4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68273" y="5541057"/>
              <a:ext cx="472545" cy="325905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94026FBF-F58A-8DA2-5008-7ACD55CACE39}"/>
              </a:ext>
            </a:extLst>
          </p:cNvPr>
          <p:cNvGrpSpPr/>
          <p:nvPr/>
        </p:nvGrpSpPr>
        <p:grpSpPr>
          <a:xfrm>
            <a:off x="3924896" y="4563124"/>
            <a:ext cx="1076632" cy="369332"/>
            <a:chOff x="2157212" y="5356391"/>
            <a:chExt cx="1076632" cy="369332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217B92FF-2D0D-F80E-A38C-5B45643A3BE8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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D506C8B4-A90A-8162-3602-1BA7F5960E1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8090A196-AA4E-EB8C-731B-EFC399E38D35}"/>
              </a:ext>
            </a:extLst>
          </p:cNvPr>
          <p:cNvGrpSpPr/>
          <p:nvPr/>
        </p:nvGrpSpPr>
        <p:grpSpPr>
          <a:xfrm>
            <a:off x="4408035" y="5932061"/>
            <a:ext cx="1076632" cy="369332"/>
            <a:chOff x="2157212" y="5356391"/>
            <a:chExt cx="1076632" cy="369332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F4A560A2-B94A-8665-1923-A6993B4057EB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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BDCDE358-E110-F3D6-F639-29E635B0AAC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Rectangle 28">
            <a:extLst>
              <a:ext uri="{FF2B5EF4-FFF2-40B4-BE49-F238E27FC236}">
                <a16:creationId xmlns:a16="http://schemas.microsoft.com/office/drawing/2014/main" id="{08A2E964-83EE-8A07-4DE7-6CF012773416}"/>
              </a:ext>
            </a:extLst>
          </p:cNvPr>
          <p:cNvSpPr/>
          <p:nvPr/>
        </p:nvSpPr>
        <p:spPr>
          <a:xfrm>
            <a:off x="3398124" y="4197271"/>
            <a:ext cx="2673813" cy="196457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EFD4EB4-83A2-C1C3-0A8A-B6A22C025D8A}"/>
              </a:ext>
            </a:extLst>
          </p:cNvPr>
          <p:cNvSpPr/>
          <p:nvPr/>
        </p:nvSpPr>
        <p:spPr>
          <a:xfrm>
            <a:off x="6211217" y="4197270"/>
            <a:ext cx="1376699" cy="196457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F9D06ECE-CE4D-5BD7-5189-D91246118723}"/>
                  </a:ext>
                </a:extLst>
              </p:cNvPr>
              <p:cNvSpPr txBox="1"/>
              <p:nvPr/>
            </p:nvSpPr>
            <p:spPr>
              <a:xfrm>
                <a:off x="3595863" y="5511000"/>
                <a:ext cx="4120872" cy="4840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14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=30</m:t>
                      </m:r>
                      <m:func>
                        <m:funcPr>
                          <m:ctrlP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400" b="0" i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US" sz="1400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1400" i="1">
                                      <a:solidFill>
                                        <a:srgbClr val="FFFF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400" b="0" i="1" smtClean="0">
                                      <a:solidFill>
                                        <a:srgbClr val="FFFF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num>
                                <m:den>
                                  <m:r>
                                    <a:rPr lang="en-US" sz="1400" i="1">
                                      <a:solidFill>
                                        <a:srgbClr val="FFFF00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  <m:r>
                                    <a:rPr lang="en-US" sz="1400" b="0" i="1" smtClean="0">
                                      <a:solidFill>
                                        <a:srgbClr val="FFFF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den>
                              </m:f>
                            </m:e>
                          </m:d>
                        </m:e>
                      </m:func>
                      <m:func>
                        <m:funcPr>
                          <m:ctrlP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400" b="0" i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sz="14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1400" b="0" i="1" smtClean="0">
                                      <a:solidFill>
                                        <a:srgbClr val="FFFF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400" b="0" i="1" smtClean="0">
                                      <a:solidFill>
                                        <a:srgbClr val="FFFF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en-US" sz="1400" b="0" i="1" smtClean="0">
                                      <a:solidFill>
                                        <a:srgbClr val="FFFF00"/>
                                      </a:solidFill>
                                      <a:latin typeface="Cambria Math" panose="02040503050406030204" pitchFamily="18" charset="0"/>
                                    </a:rPr>
                                    <m:t>40</m:t>
                                  </m:r>
                                </m:den>
                              </m:f>
                            </m:e>
                          </m:d>
                        </m:e>
                      </m:func>
                      <m:r>
                        <a:rPr lang="en-US" sz="14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+50</m:t>
                      </m:r>
                      <m:func>
                        <m:funcPr>
                          <m:ctrlP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400" b="0" i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sz="1400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1400" i="1">
                                      <a:solidFill>
                                        <a:srgbClr val="FFFF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ad>
                                    <m:radPr>
                                      <m:degHide m:val="on"/>
                                      <m:ctrlPr>
                                        <a:rPr lang="en-US" sz="1400" i="1">
                                          <a:solidFill>
                                            <a:srgbClr val="FFFF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sSup>
                                        <m:sSupPr>
                                          <m:ctrlPr>
                                            <a:rPr lang="en-US" sz="1400" i="1">
                                              <a:solidFill>
                                                <a:srgbClr val="FFFF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1400" i="1">
                                              <a:solidFill>
                                                <a:srgbClr val="FFFF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p>
                                          <m:r>
                                            <a:rPr lang="en-US" sz="1400" i="1">
                                              <a:solidFill>
                                                <a:srgbClr val="FFFF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  <m:r>
                                        <a:rPr lang="en-US" sz="1400" i="1">
                                          <a:solidFill>
                                            <a:srgbClr val="FFFF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p>
                                        <m:sSupPr>
                                          <m:ctrlPr>
                                            <a:rPr lang="en-US" sz="1400" i="1">
                                              <a:solidFill>
                                                <a:srgbClr val="FFFF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1400" b="0" i="1" smtClean="0">
                                              <a:solidFill>
                                                <a:srgbClr val="FFFF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p>
                                          <m:r>
                                            <a:rPr lang="en-US" sz="1400" i="1">
                                              <a:solidFill>
                                                <a:srgbClr val="FFFF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e>
                                  </m:rad>
                                </m:num>
                                <m:den>
                                  <m:r>
                                    <a:rPr lang="en-US" sz="1400" i="1">
                                      <a:solidFill>
                                        <a:srgbClr val="FFFF00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  <m:r>
                                    <a:rPr lang="en-US" sz="1400" b="0" i="1" smtClean="0">
                                      <a:solidFill>
                                        <a:srgbClr val="FFFF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den>
                              </m:f>
                            </m:e>
                          </m:d>
                        </m:e>
                      </m:func>
                      <m:r>
                        <a:rPr lang="en-US" sz="14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−800⁡</m:t>
                      </m:r>
                    </m:oMath>
                  </m:oMathPara>
                </a14:m>
                <a:endParaRPr lang="en-US" sz="1400" dirty="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F9D06ECE-CE4D-5BD7-5189-D912461187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5863" y="5511000"/>
                <a:ext cx="4120872" cy="48404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Box 31">
            <a:extLst>
              <a:ext uri="{FF2B5EF4-FFF2-40B4-BE49-F238E27FC236}">
                <a16:creationId xmlns:a16="http://schemas.microsoft.com/office/drawing/2014/main" id="{5DCAB1D3-96B9-834F-A6F1-98BBDC61C1CD}"/>
              </a:ext>
            </a:extLst>
          </p:cNvPr>
          <p:cNvSpPr txBox="1"/>
          <p:nvPr/>
        </p:nvSpPr>
        <p:spPr>
          <a:xfrm>
            <a:off x="4563380" y="1836514"/>
            <a:ext cx="29062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FF00"/>
                </a:solidFill>
              </a:rPr>
              <a:t>We will talk about the </a:t>
            </a:r>
            <a:r>
              <a:rPr lang="en-US" sz="1400" b="1" dirty="0">
                <a:solidFill>
                  <a:srgbClr val="FFFF00"/>
                </a:solidFill>
              </a:rPr>
              <a:t>PyVista</a:t>
            </a:r>
            <a:r>
              <a:rPr lang="en-US" sz="1400" dirty="0">
                <a:solidFill>
                  <a:srgbClr val="FFFF00"/>
                </a:solidFill>
              </a:rPr>
              <a:t> package in the following two slides…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7693BC7-39CC-C1B0-D860-D536D44B60A7}"/>
              </a:ext>
            </a:extLst>
          </p:cNvPr>
          <p:cNvSpPr txBox="1"/>
          <p:nvPr/>
        </p:nvSpPr>
        <p:spPr>
          <a:xfrm>
            <a:off x="4631846" y="2984554"/>
            <a:ext cx="29062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FF00"/>
                </a:solidFill>
              </a:rPr>
              <a:t>These are now </a:t>
            </a:r>
            <a:r>
              <a:rPr lang="en-US" sz="1400" b="1" dirty="0">
                <a:solidFill>
                  <a:srgbClr val="FFFF00"/>
                </a:solidFill>
              </a:rPr>
              <a:t>global</a:t>
            </a:r>
            <a:r>
              <a:rPr lang="en-US" sz="1400" dirty="0">
                <a:solidFill>
                  <a:srgbClr val="FFFF00"/>
                </a:solidFill>
              </a:rPr>
              <a:t> variables…</a:t>
            </a:r>
          </a:p>
        </p:txBody>
      </p:sp>
    </p:spTree>
    <p:extLst>
      <p:ext uri="{BB962C8B-B14F-4D97-AF65-F5344CB8AC3E}">
        <p14:creationId xmlns:p14="http://schemas.microsoft.com/office/powerpoint/2010/main" val="29046583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0" grpId="0" animBg="1"/>
      <p:bldP spid="31" grpId="0"/>
      <p:bldP spid="32" grpId="0"/>
      <p:bldP spid="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16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0115AEA-EDD1-432A-B3AC-64B348E9C427}"/>
              </a:ext>
            </a:extLst>
          </p:cNvPr>
          <p:cNvSpPr txBox="1"/>
          <p:nvPr/>
        </p:nvSpPr>
        <p:spPr>
          <a:xfrm>
            <a:off x="2072148" y="714058"/>
            <a:ext cx="49997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hlinkClick r:id="rId3"/>
              </a:rPr>
              <a:t>https://pyvista.org</a:t>
            </a:r>
            <a:r>
              <a:rPr lang="en-US" dirty="0"/>
              <a:t> 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316D5B-0321-96AB-6711-334E41DF03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516" y="1403772"/>
            <a:ext cx="7630968" cy="4632197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470720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A50233-F7F4-FB10-346E-32AEF6ECFE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AD2D1F-A85F-7FAF-9AC8-CE00644B4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17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8A41CE1-61A8-3BE7-F2EE-AF3594E52D84}"/>
              </a:ext>
            </a:extLst>
          </p:cNvPr>
          <p:cNvSpPr txBox="1"/>
          <p:nvPr/>
        </p:nvSpPr>
        <p:spPr>
          <a:xfrm>
            <a:off x="2072148" y="714058"/>
            <a:ext cx="49997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hlinkClick r:id="rId3"/>
              </a:rPr>
              <a:t>https://pyvista.org</a:t>
            </a:r>
            <a:r>
              <a:rPr lang="en-US" dirty="0"/>
              <a:t> 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51C36A2-FE1C-5567-DEBF-38A81E7A5B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9217" y="1342280"/>
            <a:ext cx="6185566" cy="4667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72700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611A91-49CE-7B77-06B3-50CD6056F8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Picture 43">
            <a:extLst>
              <a:ext uri="{FF2B5EF4-FFF2-40B4-BE49-F238E27FC236}">
                <a16:creationId xmlns:a16="http://schemas.microsoft.com/office/drawing/2014/main" id="{9B225046-2FA5-D293-D82C-D487FE5A2AC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4857" y="1456561"/>
            <a:ext cx="6914286" cy="3542857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8AF67-9DA8-440A-C0A6-F31AB4242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18</a:t>
            </a:fld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6D6356D7-616B-5D25-14D7-F86A19DB53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0070C0"/>
                </a:solidFill>
                <a:latin typeface="+mn-lt"/>
              </a:rPr>
              <a:t>View</a:t>
            </a:r>
            <a:r>
              <a:rPr lang="en-US" sz="3200" dirty="0">
                <a:latin typeface="+mn-lt"/>
              </a:rPr>
              <a:t> idw.py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A5A84A9E-8AD0-F33C-CCA0-EB3FED4F1D6B}"/>
              </a:ext>
            </a:extLst>
          </p:cNvPr>
          <p:cNvGrpSpPr/>
          <p:nvPr/>
        </p:nvGrpSpPr>
        <p:grpSpPr>
          <a:xfrm>
            <a:off x="2975593" y="1430406"/>
            <a:ext cx="1076632" cy="369332"/>
            <a:chOff x="4968362" y="2079211"/>
            <a:chExt cx="1076632" cy="369332"/>
          </a:xfrm>
        </p:grpSpPr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300239DE-D0FC-A266-32EE-5A624828316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8362" y="226387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B81296D-A5E1-6CF2-6D95-9CBD9A0E7A02}"/>
                </a:ext>
              </a:extLst>
            </p:cNvPr>
            <p:cNvSpPr txBox="1"/>
            <p:nvPr/>
          </p:nvSpPr>
          <p:spPr>
            <a:xfrm>
              <a:off x="5661536" y="207921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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847E588-2375-344B-3EFE-A78DD1C27D9E}"/>
              </a:ext>
            </a:extLst>
          </p:cNvPr>
          <p:cNvGrpSpPr/>
          <p:nvPr/>
        </p:nvGrpSpPr>
        <p:grpSpPr>
          <a:xfrm>
            <a:off x="3450542" y="1649315"/>
            <a:ext cx="1076632" cy="369332"/>
            <a:chOff x="4704120" y="2356972"/>
            <a:chExt cx="1076632" cy="369332"/>
          </a:xfrm>
        </p:grpSpPr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33875AA2-29DC-7D86-755F-408DB63FBA2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04120" y="2541638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86847B92-B5A2-94EE-8373-C6A708D06D35}"/>
                </a:ext>
              </a:extLst>
            </p:cNvPr>
            <p:cNvSpPr txBox="1"/>
            <p:nvPr/>
          </p:nvSpPr>
          <p:spPr>
            <a:xfrm>
              <a:off x="5397294" y="2356972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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C5778842-7C46-0810-FD8F-C85FBABB1D06}"/>
              </a:ext>
            </a:extLst>
          </p:cNvPr>
          <p:cNvGrpSpPr/>
          <p:nvPr/>
        </p:nvGrpSpPr>
        <p:grpSpPr>
          <a:xfrm>
            <a:off x="4070353" y="2345744"/>
            <a:ext cx="1064340" cy="369332"/>
            <a:chOff x="3647644" y="5421073"/>
            <a:chExt cx="1064340" cy="369332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A449958D-8076-A0B2-4B82-016A16B7EA20}"/>
                </a:ext>
              </a:extLst>
            </p:cNvPr>
            <p:cNvSpPr txBox="1"/>
            <p:nvPr/>
          </p:nvSpPr>
          <p:spPr>
            <a:xfrm>
              <a:off x="4328526" y="5421073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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6431DF13-CBDE-E66E-B6DE-B8890E44855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9443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5EC5A425-84E0-C95F-ADA8-DE58F26FB664}"/>
              </a:ext>
            </a:extLst>
          </p:cNvPr>
          <p:cNvGrpSpPr/>
          <p:nvPr/>
        </p:nvGrpSpPr>
        <p:grpSpPr>
          <a:xfrm>
            <a:off x="4318413" y="2119298"/>
            <a:ext cx="1068643" cy="369332"/>
            <a:chOff x="3647644" y="4910075"/>
            <a:chExt cx="1068643" cy="369332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541A8A8E-B71C-4BE0-6047-F6C781F622E8}"/>
                </a:ext>
              </a:extLst>
            </p:cNvPr>
            <p:cNvSpPr txBox="1"/>
            <p:nvPr/>
          </p:nvSpPr>
          <p:spPr>
            <a:xfrm>
              <a:off x="4332829" y="4910075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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14AE66BC-A2AD-B76A-1491-0D9B73D30CA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094741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3FD8C583-0125-7FCB-AC9D-0DC5724EC3AF}"/>
              </a:ext>
            </a:extLst>
          </p:cNvPr>
          <p:cNvGrpSpPr/>
          <p:nvPr/>
        </p:nvGrpSpPr>
        <p:grpSpPr>
          <a:xfrm>
            <a:off x="6036754" y="2796510"/>
            <a:ext cx="1068643" cy="369332"/>
            <a:chOff x="3647644" y="5359159"/>
            <a:chExt cx="1068643" cy="369332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D71D5D1C-513C-BDD2-CAAF-6527631D34C2}"/>
                </a:ext>
              </a:extLst>
            </p:cNvPr>
            <p:cNvSpPr txBox="1"/>
            <p:nvPr/>
          </p:nvSpPr>
          <p:spPr>
            <a:xfrm>
              <a:off x="4332829" y="5359159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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B1CEF713-D71D-4C00-CEC1-D61E4497B1E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4105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5" name="Rectangle 44">
            <a:extLst>
              <a:ext uri="{FF2B5EF4-FFF2-40B4-BE49-F238E27FC236}">
                <a16:creationId xmlns:a16="http://schemas.microsoft.com/office/drawing/2014/main" id="{673CB93F-549B-3CA8-BF47-761C9FAED77A}"/>
              </a:ext>
            </a:extLst>
          </p:cNvPr>
          <p:cNvSpPr/>
          <p:nvPr/>
        </p:nvSpPr>
        <p:spPr>
          <a:xfrm>
            <a:off x="1501357" y="2200698"/>
            <a:ext cx="625099" cy="196457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4EBC2791-3EB8-ECAF-9563-03C35F019D60}"/>
              </a:ext>
            </a:extLst>
          </p:cNvPr>
          <p:cNvSpPr/>
          <p:nvPr/>
        </p:nvSpPr>
        <p:spPr>
          <a:xfrm>
            <a:off x="3482975" y="2877891"/>
            <a:ext cx="2378075" cy="196457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A8D9F4C-D480-85DB-DB4F-4774EBE08C8E}"/>
              </a:ext>
            </a:extLst>
          </p:cNvPr>
          <p:cNvSpPr txBox="1"/>
          <p:nvPr/>
        </p:nvSpPr>
        <p:spPr>
          <a:xfrm>
            <a:off x="5310666" y="2132296"/>
            <a:ext cx="29062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FF00"/>
                </a:solidFill>
              </a:rPr>
              <a:t>These are now </a:t>
            </a:r>
            <a:r>
              <a:rPr lang="en-US" sz="1400" b="1" dirty="0">
                <a:solidFill>
                  <a:srgbClr val="FFFF00"/>
                </a:solidFill>
              </a:rPr>
              <a:t>global</a:t>
            </a:r>
            <a:r>
              <a:rPr lang="en-US" sz="1400" dirty="0">
                <a:solidFill>
                  <a:srgbClr val="FFFF00"/>
                </a:solidFill>
              </a:rPr>
              <a:t> variables…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97961F-CB6E-2503-E628-46FA3A77072A}"/>
              </a:ext>
            </a:extLst>
          </p:cNvPr>
          <p:cNvSpPr txBox="1"/>
          <p:nvPr/>
        </p:nvSpPr>
        <p:spPr>
          <a:xfrm>
            <a:off x="1472865" y="5288595"/>
            <a:ext cx="619826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The expression </a:t>
            </a:r>
            <a:r>
              <a:rPr lang="en-US" b="1" dirty="0">
                <a:solidFill>
                  <a:srgbClr val="7030A0"/>
                </a:solidFill>
              </a:rPr>
              <a:t>start:stop:step</a:t>
            </a:r>
            <a:r>
              <a:rPr lang="en-US" dirty="0"/>
              <a:t> is a formal Python </a:t>
            </a:r>
            <a:r>
              <a:rPr lang="en-US" b="1" dirty="0">
                <a:solidFill>
                  <a:srgbClr val="FF0000"/>
                </a:solidFill>
              </a:rPr>
              <a:t>slice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object. The </a:t>
            </a:r>
            <a:r>
              <a:rPr lang="en-US" b="1" dirty="0" err="1">
                <a:solidFill>
                  <a:srgbClr val="0070C0"/>
                </a:solidFill>
              </a:rPr>
              <a:t>np.mgrid</a:t>
            </a:r>
            <a:r>
              <a:rPr lang="en-US" b="1" dirty="0">
                <a:solidFill>
                  <a:srgbClr val="0070C0"/>
                </a:solidFill>
              </a:rPr>
              <a:t> </a:t>
            </a:r>
            <a:r>
              <a:rPr lang="en-US" dirty="0"/>
              <a:t>constructor expects slices as parameter values, but if passed a </a:t>
            </a:r>
            <a:r>
              <a:rPr lang="en-US" b="1" dirty="0">
                <a:solidFill>
                  <a:srgbClr val="38BDBA"/>
                </a:solidFill>
              </a:rPr>
              <a:t>complex</a:t>
            </a:r>
            <a:r>
              <a:rPr lang="en-US" dirty="0"/>
              <a:t> </a:t>
            </a:r>
            <a:r>
              <a:rPr lang="en-US" u="sng" dirty="0"/>
              <a:t>step</a:t>
            </a:r>
            <a:r>
              <a:rPr lang="en-US" dirty="0"/>
              <a:t> value, it acts just like </a:t>
            </a:r>
            <a:r>
              <a:rPr lang="en-US" b="1" dirty="0"/>
              <a:t>np.linspace()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661BF57-313E-2E13-0921-1116C84D9032}"/>
              </a:ext>
            </a:extLst>
          </p:cNvPr>
          <p:cNvSpPr/>
          <p:nvPr/>
        </p:nvSpPr>
        <p:spPr>
          <a:xfrm>
            <a:off x="2069561" y="2878670"/>
            <a:ext cx="142622" cy="196457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10FED93-98C1-76B5-6B7B-5D14E742C0EC}"/>
              </a:ext>
            </a:extLst>
          </p:cNvPr>
          <p:cNvSpPr/>
          <p:nvPr/>
        </p:nvSpPr>
        <p:spPr>
          <a:xfrm>
            <a:off x="3291325" y="2878670"/>
            <a:ext cx="142622" cy="196457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0207BB3-F08A-4A4A-3EC5-3721E4A4C86C}"/>
              </a:ext>
            </a:extLst>
          </p:cNvPr>
          <p:cNvSpPr/>
          <p:nvPr/>
        </p:nvSpPr>
        <p:spPr>
          <a:xfrm>
            <a:off x="3105042" y="2426931"/>
            <a:ext cx="791719" cy="196457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93933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"/>
                            </p:stCondLst>
                            <p:childTnLst>
                              <p:par>
                                <p:cTn id="4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animBg="1"/>
      <p:bldP spid="46" grpId="0" animBg="1"/>
      <p:bldP spid="2" grpId="0"/>
      <p:bldP spid="3" grpId="0"/>
      <p:bldP spid="5" grpId="0" animBg="1"/>
      <p:bldP spid="6" grpId="0" animBg="1"/>
      <p:bldP spid="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C58AD3-DB4C-B72C-C5C4-779ECA6CDC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Picture 43">
            <a:extLst>
              <a:ext uri="{FF2B5EF4-FFF2-40B4-BE49-F238E27FC236}">
                <a16:creationId xmlns:a16="http://schemas.microsoft.com/office/drawing/2014/main" id="{A01A4FAC-BFDC-86BC-DC58-E9F857A8561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4857" y="1456561"/>
            <a:ext cx="6914286" cy="3542857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2CC68C-4A32-E4F5-A16C-D91E3EB7C7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19</a:t>
            </a:fld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720E359E-C939-D328-FACF-3BB7804E20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0070C0"/>
                </a:solidFill>
                <a:latin typeface="+mn-lt"/>
              </a:rPr>
              <a:t>View</a:t>
            </a:r>
            <a:r>
              <a:rPr lang="en-US" sz="3200" dirty="0">
                <a:latin typeface="+mn-lt"/>
              </a:rPr>
              <a:t> idw.py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233BEDC3-F4B1-0521-C594-E3674A2FDCDC}"/>
              </a:ext>
            </a:extLst>
          </p:cNvPr>
          <p:cNvGrpSpPr/>
          <p:nvPr/>
        </p:nvGrpSpPr>
        <p:grpSpPr>
          <a:xfrm>
            <a:off x="2975593" y="1430406"/>
            <a:ext cx="1076632" cy="369332"/>
            <a:chOff x="4968362" y="2079211"/>
            <a:chExt cx="1076632" cy="369332"/>
          </a:xfrm>
        </p:grpSpPr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9F5E2AAE-BF1F-4FF7-F8E9-1B50FC086FB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8362" y="226387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0E51B954-335E-9986-CF9F-8E1B11BEC4CB}"/>
                </a:ext>
              </a:extLst>
            </p:cNvPr>
            <p:cNvSpPr txBox="1"/>
            <p:nvPr/>
          </p:nvSpPr>
          <p:spPr>
            <a:xfrm>
              <a:off x="5661536" y="207921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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9EF641D-4ACE-92D5-AAC7-117F577DB32C}"/>
              </a:ext>
            </a:extLst>
          </p:cNvPr>
          <p:cNvGrpSpPr/>
          <p:nvPr/>
        </p:nvGrpSpPr>
        <p:grpSpPr>
          <a:xfrm>
            <a:off x="3450542" y="1649315"/>
            <a:ext cx="1076632" cy="369332"/>
            <a:chOff x="4704120" y="2356972"/>
            <a:chExt cx="1076632" cy="369332"/>
          </a:xfrm>
        </p:grpSpPr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BB329DC8-B452-5090-7D81-A6017056865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04120" y="2541638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6E857543-0057-BC8B-8292-F3934F338A7A}"/>
                </a:ext>
              </a:extLst>
            </p:cNvPr>
            <p:cNvSpPr txBox="1"/>
            <p:nvPr/>
          </p:nvSpPr>
          <p:spPr>
            <a:xfrm>
              <a:off x="5397294" y="2356972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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D32F754-DD13-CC7A-7E25-C681B947DDBA}"/>
              </a:ext>
            </a:extLst>
          </p:cNvPr>
          <p:cNvGrpSpPr/>
          <p:nvPr/>
        </p:nvGrpSpPr>
        <p:grpSpPr>
          <a:xfrm>
            <a:off x="4070353" y="2345744"/>
            <a:ext cx="1064340" cy="369332"/>
            <a:chOff x="3647644" y="5421073"/>
            <a:chExt cx="1064340" cy="369332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158D1F97-E309-2A5A-3FEB-531C0ACA2338}"/>
                </a:ext>
              </a:extLst>
            </p:cNvPr>
            <p:cNvSpPr txBox="1"/>
            <p:nvPr/>
          </p:nvSpPr>
          <p:spPr>
            <a:xfrm>
              <a:off x="4328526" y="5421073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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7E2CFBC6-D96A-49A1-1521-5C9D6671138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9443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DE8B6C61-A99B-B337-1313-BCB83CA95AE1}"/>
              </a:ext>
            </a:extLst>
          </p:cNvPr>
          <p:cNvGrpSpPr/>
          <p:nvPr/>
        </p:nvGrpSpPr>
        <p:grpSpPr>
          <a:xfrm>
            <a:off x="4318413" y="2119298"/>
            <a:ext cx="1068643" cy="369332"/>
            <a:chOff x="3647644" y="4910075"/>
            <a:chExt cx="1068643" cy="369332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9B1A63D0-9A13-61E8-7B05-71814DE25C43}"/>
                </a:ext>
              </a:extLst>
            </p:cNvPr>
            <p:cNvSpPr txBox="1"/>
            <p:nvPr/>
          </p:nvSpPr>
          <p:spPr>
            <a:xfrm>
              <a:off x="4332829" y="4910075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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41A49074-D57B-D62E-B5E2-97311DB0A56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094741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8763942D-EA22-8D7E-BFA6-ADCF50DC49C9}"/>
              </a:ext>
            </a:extLst>
          </p:cNvPr>
          <p:cNvGrpSpPr/>
          <p:nvPr/>
        </p:nvGrpSpPr>
        <p:grpSpPr>
          <a:xfrm>
            <a:off x="6036754" y="2796510"/>
            <a:ext cx="1068643" cy="369332"/>
            <a:chOff x="3647644" y="5359159"/>
            <a:chExt cx="1068643" cy="369332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15F11899-A210-E9FE-36AD-06FDF03271DD}"/>
                </a:ext>
              </a:extLst>
            </p:cNvPr>
            <p:cNvSpPr txBox="1"/>
            <p:nvPr/>
          </p:nvSpPr>
          <p:spPr>
            <a:xfrm>
              <a:off x="4332829" y="5359159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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143B61FB-D24F-198F-8638-3B1441652AF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4105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5" name="Rectangle 44">
            <a:extLst>
              <a:ext uri="{FF2B5EF4-FFF2-40B4-BE49-F238E27FC236}">
                <a16:creationId xmlns:a16="http://schemas.microsoft.com/office/drawing/2014/main" id="{4DCF7ADF-EE4C-2F7D-CE8A-CE8EFBF57C29}"/>
              </a:ext>
            </a:extLst>
          </p:cNvPr>
          <p:cNvSpPr/>
          <p:nvPr/>
        </p:nvSpPr>
        <p:spPr>
          <a:xfrm>
            <a:off x="1501357" y="2200698"/>
            <a:ext cx="625099" cy="196457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D3A45AF-7EEC-56AB-0112-98113EDB41F3}"/>
              </a:ext>
            </a:extLst>
          </p:cNvPr>
          <p:cNvSpPr/>
          <p:nvPr/>
        </p:nvSpPr>
        <p:spPr>
          <a:xfrm>
            <a:off x="3482975" y="2877891"/>
            <a:ext cx="2378075" cy="196457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538150F-0FDD-55E2-CF75-6B87DE491804}"/>
              </a:ext>
            </a:extLst>
          </p:cNvPr>
          <p:cNvSpPr txBox="1"/>
          <p:nvPr/>
        </p:nvSpPr>
        <p:spPr>
          <a:xfrm>
            <a:off x="5310666" y="2132296"/>
            <a:ext cx="29062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FF00"/>
                </a:solidFill>
              </a:rPr>
              <a:t>These are now </a:t>
            </a:r>
            <a:r>
              <a:rPr lang="en-US" sz="1400" b="1" dirty="0">
                <a:solidFill>
                  <a:srgbClr val="FFFF00"/>
                </a:solidFill>
              </a:rPr>
              <a:t>global</a:t>
            </a:r>
            <a:r>
              <a:rPr lang="en-US" sz="1400" dirty="0">
                <a:solidFill>
                  <a:srgbClr val="FFFF00"/>
                </a:solidFill>
              </a:rPr>
              <a:t> variables…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25D77CA-C64C-E5F4-916C-CD62C7A7C60D}"/>
              </a:ext>
            </a:extLst>
          </p:cNvPr>
          <p:cNvSpPr/>
          <p:nvPr/>
        </p:nvSpPr>
        <p:spPr>
          <a:xfrm>
            <a:off x="2069561" y="2878670"/>
            <a:ext cx="142622" cy="196457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53E9BB9-3DAB-5083-8EB0-6455EFAD4002}"/>
              </a:ext>
            </a:extLst>
          </p:cNvPr>
          <p:cNvSpPr/>
          <p:nvPr/>
        </p:nvSpPr>
        <p:spPr>
          <a:xfrm>
            <a:off x="3291325" y="2878670"/>
            <a:ext cx="142622" cy="196457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A57393A-E12B-07BB-F61D-27F5FD3D70A4}"/>
              </a:ext>
            </a:extLst>
          </p:cNvPr>
          <p:cNvSpPr/>
          <p:nvPr/>
        </p:nvSpPr>
        <p:spPr>
          <a:xfrm>
            <a:off x="3105042" y="2426931"/>
            <a:ext cx="791719" cy="196457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BA43995-F54F-998B-D535-C4F74950A1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605" y="1286416"/>
            <a:ext cx="8029745" cy="275130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A44844E-1A3B-8916-3DAC-BB3988707800}"/>
              </a:ext>
            </a:extLst>
          </p:cNvPr>
          <p:cNvSpPr txBox="1"/>
          <p:nvPr/>
        </p:nvSpPr>
        <p:spPr>
          <a:xfrm>
            <a:off x="5307028" y="2805154"/>
            <a:ext cx="25777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THIS IS AN </a:t>
            </a:r>
            <a:r>
              <a:rPr lang="en-US" b="1" u="sng" dirty="0"/>
              <a:t>UGLY</a:t>
            </a:r>
            <a:r>
              <a:rPr lang="en-US" b="1" dirty="0"/>
              <a:t> HACK!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DE53BC9-52AA-2F17-EC6A-6C4757C3BC7A}"/>
              </a:ext>
            </a:extLst>
          </p:cNvPr>
          <p:cNvSpPr txBox="1"/>
          <p:nvPr/>
        </p:nvSpPr>
        <p:spPr>
          <a:xfrm>
            <a:off x="1472865" y="5288595"/>
            <a:ext cx="619826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The expression </a:t>
            </a:r>
            <a:r>
              <a:rPr lang="en-US" b="1" dirty="0">
                <a:solidFill>
                  <a:srgbClr val="7030A0"/>
                </a:solidFill>
              </a:rPr>
              <a:t>start:stop:step</a:t>
            </a:r>
            <a:r>
              <a:rPr lang="en-US" dirty="0"/>
              <a:t> is a formal Python </a:t>
            </a:r>
            <a:r>
              <a:rPr lang="en-US" b="1" dirty="0">
                <a:solidFill>
                  <a:srgbClr val="FF0000"/>
                </a:solidFill>
              </a:rPr>
              <a:t>slice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object. The </a:t>
            </a:r>
            <a:r>
              <a:rPr lang="en-US" b="1" dirty="0" err="1">
                <a:solidFill>
                  <a:srgbClr val="0070C0"/>
                </a:solidFill>
              </a:rPr>
              <a:t>np.mgrid</a:t>
            </a:r>
            <a:r>
              <a:rPr lang="en-US" b="1" dirty="0">
                <a:solidFill>
                  <a:srgbClr val="0070C0"/>
                </a:solidFill>
              </a:rPr>
              <a:t> </a:t>
            </a:r>
            <a:r>
              <a:rPr lang="en-US" dirty="0"/>
              <a:t>constructor expects slices as parameter values, but if passed a </a:t>
            </a:r>
            <a:r>
              <a:rPr lang="en-US" b="1" dirty="0">
                <a:solidFill>
                  <a:srgbClr val="38BDBA"/>
                </a:solidFill>
              </a:rPr>
              <a:t>complex</a:t>
            </a:r>
            <a:r>
              <a:rPr lang="en-US" dirty="0"/>
              <a:t> </a:t>
            </a:r>
            <a:r>
              <a:rPr lang="en-US" u="sng" dirty="0"/>
              <a:t>step</a:t>
            </a:r>
            <a:r>
              <a:rPr lang="en-US" dirty="0"/>
              <a:t> value, it acts just like </a:t>
            </a:r>
            <a:r>
              <a:rPr lang="en-US" b="1" dirty="0"/>
              <a:t>np.linspace()</a:t>
            </a:r>
          </a:p>
        </p:txBody>
      </p:sp>
    </p:spTree>
    <p:extLst>
      <p:ext uri="{BB962C8B-B14F-4D97-AF65-F5344CB8AC3E}">
        <p14:creationId xmlns:p14="http://schemas.microsoft.com/office/powerpoint/2010/main" val="8349535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BC48DE-CC95-4D29-55FD-876A62AEC9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Picture 43">
            <a:extLst>
              <a:ext uri="{FF2B5EF4-FFF2-40B4-BE49-F238E27FC236}">
                <a16:creationId xmlns:a16="http://schemas.microsoft.com/office/drawing/2014/main" id="{9BDF8604-8BCE-AF95-6D99-1612BFF3211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4857" y="1456561"/>
            <a:ext cx="6914286" cy="3542857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DD131B-127C-F8DA-83C1-CFE383923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20</a:t>
            </a:fld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90F90A37-3C49-0780-781E-F6F0161639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0070C0"/>
                </a:solidFill>
                <a:latin typeface="+mn-lt"/>
              </a:rPr>
              <a:t>View</a:t>
            </a:r>
            <a:r>
              <a:rPr lang="en-US" sz="3200" dirty="0">
                <a:latin typeface="+mn-lt"/>
              </a:rPr>
              <a:t> idw.py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CD7225EF-6540-B44A-EBDF-991028D6D299}"/>
              </a:ext>
            </a:extLst>
          </p:cNvPr>
          <p:cNvGrpSpPr/>
          <p:nvPr/>
        </p:nvGrpSpPr>
        <p:grpSpPr>
          <a:xfrm>
            <a:off x="4070353" y="2345744"/>
            <a:ext cx="1064340" cy="369332"/>
            <a:chOff x="3647644" y="5421073"/>
            <a:chExt cx="1064340" cy="369332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1BDE41DE-BBF2-E1E1-8DA3-BBCBBF4DCB9D}"/>
                </a:ext>
              </a:extLst>
            </p:cNvPr>
            <p:cNvSpPr txBox="1"/>
            <p:nvPr/>
          </p:nvSpPr>
          <p:spPr>
            <a:xfrm>
              <a:off x="4328526" y="5421073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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456C0DEE-AB2E-FC07-A853-B3C60F6EC06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9443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B31D7D6-FF05-B5D1-6A97-7759CB4B65BA}"/>
              </a:ext>
            </a:extLst>
          </p:cNvPr>
          <p:cNvGrpSpPr/>
          <p:nvPr/>
        </p:nvGrpSpPr>
        <p:grpSpPr>
          <a:xfrm>
            <a:off x="4318413" y="2119298"/>
            <a:ext cx="1068643" cy="369332"/>
            <a:chOff x="3647644" y="4910075"/>
            <a:chExt cx="1068643" cy="369332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41FD64F-6D87-2D28-9571-A1D9E09B3A3E}"/>
                </a:ext>
              </a:extLst>
            </p:cNvPr>
            <p:cNvSpPr txBox="1"/>
            <p:nvPr/>
          </p:nvSpPr>
          <p:spPr>
            <a:xfrm>
              <a:off x="4332829" y="4910075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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DF90E119-03E3-54E9-7D86-D579AA88C34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094741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DDF1E4AB-C50C-A9CD-4ED5-865D3F0ACDEB}"/>
              </a:ext>
            </a:extLst>
          </p:cNvPr>
          <p:cNvGrpSpPr/>
          <p:nvPr/>
        </p:nvGrpSpPr>
        <p:grpSpPr>
          <a:xfrm>
            <a:off x="6036754" y="2796510"/>
            <a:ext cx="1068643" cy="369332"/>
            <a:chOff x="3647644" y="5359159"/>
            <a:chExt cx="1068643" cy="369332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FA5D94B1-244E-31AC-830B-C2EB1FA687F6}"/>
                </a:ext>
              </a:extLst>
            </p:cNvPr>
            <p:cNvSpPr txBox="1"/>
            <p:nvPr/>
          </p:nvSpPr>
          <p:spPr>
            <a:xfrm>
              <a:off x="4332829" y="5359159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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AF5982E8-C192-1B3A-DD22-3149C803B57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4105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6C05CD90-539A-F63E-C1B1-41FF722B6AD6}"/>
              </a:ext>
            </a:extLst>
          </p:cNvPr>
          <p:cNvGrpSpPr/>
          <p:nvPr/>
        </p:nvGrpSpPr>
        <p:grpSpPr>
          <a:xfrm>
            <a:off x="4904177" y="3474704"/>
            <a:ext cx="1076632" cy="369332"/>
            <a:chOff x="2157212" y="5356391"/>
            <a:chExt cx="1076632" cy="369332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FD9C39C7-DA9B-6E87-8A85-7845BD342D86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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FE05CBDD-8BD6-5B63-E431-8D7AB0D1EDE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3696B462-8583-DA51-0C05-5F840D680E55}"/>
              </a:ext>
            </a:extLst>
          </p:cNvPr>
          <p:cNvGrpSpPr/>
          <p:nvPr/>
        </p:nvGrpSpPr>
        <p:grpSpPr>
          <a:xfrm>
            <a:off x="5195327" y="3934257"/>
            <a:ext cx="1076632" cy="369332"/>
            <a:chOff x="2157212" y="5356391"/>
            <a:chExt cx="1076632" cy="369332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E8E5D8E0-76A3-109B-EE66-ED18848DCF01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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067BED25-EFB2-9352-5FAD-A8B6FBD6962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14ABD3BE-DD2D-8B70-B998-73AC54BA53D7}"/>
              </a:ext>
            </a:extLst>
          </p:cNvPr>
          <p:cNvGrpSpPr/>
          <p:nvPr/>
        </p:nvGrpSpPr>
        <p:grpSpPr>
          <a:xfrm>
            <a:off x="6965133" y="4286743"/>
            <a:ext cx="1076632" cy="369332"/>
            <a:chOff x="2157212" y="5356391"/>
            <a:chExt cx="1076632" cy="369332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63C3056F-5C45-9BC5-AEAE-3FA2CDE0B77B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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8970F91F-BBCD-8A86-A2DD-7200DCDD515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0A6A48BF-9B2A-72D1-72CA-2B4463A268C5}"/>
              </a:ext>
            </a:extLst>
          </p:cNvPr>
          <p:cNvGrpSpPr/>
          <p:nvPr/>
        </p:nvGrpSpPr>
        <p:grpSpPr>
          <a:xfrm>
            <a:off x="5789080" y="4627948"/>
            <a:ext cx="1076632" cy="369332"/>
            <a:chOff x="2157212" y="5356391"/>
            <a:chExt cx="1076632" cy="369332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C2BA048A-C328-D6FD-2DD6-08D60826DE70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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E159CA1F-3AB1-BDB6-5911-E22F54D4D16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5" name="Rectangle 44">
            <a:extLst>
              <a:ext uri="{FF2B5EF4-FFF2-40B4-BE49-F238E27FC236}">
                <a16:creationId xmlns:a16="http://schemas.microsoft.com/office/drawing/2014/main" id="{AE807D0C-3AE9-741D-4C22-C918526DD9AB}"/>
              </a:ext>
            </a:extLst>
          </p:cNvPr>
          <p:cNvSpPr/>
          <p:nvPr/>
        </p:nvSpPr>
        <p:spPr>
          <a:xfrm>
            <a:off x="1501357" y="2200698"/>
            <a:ext cx="625099" cy="196457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A0B9A8F-058D-0DD8-484C-18FD8A550FE1}"/>
              </a:ext>
            </a:extLst>
          </p:cNvPr>
          <p:cNvSpPr/>
          <p:nvPr/>
        </p:nvSpPr>
        <p:spPr>
          <a:xfrm>
            <a:off x="3488531" y="2877891"/>
            <a:ext cx="2372519" cy="196457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D22693E-7331-C811-8E9C-61A116BE5093}"/>
              </a:ext>
            </a:extLst>
          </p:cNvPr>
          <p:cNvSpPr/>
          <p:nvPr/>
        </p:nvSpPr>
        <p:spPr>
          <a:xfrm>
            <a:off x="2069561" y="2878670"/>
            <a:ext cx="142622" cy="196457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209248B-2426-D959-C975-3AF18AE36913}"/>
              </a:ext>
            </a:extLst>
          </p:cNvPr>
          <p:cNvSpPr/>
          <p:nvPr/>
        </p:nvSpPr>
        <p:spPr>
          <a:xfrm>
            <a:off x="3291325" y="2878670"/>
            <a:ext cx="142622" cy="196457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2B5D32B-0119-FE89-6699-9EA3E6D49EC9}"/>
              </a:ext>
            </a:extLst>
          </p:cNvPr>
          <p:cNvSpPr txBox="1"/>
          <p:nvPr/>
        </p:nvSpPr>
        <p:spPr>
          <a:xfrm>
            <a:off x="6036754" y="3427481"/>
            <a:ext cx="14981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FF00"/>
                </a:solidFill>
              </a:rPr>
              <a:t>In the real world, we would not know this!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DA94F1D-8A62-406B-A797-676E31C7FC13}"/>
              </a:ext>
            </a:extLst>
          </p:cNvPr>
          <p:cNvSpPr/>
          <p:nvPr/>
        </p:nvSpPr>
        <p:spPr>
          <a:xfrm>
            <a:off x="1515773" y="4699760"/>
            <a:ext cx="906585" cy="196457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B641220-414B-1059-16E2-8136BA298E6D}"/>
              </a:ext>
            </a:extLst>
          </p:cNvPr>
          <p:cNvSpPr/>
          <p:nvPr/>
        </p:nvSpPr>
        <p:spPr>
          <a:xfrm>
            <a:off x="3105042" y="2426931"/>
            <a:ext cx="791719" cy="196457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2DF0215-A6FA-3359-7183-E047981DD261}"/>
              </a:ext>
            </a:extLst>
          </p:cNvPr>
          <p:cNvGrpSpPr/>
          <p:nvPr/>
        </p:nvGrpSpPr>
        <p:grpSpPr>
          <a:xfrm>
            <a:off x="2975593" y="1430406"/>
            <a:ext cx="1076632" cy="369332"/>
            <a:chOff x="4968362" y="2079211"/>
            <a:chExt cx="1076632" cy="369332"/>
          </a:xfrm>
        </p:grpSpPr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898E5589-6231-4026-3C91-3065428D44A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8362" y="226387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DFEF3D56-0158-A134-8819-236E71793799}"/>
                </a:ext>
              </a:extLst>
            </p:cNvPr>
            <p:cNvSpPr txBox="1"/>
            <p:nvPr/>
          </p:nvSpPr>
          <p:spPr>
            <a:xfrm>
              <a:off x="5661536" y="207921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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981535F0-D205-A925-321E-0B1166578005}"/>
              </a:ext>
            </a:extLst>
          </p:cNvPr>
          <p:cNvGrpSpPr/>
          <p:nvPr/>
        </p:nvGrpSpPr>
        <p:grpSpPr>
          <a:xfrm>
            <a:off x="3450542" y="1649315"/>
            <a:ext cx="1076632" cy="369332"/>
            <a:chOff x="4704120" y="2356972"/>
            <a:chExt cx="1076632" cy="369332"/>
          </a:xfrm>
        </p:grpSpPr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015D7A03-9B53-634A-5DD6-983AFC01B70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04120" y="2541638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E85B5F8E-2559-C213-C159-8863F386E1E8}"/>
                </a:ext>
              </a:extLst>
            </p:cNvPr>
            <p:cNvSpPr txBox="1"/>
            <p:nvPr/>
          </p:nvSpPr>
          <p:spPr>
            <a:xfrm>
              <a:off x="5397294" y="2356972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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6332141F-1782-F4A9-BF6A-F20B32A03C87}"/>
              </a:ext>
            </a:extLst>
          </p:cNvPr>
          <p:cNvSpPr txBox="1"/>
          <p:nvPr/>
        </p:nvSpPr>
        <p:spPr>
          <a:xfrm>
            <a:off x="1472865" y="5288595"/>
            <a:ext cx="619826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The expression </a:t>
            </a:r>
            <a:r>
              <a:rPr lang="en-US" b="1" dirty="0">
                <a:solidFill>
                  <a:srgbClr val="7030A0"/>
                </a:solidFill>
              </a:rPr>
              <a:t>start:stop:step</a:t>
            </a:r>
            <a:r>
              <a:rPr lang="en-US" dirty="0"/>
              <a:t> is a formal Python </a:t>
            </a:r>
            <a:r>
              <a:rPr lang="en-US" b="1" dirty="0">
                <a:solidFill>
                  <a:srgbClr val="FF0000"/>
                </a:solidFill>
              </a:rPr>
              <a:t>slice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object. The </a:t>
            </a:r>
            <a:r>
              <a:rPr lang="en-US" b="1" dirty="0" err="1">
                <a:solidFill>
                  <a:srgbClr val="0070C0"/>
                </a:solidFill>
              </a:rPr>
              <a:t>np.mgrid</a:t>
            </a:r>
            <a:r>
              <a:rPr lang="en-US" b="1" dirty="0">
                <a:solidFill>
                  <a:srgbClr val="0070C0"/>
                </a:solidFill>
              </a:rPr>
              <a:t> </a:t>
            </a:r>
            <a:r>
              <a:rPr lang="en-US" dirty="0"/>
              <a:t>constructor expects slices as parameter values, but if passed a </a:t>
            </a:r>
            <a:r>
              <a:rPr lang="en-US" b="1" dirty="0">
                <a:solidFill>
                  <a:srgbClr val="38BDBA"/>
                </a:solidFill>
              </a:rPr>
              <a:t>complex</a:t>
            </a:r>
            <a:r>
              <a:rPr lang="en-US" dirty="0"/>
              <a:t> </a:t>
            </a:r>
            <a:r>
              <a:rPr lang="en-US" u="sng" dirty="0"/>
              <a:t>step</a:t>
            </a:r>
            <a:r>
              <a:rPr lang="en-US" dirty="0"/>
              <a:t> value, it acts just like </a:t>
            </a:r>
            <a:r>
              <a:rPr lang="en-US" b="1" dirty="0"/>
              <a:t>np.linspace()</a:t>
            </a:r>
          </a:p>
        </p:txBody>
      </p:sp>
    </p:spTree>
    <p:extLst>
      <p:ext uri="{BB962C8B-B14F-4D97-AF65-F5344CB8AC3E}">
        <p14:creationId xmlns:p14="http://schemas.microsoft.com/office/powerpoint/2010/main" val="32289315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4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21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0115AEA-EDD1-432A-B3AC-64B348E9C427}"/>
              </a:ext>
            </a:extLst>
          </p:cNvPr>
          <p:cNvSpPr txBox="1"/>
          <p:nvPr/>
        </p:nvSpPr>
        <p:spPr>
          <a:xfrm>
            <a:off x="2072148" y="714058"/>
            <a:ext cx="49997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hlinkClick r:id="rId3"/>
              </a:rPr>
              <a:t>https://www.pythonpool.com/numpy-mgrid</a:t>
            </a:r>
            <a:r>
              <a:rPr lang="en-US" dirty="0"/>
              <a:t> 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138A449-36AF-47F0-9D6E-49FB9A0496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1435" y="1383441"/>
            <a:ext cx="6161130" cy="5091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70783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36B3EC-48E1-5EB6-9A04-A1A7ACE623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10D1FE-D15B-47B4-9E08-2D916DCE5D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22</a:t>
            </a:fld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BE1EE6F4-3DB0-2948-4CC7-2DDCDA063A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0070C0"/>
                </a:solidFill>
                <a:latin typeface="+mn-lt"/>
              </a:rPr>
              <a:t>View</a:t>
            </a:r>
            <a:r>
              <a:rPr lang="en-US" sz="3200" dirty="0">
                <a:latin typeface="+mn-lt"/>
              </a:rPr>
              <a:t> idw.py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05BAB63-67CA-16FA-2589-84B7D4B5E7B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6286" y="1757571"/>
            <a:ext cx="7171428" cy="3342857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E44516EA-82C7-3084-2F2C-C4E8A1994D36}"/>
              </a:ext>
            </a:extLst>
          </p:cNvPr>
          <p:cNvGrpSpPr/>
          <p:nvPr/>
        </p:nvGrpSpPr>
        <p:grpSpPr>
          <a:xfrm>
            <a:off x="1627966" y="1765592"/>
            <a:ext cx="1076632" cy="369332"/>
            <a:chOff x="4968362" y="2079211"/>
            <a:chExt cx="1076632" cy="369332"/>
          </a:xfrm>
        </p:grpSpPr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8C51B03C-E741-884F-AEF7-E099B1DAFD8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8362" y="226387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6E91793-4CE5-2FBA-64D7-67E6A2D16681}"/>
                </a:ext>
              </a:extLst>
            </p:cNvPr>
            <p:cNvSpPr txBox="1"/>
            <p:nvPr/>
          </p:nvSpPr>
          <p:spPr>
            <a:xfrm>
              <a:off x="5661536" y="207921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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5DFB9FE9-7EC7-2D0F-BD2D-2004910ECF78}"/>
              </a:ext>
            </a:extLst>
          </p:cNvPr>
          <p:cNvGrpSpPr/>
          <p:nvPr/>
        </p:nvGrpSpPr>
        <p:grpSpPr>
          <a:xfrm>
            <a:off x="5698904" y="1990363"/>
            <a:ext cx="1076632" cy="369332"/>
            <a:chOff x="4704120" y="2356972"/>
            <a:chExt cx="1076632" cy="369332"/>
          </a:xfrm>
        </p:grpSpPr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8480D79E-FDE3-041B-3153-899558D6C5D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04120" y="2541638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78DFA6B-76CB-91D3-664C-D6B7AE83E8D3}"/>
                </a:ext>
              </a:extLst>
            </p:cNvPr>
            <p:cNvSpPr txBox="1"/>
            <p:nvPr/>
          </p:nvSpPr>
          <p:spPr>
            <a:xfrm>
              <a:off x="5397294" y="2356972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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8622B4FE-047C-D28F-B5A0-0B7838AE89C7}"/>
              </a:ext>
            </a:extLst>
          </p:cNvPr>
          <p:cNvSpPr txBox="1"/>
          <p:nvPr/>
        </p:nvSpPr>
        <p:spPr>
          <a:xfrm>
            <a:off x="2330115" y="5325199"/>
            <a:ext cx="448376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When using </a:t>
            </a:r>
            <a:r>
              <a:rPr lang="en-US" b="1" dirty="0">
                <a:solidFill>
                  <a:srgbClr val="7030A0"/>
                </a:solidFill>
              </a:rPr>
              <a:t>Numba</a:t>
            </a:r>
            <a:r>
              <a:rPr lang="en-US" dirty="0">
                <a:solidFill>
                  <a:srgbClr val="7030A0"/>
                </a:solidFill>
              </a:rPr>
              <a:t>, it is often necessary to formally declare the type of each variable if it cannot be inferred (e.g., 0.0 for float)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B8A4896-3626-2CD4-41D6-791F1909DCBB}"/>
              </a:ext>
            </a:extLst>
          </p:cNvPr>
          <p:cNvSpPr/>
          <p:nvPr/>
        </p:nvSpPr>
        <p:spPr>
          <a:xfrm>
            <a:off x="2946609" y="2062647"/>
            <a:ext cx="693174" cy="224763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832898C-3264-5FC8-7C09-D0F8A57B05FB}"/>
              </a:ext>
            </a:extLst>
          </p:cNvPr>
          <p:cNvGrpSpPr/>
          <p:nvPr/>
        </p:nvGrpSpPr>
        <p:grpSpPr>
          <a:xfrm>
            <a:off x="3725729" y="2287410"/>
            <a:ext cx="1068643" cy="369332"/>
            <a:chOff x="3647644" y="4910075"/>
            <a:chExt cx="1068643" cy="369332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96220087-5B93-0372-F267-4D7ED45ADBE5}"/>
                </a:ext>
              </a:extLst>
            </p:cNvPr>
            <p:cNvSpPr txBox="1"/>
            <p:nvPr/>
          </p:nvSpPr>
          <p:spPr>
            <a:xfrm>
              <a:off x="4332829" y="4910075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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FA20E4DC-A2EC-A602-819D-CDFADD135DB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094741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D61DFD5A-BB0F-7FEE-441D-348246E2C7EC}"/>
              </a:ext>
            </a:extLst>
          </p:cNvPr>
          <p:cNvGrpSpPr/>
          <p:nvPr/>
        </p:nvGrpSpPr>
        <p:grpSpPr>
          <a:xfrm>
            <a:off x="4291502" y="2691923"/>
            <a:ext cx="1064340" cy="369332"/>
            <a:chOff x="3647644" y="5421073"/>
            <a:chExt cx="1064340" cy="369332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54721F1C-196F-AC26-2603-D6BB65460E2B}"/>
                </a:ext>
              </a:extLst>
            </p:cNvPr>
            <p:cNvSpPr txBox="1"/>
            <p:nvPr/>
          </p:nvSpPr>
          <p:spPr>
            <a:xfrm>
              <a:off x="4328526" y="5421073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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8D0A65D5-C133-B275-054D-687D0903E57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9443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6C4C07A4-B91B-E4A7-E282-CB8857254D36}"/>
              </a:ext>
            </a:extLst>
          </p:cNvPr>
          <p:cNvGrpSpPr/>
          <p:nvPr/>
        </p:nvGrpSpPr>
        <p:grpSpPr>
          <a:xfrm>
            <a:off x="3782313" y="2916694"/>
            <a:ext cx="1068643" cy="369332"/>
            <a:chOff x="3647644" y="5359159"/>
            <a:chExt cx="1068643" cy="369332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210D8C0C-2C4C-4B9F-3D5C-CE79F48D2956}"/>
                </a:ext>
              </a:extLst>
            </p:cNvPr>
            <p:cNvSpPr txBox="1"/>
            <p:nvPr/>
          </p:nvSpPr>
          <p:spPr>
            <a:xfrm>
              <a:off x="4332829" y="5359159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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8769D3B4-CF48-76F3-9A7F-CE678197765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4105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1" name="Rectangle 50">
            <a:extLst>
              <a:ext uri="{FF2B5EF4-FFF2-40B4-BE49-F238E27FC236}">
                <a16:creationId xmlns:a16="http://schemas.microsoft.com/office/drawing/2014/main" id="{70A92B3C-7612-D968-048A-4D439F854871}"/>
              </a:ext>
            </a:extLst>
          </p:cNvPr>
          <p:cNvSpPr/>
          <p:nvPr/>
        </p:nvSpPr>
        <p:spPr>
          <a:xfrm>
            <a:off x="2834313" y="2990579"/>
            <a:ext cx="805469" cy="224763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E425785-4A8F-AB06-8EF1-1D69AF96632C}"/>
              </a:ext>
            </a:extLst>
          </p:cNvPr>
          <p:cNvSpPr txBox="1"/>
          <p:nvPr/>
        </p:nvSpPr>
        <p:spPr>
          <a:xfrm>
            <a:off x="4794372" y="2919944"/>
            <a:ext cx="25689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FF00"/>
                </a:solidFill>
              </a:rPr>
              <a:t>Pythagorean Distance Formula </a:t>
            </a: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215BFCBB-FC97-ACBB-B2A6-D2E3BC21230D}"/>
              </a:ext>
            </a:extLst>
          </p:cNvPr>
          <p:cNvGrpSpPr/>
          <p:nvPr/>
        </p:nvGrpSpPr>
        <p:grpSpPr>
          <a:xfrm>
            <a:off x="3469523" y="3577252"/>
            <a:ext cx="1076632" cy="369332"/>
            <a:chOff x="2157212" y="5356391"/>
            <a:chExt cx="1076632" cy="369332"/>
          </a:xfrm>
        </p:grpSpPr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61FF1A0E-1D7F-10FE-2BFE-A362821782E0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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39F3D22C-2E30-2065-A55C-7E10D57689F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6" name="TextBox 55">
            <a:extLst>
              <a:ext uri="{FF2B5EF4-FFF2-40B4-BE49-F238E27FC236}">
                <a16:creationId xmlns:a16="http://schemas.microsoft.com/office/drawing/2014/main" id="{7B2643DB-F04D-2607-20C2-79CD959B36F3}"/>
              </a:ext>
            </a:extLst>
          </p:cNvPr>
          <p:cNvSpPr txBox="1"/>
          <p:nvPr/>
        </p:nvSpPr>
        <p:spPr>
          <a:xfrm>
            <a:off x="4794372" y="3549727"/>
            <a:ext cx="27532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FF00"/>
                </a:solidFill>
              </a:rPr>
              <a:t>If we are at a sampled point, use the measured depth</a:t>
            </a:r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1A94EC74-00C4-D1B9-C226-527600C075FA}"/>
              </a:ext>
            </a:extLst>
          </p:cNvPr>
          <p:cNvGrpSpPr/>
          <p:nvPr/>
        </p:nvGrpSpPr>
        <p:grpSpPr>
          <a:xfrm>
            <a:off x="5956422" y="4055004"/>
            <a:ext cx="1076632" cy="369332"/>
            <a:chOff x="2157212" y="5356391"/>
            <a:chExt cx="1076632" cy="369332"/>
          </a:xfrm>
        </p:grpSpPr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C1B41BDA-D764-0E8C-61DA-6B9F860328C1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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1913A756-114E-5420-9413-463890A0E4E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0" name="Rectangle 59">
            <a:extLst>
              <a:ext uri="{FF2B5EF4-FFF2-40B4-BE49-F238E27FC236}">
                <a16:creationId xmlns:a16="http://schemas.microsoft.com/office/drawing/2014/main" id="{2644C5C4-16A7-2108-B30B-DA8815059079}"/>
              </a:ext>
            </a:extLst>
          </p:cNvPr>
          <p:cNvSpPr/>
          <p:nvPr/>
        </p:nvSpPr>
        <p:spPr>
          <a:xfrm>
            <a:off x="4638089" y="2057724"/>
            <a:ext cx="818804" cy="224763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18FDA5F-439A-2D41-0A9F-C2ED1A9FDACC}"/>
              </a:ext>
            </a:extLst>
          </p:cNvPr>
          <p:cNvSpPr txBox="1"/>
          <p:nvPr/>
        </p:nvSpPr>
        <p:spPr>
          <a:xfrm>
            <a:off x="6392078" y="4326119"/>
            <a:ext cx="15021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FFFF00"/>
                </a:solidFill>
              </a:rPr>
              <a:t>p</a:t>
            </a:r>
            <a:r>
              <a:rPr lang="en-US" sz="1400" dirty="0">
                <a:solidFill>
                  <a:srgbClr val="FFFF00"/>
                </a:solidFill>
              </a:rPr>
              <a:t> is a </a:t>
            </a:r>
            <a:r>
              <a:rPr lang="en-US" sz="1400" i="1" dirty="0">
                <a:solidFill>
                  <a:srgbClr val="FFFF00"/>
                </a:solidFill>
              </a:rPr>
              <a:t>tunable</a:t>
            </a:r>
            <a:r>
              <a:rPr lang="en-US" sz="1400" dirty="0">
                <a:solidFill>
                  <a:srgbClr val="FFFF00"/>
                </a:solidFill>
              </a:rPr>
              <a:t> power parameter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030EA3C5-6348-D201-7A0E-4A267D32442C}"/>
              </a:ext>
            </a:extLst>
          </p:cNvPr>
          <p:cNvSpPr/>
          <p:nvPr/>
        </p:nvSpPr>
        <p:spPr>
          <a:xfrm>
            <a:off x="5648325" y="4127288"/>
            <a:ext cx="166938" cy="224763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32190BF5-5A24-4B71-E189-9553B2ADBA32}"/>
              </a:ext>
            </a:extLst>
          </p:cNvPr>
          <p:cNvGrpSpPr/>
          <p:nvPr/>
        </p:nvGrpSpPr>
        <p:grpSpPr>
          <a:xfrm>
            <a:off x="4969983" y="4735106"/>
            <a:ext cx="1076632" cy="369332"/>
            <a:chOff x="2157212" y="5356391"/>
            <a:chExt cx="1076632" cy="369332"/>
          </a:xfrm>
        </p:grpSpPr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B405B8CF-260A-9B82-47BF-47052A5C703D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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65" name="Straight Arrow Connector 64">
              <a:extLst>
                <a:ext uri="{FF2B5EF4-FFF2-40B4-BE49-F238E27FC236}">
                  <a16:creationId xmlns:a16="http://schemas.microsoft.com/office/drawing/2014/main" id="{234EA592-8E11-072A-3639-4C1D34BDF42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0354055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8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000"/>
                            </p:stCondLst>
                            <p:childTnLst>
                              <p:par>
                                <p:cTn id="64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6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1500"/>
                            </p:stCondLst>
                            <p:childTnLst>
                              <p:par>
                                <p:cTn id="6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 animBg="1"/>
      <p:bldP spid="51" grpId="0" animBg="1"/>
      <p:bldP spid="52" grpId="0"/>
      <p:bldP spid="56" grpId="0"/>
      <p:bldP spid="60" grpId="0" animBg="1"/>
      <p:bldP spid="61" grpId="0"/>
      <p:bldP spid="62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9F5A91-397A-E069-BD2C-7D4F5D14C3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7F490DC-C5A0-BEFF-6527-8E7603FA9E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4381" y="1757824"/>
            <a:ext cx="5295238" cy="1695238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CB6BEE-03B7-6A32-72B0-F21B6C9F9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23</a:t>
            </a:fld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197C5132-9FAE-03ED-8F5A-A84FF5113D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0070C0"/>
                </a:solidFill>
                <a:latin typeface="+mn-lt"/>
              </a:rPr>
              <a:t>View</a:t>
            </a:r>
            <a:r>
              <a:rPr lang="en-US" sz="3200" dirty="0">
                <a:latin typeface="+mn-lt"/>
              </a:rPr>
              <a:t> idw.py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40D8916-4342-7818-6C34-DBDF2EF94A45}"/>
              </a:ext>
            </a:extLst>
          </p:cNvPr>
          <p:cNvGrpSpPr/>
          <p:nvPr/>
        </p:nvGrpSpPr>
        <p:grpSpPr>
          <a:xfrm>
            <a:off x="6581220" y="1741782"/>
            <a:ext cx="1076632" cy="369332"/>
            <a:chOff x="4968362" y="2079211"/>
            <a:chExt cx="1076632" cy="369332"/>
          </a:xfrm>
        </p:grpSpPr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D6C6B500-A15E-F3AA-6E8C-CFE96463744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8362" y="226387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A6E181A-D208-1084-9E8D-CF913BA9A16D}"/>
                </a:ext>
              </a:extLst>
            </p:cNvPr>
            <p:cNvSpPr txBox="1"/>
            <p:nvPr/>
          </p:nvSpPr>
          <p:spPr>
            <a:xfrm>
              <a:off x="5661536" y="207921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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319F48AD-7A95-A084-EE5B-BC3B6AF6952A}"/>
              </a:ext>
            </a:extLst>
          </p:cNvPr>
          <p:cNvSpPr/>
          <p:nvPr/>
        </p:nvSpPr>
        <p:spPr>
          <a:xfrm>
            <a:off x="3362325" y="1814066"/>
            <a:ext cx="792580" cy="224763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B8208D8-E8B7-E72C-39E9-F123C6F19EA5}"/>
              </a:ext>
            </a:extLst>
          </p:cNvPr>
          <p:cNvGrpSpPr/>
          <p:nvPr/>
        </p:nvGrpSpPr>
        <p:grpSpPr>
          <a:xfrm>
            <a:off x="3532209" y="1974782"/>
            <a:ext cx="1076632" cy="369332"/>
            <a:chOff x="4704120" y="2356972"/>
            <a:chExt cx="1076632" cy="369332"/>
          </a:xfrm>
        </p:grpSpPr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6078A156-3E82-BF0F-4212-AD3E987CAA1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04120" y="2541638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146A33CB-E115-E7AC-268B-9AFBD8BD9594}"/>
                </a:ext>
              </a:extLst>
            </p:cNvPr>
            <p:cNvSpPr txBox="1"/>
            <p:nvPr/>
          </p:nvSpPr>
          <p:spPr>
            <a:xfrm>
              <a:off x="5397294" y="2356972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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2D0EAEE-08DF-C818-BAEC-F6D727FA8373}"/>
              </a:ext>
            </a:extLst>
          </p:cNvPr>
          <p:cNvGrpSpPr/>
          <p:nvPr/>
        </p:nvGrpSpPr>
        <p:grpSpPr>
          <a:xfrm>
            <a:off x="5173572" y="2191740"/>
            <a:ext cx="1068643" cy="369332"/>
            <a:chOff x="3647644" y="4910075"/>
            <a:chExt cx="1068643" cy="369332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43C926A1-9AB8-68D9-F145-5ACE3FB6348D}"/>
                </a:ext>
              </a:extLst>
            </p:cNvPr>
            <p:cNvSpPr txBox="1"/>
            <p:nvPr/>
          </p:nvSpPr>
          <p:spPr>
            <a:xfrm>
              <a:off x="4332829" y="4910075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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5831BAE2-9ABE-9A31-C0B7-A7EC337E6C6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094741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8F3C223C-7212-EDA6-5DA3-EAB503414517}"/>
              </a:ext>
            </a:extLst>
          </p:cNvPr>
          <p:cNvSpPr/>
          <p:nvPr/>
        </p:nvSpPr>
        <p:spPr>
          <a:xfrm>
            <a:off x="3057334" y="2264024"/>
            <a:ext cx="1274034" cy="224763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B1B1410-CBBB-B37E-9B78-AFFF62F373C8}"/>
              </a:ext>
            </a:extLst>
          </p:cNvPr>
          <p:cNvGrpSpPr/>
          <p:nvPr/>
        </p:nvGrpSpPr>
        <p:grpSpPr>
          <a:xfrm>
            <a:off x="5334576" y="2420777"/>
            <a:ext cx="1064340" cy="369332"/>
            <a:chOff x="3647644" y="5421073"/>
            <a:chExt cx="1064340" cy="369332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B0472818-EAAC-F4A8-907F-E660CDA34F78}"/>
                </a:ext>
              </a:extLst>
            </p:cNvPr>
            <p:cNvSpPr txBox="1"/>
            <p:nvPr/>
          </p:nvSpPr>
          <p:spPr>
            <a:xfrm>
              <a:off x="4328526" y="5421073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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060E722C-E2F0-FBDD-CDF7-34DEF2A19D3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9443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26D08A17-EB5C-D17B-749F-DF38B76EE7FE}"/>
              </a:ext>
            </a:extLst>
          </p:cNvPr>
          <p:cNvGrpSpPr/>
          <p:nvPr/>
        </p:nvGrpSpPr>
        <p:grpSpPr>
          <a:xfrm>
            <a:off x="5682863" y="2654270"/>
            <a:ext cx="1068643" cy="369332"/>
            <a:chOff x="3647644" y="5359159"/>
            <a:chExt cx="1068643" cy="369332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0CCA8342-2F91-DF62-3DD2-295419F82A06}"/>
                </a:ext>
              </a:extLst>
            </p:cNvPr>
            <p:cNvSpPr txBox="1"/>
            <p:nvPr/>
          </p:nvSpPr>
          <p:spPr>
            <a:xfrm>
              <a:off x="4332829" y="5359159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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E62E6280-1F55-814E-EEE5-E255D91DEB7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4105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26958EF0-D008-61F4-B62B-684705B34957}"/>
              </a:ext>
            </a:extLst>
          </p:cNvPr>
          <p:cNvGrpSpPr/>
          <p:nvPr/>
        </p:nvGrpSpPr>
        <p:grpSpPr>
          <a:xfrm>
            <a:off x="7118529" y="2870367"/>
            <a:ext cx="1076632" cy="369332"/>
            <a:chOff x="2157212" y="5356391"/>
            <a:chExt cx="1076632" cy="369332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DED24A48-90F0-9367-CCD7-D5DD10A1B98B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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34308EC9-3B4A-0DE4-5035-32BD88E7497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E2889E01-325A-D086-872D-E1D91D35AEC4}"/>
              </a:ext>
            </a:extLst>
          </p:cNvPr>
          <p:cNvGrpSpPr/>
          <p:nvPr/>
        </p:nvGrpSpPr>
        <p:grpSpPr>
          <a:xfrm>
            <a:off x="3541780" y="3111955"/>
            <a:ext cx="1076632" cy="369332"/>
            <a:chOff x="2157212" y="5356391"/>
            <a:chExt cx="1076632" cy="369332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087594BD-23B2-0C4B-044C-BBAB2971B736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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629BF2E9-DE5A-AD69-57FB-306230E3CDD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Rectangle 29">
            <a:extLst>
              <a:ext uri="{FF2B5EF4-FFF2-40B4-BE49-F238E27FC236}">
                <a16:creationId xmlns:a16="http://schemas.microsoft.com/office/drawing/2014/main" id="{569D5DB1-BA1A-A4DA-B58C-AF63C30C3D98}"/>
              </a:ext>
            </a:extLst>
          </p:cNvPr>
          <p:cNvSpPr/>
          <p:nvPr/>
        </p:nvSpPr>
        <p:spPr>
          <a:xfrm>
            <a:off x="4257466" y="1814065"/>
            <a:ext cx="2141449" cy="224763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5D79325-04A7-7DD0-8D35-577DF89E105F}"/>
              </a:ext>
            </a:extLst>
          </p:cNvPr>
          <p:cNvSpPr/>
          <p:nvPr/>
        </p:nvSpPr>
        <p:spPr>
          <a:xfrm>
            <a:off x="4572000" y="2953035"/>
            <a:ext cx="2491754" cy="224763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9A3513C-FEB8-B72D-FDE1-1CDCFCF46D9E}"/>
              </a:ext>
            </a:extLst>
          </p:cNvPr>
          <p:cNvSpPr/>
          <p:nvPr/>
        </p:nvSpPr>
        <p:spPr>
          <a:xfrm>
            <a:off x="3091808" y="2949071"/>
            <a:ext cx="1274034" cy="224763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84E7545-EA9B-A012-2EBC-42541047F89A}"/>
              </a:ext>
            </a:extLst>
          </p:cNvPr>
          <p:cNvSpPr txBox="1"/>
          <p:nvPr/>
        </p:nvSpPr>
        <p:spPr>
          <a:xfrm>
            <a:off x="2532938" y="3738755"/>
            <a:ext cx="41709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err="1">
                <a:solidFill>
                  <a:srgbClr val="7030A0"/>
                </a:solidFill>
              </a:rPr>
              <a:t>est_z</a:t>
            </a:r>
            <a:r>
              <a:rPr lang="en-US" dirty="0">
                <a:solidFill>
                  <a:srgbClr val="7030A0"/>
                </a:solidFill>
              </a:rPr>
              <a:t> is a NumPy array of type </a:t>
            </a:r>
            <a:r>
              <a:rPr lang="en-US" b="1" dirty="0">
                <a:solidFill>
                  <a:srgbClr val="7030A0"/>
                </a:solidFill>
              </a:rPr>
              <a:t>np.float64</a:t>
            </a:r>
          </a:p>
          <a:p>
            <a:pPr algn="ctr"/>
            <a:r>
              <a:rPr lang="en-US" dirty="0">
                <a:solidFill>
                  <a:srgbClr val="7030A0"/>
                </a:solidFill>
              </a:rPr>
              <a:t>However, its </a:t>
            </a:r>
            <a:r>
              <a:rPr lang="en-US" i="1" dirty="0">
                <a:solidFill>
                  <a:srgbClr val="7030A0"/>
                </a:solidFill>
              </a:rPr>
              <a:t>shape</a:t>
            </a:r>
            <a:r>
              <a:rPr lang="en-US" dirty="0">
                <a:solidFill>
                  <a:srgbClr val="7030A0"/>
                </a:solidFill>
              </a:rPr>
              <a:t> is that of a 2D matrix,</a:t>
            </a:r>
          </a:p>
          <a:p>
            <a:pPr algn="ctr"/>
            <a:r>
              <a:rPr lang="en-US" dirty="0">
                <a:solidFill>
                  <a:srgbClr val="7030A0"/>
                </a:solidFill>
              </a:rPr>
              <a:t>not a 1D vector</a:t>
            </a:r>
          </a:p>
        </p:txBody>
      </p:sp>
    </p:spTree>
    <p:extLst>
      <p:ext uri="{BB962C8B-B14F-4D97-AF65-F5344CB8AC3E}">
        <p14:creationId xmlns:p14="http://schemas.microsoft.com/office/powerpoint/2010/main" val="22819624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000"/>
                            </p:stCondLst>
                            <p:childTnLst>
                              <p:par>
                                <p:cTn id="6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7" grpId="0" animBg="1"/>
      <p:bldP spid="30" grpId="0" animBg="1"/>
      <p:bldP spid="31" grpId="0" animBg="1"/>
      <p:bldP spid="32" grpId="0" animBg="1"/>
      <p:bldP spid="33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8E506C-02BA-190B-7692-0FB51FA31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B64403-DFAC-214D-B82C-5F8084B93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24</a:t>
            </a:fld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459764A3-3569-4172-2B20-4ED0B611D0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0070C0"/>
                </a:solidFill>
                <a:latin typeface="+mn-lt"/>
              </a:rPr>
              <a:t>View</a:t>
            </a:r>
            <a:r>
              <a:rPr lang="en-US" sz="3200" dirty="0">
                <a:latin typeface="+mn-lt"/>
              </a:rPr>
              <a:t> idw.py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A295B49-982B-BC9F-93AD-333F7ACB9F7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419" y="1286756"/>
            <a:ext cx="7289162" cy="5069595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564C5DE3-C1AE-5174-0857-6020945E0F68}"/>
              </a:ext>
            </a:extLst>
          </p:cNvPr>
          <p:cNvGrpSpPr/>
          <p:nvPr/>
        </p:nvGrpSpPr>
        <p:grpSpPr>
          <a:xfrm>
            <a:off x="3568185" y="2879499"/>
            <a:ext cx="1076632" cy="369332"/>
            <a:chOff x="4968362" y="2079211"/>
            <a:chExt cx="1076632" cy="369332"/>
          </a:xfrm>
        </p:grpSpPr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F863407D-1411-9014-7ACB-5A331532E7A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8362" y="226387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2AE854D-2856-27E8-4C02-A038B56B070C}"/>
                </a:ext>
              </a:extLst>
            </p:cNvPr>
            <p:cNvSpPr txBox="1"/>
            <p:nvPr/>
          </p:nvSpPr>
          <p:spPr>
            <a:xfrm>
              <a:off x="5661536" y="207921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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A415730-83B1-AF56-09A5-51823F28FB31}"/>
              </a:ext>
            </a:extLst>
          </p:cNvPr>
          <p:cNvGrpSpPr/>
          <p:nvPr/>
        </p:nvGrpSpPr>
        <p:grpSpPr>
          <a:xfrm>
            <a:off x="3396865" y="3102168"/>
            <a:ext cx="1076632" cy="369332"/>
            <a:chOff x="4704120" y="2356972"/>
            <a:chExt cx="1076632" cy="369332"/>
          </a:xfrm>
        </p:grpSpPr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81645CAB-DCC6-EB66-04F3-CF6881DEF6D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04120" y="2541638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7ED38049-D7DB-B548-C352-3DB4A81003AB}"/>
                </a:ext>
              </a:extLst>
            </p:cNvPr>
            <p:cNvSpPr txBox="1"/>
            <p:nvPr/>
          </p:nvSpPr>
          <p:spPr>
            <a:xfrm>
              <a:off x="5397294" y="2356972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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C88268DD-8020-248E-563C-FB6389B2ACFF}"/>
              </a:ext>
            </a:extLst>
          </p:cNvPr>
          <p:cNvGrpSpPr/>
          <p:nvPr/>
        </p:nvGrpSpPr>
        <p:grpSpPr>
          <a:xfrm>
            <a:off x="5690884" y="3519071"/>
            <a:ext cx="1068643" cy="369332"/>
            <a:chOff x="3647644" y="4910075"/>
            <a:chExt cx="1068643" cy="369332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ADD544D4-0D48-2567-FB52-A6CEF6254B3F}"/>
                </a:ext>
              </a:extLst>
            </p:cNvPr>
            <p:cNvSpPr txBox="1"/>
            <p:nvPr/>
          </p:nvSpPr>
          <p:spPr>
            <a:xfrm>
              <a:off x="4332829" y="4910075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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8D4EAC6D-7F77-4A91-2C4D-09FFCE6E6F5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094741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01030EBA-C9F9-24D1-8E1A-2C7EFDEFCAD2}"/>
              </a:ext>
            </a:extLst>
          </p:cNvPr>
          <p:cNvSpPr/>
          <p:nvPr/>
        </p:nvSpPr>
        <p:spPr>
          <a:xfrm>
            <a:off x="1328864" y="1319073"/>
            <a:ext cx="1069431" cy="22138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43F9EF33-C0BE-6C9F-3339-804CB7FB6521}"/>
              </a:ext>
            </a:extLst>
          </p:cNvPr>
          <p:cNvGrpSpPr/>
          <p:nvPr/>
        </p:nvGrpSpPr>
        <p:grpSpPr>
          <a:xfrm>
            <a:off x="4302808" y="1667187"/>
            <a:ext cx="1064340" cy="369332"/>
            <a:chOff x="3647644" y="5421073"/>
            <a:chExt cx="1064340" cy="369332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43B406A-B421-3C66-FA9A-A4B0E2557F0B}"/>
                </a:ext>
              </a:extLst>
            </p:cNvPr>
            <p:cNvSpPr txBox="1"/>
            <p:nvPr/>
          </p:nvSpPr>
          <p:spPr>
            <a:xfrm>
              <a:off x="4328526" y="5421073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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57" name="Straight Arrow Connector 56">
              <a:extLst>
                <a:ext uri="{FF2B5EF4-FFF2-40B4-BE49-F238E27FC236}">
                  <a16:creationId xmlns:a16="http://schemas.microsoft.com/office/drawing/2014/main" id="{2E505086-3F60-A07D-FFE8-8298D1136F2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9443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A117411A-AC84-F677-494E-3DD4D586BC66}"/>
              </a:ext>
            </a:extLst>
          </p:cNvPr>
          <p:cNvGrpSpPr/>
          <p:nvPr/>
        </p:nvGrpSpPr>
        <p:grpSpPr>
          <a:xfrm>
            <a:off x="4676901" y="2070004"/>
            <a:ext cx="1068643" cy="369332"/>
            <a:chOff x="3647644" y="5359159"/>
            <a:chExt cx="1068643" cy="369332"/>
          </a:xfrm>
        </p:grpSpPr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92672FCD-A44A-0429-4BA0-7481E72A6A5A}"/>
                </a:ext>
              </a:extLst>
            </p:cNvPr>
            <p:cNvSpPr txBox="1"/>
            <p:nvPr/>
          </p:nvSpPr>
          <p:spPr>
            <a:xfrm>
              <a:off x="4332829" y="5359159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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60" name="Straight Arrow Connector 59">
              <a:extLst>
                <a:ext uri="{FF2B5EF4-FFF2-40B4-BE49-F238E27FC236}">
                  <a16:creationId xmlns:a16="http://schemas.microsoft.com/office/drawing/2014/main" id="{3AFC3CF4-579D-D8D5-1D0E-6B939ADCE03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4105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C5AF5811-60D4-59B5-DA9A-AA03133C902B}"/>
              </a:ext>
            </a:extLst>
          </p:cNvPr>
          <p:cNvGrpSpPr/>
          <p:nvPr/>
        </p:nvGrpSpPr>
        <p:grpSpPr>
          <a:xfrm>
            <a:off x="2400859" y="2278733"/>
            <a:ext cx="1076632" cy="369332"/>
            <a:chOff x="2157212" y="5356391"/>
            <a:chExt cx="1076632" cy="369332"/>
          </a:xfrm>
        </p:grpSpPr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E01A6466-C438-A763-7FCF-A03306BA8E52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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63" name="Straight Arrow Connector 62">
              <a:extLst>
                <a:ext uri="{FF2B5EF4-FFF2-40B4-BE49-F238E27FC236}">
                  <a16:creationId xmlns:a16="http://schemas.microsoft.com/office/drawing/2014/main" id="{895630DD-72D9-0329-C750-BC96CB7B2A4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CFB54D8B-3444-2C16-5928-FB9F6900CD67}"/>
              </a:ext>
            </a:extLst>
          </p:cNvPr>
          <p:cNvGrpSpPr/>
          <p:nvPr/>
        </p:nvGrpSpPr>
        <p:grpSpPr>
          <a:xfrm>
            <a:off x="5360763" y="3715610"/>
            <a:ext cx="1076632" cy="369332"/>
            <a:chOff x="2157212" y="5356391"/>
            <a:chExt cx="1076632" cy="369332"/>
          </a:xfrm>
        </p:grpSpPr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01A5EAA0-CFF8-2995-59CF-9C2CA265298F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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66" name="Straight Arrow Connector 65">
              <a:extLst>
                <a:ext uri="{FF2B5EF4-FFF2-40B4-BE49-F238E27FC236}">
                  <a16:creationId xmlns:a16="http://schemas.microsoft.com/office/drawing/2014/main" id="{12DD91F4-2BF3-B245-3AF9-25D9E30A755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0B83D848-C574-120A-DE87-D08C955B74CA}"/>
              </a:ext>
            </a:extLst>
          </p:cNvPr>
          <p:cNvGrpSpPr/>
          <p:nvPr/>
        </p:nvGrpSpPr>
        <p:grpSpPr>
          <a:xfrm>
            <a:off x="3292099" y="4757262"/>
            <a:ext cx="1076632" cy="369332"/>
            <a:chOff x="2157212" y="5356391"/>
            <a:chExt cx="1076632" cy="369332"/>
          </a:xfrm>
        </p:grpSpPr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CEE459B4-074C-8818-D862-27BE1F7DEE56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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69" name="Straight Arrow Connector 68">
              <a:extLst>
                <a:ext uri="{FF2B5EF4-FFF2-40B4-BE49-F238E27FC236}">
                  <a16:creationId xmlns:a16="http://schemas.microsoft.com/office/drawing/2014/main" id="{E369F7DF-CE7D-A45F-A4E4-87047435EEE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FF8FA494-4716-2CEE-1168-61220660F01F}"/>
              </a:ext>
            </a:extLst>
          </p:cNvPr>
          <p:cNvGrpSpPr/>
          <p:nvPr/>
        </p:nvGrpSpPr>
        <p:grpSpPr>
          <a:xfrm>
            <a:off x="8078906" y="5169828"/>
            <a:ext cx="1076632" cy="369332"/>
            <a:chOff x="2157212" y="5356391"/>
            <a:chExt cx="1076632" cy="369332"/>
          </a:xfrm>
        </p:grpSpPr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5012A12E-1906-33F2-16CF-6A29F018B3B5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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72" name="Straight Arrow Connector 71">
              <a:extLst>
                <a:ext uri="{FF2B5EF4-FFF2-40B4-BE49-F238E27FC236}">
                  <a16:creationId xmlns:a16="http://schemas.microsoft.com/office/drawing/2014/main" id="{76A2EF20-E585-15E0-F302-833CB93AE61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4F89F6FF-FC46-7A71-9DFD-D2AFCA48F89E}"/>
              </a:ext>
            </a:extLst>
          </p:cNvPr>
          <p:cNvGrpSpPr/>
          <p:nvPr/>
        </p:nvGrpSpPr>
        <p:grpSpPr>
          <a:xfrm>
            <a:off x="7958091" y="5790518"/>
            <a:ext cx="1076632" cy="369332"/>
            <a:chOff x="2157212" y="5356391"/>
            <a:chExt cx="1076632" cy="369332"/>
          </a:xfrm>
        </p:grpSpPr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1EAAD1A8-D6D1-A277-498A-3577CD492018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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75" name="Straight Arrow Connector 74">
              <a:extLst>
                <a:ext uri="{FF2B5EF4-FFF2-40B4-BE49-F238E27FC236}">
                  <a16:creationId xmlns:a16="http://schemas.microsoft.com/office/drawing/2014/main" id="{E44634BE-43A4-1AB8-3991-0DAF3E91AFB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Rectangle 75">
            <a:extLst>
              <a:ext uri="{FF2B5EF4-FFF2-40B4-BE49-F238E27FC236}">
                <a16:creationId xmlns:a16="http://schemas.microsoft.com/office/drawing/2014/main" id="{A60B3EB6-F29F-E4C5-6EF7-FB874B2A1F3D}"/>
              </a:ext>
            </a:extLst>
          </p:cNvPr>
          <p:cNvSpPr/>
          <p:nvPr/>
        </p:nvSpPr>
        <p:spPr>
          <a:xfrm>
            <a:off x="1599107" y="4839259"/>
            <a:ext cx="1692992" cy="22138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5D407A34-68FA-2792-2777-12ECA0E1ED37}"/>
              </a:ext>
            </a:extLst>
          </p:cNvPr>
          <p:cNvSpPr/>
          <p:nvPr/>
        </p:nvSpPr>
        <p:spPr>
          <a:xfrm>
            <a:off x="2014271" y="5243804"/>
            <a:ext cx="1079762" cy="22138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3328A95E-4682-D41B-6F85-36CADBB6270E}"/>
              </a:ext>
            </a:extLst>
          </p:cNvPr>
          <p:cNvSpPr txBox="1"/>
          <p:nvPr/>
        </p:nvSpPr>
        <p:spPr>
          <a:xfrm>
            <a:off x="4098787" y="4775842"/>
            <a:ext cx="19262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n>
                  <a:solidFill>
                    <a:srgbClr val="FFFF00"/>
                  </a:solidFill>
                </a:ln>
                <a:solidFill>
                  <a:srgbClr val="FFFF00"/>
                </a:solidFill>
              </a:rPr>
              <a:t>Actual Sea Floor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5A279E1-0FE5-844C-A5AA-AA283903638E}"/>
              </a:ext>
            </a:extLst>
          </p:cNvPr>
          <p:cNvSpPr txBox="1"/>
          <p:nvPr/>
        </p:nvSpPr>
        <p:spPr>
          <a:xfrm>
            <a:off x="5690884" y="2034516"/>
            <a:ext cx="23451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n>
                  <a:solidFill>
                    <a:srgbClr val="FFFF00"/>
                  </a:solidFill>
                </a:ln>
                <a:solidFill>
                  <a:srgbClr val="FFFF00"/>
                </a:solidFill>
              </a:rPr>
              <a:t>Flattens the 2D z-array using Fortran (column-major) order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DB6B03-7892-7B66-E1A8-1C2C288FDA8B}"/>
              </a:ext>
            </a:extLst>
          </p:cNvPr>
          <p:cNvSpPr txBox="1"/>
          <p:nvPr/>
        </p:nvSpPr>
        <p:spPr>
          <a:xfrm>
            <a:off x="3464434" y="4096094"/>
            <a:ext cx="44858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n>
                  <a:solidFill>
                    <a:srgbClr val="FFFF00"/>
                  </a:solidFill>
                </a:ln>
                <a:solidFill>
                  <a:srgbClr val="FFFF00"/>
                </a:solidFill>
              </a:rPr>
              <a:t>A bag of disconnected points with no implied connectivity</a:t>
            </a:r>
          </a:p>
        </p:txBody>
      </p:sp>
    </p:spTree>
    <p:extLst>
      <p:ext uri="{BB962C8B-B14F-4D97-AF65-F5344CB8AC3E}">
        <p14:creationId xmlns:p14="http://schemas.microsoft.com/office/powerpoint/2010/main" val="24657174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5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5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9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000"/>
                            </p:stCondLst>
                            <p:childTnLst>
                              <p:par>
                                <p:cTn id="6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8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00"/>
                            </p:stCondLst>
                            <p:childTnLst>
                              <p:par>
                                <p:cTn id="70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2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76" grpId="0" animBg="1"/>
      <p:bldP spid="77" grpId="0" animBg="1"/>
      <p:bldP spid="78" grpId="0"/>
      <p:bldP spid="2" grpId="0"/>
      <p:bldP spid="3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A1C684-6C75-D14D-9FAE-E7BBAFAED4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4BB29A1-2EE6-447E-9C7F-9338230344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7176" y="1270266"/>
            <a:ext cx="6629648" cy="5222607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E8EE04-5039-7D96-2533-64B40F34D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25</a:t>
            </a:fld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5C4A3D9F-72F3-A356-F045-B076F4B21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0070C0"/>
                </a:solidFill>
                <a:latin typeface="+mn-lt"/>
              </a:rPr>
              <a:t>View</a:t>
            </a:r>
            <a:r>
              <a:rPr lang="en-US" sz="3200" dirty="0">
                <a:latin typeface="+mn-lt"/>
              </a:rPr>
              <a:t> idw.py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B0FE1B0-3CBD-E9AD-F0DB-36AC0EDA866D}"/>
              </a:ext>
            </a:extLst>
          </p:cNvPr>
          <p:cNvGrpSpPr/>
          <p:nvPr/>
        </p:nvGrpSpPr>
        <p:grpSpPr>
          <a:xfrm>
            <a:off x="3396865" y="1201782"/>
            <a:ext cx="1076632" cy="369332"/>
            <a:chOff x="4968362" y="2079211"/>
            <a:chExt cx="1076632" cy="369332"/>
          </a:xfrm>
        </p:grpSpPr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5BBCEC18-B301-29F0-017B-BD970A23991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8362" y="226387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F26E040C-4BF6-73B3-C5F0-B112F6CD2D2A}"/>
                </a:ext>
              </a:extLst>
            </p:cNvPr>
            <p:cNvSpPr txBox="1"/>
            <p:nvPr/>
          </p:nvSpPr>
          <p:spPr>
            <a:xfrm>
              <a:off x="5661536" y="207921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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C32A75F-414E-00B4-5A15-EBE053165AD4}"/>
              </a:ext>
            </a:extLst>
          </p:cNvPr>
          <p:cNvGrpSpPr/>
          <p:nvPr/>
        </p:nvGrpSpPr>
        <p:grpSpPr>
          <a:xfrm>
            <a:off x="7540590" y="1594259"/>
            <a:ext cx="1076632" cy="369332"/>
            <a:chOff x="4704120" y="2356972"/>
            <a:chExt cx="1076632" cy="369332"/>
          </a:xfrm>
        </p:grpSpPr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BFD67D7E-7F3C-A117-2476-E6E37C6E53C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04120" y="2541638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3948264-1EE4-3668-AB55-7A66B1012294}"/>
                </a:ext>
              </a:extLst>
            </p:cNvPr>
            <p:cNvSpPr txBox="1"/>
            <p:nvPr/>
          </p:nvSpPr>
          <p:spPr>
            <a:xfrm>
              <a:off x="5397294" y="2356972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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5056C87-8BF4-BF66-4E73-315266D8C754}"/>
              </a:ext>
            </a:extLst>
          </p:cNvPr>
          <p:cNvGrpSpPr/>
          <p:nvPr/>
        </p:nvGrpSpPr>
        <p:grpSpPr>
          <a:xfrm>
            <a:off x="7703437" y="2189055"/>
            <a:ext cx="1068643" cy="369332"/>
            <a:chOff x="3647644" y="4910075"/>
            <a:chExt cx="1068643" cy="369332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4F6535B0-CDE2-31A9-0A96-13D07952D893}"/>
                </a:ext>
              </a:extLst>
            </p:cNvPr>
            <p:cNvSpPr txBox="1"/>
            <p:nvPr/>
          </p:nvSpPr>
          <p:spPr>
            <a:xfrm>
              <a:off x="4332829" y="4910075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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AEFFF7C2-FFB6-33B4-B189-D803365FDA2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094741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197D162C-AB6B-D4FC-1240-CBAAAE8E0106}"/>
              </a:ext>
            </a:extLst>
          </p:cNvPr>
          <p:cNvSpPr/>
          <p:nvPr/>
        </p:nvSpPr>
        <p:spPr>
          <a:xfrm>
            <a:off x="1768242" y="1276231"/>
            <a:ext cx="1557356" cy="22138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99D4DF80-2FD0-AC6F-0485-2CAA54ABA50E}"/>
              </a:ext>
            </a:extLst>
          </p:cNvPr>
          <p:cNvGrpSpPr/>
          <p:nvPr/>
        </p:nvGrpSpPr>
        <p:grpSpPr>
          <a:xfrm>
            <a:off x="3363178" y="2794856"/>
            <a:ext cx="1064340" cy="369332"/>
            <a:chOff x="3647644" y="5421073"/>
            <a:chExt cx="1064340" cy="369332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0BED67AB-C155-9F13-ED33-352865BD1448}"/>
                </a:ext>
              </a:extLst>
            </p:cNvPr>
            <p:cNvSpPr txBox="1"/>
            <p:nvPr/>
          </p:nvSpPr>
          <p:spPr>
            <a:xfrm>
              <a:off x="4328526" y="5421073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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57" name="Straight Arrow Connector 56">
              <a:extLst>
                <a:ext uri="{FF2B5EF4-FFF2-40B4-BE49-F238E27FC236}">
                  <a16:creationId xmlns:a16="http://schemas.microsoft.com/office/drawing/2014/main" id="{61BA7819-174F-F976-2A30-821C2521147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9443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AE2730F0-5B28-4CD0-5583-CA837972A33A}"/>
              </a:ext>
            </a:extLst>
          </p:cNvPr>
          <p:cNvGrpSpPr/>
          <p:nvPr/>
        </p:nvGrpSpPr>
        <p:grpSpPr>
          <a:xfrm>
            <a:off x="3121235" y="3378592"/>
            <a:ext cx="1068643" cy="369332"/>
            <a:chOff x="3647644" y="5359159"/>
            <a:chExt cx="1068643" cy="369332"/>
          </a:xfrm>
        </p:grpSpPr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7AA3E89A-B9AB-8843-8670-BD262E8331B3}"/>
                </a:ext>
              </a:extLst>
            </p:cNvPr>
            <p:cNvSpPr txBox="1"/>
            <p:nvPr/>
          </p:nvSpPr>
          <p:spPr>
            <a:xfrm>
              <a:off x="4332829" y="5359159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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60" name="Straight Arrow Connector 59">
              <a:extLst>
                <a:ext uri="{FF2B5EF4-FFF2-40B4-BE49-F238E27FC236}">
                  <a16:creationId xmlns:a16="http://schemas.microsoft.com/office/drawing/2014/main" id="{30458574-0473-6B17-7CC1-26DC4E4983B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4105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BA47594B-EB99-9DF0-E26B-0214B5AE1CF5}"/>
              </a:ext>
            </a:extLst>
          </p:cNvPr>
          <p:cNvGrpSpPr/>
          <p:nvPr/>
        </p:nvGrpSpPr>
        <p:grpSpPr>
          <a:xfrm>
            <a:off x="3118568" y="3777662"/>
            <a:ext cx="1076632" cy="369332"/>
            <a:chOff x="2157212" y="5356391"/>
            <a:chExt cx="1076632" cy="369332"/>
          </a:xfrm>
        </p:grpSpPr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E1FB31FA-ECF2-11C5-1FD5-BBF4F5CF1574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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63" name="Straight Arrow Connector 62">
              <a:extLst>
                <a:ext uri="{FF2B5EF4-FFF2-40B4-BE49-F238E27FC236}">
                  <a16:creationId xmlns:a16="http://schemas.microsoft.com/office/drawing/2014/main" id="{3D8D4868-7971-F6D2-CB80-347D7F5234F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7B1244E1-62BC-27DB-00F8-B791F5C35CD0}"/>
              </a:ext>
            </a:extLst>
          </p:cNvPr>
          <p:cNvGrpSpPr/>
          <p:nvPr/>
        </p:nvGrpSpPr>
        <p:grpSpPr>
          <a:xfrm>
            <a:off x="3041979" y="4765935"/>
            <a:ext cx="1076632" cy="369332"/>
            <a:chOff x="2157212" y="5356391"/>
            <a:chExt cx="1076632" cy="369332"/>
          </a:xfrm>
        </p:grpSpPr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71EC92C4-FADC-2DB3-083C-041F6F5A1517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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66" name="Straight Arrow Connector 65">
              <a:extLst>
                <a:ext uri="{FF2B5EF4-FFF2-40B4-BE49-F238E27FC236}">
                  <a16:creationId xmlns:a16="http://schemas.microsoft.com/office/drawing/2014/main" id="{18950B66-AE1F-22A4-C0F1-D8FCD1EEAE2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9A32A12E-DFC9-AC68-C4CD-D4311D98A232}"/>
              </a:ext>
            </a:extLst>
          </p:cNvPr>
          <p:cNvGrpSpPr/>
          <p:nvPr/>
        </p:nvGrpSpPr>
        <p:grpSpPr>
          <a:xfrm>
            <a:off x="3041979" y="5153663"/>
            <a:ext cx="1076632" cy="369332"/>
            <a:chOff x="2157212" y="5356391"/>
            <a:chExt cx="1076632" cy="369332"/>
          </a:xfrm>
        </p:grpSpPr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E61B8062-9055-0267-F4A8-9D3AEA0A2461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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69" name="Straight Arrow Connector 68">
              <a:extLst>
                <a:ext uri="{FF2B5EF4-FFF2-40B4-BE49-F238E27FC236}">
                  <a16:creationId xmlns:a16="http://schemas.microsoft.com/office/drawing/2014/main" id="{D7EBE4E3-2AAF-81A2-0C69-86E11A5D111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37B26472-3046-93B6-03C4-F522287371CA}"/>
              </a:ext>
            </a:extLst>
          </p:cNvPr>
          <p:cNvGrpSpPr/>
          <p:nvPr/>
        </p:nvGrpSpPr>
        <p:grpSpPr>
          <a:xfrm>
            <a:off x="3580295" y="5365266"/>
            <a:ext cx="1076632" cy="369332"/>
            <a:chOff x="2157212" y="5356391"/>
            <a:chExt cx="1076632" cy="369332"/>
          </a:xfrm>
        </p:grpSpPr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C8C9D2FC-2391-88FE-8A4D-CE09FDEAB9D2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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72" name="Straight Arrow Connector 71">
              <a:extLst>
                <a:ext uri="{FF2B5EF4-FFF2-40B4-BE49-F238E27FC236}">
                  <a16:creationId xmlns:a16="http://schemas.microsoft.com/office/drawing/2014/main" id="{52CCB234-373C-59EB-0215-AA1ED018041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0AB973C1-36D6-0636-114F-E94CF006D408}"/>
              </a:ext>
            </a:extLst>
          </p:cNvPr>
          <p:cNvGrpSpPr/>
          <p:nvPr/>
        </p:nvGrpSpPr>
        <p:grpSpPr>
          <a:xfrm>
            <a:off x="2580252" y="6160449"/>
            <a:ext cx="1076632" cy="369332"/>
            <a:chOff x="2157212" y="5356391"/>
            <a:chExt cx="1076632" cy="369332"/>
          </a:xfrm>
        </p:grpSpPr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ED7C0A52-2A3B-91C8-CE20-811E1FE9C77B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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75" name="Straight Arrow Connector 74">
              <a:extLst>
                <a:ext uri="{FF2B5EF4-FFF2-40B4-BE49-F238E27FC236}">
                  <a16:creationId xmlns:a16="http://schemas.microsoft.com/office/drawing/2014/main" id="{087CB32B-8995-C391-9F91-BECE9A2DE67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Rectangle 75">
            <a:extLst>
              <a:ext uri="{FF2B5EF4-FFF2-40B4-BE49-F238E27FC236}">
                <a16:creationId xmlns:a16="http://schemas.microsoft.com/office/drawing/2014/main" id="{C2AB4B4F-FEE9-F806-312B-DE8C77D54E7E}"/>
              </a:ext>
            </a:extLst>
          </p:cNvPr>
          <p:cNvSpPr/>
          <p:nvPr/>
        </p:nvSpPr>
        <p:spPr>
          <a:xfrm>
            <a:off x="1960476" y="3449800"/>
            <a:ext cx="1081503" cy="22138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992CCC4-F6E0-6892-99A4-561B4AC7D0AB}"/>
              </a:ext>
            </a:extLst>
          </p:cNvPr>
          <p:cNvSpPr/>
          <p:nvPr/>
        </p:nvSpPr>
        <p:spPr>
          <a:xfrm>
            <a:off x="1968768" y="1666792"/>
            <a:ext cx="814537" cy="22138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CA5DECB-7592-8558-5AD6-41043005C1F9}"/>
              </a:ext>
            </a:extLst>
          </p:cNvPr>
          <p:cNvSpPr/>
          <p:nvPr/>
        </p:nvSpPr>
        <p:spPr>
          <a:xfrm>
            <a:off x="1768242" y="2864483"/>
            <a:ext cx="1557356" cy="22138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CD37257-EA79-0A20-1D9F-15E1CCFFA9D8}"/>
              </a:ext>
            </a:extLst>
          </p:cNvPr>
          <p:cNvSpPr/>
          <p:nvPr/>
        </p:nvSpPr>
        <p:spPr>
          <a:xfrm>
            <a:off x="1960476" y="4854063"/>
            <a:ext cx="844329" cy="22138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289C6DE-6BCD-9765-707F-A3DF77C9524B}"/>
              </a:ext>
            </a:extLst>
          </p:cNvPr>
          <p:cNvSpPr/>
          <p:nvPr/>
        </p:nvSpPr>
        <p:spPr>
          <a:xfrm>
            <a:off x="1953871" y="5444067"/>
            <a:ext cx="1557356" cy="22138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3062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3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6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76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1E63E2-1CCC-E0C9-426C-9FC00D1B68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74B60B-034E-B13F-62E4-9AABF0C4C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26</a:t>
            </a:fld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84EC973E-3AFF-B56A-2600-CA250493D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0070C0"/>
                </a:solidFill>
                <a:latin typeface="+mn-lt"/>
              </a:rPr>
              <a:t>View</a:t>
            </a:r>
            <a:r>
              <a:rPr lang="en-US" sz="3200" dirty="0">
                <a:latin typeface="+mn-lt"/>
              </a:rPr>
              <a:t> idw.py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295E9BE-D498-3A29-88AC-30B8A4D86C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2476" y="2043285"/>
            <a:ext cx="6619048" cy="2771429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4842F6B4-3B56-2B8A-7EC2-56EA825DCCCD}"/>
              </a:ext>
            </a:extLst>
          </p:cNvPr>
          <p:cNvGrpSpPr/>
          <p:nvPr/>
        </p:nvGrpSpPr>
        <p:grpSpPr>
          <a:xfrm>
            <a:off x="4455641" y="4041178"/>
            <a:ext cx="1076632" cy="369332"/>
            <a:chOff x="4968362" y="2079211"/>
            <a:chExt cx="1076632" cy="369332"/>
          </a:xfrm>
        </p:grpSpPr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1158BA37-6AD5-ADE7-FF3C-86B78D5F811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8362" y="226387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8EE6CC18-7650-0048-2010-61DB0CD63FFD}"/>
                </a:ext>
              </a:extLst>
            </p:cNvPr>
            <p:cNvSpPr txBox="1"/>
            <p:nvPr/>
          </p:nvSpPr>
          <p:spPr>
            <a:xfrm>
              <a:off x="5661536" y="207921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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4DB5167A-951D-D5C3-B90B-F65F6635D77E}"/>
              </a:ext>
            </a:extLst>
          </p:cNvPr>
          <p:cNvGrpSpPr/>
          <p:nvPr/>
        </p:nvGrpSpPr>
        <p:grpSpPr>
          <a:xfrm>
            <a:off x="2875496" y="4267873"/>
            <a:ext cx="1076632" cy="369332"/>
            <a:chOff x="4704120" y="2356972"/>
            <a:chExt cx="1076632" cy="369332"/>
          </a:xfrm>
        </p:grpSpPr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7932FE44-0436-A916-D604-D8C7F9F30C7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04120" y="2541638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86A935F6-43F8-A5C1-D972-DB42F685F199}"/>
                </a:ext>
              </a:extLst>
            </p:cNvPr>
            <p:cNvSpPr txBox="1"/>
            <p:nvPr/>
          </p:nvSpPr>
          <p:spPr>
            <a:xfrm>
              <a:off x="5397294" y="2356972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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633807F7-CB20-9232-BF72-50320325AD5D}"/>
              </a:ext>
            </a:extLst>
          </p:cNvPr>
          <p:cNvGrpSpPr/>
          <p:nvPr/>
        </p:nvGrpSpPr>
        <p:grpSpPr>
          <a:xfrm>
            <a:off x="2974833" y="2220795"/>
            <a:ext cx="1068643" cy="369332"/>
            <a:chOff x="3647644" y="4910075"/>
            <a:chExt cx="1068643" cy="369332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DA499F28-76DC-506D-0278-85F31397F51D}"/>
                </a:ext>
              </a:extLst>
            </p:cNvPr>
            <p:cNvSpPr txBox="1"/>
            <p:nvPr/>
          </p:nvSpPr>
          <p:spPr>
            <a:xfrm>
              <a:off x="4332829" y="4910075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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CB2F7450-9E6D-C2B9-946F-78E81B7AF1A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094741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E8363B3A-5E93-5DC7-1655-B60CD0CA5E3C}"/>
              </a:ext>
            </a:extLst>
          </p:cNvPr>
          <p:cNvGrpSpPr/>
          <p:nvPr/>
        </p:nvGrpSpPr>
        <p:grpSpPr>
          <a:xfrm>
            <a:off x="3692143" y="2447490"/>
            <a:ext cx="1064340" cy="369332"/>
            <a:chOff x="3647644" y="5421073"/>
            <a:chExt cx="1064340" cy="369332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88257982-F58D-D273-F63F-73CFAC6BB033}"/>
                </a:ext>
              </a:extLst>
            </p:cNvPr>
            <p:cNvSpPr txBox="1"/>
            <p:nvPr/>
          </p:nvSpPr>
          <p:spPr>
            <a:xfrm>
              <a:off x="4328526" y="5421073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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301B37EE-8B9F-8329-8005-70F1B79DD9F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9443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CBB7BDDE-DAF0-067E-F709-857FB5D22FC9}"/>
              </a:ext>
            </a:extLst>
          </p:cNvPr>
          <p:cNvGrpSpPr/>
          <p:nvPr/>
        </p:nvGrpSpPr>
        <p:grpSpPr>
          <a:xfrm>
            <a:off x="3927837" y="2894622"/>
            <a:ext cx="1068643" cy="369332"/>
            <a:chOff x="3647644" y="5359159"/>
            <a:chExt cx="1068643" cy="369332"/>
          </a:xfrm>
        </p:grpSpPr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10F53F37-259F-0994-E299-B60590B3C897}"/>
                </a:ext>
              </a:extLst>
            </p:cNvPr>
            <p:cNvSpPr txBox="1"/>
            <p:nvPr/>
          </p:nvSpPr>
          <p:spPr>
            <a:xfrm>
              <a:off x="4332829" y="5359159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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395419EB-0A75-F20B-56BA-33FB2506D29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4105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8" name="Rectangle 37">
            <a:extLst>
              <a:ext uri="{FF2B5EF4-FFF2-40B4-BE49-F238E27FC236}">
                <a16:creationId xmlns:a16="http://schemas.microsoft.com/office/drawing/2014/main" id="{F9F23B0A-5692-372B-396C-FE3CE4673E10}"/>
              </a:ext>
            </a:extLst>
          </p:cNvPr>
          <p:cNvSpPr/>
          <p:nvPr/>
        </p:nvSpPr>
        <p:spPr>
          <a:xfrm>
            <a:off x="3297357" y="2977181"/>
            <a:ext cx="520664" cy="22138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5D0881E2-B3E9-3B10-2700-F369E3DB1053}"/>
              </a:ext>
            </a:extLst>
          </p:cNvPr>
          <p:cNvGrpSpPr/>
          <p:nvPr/>
        </p:nvGrpSpPr>
        <p:grpSpPr>
          <a:xfrm>
            <a:off x="4305827" y="3346277"/>
            <a:ext cx="1076632" cy="369332"/>
            <a:chOff x="2157212" y="5356391"/>
            <a:chExt cx="1076632" cy="369332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E67D0A26-5357-EFAC-F34A-ADFF96C5093D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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A462BE07-FB4B-FFDD-20D5-6B47E07F917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" name="Rectangle 41">
            <a:extLst>
              <a:ext uri="{FF2B5EF4-FFF2-40B4-BE49-F238E27FC236}">
                <a16:creationId xmlns:a16="http://schemas.microsoft.com/office/drawing/2014/main" id="{8507E6A6-734A-CF67-3409-7C8FACDB1618}"/>
              </a:ext>
            </a:extLst>
          </p:cNvPr>
          <p:cNvSpPr/>
          <p:nvPr/>
        </p:nvSpPr>
        <p:spPr>
          <a:xfrm>
            <a:off x="2735112" y="3428999"/>
            <a:ext cx="1467919" cy="22138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3462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42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83CC8FA-B370-9ED5-8FAA-C0049A219B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3095" y="1402628"/>
            <a:ext cx="6637811" cy="517568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27</a:t>
            </a:fld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7E277484-4082-49A6-A148-44207EFFCB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00B050"/>
                </a:solidFill>
                <a:latin typeface="+mn-lt"/>
              </a:rPr>
              <a:t>Run</a:t>
            </a:r>
            <a:r>
              <a:rPr lang="en-US" sz="3200" dirty="0">
                <a:latin typeface="+mn-lt"/>
              </a:rPr>
              <a:t> idw.py</a:t>
            </a:r>
          </a:p>
        </p:txBody>
      </p:sp>
      <p:sp>
        <p:nvSpPr>
          <p:cNvPr id="6" name="Speech Bubble: Rectangle 5">
            <a:extLst>
              <a:ext uri="{FF2B5EF4-FFF2-40B4-BE49-F238E27FC236}">
                <a16:creationId xmlns:a16="http://schemas.microsoft.com/office/drawing/2014/main" id="{594EE1B4-9B3D-BC8F-5CF3-9FFAC8087865}"/>
              </a:ext>
            </a:extLst>
          </p:cNvPr>
          <p:cNvSpPr/>
          <p:nvPr/>
        </p:nvSpPr>
        <p:spPr>
          <a:xfrm>
            <a:off x="444294" y="2196448"/>
            <a:ext cx="2011311" cy="934574"/>
          </a:xfrm>
          <a:prstGeom prst="wedgeRectCallout">
            <a:avLst>
              <a:gd name="adj1" fmla="val 124011"/>
              <a:gd name="adj2" fmla="val 66606"/>
            </a:avLst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Left</a:t>
            </a:r>
            <a:r>
              <a:rPr lang="en-US" dirty="0">
                <a:solidFill>
                  <a:srgbClr val="FF0000"/>
                </a:solidFill>
              </a:rPr>
              <a:t> Click &amp; Drag</a:t>
            </a:r>
          </a:p>
          <a:p>
            <a:pPr algn="ctr"/>
            <a:r>
              <a:rPr lang="en-US" dirty="0">
                <a:solidFill>
                  <a:srgbClr val="FF0000"/>
                </a:solidFill>
              </a:rPr>
              <a:t>to Rotate</a:t>
            </a:r>
          </a:p>
          <a:p>
            <a:pPr algn="ctr"/>
            <a:r>
              <a:rPr lang="en-US" dirty="0">
                <a:solidFill>
                  <a:srgbClr val="FF0000"/>
                </a:solidFill>
              </a:rPr>
              <a:t>(Yaw &amp; Pitch)</a:t>
            </a:r>
          </a:p>
        </p:txBody>
      </p:sp>
    </p:spTree>
    <p:extLst>
      <p:ext uri="{BB962C8B-B14F-4D97-AF65-F5344CB8AC3E}">
        <p14:creationId xmlns:p14="http://schemas.microsoft.com/office/powerpoint/2010/main" val="2493560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E0CCCD5-35D7-075A-C872-8C85BFA165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2186" y="1384288"/>
            <a:ext cx="6659629" cy="519269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28</a:t>
            </a:fld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7E277484-4082-49A6-A148-44207EFFCB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00B050"/>
                </a:solidFill>
                <a:latin typeface="+mn-lt"/>
              </a:rPr>
              <a:t>Run</a:t>
            </a:r>
            <a:r>
              <a:rPr lang="en-US" sz="3200" dirty="0">
                <a:latin typeface="+mn-lt"/>
              </a:rPr>
              <a:t> idw.py</a:t>
            </a:r>
          </a:p>
        </p:txBody>
      </p:sp>
      <p:sp>
        <p:nvSpPr>
          <p:cNvPr id="3" name="Speech Bubble: Rectangle 2">
            <a:extLst>
              <a:ext uri="{FF2B5EF4-FFF2-40B4-BE49-F238E27FC236}">
                <a16:creationId xmlns:a16="http://schemas.microsoft.com/office/drawing/2014/main" id="{CCECA7D9-593A-24D6-23CE-CE21EBFBD27C}"/>
              </a:ext>
            </a:extLst>
          </p:cNvPr>
          <p:cNvSpPr/>
          <p:nvPr/>
        </p:nvSpPr>
        <p:spPr>
          <a:xfrm>
            <a:off x="5630779" y="1821695"/>
            <a:ext cx="3100991" cy="934574"/>
          </a:xfrm>
          <a:prstGeom prst="wedgeRectCallout">
            <a:avLst>
              <a:gd name="adj1" fmla="val -42130"/>
              <a:gd name="adj2" fmla="val 141190"/>
            </a:avLst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CTRL</a:t>
            </a:r>
            <a:r>
              <a:rPr lang="en-US" dirty="0">
                <a:solidFill>
                  <a:srgbClr val="FF0000"/>
                </a:solidFill>
              </a:rPr>
              <a:t> (CMD) + </a:t>
            </a:r>
            <a:r>
              <a:rPr lang="en-US" b="1" dirty="0">
                <a:solidFill>
                  <a:srgbClr val="FF0000"/>
                </a:solidFill>
              </a:rPr>
              <a:t>Left</a:t>
            </a:r>
            <a:r>
              <a:rPr lang="en-US" dirty="0">
                <a:solidFill>
                  <a:srgbClr val="FF0000"/>
                </a:solidFill>
              </a:rPr>
              <a:t> Click &amp; Drag to Roll</a:t>
            </a:r>
          </a:p>
        </p:txBody>
      </p:sp>
    </p:spTree>
    <p:extLst>
      <p:ext uri="{BB962C8B-B14F-4D97-AF65-F5344CB8AC3E}">
        <p14:creationId xmlns:p14="http://schemas.microsoft.com/office/powerpoint/2010/main" val="23486849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0EE2CB2-145A-698E-45F5-3A064F0D33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3983" y="1380460"/>
            <a:ext cx="6656035" cy="518989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29</a:t>
            </a:fld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7E277484-4082-49A6-A148-44207EFFCB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0070C0"/>
                </a:solidFill>
                <a:latin typeface="+mn-lt"/>
              </a:rPr>
              <a:t>Run</a:t>
            </a:r>
            <a:r>
              <a:rPr lang="en-US" sz="3200" dirty="0">
                <a:latin typeface="+mn-lt"/>
              </a:rPr>
              <a:t> idw.py</a:t>
            </a:r>
          </a:p>
        </p:txBody>
      </p:sp>
      <p:sp>
        <p:nvSpPr>
          <p:cNvPr id="5" name="Speech Bubble: Rectangle 4">
            <a:extLst>
              <a:ext uri="{FF2B5EF4-FFF2-40B4-BE49-F238E27FC236}">
                <a16:creationId xmlns:a16="http://schemas.microsoft.com/office/drawing/2014/main" id="{EC217BE8-7EEC-47AB-AFED-C8611316BB1A}"/>
              </a:ext>
            </a:extLst>
          </p:cNvPr>
          <p:cNvSpPr/>
          <p:nvPr/>
        </p:nvSpPr>
        <p:spPr>
          <a:xfrm>
            <a:off x="6586996" y="4793179"/>
            <a:ext cx="2011311" cy="934574"/>
          </a:xfrm>
          <a:prstGeom prst="wedgeRectCallout">
            <a:avLst>
              <a:gd name="adj1" fmla="val -72860"/>
              <a:gd name="adj2" fmla="val -39436"/>
            </a:avLst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Right</a:t>
            </a:r>
            <a:r>
              <a:rPr lang="en-US" dirty="0">
                <a:solidFill>
                  <a:srgbClr val="FF0000"/>
                </a:solidFill>
              </a:rPr>
              <a:t> Click &amp; Drag to Zoom</a:t>
            </a:r>
          </a:p>
        </p:txBody>
      </p:sp>
    </p:spTree>
    <p:extLst>
      <p:ext uri="{BB962C8B-B14F-4D97-AF65-F5344CB8AC3E}">
        <p14:creationId xmlns:p14="http://schemas.microsoft.com/office/powerpoint/2010/main" val="35138961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87770AD-392B-4270-1CCD-17E45D65DB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2018" y="1413889"/>
            <a:ext cx="6619964" cy="516176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30</a:t>
            </a:fld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7E277484-4082-49A6-A148-44207EFFCB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0070C0"/>
                </a:solidFill>
                <a:latin typeface="+mn-lt"/>
              </a:rPr>
              <a:t>Run</a:t>
            </a:r>
            <a:r>
              <a:rPr lang="en-US" sz="3200" dirty="0">
                <a:latin typeface="+mn-lt"/>
              </a:rPr>
              <a:t> idw.py</a:t>
            </a:r>
          </a:p>
        </p:txBody>
      </p:sp>
      <p:sp>
        <p:nvSpPr>
          <p:cNvPr id="8" name="Speech Bubble: Rectangle 7">
            <a:extLst>
              <a:ext uri="{FF2B5EF4-FFF2-40B4-BE49-F238E27FC236}">
                <a16:creationId xmlns:a16="http://schemas.microsoft.com/office/drawing/2014/main" id="{5124D9B4-9732-492B-83A5-50D910B84EC9}"/>
              </a:ext>
            </a:extLst>
          </p:cNvPr>
          <p:cNvSpPr/>
          <p:nvPr/>
        </p:nvSpPr>
        <p:spPr>
          <a:xfrm>
            <a:off x="6738125" y="2329120"/>
            <a:ext cx="2011311" cy="934574"/>
          </a:xfrm>
          <a:prstGeom prst="wedgeRectCallout">
            <a:avLst>
              <a:gd name="adj1" fmla="val -2292"/>
              <a:gd name="adj2" fmla="val -129526"/>
            </a:avLst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Close</a:t>
            </a:r>
            <a:r>
              <a:rPr lang="en-US" dirty="0">
                <a:solidFill>
                  <a:srgbClr val="FF0000"/>
                </a:solidFill>
              </a:rPr>
              <a:t> window to return to </a:t>
            </a:r>
            <a:r>
              <a:rPr lang="en-US" dirty="0" err="1">
                <a:solidFill>
                  <a:srgbClr val="FF0000"/>
                </a:solidFill>
              </a:rPr>
              <a:t>VSCode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3565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45F7BC7-A543-26C4-CC92-818C0A96CA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2476" y="2043285"/>
            <a:ext cx="6619048" cy="2771429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31</a:t>
            </a:fld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7E277484-4082-49A6-A148-44207EFFCB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FF0000"/>
                </a:solidFill>
                <a:latin typeface="+mn-lt"/>
              </a:rPr>
              <a:t>Edit</a:t>
            </a:r>
            <a:r>
              <a:rPr lang="en-US" sz="3200" dirty="0">
                <a:latin typeface="+mn-lt"/>
              </a:rPr>
              <a:t> idw.py</a:t>
            </a:r>
          </a:p>
        </p:txBody>
      </p:sp>
      <p:sp>
        <p:nvSpPr>
          <p:cNvPr id="8" name="Speech Bubble: Rectangle 7">
            <a:extLst>
              <a:ext uri="{FF2B5EF4-FFF2-40B4-BE49-F238E27FC236}">
                <a16:creationId xmlns:a16="http://schemas.microsoft.com/office/drawing/2014/main" id="{82B9EC24-75A5-1F5A-5B6B-DB7B69BA82D2}"/>
              </a:ext>
            </a:extLst>
          </p:cNvPr>
          <p:cNvSpPr/>
          <p:nvPr/>
        </p:nvSpPr>
        <p:spPr>
          <a:xfrm>
            <a:off x="4428002" y="3960937"/>
            <a:ext cx="1216453" cy="605966"/>
          </a:xfrm>
          <a:prstGeom prst="wedgeRectCallout">
            <a:avLst>
              <a:gd name="adj1" fmla="val -71928"/>
              <a:gd name="adj2" fmla="val -97399"/>
            </a:avLst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0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rPr>
              <a:t>Set plot type to 2</a:t>
            </a:r>
            <a:endParaRPr lang="en-US" dirty="0">
              <a:ln>
                <a:solidFill>
                  <a:srgbClr val="FF0000"/>
                </a:solidFill>
              </a:ln>
              <a:solidFill>
                <a:srgbClr val="FF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DA96A9-3E1B-0C02-ED4C-4CCE70D2AE84}"/>
              </a:ext>
            </a:extLst>
          </p:cNvPr>
          <p:cNvSpPr txBox="1"/>
          <p:nvPr/>
        </p:nvSpPr>
        <p:spPr>
          <a:xfrm>
            <a:off x="4328411" y="3381439"/>
            <a:ext cx="19262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Estimated Sea Floor</a:t>
            </a:r>
          </a:p>
        </p:txBody>
      </p:sp>
    </p:spTree>
    <p:extLst>
      <p:ext uri="{BB962C8B-B14F-4D97-AF65-F5344CB8AC3E}">
        <p14:creationId xmlns:p14="http://schemas.microsoft.com/office/powerpoint/2010/main" val="18272280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2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E6444F9-BF23-8226-DC06-C01E5C6FDD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3061" y="1377539"/>
            <a:ext cx="6677878" cy="520692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32</a:t>
            </a:fld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7E277484-4082-49A6-A148-44207EFFCB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00B050"/>
                </a:solidFill>
                <a:latin typeface="+mn-lt"/>
              </a:rPr>
              <a:t>Run</a:t>
            </a:r>
            <a:r>
              <a:rPr lang="en-US" sz="3200" dirty="0">
                <a:latin typeface="+mn-lt"/>
              </a:rPr>
              <a:t> idw.py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Speech Bubble: Rectangle 6">
                <a:extLst>
                  <a:ext uri="{FF2B5EF4-FFF2-40B4-BE49-F238E27FC236}">
                    <a16:creationId xmlns:a16="http://schemas.microsoft.com/office/drawing/2014/main" id="{B2E86F3B-CFEE-47E9-88AC-FD15AC2E787A}"/>
                  </a:ext>
                </a:extLst>
              </p:cNvPr>
              <p:cNvSpPr/>
              <p:nvPr/>
            </p:nvSpPr>
            <p:spPr>
              <a:xfrm>
                <a:off x="6958182" y="2456998"/>
                <a:ext cx="1533875" cy="605966"/>
              </a:xfrm>
              <a:prstGeom prst="wedgeRectCallout">
                <a:avLst>
                  <a:gd name="adj1" fmla="val -64428"/>
                  <a:gd name="adj2" fmla="val 121529"/>
                </a:avLst>
              </a:prstGeom>
              <a:solidFill>
                <a:schemeClr val="bg1"/>
              </a:solidFill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n>
                            <a:solidFill>
                              <a:srgbClr val="FF0000"/>
                            </a:solidFill>
                          </a:ln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smtClean="0">
                          <a:ln>
                            <a:solidFill>
                              <a:srgbClr val="FF0000"/>
                            </a:solidFill>
                          </a:ln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=2.0</m:t>
                      </m:r>
                    </m:oMath>
                  </m:oMathPara>
                </a14:m>
                <a:endPara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Speech Bubble: Rectangle 6">
                <a:extLst>
                  <a:ext uri="{FF2B5EF4-FFF2-40B4-BE49-F238E27FC236}">
                    <a16:creationId xmlns:a16="http://schemas.microsoft.com/office/drawing/2014/main" id="{B2E86F3B-CFEE-47E9-88AC-FD15AC2E787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8182" y="2456998"/>
                <a:ext cx="1533875" cy="605966"/>
              </a:xfrm>
              <a:prstGeom prst="wedgeRectCallout">
                <a:avLst>
                  <a:gd name="adj1" fmla="val -64428"/>
                  <a:gd name="adj2" fmla="val 121529"/>
                </a:avLst>
              </a:prstGeom>
              <a:blipFill>
                <a:blip r:embed="rId4"/>
                <a:stretch>
                  <a:fillRect/>
                </a:stretch>
              </a:blipFill>
              <a:ln w="28575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251387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26C4A9B-D640-41ED-D4F5-3AD3567B58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2416" y="1373926"/>
            <a:ext cx="6699168" cy="522352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33</a:t>
            </a:fld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7E277484-4082-49A6-A148-44207EFFCB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00B050"/>
                </a:solidFill>
                <a:latin typeface="+mn-lt"/>
              </a:rPr>
              <a:t>Run</a:t>
            </a:r>
            <a:r>
              <a:rPr lang="en-US" sz="3200" dirty="0">
                <a:latin typeface="+mn-lt"/>
              </a:rPr>
              <a:t> idw.py</a:t>
            </a:r>
          </a:p>
        </p:txBody>
      </p:sp>
      <p:sp>
        <p:nvSpPr>
          <p:cNvPr id="7" name="Speech Bubble: Rectangle 6">
            <a:extLst>
              <a:ext uri="{FF2B5EF4-FFF2-40B4-BE49-F238E27FC236}">
                <a16:creationId xmlns:a16="http://schemas.microsoft.com/office/drawing/2014/main" id="{B2E86F3B-CFEE-47E9-88AC-FD15AC2E787A}"/>
              </a:ext>
            </a:extLst>
          </p:cNvPr>
          <p:cNvSpPr/>
          <p:nvPr/>
        </p:nvSpPr>
        <p:spPr>
          <a:xfrm>
            <a:off x="4478545" y="3335433"/>
            <a:ext cx="2230063" cy="890886"/>
          </a:xfrm>
          <a:prstGeom prst="wedgeRectCallout">
            <a:avLst>
              <a:gd name="adj1" fmla="val -65890"/>
              <a:gd name="adj2" fmla="val -155371"/>
            </a:avLst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rPr>
              <a:t>The surface does not meet many of the samples</a:t>
            </a:r>
          </a:p>
        </p:txBody>
      </p:sp>
    </p:spTree>
    <p:extLst>
      <p:ext uri="{BB962C8B-B14F-4D97-AF65-F5344CB8AC3E}">
        <p14:creationId xmlns:p14="http://schemas.microsoft.com/office/powerpoint/2010/main" val="25774351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91DAFAC-33E5-A93D-6C3B-4A4D5044AD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2476" y="2043285"/>
            <a:ext cx="6619048" cy="2771429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34</a:t>
            </a:fld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7E277484-4082-49A6-A148-44207EFFCB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FF0000"/>
                </a:solidFill>
                <a:latin typeface="+mn-lt"/>
              </a:rPr>
              <a:t>Edit</a:t>
            </a:r>
            <a:r>
              <a:rPr lang="en-US" sz="3200" dirty="0">
                <a:latin typeface="+mn-lt"/>
              </a:rPr>
              <a:t> idw.py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Speech Bubble: Rectangle 6">
                <a:extLst>
                  <a:ext uri="{FF2B5EF4-FFF2-40B4-BE49-F238E27FC236}">
                    <a16:creationId xmlns:a16="http://schemas.microsoft.com/office/drawing/2014/main" id="{C3682526-D308-4A07-A222-C37B7E36ECD6}"/>
                  </a:ext>
                </a:extLst>
              </p:cNvPr>
              <p:cNvSpPr/>
              <p:nvPr/>
            </p:nvSpPr>
            <p:spPr>
              <a:xfrm>
                <a:off x="3920965" y="3490169"/>
                <a:ext cx="1533875" cy="605966"/>
              </a:xfrm>
              <a:prstGeom prst="wedgeRectCallout">
                <a:avLst>
                  <a:gd name="adj1" fmla="val -66383"/>
                  <a:gd name="adj2" fmla="val -101110"/>
                </a:avLst>
              </a:prstGeom>
              <a:solidFill>
                <a:schemeClr val="bg1"/>
              </a:solidFill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0" dirty="0">
                    <a:ln>
                      <a:solidFill>
                        <a:srgbClr val="FF0000"/>
                      </a:solidFill>
                    </a:ln>
                    <a:solidFill>
                      <a:srgbClr val="FF0000"/>
                    </a:solidFill>
                  </a:rPr>
                  <a:t>Set </a:t>
                </a:r>
                <a14:m>
                  <m:oMath xmlns:m="http://schemas.openxmlformats.org/officeDocument/2006/math">
                    <m:r>
                      <a:rPr lang="en-US" b="0" i="1" smtClean="0">
                        <a:ln>
                          <a:solidFill>
                            <a:srgbClr val="FF0000"/>
                          </a:solidFill>
                        </a:ln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n>
                          <a:solidFill>
                            <a:srgbClr val="FF0000"/>
                          </a:solidFill>
                        </a:ln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=5.0</m:t>
                    </m:r>
                  </m:oMath>
                </a14:m>
                <a:endPara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Speech Bubble: Rectangle 6">
                <a:extLst>
                  <a:ext uri="{FF2B5EF4-FFF2-40B4-BE49-F238E27FC236}">
                    <a16:creationId xmlns:a16="http://schemas.microsoft.com/office/drawing/2014/main" id="{C3682526-D308-4A07-A222-C37B7E36ECD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0965" y="3490169"/>
                <a:ext cx="1533875" cy="605966"/>
              </a:xfrm>
              <a:prstGeom prst="wedgeRectCallout">
                <a:avLst>
                  <a:gd name="adj1" fmla="val -66383"/>
                  <a:gd name="adj2" fmla="val -101110"/>
                </a:avLst>
              </a:prstGeom>
              <a:blipFill>
                <a:blip r:embed="rId4"/>
                <a:stretch>
                  <a:fillRect/>
                </a:stretch>
              </a:blipFill>
              <a:ln w="28575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861547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108CC1BF-B27F-C6FA-657A-47CEA4DCD7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3520" y="1259305"/>
            <a:ext cx="6536961" cy="509704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35</a:t>
            </a:fld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7E277484-4082-49A6-A148-44207EFFCB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00B050"/>
                </a:solidFill>
                <a:latin typeface="+mn-lt"/>
              </a:rPr>
              <a:t>Run</a:t>
            </a:r>
            <a:r>
              <a:rPr lang="en-US" sz="3200" dirty="0">
                <a:latin typeface="+mn-lt"/>
              </a:rPr>
              <a:t> idw.py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Speech Bubble: Rectangle 6">
                <a:extLst>
                  <a:ext uri="{FF2B5EF4-FFF2-40B4-BE49-F238E27FC236}">
                    <a16:creationId xmlns:a16="http://schemas.microsoft.com/office/drawing/2014/main" id="{B2E86F3B-CFEE-47E9-88AC-FD15AC2E787A}"/>
                  </a:ext>
                </a:extLst>
              </p:cNvPr>
              <p:cNvSpPr/>
              <p:nvPr/>
            </p:nvSpPr>
            <p:spPr>
              <a:xfrm>
                <a:off x="6829846" y="1656526"/>
                <a:ext cx="1533875" cy="605966"/>
              </a:xfrm>
              <a:prstGeom prst="wedgeRectCallout">
                <a:avLst>
                  <a:gd name="adj1" fmla="val -64428"/>
                  <a:gd name="adj2" fmla="val 121529"/>
                </a:avLst>
              </a:prstGeom>
              <a:solidFill>
                <a:schemeClr val="bg1"/>
              </a:solidFill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n>
                            <a:solidFill>
                              <a:srgbClr val="FF0000"/>
                            </a:solidFill>
                          </a:ln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smtClean="0">
                          <a:ln>
                            <a:solidFill>
                              <a:srgbClr val="FF0000"/>
                            </a:solidFill>
                          </a:ln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=5.0</m:t>
                      </m:r>
                    </m:oMath>
                  </m:oMathPara>
                </a14:m>
                <a:endPara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Speech Bubble: Rectangle 6">
                <a:extLst>
                  <a:ext uri="{FF2B5EF4-FFF2-40B4-BE49-F238E27FC236}">
                    <a16:creationId xmlns:a16="http://schemas.microsoft.com/office/drawing/2014/main" id="{B2E86F3B-CFEE-47E9-88AC-FD15AC2E787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9846" y="1656526"/>
                <a:ext cx="1533875" cy="605966"/>
              </a:xfrm>
              <a:prstGeom prst="wedgeRectCallout">
                <a:avLst>
                  <a:gd name="adj1" fmla="val -64428"/>
                  <a:gd name="adj2" fmla="val 121529"/>
                </a:avLst>
              </a:prstGeom>
              <a:blipFill>
                <a:blip r:embed="rId4"/>
                <a:stretch>
                  <a:fillRect/>
                </a:stretch>
              </a:blipFill>
              <a:ln w="28575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Speech Bubble: Rectangle 7">
            <a:extLst>
              <a:ext uri="{FF2B5EF4-FFF2-40B4-BE49-F238E27FC236}">
                <a16:creationId xmlns:a16="http://schemas.microsoft.com/office/drawing/2014/main" id="{FBB12741-D0EC-4B48-B97C-657A06632CF6}"/>
              </a:ext>
            </a:extLst>
          </p:cNvPr>
          <p:cNvSpPr/>
          <p:nvPr/>
        </p:nvSpPr>
        <p:spPr>
          <a:xfrm>
            <a:off x="1744627" y="4417870"/>
            <a:ext cx="2230063" cy="890886"/>
          </a:xfrm>
          <a:prstGeom prst="wedgeRectCallout">
            <a:avLst>
              <a:gd name="adj1" fmla="val 28491"/>
              <a:gd name="adj2" fmla="val -128447"/>
            </a:avLst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rPr>
              <a:t>The surface seems to touch more samples</a:t>
            </a:r>
          </a:p>
        </p:txBody>
      </p:sp>
    </p:spTree>
    <p:extLst>
      <p:ext uri="{BB962C8B-B14F-4D97-AF65-F5344CB8AC3E}">
        <p14:creationId xmlns:p14="http://schemas.microsoft.com/office/powerpoint/2010/main" val="41045496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65B2993-BA2A-EA3A-1F74-04EB3963CA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2476" y="2043285"/>
            <a:ext cx="6619048" cy="2771429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36</a:t>
            </a:fld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7E277484-4082-49A6-A148-44207EFFCB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FF0000"/>
                </a:solidFill>
                <a:latin typeface="+mn-lt"/>
              </a:rPr>
              <a:t>Edit</a:t>
            </a:r>
            <a:r>
              <a:rPr lang="en-US" sz="3200" dirty="0">
                <a:latin typeface="+mn-lt"/>
              </a:rPr>
              <a:t> idw.py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Speech Bubble: Rectangle 6">
                <a:extLst>
                  <a:ext uri="{FF2B5EF4-FFF2-40B4-BE49-F238E27FC236}">
                    <a16:creationId xmlns:a16="http://schemas.microsoft.com/office/drawing/2014/main" id="{C3682526-D308-4A07-A222-C37B7E36ECD6}"/>
                  </a:ext>
                </a:extLst>
              </p:cNvPr>
              <p:cNvSpPr/>
              <p:nvPr/>
            </p:nvSpPr>
            <p:spPr>
              <a:xfrm>
                <a:off x="3949894" y="3498190"/>
                <a:ext cx="1533875" cy="605966"/>
              </a:xfrm>
              <a:prstGeom prst="wedgeRectCallout">
                <a:avLst>
                  <a:gd name="adj1" fmla="val -66383"/>
                  <a:gd name="adj2" fmla="val -101110"/>
                </a:avLst>
              </a:prstGeom>
              <a:solidFill>
                <a:schemeClr val="bg1"/>
              </a:solidFill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0" dirty="0">
                    <a:ln>
                      <a:solidFill>
                        <a:srgbClr val="FF0000"/>
                      </a:solidFill>
                    </a:ln>
                    <a:solidFill>
                      <a:srgbClr val="FF0000"/>
                    </a:solidFill>
                  </a:rPr>
                  <a:t>Set </a:t>
                </a:r>
                <a14:m>
                  <m:oMath xmlns:m="http://schemas.openxmlformats.org/officeDocument/2006/math">
                    <m:r>
                      <a:rPr lang="en-US" b="0" i="1" smtClean="0">
                        <a:ln>
                          <a:solidFill>
                            <a:srgbClr val="FF0000"/>
                          </a:solidFill>
                        </a:ln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n>
                          <a:solidFill>
                            <a:srgbClr val="FF0000"/>
                          </a:solidFill>
                        </a:ln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=9.0</m:t>
                    </m:r>
                  </m:oMath>
                </a14:m>
                <a:endPara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Speech Bubble: Rectangle 6">
                <a:extLst>
                  <a:ext uri="{FF2B5EF4-FFF2-40B4-BE49-F238E27FC236}">
                    <a16:creationId xmlns:a16="http://schemas.microsoft.com/office/drawing/2014/main" id="{C3682526-D308-4A07-A222-C37B7E36ECD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9894" y="3498190"/>
                <a:ext cx="1533875" cy="605966"/>
              </a:xfrm>
              <a:prstGeom prst="wedgeRectCallout">
                <a:avLst>
                  <a:gd name="adj1" fmla="val -66383"/>
                  <a:gd name="adj2" fmla="val -101110"/>
                </a:avLst>
              </a:prstGeom>
              <a:blipFill>
                <a:blip r:embed="rId4"/>
                <a:stretch>
                  <a:fillRect/>
                </a:stretch>
              </a:blipFill>
              <a:ln w="28575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524611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AB6F520B-768D-E3FD-3D92-B4EC01CB9E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6208" y="1357065"/>
            <a:ext cx="6411584" cy="4999286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37</a:t>
            </a:fld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7E277484-4082-49A6-A148-44207EFFCB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00B050"/>
                </a:solidFill>
                <a:latin typeface="+mn-lt"/>
              </a:rPr>
              <a:t>Run</a:t>
            </a:r>
            <a:r>
              <a:rPr lang="en-US" sz="3200" dirty="0">
                <a:latin typeface="+mn-lt"/>
              </a:rPr>
              <a:t> idw.py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Speech Bubble: Rectangle 6">
                <a:extLst>
                  <a:ext uri="{FF2B5EF4-FFF2-40B4-BE49-F238E27FC236}">
                    <a16:creationId xmlns:a16="http://schemas.microsoft.com/office/drawing/2014/main" id="{B2E86F3B-CFEE-47E9-88AC-FD15AC2E787A}"/>
                  </a:ext>
                </a:extLst>
              </p:cNvPr>
              <p:cNvSpPr/>
              <p:nvPr/>
            </p:nvSpPr>
            <p:spPr>
              <a:xfrm>
                <a:off x="6091908" y="1703019"/>
                <a:ext cx="1533875" cy="605966"/>
              </a:xfrm>
              <a:prstGeom prst="wedgeRectCallout">
                <a:avLst>
                  <a:gd name="adj1" fmla="val -64428"/>
                  <a:gd name="adj2" fmla="val 121529"/>
                </a:avLst>
              </a:prstGeom>
              <a:solidFill>
                <a:schemeClr val="bg1"/>
              </a:solidFill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n>
                            <a:solidFill>
                              <a:srgbClr val="FF0000"/>
                            </a:solidFill>
                          </a:ln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smtClean="0">
                          <a:ln>
                            <a:solidFill>
                              <a:srgbClr val="FF0000"/>
                            </a:solidFill>
                          </a:ln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𝟗</m:t>
                      </m:r>
                      <m:r>
                        <a:rPr lang="en-US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b="1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Speech Bubble: Rectangle 6">
                <a:extLst>
                  <a:ext uri="{FF2B5EF4-FFF2-40B4-BE49-F238E27FC236}">
                    <a16:creationId xmlns:a16="http://schemas.microsoft.com/office/drawing/2014/main" id="{B2E86F3B-CFEE-47E9-88AC-FD15AC2E787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1908" y="1703019"/>
                <a:ext cx="1533875" cy="605966"/>
              </a:xfrm>
              <a:prstGeom prst="wedgeRectCallout">
                <a:avLst>
                  <a:gd name="adj1" fmla="val -64428"/>
                  <a:gd name="adj2" fmla="val 121529"/>
                </a:avLst>
              </a:prstGeom>
              <a:blipFill>
                <a:blip r:embed="rId4"/>
                <a:stretch>
                  <a:fillRect/>
                </a:stretch>
              </a:blipFill>
              <a:ln w="28575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Speech Bubble: Rectangle 7">
            <a:extLst>
              <a:ext uri="{FF2B5EF4-FFF2-40B4-BE49-F238E27FC236}">
                <a16:creationId xmlns:a16="http://schemas.microsoft.com/office/drawing/2014/main" id="{FBB12741-D0EC-4B48-B97C-657A06632CF6}"/>
              </a:ext>
            </a:extLst>
          </p:cNvPr>
          <p:cNvSpPr/>
          <p:nvPr/>
        </p:nvSpPr>
        <p:spPr>
          <a:xfrm>
            <a:off x="1063835" y="5253340"/>
            <a:ext cx="1824483" cy="1186129"/>
          </a:xfrm>
          <a:prstGeom prst="wedgeRectCallout">
            <a:avLst>
              <a:gd name="adj1" fmla="val 79489"/>
              <a:gd name="adj2" fmla="val -112893"/>
            </a:avLst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rPr>
              <a:t>The surface seems artificial (overfitted)</a:t>
            </a:r>
          </a:p>
        </p:txBody>
      </p:sp>
    </p:spTree>
    <p:extLst>
      <p:ext uri="{BB962C8B-B14F-4D97-AF65-F5344CB8AC3E}">
        <p14:creationId xmlns:p14="http://schemas.microsoft.com/office/powerpoint/2010/main" val="2493715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C53BD7B-1A29-5837-2AC6-48AA3828AC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2476" y="2043285"/>
            <a:ext cx="6619048" cy="2771429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38</a:t>
            </a:fld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7E277484-4082-49A6-A148-44207EFFCB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FF0000"/>
                </a:solidFill>
                <a:latin typeface="+mn-lt"/>
              </a:rPr>
              <a:t>Edit</a:t>
            </a:r>
            <a:r>
              <a:rPr lang="en-US" sz="3200" dirty="0">
                <a:latin typeface="+mn-lt"/>
              </a:rPr>
              <a:t> idw.py</a:t>
            </a:r>
          </a:p>
        </p:txBody>
      </p:sp>
      <p:sp>
        <p:nvSpPr>
          <p:cNvPr id="8" name="Speech Bubble: Rectangle 7">
            <a:extLst>
              <a:ext uri="{FF2B5EF4-FFF2-40B4-BE49-F238E27FC236}">
                <a16:creationId xmlns:a16="http://schemas.microsoft.com/office/drawing/2014/main" id="{6D294EE2-F01F-2003-16C6-BC8257C1396E}"/>
              </a:ext>
            </a:extLst>
          </p:cNvPr>
          <p:cNvSpPr/>
          <p:nvPr/>
        </p:nvSpPr>
        <p:spPr>
          <a:xfrm>
            <a:off x="4323333" y="4039331"/>
            <a:ext cx="1216453" cy="605966"/>
          </a:xfrm>
          <a:prstGeom prst="wedgeRectCallout">
            <a:avLst>
              <a:gd name="adj1" fmla="val -58740"/>
              <a:gd name="adj2" fmla="val -110636"/>
            </a:avLst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0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rPr>
              <a:t>Set plot type to 3</a:t>
            </a:r>
            <a:endParaRPr lang="en-US" dirty="0">
              <a:ln>
                <a:solidFill>
                  <a:srgbClr val="FF0000"/>
                </a:solidFill>
              </a:ln>
              <a:solidFill>
                <a:srgbClr val="FF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7C04D63-C73A-4605-1349-8A1491434F3D}"/>
              </a:ext>
            </a:extLst>
          </p:cNvPr>
          <p:cNvSpPr txBox="1"/>
          <p:nvPr/>
        </p:nvSpPr>
        <p:spPr>
          <a:xfrm>
            <a:off x="4101697" y="3380873"/>
            <a:ext cx="19262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Wireframe Mesh</a:t>
            </a:r>
          </a:p>
        </p:txBody>
      </p:sp>
    </p:spTree>
    <p:extLst>
      <p:ext uri="{BB962C8B-B14F-4D97-AF65-F5344CB8AC3E}">
        <p14:creationId xmlns:p14="http://schemas.microsoft.com/office/powerpoint/2010/main" val="4183792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2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82BF559-A065-73BD-AABB-8780720C2A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0179" y="1331667"/>
            <a:ext cx="6283642" cy="4899526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39</a:t>
            </a:fld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7E277484-4082-49A6-A148-44207EFFCB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00B050"/>
                </a:solidFill>
                <a:latin typeface="+mn-lt"/>
              </a:rPr>
              <a:t>Run</a:t>
            </a:r>
            <a:r>
              <a:rPr lang="en-US" sz="3200" dirty="0">
                <a:latin typeface="+mn-lt"/>
              </a:rPr>
              <a:t> idw.py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224FFB-CAFD-4AE0-821F-95F41ABAAA2D}"/>
              </a:ext>
            </a:extLst>
          </p:cNvPr>
          <p:cNvSpPr txBox="1"/>
          <p:nvPr/>
        </p:nvSpPr>
        <p:spPr>
          <a:xfrm>
            <a:off x="6457950" y="1788791"/>
            <a:ext cx="1961084" cy="6463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n>
                  <a:solidFill>
                    <a:srgbClr val="0070C0"/>
                  </a:solidFill>
                </a:ln>
                <a:solidFill>
                  <a:srgbClr val="0070C0"/>
                </a:solidFill>
              </a:rPr>
              <a:t>Blue</a:t>
            </a:r>
            <a:r>
              <a:rPr lang="en-US" dirty="0"/>
              <a:t> = </a:t>
            </a:r>
            <a:r>
              <a:rPr lang="en-US" b="1" dirty="0"/>
              <a:t>Actual</a:t>
            </a:r>
          </a:p>
          <a:p>
            <a:pPr algn="ctr"/>
            <a:r>
              <a: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rPr>
              <a:t>Red</a:t>
            </a:r>
            <a:r>
              <a:rPr lang="en-US" dirty="0"/>
              <a:t> = </a:t>
            </a:r>
            <a:r>
              <a:rPr lang="en-US" b="1" dirty="0"/>
              <a:t>Estimated</a:t>
            </a:r>
          </a:p>
        </p:txBody>
      </p:sp>
    </p:spTree>
    <p:extLst>
      <p:ext uri="{BB962C8B-B14F-4D97-AF65-F5344CB8AC3E}">
        <p14:creationId xmlns:p14="http://schemas.microsoft.com/office/powerpoint/2010/main" val="40677759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Root Mean Square Deviation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13019" y="1825625"/>
                <a:ext cx="8007349" cy="4840898"/>
              </a:xfrm>
            </p:spPr>
            <p:txBody>
              <a:bodyPr>
                <a:noAutofit/>
              </a:bodyPr>
              <a:lstStyle/>
              <a:p>
                <a:pPr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2400" dirty="0"/>
                  <a:t>As we increase the </a:t>
                </a:r>
                <a:r>
                  <a:rPr lang="en-US" sz="2400" b="1" dirty="0"/>
                  <a:t>power</a:t>
                </a:r>
                <a:r>
                  <a:rPr lang="en-US" sz="2400" dirty="0"/>
                  <a:t> term </a:t>
                </a:r>
                <a:r>
                  <a:rPr lang="en-US" sz="2400" b="1" dirty="0">
                    <a:solidFill>
                      <a:srgbClr val="FF0000"/>
                    </a:solidFill>
                  </a:rPr>
                  <a:t>p</a:t>
                </a:r>
                <a:r>
                  <a:rPr lang="en-US" sz="2400" dirty="0"/>
                  <a:t>, is our model getting </a:t>
                </a:r>
                <a:r>
                  <a:rPr lang="en-US" sz="2400" i="1" dirty="0"/>
                  <a:t>better</a:t>
                </a:r>
                <a:r>
                  <a:rPr lang="en-US" sz="2400" dirty="0"/>
                  <a:t> or </a:t>
                </a:r>
                <a:r>
                  <a:rPr lang="en-US" sz="2400" i="1" dirty="0"/>
                  <a:t>worse</a:t>
                </a:r>
                <a:r>
                  <a:rPr lang="en-US" sz="2400" dirty="0"/>
                  <a:t> at predicting reality?</a:t>
                </a:r>
              </a:p>
              <a:p>
                <a:pPr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2400" dirty="0"/>
                  <a:t>The root-mean-square deviation (</a:t>
                </a:r>
                <a:r>
                  <a:rPr lang="en-US" sz="2400" b="1" dirty="0">
                    <a:solidFill>
                      <a:srgbClr val="00B050"/>
                    </a:solidFill>
                  </a:rPr>
                  <a:t>RMSD</a:t>
                </a:r>
                <a:r>
                  <a:rPr lang="en-US" sz="2400" dirty="0"/>
                  <a:t>) is a statistic to measure the difference between the values </a:t>
                </a:r>
                <a:r>
                  <a:rPr lang="en-US" sz="2400" b="1" dirty="0"/>
                  <a:t>predicted</a:t>
                </a:r>
                <a:r>
                  <a:rPr lang="en-US" sz="2400" dirty="0"/>
                  <a:t> by a model versus the observed values</a:t>
                </a:r>
                <a:endParaRPr lang="en-US" sz="2400" b="1" dirty="0"/>
              </a:p>
              <a:p>
                <a:pPr>
                  <a:spcBef>
                    <a:spcPts val="0"/>
                  </a:spcBef>
                  <a:spcAft>
                    <a:spcPts val="1200"/>
                  </a:spcAft>
                </a:pPr>
                <a:endParaRPr lang="en-US" sz="2400" dirty="0"/>
              </a:p>
              <a:p>
                <a:pPr>
                  <a:spcBef>
                    <a:spcPts val="0"/>
                  </a:spcBef>
                  <a:spcAft>
                    <a:spcPts val="1200"/>
                  </a:spcAft>
                </a:pPr>
                <a:endParaRPr lang="en-US" sz="2400" dirty="0"/>
              </a:p>
              <a:p>
                <a:pPr>
                  <a:spcBef>
                    <a:spcPts val="0"/>
                  </a:spcBef>
                  <a:spcAft>
                    <a:spcPts val="1200"/>
                  </a:spcAft>
                </a:pPr>
                <a:endParaRPr lang="en-US" sz="2400" dirty="0"/>
              </a:p>
              <a:p>
                <a:pPr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2400" dirty="0"/>
                  <a:t>By averaging </a:t>
                </a:r>
                <a:r>
                  <a:rPr lang="en-US" sz="2400" b="1" dirty="0">
                    <a:solidFill>
                      <a:srgbClr val="FF0000"/>
                    </a:solidFill>
                  </a:rPr>
                  <a:t>the errors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𝑎𝑐𝑡𝑢𝑎𝑙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𝑒𝑠𝑡𝑖𝑚𝑎𝑡𝑒𝑑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400" dirty="0"/>
                  <a:t> across </a:t>
                </a:r>
                <a:r>
                  <a:rPr lang="en-US" sz="2400" b="1" dirty="0">
                    <a:solidFill>
                      <a:srgbClr val="0070C0"/>
                    </a:solidFill>
                  </a:rPr>
                  <a:t>all sample points</a:t>
                </a:r>
                <a:r>
                  <a:rPr lang="en-US" sz="2400" dirty="0"/>
                  <a:t>, we calculate a comparative statistic that can help empirically determine the optimal </a:t>
                </a:r>
                <a:r>
                  <a:rPr lang="en-US" sz="2400" b="1" dirty="0">
                    <a:solidFill>
                      <a:srgbClr val="FF0000"/>
                    </a:solidFill>
                  </a:rPr>
                  <a:t>p</a:t>
                </a:r>
                <a:r>
                  <a:rPr lang="en-US" sz="2400" dirty="0"/>
                  <a:t> value because it will </a:t>
                </a:r>
                <a:r>
                  <a:rPr lang="en-US" sz="2400" u="sng" dirty="0"/>
                  <a:t>minimize</a:t>
                </a:r>
                <a:r>
                  <a:rPr lang="en-US" sz="2400" dirty="0"/>
                  <a:t> the overall error of the model</a:t>
                </a:r>
              </a:p>
              <a:p>
                <a:pPr>
                  <a:spcBef>
                    <a:spcPts val="0"/>
                  </a:spcBef>
                  <a:spcAft>
                    <a:spcPts val="1200"/>
                  </a:spcAft>
                </a:pPr>
                <a:endParaRPr lang="en-US" sz="2400" dirty="0"/>
              </a:p>
              <a:p>
                <a:pPr>
                  <a:spcBef>
                    <a:spcPts val="0"/>
                  </a:spcBef>
                  <a:spcAft>
                    <a:spcPts val="1200"/>
                  </a:spcAft>
                </a:pPr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13019" y="1825625"/>
                <a:ext cx="8007349" cy="4840898"/>
              </a:xfrm>
              <a:blipFill>
                <a:blip r:embed="rId3"/>
                <a:stretch>
                  <a:fillRect l="-1066" t="-1761" r="-457" b="-20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50AD656-6FF9-465D-B7B0-1CD0DD39CD2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F206BC0-1680-72E9-AE59-D1CA08384FC6}"/>
                  </a:ext>
                </a:extLst>
              </p:cNvPr>
              <p:cNvSpPr txBox="1"/>
              <p:nvPr/>
            </p:nvSpPr>
            <p:spPr>
              <a:xfrm>
                <a:off x="2879421" y="3877721"/>
                <a:ext cx="3385157" cy="109119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𝑅𝑀𝑆𝐷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nary>
                                <m:naryPr>
                                  <m:chr m:val="∑"/>
                                  <m:limLoc m:val="subSup"/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5"/>
                                    </m:r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sSup>
                                    <m:sSup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acc>
                                            <m:accPr>
                                              <m:chr m:val="̂"/>
                                              <m:ctrlPr>
                                                <a:rPr lang="en-US" sz="24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sz="24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sz="24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𝑦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sz="24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𝑡</m:t>
                                                  </m:r>
                                                </m:sub>
                                              </m:sSub>
                                            </m:e>
                                          </m:acc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</m:num>
                            <m:den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F206BC0-1680-72E9-AE59-D1CA08384F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9421" y="3877721"/>
                <a:ext cx="3385157" cy="109119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235214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19DC65-9DC2-98F4-E63A-4AE938B1D5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FE7055F-8A3D-2F57-0FD2-03F41F6B809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490" y="365126"/>
            <a:ext cx="5596267" cy="5891293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9B905C-B6A8-7F72-F266-666BAB149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41</a:t>
            </a:fld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5239DAF3-5CFB-C0DD-CBEA-BED3FEACC3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5294" y="365126"/>
            <a:ext cx="2419736" cy="1103455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0070C0"/>
                </a:solidFill>
                <a:latin typeface="+mn-lt"/>
              </a:rPr>
              <a:t>Open</a:t>
            </a:r>
            <a:r>
              <a:rPr lang="en-US" sz="3200" dirty="0">
                <a:latin typeface="+mn-lt"/>
              </a:rPr>
              <a:t> </a:t>
            </a:r>
            <a:r>
              <a:rPr lang="en-US" sz="2400" dirty="0">
                <a:latin typeface="+mn-lt"/>
              </a:rPr>
              <a:t>idw_min_rmsd.py</a:t>
            </a:r>
            <a:endParaRPr lang="en-US" sz="3200" dirty="0">
              <a:latin typeface="+mn-lt"/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B0EC8A28-9265-CA99-7A52-928CD9E0D5F5}"/>
              </a:ext>
            </a:extLst>
          </p:cNvPr>
          <p:cNvGrpSpPr/>
          <p:nvPr/>
        </p:nvGrpSpPr>
        <p:grpSpPr>
          <a:xfrm>
            <a:off x="2311123" y="2604675"/>
            <a:ext cx="1076632" cy="369332"/>
            <a:chOff x="4968362" y="2079211"/>
            <a:chExt cx="1076632" cy="369332"/>
          </a:xfrm>
        </p:grpSpPr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617B7B47-4909-1C84-79D8-828867952E4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8362" y="226387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A88BB027-8097-672E-2A38-8F6F3E427648}"/>
                </a:ext>
              </a:extLst>
            </p:cNvPr>
            <p:cNvSpPr txBox="1"/>
            <p:nvPr/>
          </p:nvSpPr>
          <p:spPr>
            <a:xfrm>
              <a:off x="5661536" y="207921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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CB6A77E4-6918-F38C-D71B-A02D67506F2F}"/>
              </a:ext>
            </a:extLst>
          </p:cNvPr>
          <p:cNvGrpSpPr/>
          <p:nvPr/>
        </p:nvGrpSpPr>
        <p:grpSpPr>
          <a:xfrm>
            <a:off x="4480883" y="2824537"/>
            <a:ext cx="1076632" cy="369332"/>
            <a:chOff x="4704120" y="2356972"/>
            <a:chExt cx="1076632" cy="369332"/>
          </a:xfrm>
        </p:grpSpPr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7F556B66-AB9E-6722-43FD-84D1F2564BC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04120" y="2541638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44B365B8-380C-2377-231D-86C807621B89}"/>
                </a:ext>
              </a:extLst>
            </p:cNvPr>
            <p:cNvSpPr txBox="1"/>
            <p:nvPr/>
          </p:nvSpPr>
          <p:spPr>
            <a:xfrm>
              <a:off x="5397294" y="2356972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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4269F0AC-1BCD-501F-A26D-05FAE9408935}"/>
              </a:ext>
            </a:extLst>
          </p:cNvPr>
          <p:cNvGrpSpPr/>
          <p:nvPr/>
        </p:nvGrpSpPr>
        <p:grpSpPr>
          <a:xfrm>
            <a:off x="3990573" y="3268397"/>
            <a:ext cx="1068643" cy="369332"/>
            <a:chOff x="3647644" y="4910075"/>
            <a:chExt cx="1068643" cy="369332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3CCCE479-85CD-3A09-4641-0AC9015F33F9}"/>
                </a:ext>
              </a:extLst>
            </p:cNvPr>
            <p:cNvSpPr txBox="1"/>
            <p:nvPr/>
          </p:nvSpPr>
          <p:spPr>
            <a:xfrm>
              <a:off x="4332829" y="4910075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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3CAC414E-39B4-ED6F-D6CF-AEE66A23041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094741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B349D9D8-4D3D-661A-9030-27437E040F31}"/>
              </a:ext>
            </a:extLst>
          </p:cNvPr>
          <p:cNvGrpSpPr/>
          <p:nvPr/>
        </p:nvGrpSpPr>
        <p:grpSpPr>
          <a:xfrm>
            <a:off x="3437589" y="393509"/>
            <a:ext cx="1064340" cy="369332"/>
            <a:chOff x="3647644" y="5421073"/>
            <a:chExt cx="1064340" cy="369332"/>
          </a:xfrm>
        </p:grpSpPr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115A6BAE-3A45-AD99-7EEA-2A35F3A1F284}"/>
                </a:ext>
              </a:extLst>
            </p:cNvPr>
            <p:cNvSpPr txBox="1"/>
            <p:nvPr/>
          </p:nvSpPr>
          <p:spPr>
            <a:xfrm>
              <a:off x="4328526" y="5421073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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89C4A546-B36E-325B-78B3-2F7CF02675C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9443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5795FEAB-5C64-0337-C7CC-A69B4D1CFDCE}"/>
              </a:ext>
            </a:extLst>
          </p:cNvPr>
          <p:cNvGrpSpPr/>
          <p:nvPr/>
        </p:nvGrpSpPr>
        <p:grpSpPr>
          <a:xfrm>
            <a:off x="4037678" y="900091"/>
            <a:ext cx="1068643" cy="369332"/>
            <a:chOff x="3647644" y="5359159"/>
            <a:chExt cx="1068643" cy="369332"/>
          </a:xfrm>
        </p:grpSpPr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B369819B-AC09-D490-77C9-B5CCBB208FCD}"/>
                </a:ext>
              </a:extLst>
            </p:cNvPr>
            <p:cNvSpPr txBox="1"/>
            <p:nvPr/>
          </p:nvSpPr>
          <p:spPr>
            <a:xfrm>
              <a:off x="4332829" y="5359159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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D0100E93-519C-0069-0397-941B13B7B0B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4105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722F502D-685E-4A3E-A982-F024E00F0582}"/>
              </a:ext>
            </a:extLst>
          </p:cNvPr>
          <p:cNvGrpSpPr/>
          <p:nvPr/>
        </p:nvGrpSpPr>
        <p:grpSpPr>
          <a:xfrm>
            <a:off x="5136909" y="1488204"/>
            <a:ext cx="1076632" cy="369332"/>
            <a:chOff x="2157212" y="5356391"/>
            <a:chExt cx="1076632" cy="369332"/>
          </a:xfrm>
        </p:grpSpPr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8EF85BB4-6CCE-C63D-AF30-A922ABB6512C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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923841B7-4F44-AEE9-219B-737E4B6DF38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F296FB3E-4DB5-08FE-026D-412451ED690F}"/>
              </a:ext>
            </a:extLst>
          </p:cNvPr>
          <p:cNvGrpSpPr/>
          <p:nvPr/>
        </p:nvGrpSpPr>
        <p:grpSpPr>
          <a:xfrm>
            <a:off x="4255601" y="1700923"/>
            <a:ext cx="1076632" cy="369332"/>
            <a:chOff x="2157212" y="5356391"/>
            <a:chExt cx="1076632" cy="369332"/>
          </a:xfrm>
        </p:grpSpPr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17A34E9B-2E94-9FB2-39E7-276F01EF53FD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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AC65C058-0E4F-19E1-E3AA-5883F29A53B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12316F83-F566-E363-CC6E-5A9937AC7B79}"/>
              </a:ext>
            </a:extLst>
          </p:cNvPr>
          <p:cNvGrpSpPr/>
          <p:nvPr/>
        </p:nvGrpSpPr>
        <p:grpSpPr>
          <a:xfrm>
            <a:off x="5097164" y="1925417"/>
            <a:ext cx="1076632" cy="369332"/>
            <a:chOff x="2157212" y="5356391"/>
            <a:chExt cx="1076632" cy="369332"/>
          </a:xfrm>
        </p:grpSpPr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ECA791C6-A9E1-0B99-40D2-760C449FE8C3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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C9F118FF-BF96-5616-94D1-6084E97D3ED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0301BAF1-7BB7-19A5-AD35-C28B751A1623}"/>
              </a:ext>
            </a:extLst>
          </p:cNvPr>
          <p:cNvGrpSpPr/>
          <p:nvPr/>
        </p:nvGrpSpPr>
        <p:grpSpPr>
          <a:xfrm>
            <a:off x="3928321" y="1263710"/>
            <a:ext cx="1076632" cy="369332"/>
            <a:chOff x="2157212" y="5356391"/>
            <a:chExt cx="1076632" cy="369332"/>
          </a:xfrm>
        </p:grpSpPr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61C1A8F0-4F9A-7CBA-4DF1-EAF5E24162DB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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E68A0419-0F5F-52AE-FFD2-AB1A064E732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B57390A9-EFEC-9A92-3DA9-360981DA20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4529" y="1668839"/>
            <a:ext cx="2540016" cy="84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1465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D15AAA-F750-D4F3-7971-65EDB6965A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0C3578B-85F8-3424-612F-5F72E48B264E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490" y="365126"/>
            <a:ext cx="5596267" cy="5891293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1E3803-C1AD-5DFC-607C-B084B0157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42</a:t>
            </a:fld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84FF10F5-EDE3-5911-A478-113AB2F81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5294" y="365126"/>
            <a:ext cx="2419736" cy="1103455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0070C0"/>
                </a:solidFill>
                <a:latin typeface="+mn-lt"/>
              </a:rPr>
              <a:t>View</a:t>
            </a:r>
            <a:r>
              <a:rPr lang="en-US" sz="3200" dirty="0">
                <a:latin typeface="+mn-lt"/>
              </a:rPr>
              <a:t> </a:t>
            </a:r>
            <a:r>
              <a:rPr lang="en-US" sz="2400" dirty="0">
                <a:latin typeface="+mn-lt"/>
              </a:rPr>
              <a:t>idw_min_rmsd.py</a:t>
            </a:r>
            <a:endParaRPr lang="en-US" sz="3200" dirty="0">
              <a:latin typeface="+mn-lt"/>
            </a:endParaRPr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F62994CE-727B-CBC5-51DD-E7A54020F0B4}"/>
              </a:ext>
            </a:extLst>
          </p:cNvPr>
          <p:cNvGrpSpPr/>
          <p:nvPr/>
        </p:nvGrpSpPr>
        <p:grpSpPr>
          <a:xfrm>
            <a:off x="4251084" y="3703519"/>
            <a:ext cx="1076632" cy="369332"/>
            <a:chOff x="4968362" y="2079211"/>
            <a:chExt cx="1076632" cy="369332"/>
          </a:xfrm>
        </p:grpSpPr>
        <p:cxnSp>
          <p:nvCxnSpPr>
            <p:cNvPr id="64" name="Straight Arrow Connector 63">
              <a:extLst>
                <a:ext uri="{FF2B5EF4-FFF2-40B4-BE49-F238E27FC236}">
                  <a16:creationId xmlns:a16="http://schemas.microsoft.com/office/drawing/2014/main" id="{43B038B3-E760-55C0-73CF-C2C0286A443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8362" y="226387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B4DB28B5-CD8D-651C-0888-194CE2B2E0D8}"/>
                </a:ext>
              </a:extLst>
            </p:cNvPr>
            <p:cNvSpPr txBox="1"/>
            <p:nvPr/>
          </p:nvSpPr>
          <p:spPr>
            <a:xfrm>
              <a:off x="5661536" y="207921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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3561CE44-0E06-6D4C-6510-16EFA0ECDB9F}"/>
              </a:ext>
            </a:extLst>
          </p:cNvPr>
          <p:cNvGrpSpPr/>
          <p:nvPr/>
        </p:nvGrpSpPr>
        <p:grpSpPr>
          <a:xfrm>
            <a:off x="4493252" y="3936414"/>
            <a:ext cx="1076632" cy="369332"/>
            <a:chOff x="4704120" y="2356972"/>
            <a:chExt cx="1076632" cy="369332"/>
          </a:xfrm>
        </p:grpSpPr>
        <p:cxnSp>
          <p:nvCxnSpPr>
            <p:cNvPr id="67" name="Straight Arrow Connector 66">
              <a:extLst>
                <a:ext uri="{FF2B5EF4-FFF2-40B4-BE49-F238E27FC236}">
                  <a16:creationId xmlns:a16="http://schemas.microsoft.com/office/drawing/2014/main" id="{770923B9-8D05-8D4E-76B9-600CEB4EB34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04120" y="2541638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94F8AC17-3DDB-2A35-E7FA-9CAA314303F0}"/>
                </a:ext>
              </a:extLst>
            </p:cNvPr>
            <p:cNvSpPr txBox="1"/>
            <p:nvPr/>
          </p:nvSpPr>
          <p:spPr>
            <a:xfrm>
              <a:off x="5397294" y="2356972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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650226AB-312E-9B53-53FA-8C6F96C044CA}"/>
              </a:ext>
            </a:extLst>
          </p:cNvPr>
          <p:cNvGrpSpPr/>
          <p:nvPr/>
        </p:nvGrpSpPr>
        <p:grpSpPr>
          <a:xfrm>
            <a:off x="2193969" y="4369081"/>
            <a:ext cx="1068643" cy="369332"/>
            <a:chOff x="3647644" y="4910075"/>
            <a:chExt cx="1068643" cy="369332"/>
          </a:xfrm>
        </p:grpSpPr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22DFA9BB-3BD8-5BC8-F239-851448D4FA5C}"/>
                </a:ext>
              </a:extLst>
            </p:cNvPr>
            <p:cNvSpPr txBox="1"/>
            <p:nvPr/>
          </p:nvSpPr>
          <p:spPr>
            <a:xfrm>
              <a:off x="4332829" y="4910075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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71" name="Straight Arrow Connector 70">
              <a:extLst>
                <a:ext uri="{FF2B5EF4-FFF2-40B4-BE49-F238E27FC236}">
                  <a16:creationId xmlns:a16="http://schemas.microsoft.com/office/drawing/2014/main" id="{00F6FF87-4819-B0C8-1184-8DE5C93ECC9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094741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5C4B458E-B781-12BB-ECAF-D924F2659241}"/>
              </a:ext>
            </a:extLst>
          </p:cNvPr>
          <p:cNvGrpSpPr/>
          <p:nvPr/>
        </p:nvGrpSpPr>
        <p:grpSpPr>
          <a:xfrm>
            <a:off x="4514504" y="4601873"/>
            <a:ext cx="1064340" cy="369332"/>
            <a:chOff x="3647644" y="5421073"/>
            <a:chExt cx="1064340" cy="369332"/>
          </a:xfrm>
        </p:grpSpPr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12D90D18-7EB5-A885-0CD1-0A518B840531}"/>
                </a:ext>
              </a:extLst>
            </p:cNvPr>
            <p:cNvSpPr txBox="1"/>
            <p:nvPr/>
          </p:nvSpPr>
          <p:spPr>
            <a:xfrm>
              <a:off x="4328526" y="5421073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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74" name="Straight Arrow Connector 73">
              <a:extLst>
                <a:ext uri="{FF2B5EF4-FFF2-40B4-BE49-F238E27FC236}">
                  <a16:creationId xmlns:a16="http://schemas.microsoft.com/office/drawing/2014/main" id="{9F684759-4EDF-62A5-EC51-B6CF3A74272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9443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93CBD6F4-FE45-AEC6-31D2-C288306CA000}"/>
              </a:ext>
            </a:extLst>
          </p:cNvPr>
          <p:cNvGrpSpPr/>
          <p:nvPr/>
        </p:nvGrpSpPr>
        <p:grpSpPr>
          <a:xfrm>
            <a:off x="5799217" y="5915252"/>
            <a:ext cx="1068643" cy="369332"/>
            <a:chOff x="3647644" y="5359159"/>
            <a:chExt cx="1068643" cy="369332"/>
          </a:xfrm>
        </p:grpSpPr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8AF62265-623F-60BB-D124-8DE747227C20}"/>
                </a:ext>
              </a:extLst>
            </p:cNvPr>
            <p:cNvSpPr txBox="1"/>
            <p:nvPr/>
          </p:nvSpPr>
          <p:spPr>
            <a:xfrm>
              <a:off x="4332829" y="5359159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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77" name="Straight Arrow Connector 76">
              <a:extLst>
                <a:ext uri="{FF2B5EF4-FFF2-40B4-BE49-F238E27FC236}">
                  <a16:creationId xmlns:a16="http://schemas.microsoft.com/office/drawing/2014/main" id="{C16DCAD6-51F8-B379-2FC2-04B9F00A58E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4105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8C8762F9-4A83-4DAF-348F-D3657AD1F93F}"/>
              </a:ext>
            </a:extLst>
          </p:cNvPr>
          <p:cNvSpPr/>
          <p:nvPr/>
        </p:nvSpPr>
        <p:spPr>
          <a:xfrm>
            <a:off x="1395765" y="5985879"/>
            <a:ext cx="898005" cy="216836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24C473D-93A7-835B-A827-C207D9A3E0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4529" y="1668839"/>
            <a:ext cx="2540016" cy="84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38443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1B2BC23-C5B8-B389-F27E-344EF7B113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4857" y="1468581"/>
            <a:ext cx="6114286" cy="515238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00B050"/>
                </a:solidFill>
                <a:latin typeface="+mn-lt"/>
              </a:rPr>
              <a:t>Run</a:t>
            </a:r>
            <a:r>
              <a:rPr lang="en-US" sz="3200" dirty="0">
                <a:latin typeface="+mn-lt"/>
              </a:rPr>
              <a:t> idw_min_rmsd.py</a:t>
            </a:r>
            <a:endParaRPr lang="en-US" sz="3200" b="1" dirty="0">
              <a:solidFill>
                <a:srgbClr val="00B050"/>
              </a:solidFill>
              <a:latin typeface="+mn-lt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50AD656-6FF9-465D-B7B0-1CD0DD39CD23}" type="slidenum">
              <a:rPr lang="en-US"/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9B8F5C8-A652-2F96-766C-DE79F85C6CCC}"/>
              </a:ext>
            </a:extLst>
          </p:cNvPr>
          <p:cNvSpPr/>
          <p:nvPr/>
        </p:nvSpPr>
        <p:spPr>
          <a:xfrm>
            <a:off x="4613105" y="5610595"/>
            <a:ext cx="1143118" cy="205690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79A5112-3E5B-9482-20CC-D103C4AE78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4485" y="3262371"/>
            <a:ext cx="1908213" cy="169483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46E868C-A0D6-D080-3E67-6D9EFC16DF6F}"/>
              </a:ext>
            </a:extLst>
          </p:cNvPr>
          <p:cNvSpPr txBox="1"/>
          <p:nvPr/>
        </p:nvSpPr>
        <p:spPr>
          <a:xfrm>
            <a:off x="4677274" y="5302818"/>
            <a:ext cx="23421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7030A0"/>
                </a:solidFill>
              </a:rPr>
              <a:t>For this patch of the ocean…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C9812CB-C328-3DB2-40DF-FC504CECF109}"/>
                  </a:ext>
                </a:extLst>
              </p:cNvPr>
              <p:cNvSpPr txBox="1"/>
              <p:nvPr/>
            </p:nvSpPr>
            <p:spPr>
              <a:xfrm>
                <a:off x="4303794" y="2739151"/>
                <a:ext cx="2489594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b="0" dirty="0">
                    <a:solidFill>
                      <a:srgbClr val="7030A0"/>
                    </a:solidFill>
                  </a:rPr>
                  <a:t>The best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1400" dirty="0">
                    <a:solidFill>
                      <a:srgbClr val="7030A0"/>
                    </a:solidFill>
                  </a:rPr>
                  <a:t> varies for each patch across the entire ocean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C9812CB-C328-3DB2-40DF-FC504CECF1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3794" y="2739151"/>
                <a:ext cx="2489594" cy="523220"/>
              </a:xfrm>
              <a:prstGeom prst="rect">
                <a:avLst/>
              </a:prstGeom>
              <a:blipFill>
                <a:blip r:embed="rId5"/>
                <a:stretch>
                  <a:fillRect l="-735" t="-1163" r="-2206" b="-116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7440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4" grpId="0"/>
      <p:bldP spid="6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1311CB-F9A1-C651-52E0-7A02EB4275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39831B8-EE36-0614-17FC-5A6CE3F9CC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2476" y="2043285"/>
            <a:ext cx="6619048" cy="2771429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36A809-5206-BB27-FB46-74C6AF148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44</a:t>
            </a:fld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E0948487-4F0B-FD82-3891-4F56E4BBB5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FF0000"/>
                </a:solidFill>
                <a:latin typeface="+mn-lt"/>
              </a:rPr>
              <a:t>Edit</a:t>
            </a:r>
            <a:r>
              <a:rPr lang="en-US" sz="3200" dirty="0">
                <a:latin typeface="+mn-lt"/>
              </a:rPr>
              <a:t> idw.py</a:t>
            </a:r>
          </a:p>
        </p:txBody>
      </p:sp>
      <p:sp>
        <p:nvSpPr>
          <p:cNvPr id="8" name="Speech Bubble: Rectangle 7">
            <a:extLst>
              <a:ext uri="{FF2B5EF4-FFF2-40B4-BE49-F238E27FC236}">
                <a16:creationId xmlns:a16="http://schemas.microsoft.com/office/drawing/2014/main" id="{486CCA60-285F-1FE0-E0AC-3BA6F8FEF7E0}"/>
              </a:ext>
            </a:extLst>
          </p:cNvPr>
          <p:cNvSpPr/>
          <p:nvPr/>
        </p:nvSpPr>
        <p:spPr>
          <a:xfrm>
            <a:off x="4323333" y="4039331"/>
            <a:ext cx="1216453" cy="605966"/>
          </a:xfrm>
          <a:prstGeom prst="wedgeRectCallout">
            <a:avLst>
              <a:gd name="adj1" fmla="val -58740"/>
              <a:gd name="adj2" fmla="val -110636"/>
            </a:avLst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0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rPr>
              <a:t>Set plot type to 2</a:t>
            </a:r>
            <a:endParaRPr lang="en-US" dirty="0">
              <a:ln>
                <a:solidFill>
                  <a:srgbClr val="FF0000"/>
                </a:solidFill>
              </a:ln>
              <a:solidFill>
                <a:srgbClr val="FF0000"/>
              </a:solidFill>
            </a:endParaRPr>
          </a:p>
        </p:txBody>
      </p:sp>
      <p:sp>
        <p:nvSpPr>
          <p:cNvPr id="7" name="Speech Bubble: Rectangle 6">
            <a:extLst>
              <a:ext uri="{FF2B5EF4-FFF2-40B4-BE49-F238E27FC236}">
                <a16:creationId xmlns:a16="http://schemas.microsoft.com/office/drawing/2014/main" id="{D332EA2A-E11C-40B5-B2A3-A08E69385FC1}"/>
              </a:ext>
            </a:extLst>
          </p:cNvPr>
          <p:cNvSpPr/>
          <p:nvPr/>
        </p:nvSpPr>
        <p:spPr>
          <a:xfrm>
            <a:off x="4796575" y="1740302"/>
            <a:ext cx="1216453" cy="605966"/>
          </a:xfrm>
          <a:prstGeom prst="wedgeRectCallout">
            <a:avLst>
              <a:gd name="adj1" fmla="val -99622"/>
              <a:gd name="adj2" fmla="val 166013"/>
            </a:avLst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0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rPr>
              <a:t>Set power to 4.7551</a:t>
            </a:r>
            <a:endParaRPr lang="en-US" dirty="0">
              <a:ln>
                <a:solidFill>
                  <a:srgbClr val="FF0000"/>
                </a:solidFill>
              </a:ln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9990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7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03DECD-626D-0D50-A24A-1C62F9ADB4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1159F4AF-E07C-14ED-5CBB-A64042667A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9587" y="1259303"/>
            <a:ext cx="6624827" cy="5165558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7693AD-7EBC-8F33-3ED8-5D871BE3D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45</a:t>
            </a:fld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CB2B35C1-58D1-8B67-33D5-40752903C3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00B050"/>
                </a:solidFill>
                <a:latin typeface="+mn-lt"/>
              </a:rPr>
              <a:t>Run</a:t>
            </a:r>
            <a:r>
              <a:rPr lang="en-US" sz="3200" dirty="0">
                <a:latin typeface="+mn-lt"/>
              </a:rPr>
              <a:t> idw.py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Speech Bubble: Rectangle 6">
                <a:extLst>
                  <a:ext uri="{FF2B5EF4-FFF2-40B4-BE49-F238E27FC236}">
                    <a16:creationId xmlns:a16="http://schemas.microsoft.com/office/drawing/2014/main" id="{61646A64-234A-25F8-7F72-CDA1A92B7F2C}"/>
                  </a:ext>
                </a:extLst>
              </p:cNvPr>
              <p:cNvSpPr/>
              <p:nvPr/>
            </p:nvSpPr>
            <p:spPr>
              <a:xfrm>
                <a:off x="6829846" y="1656526"/>
                <a:ext cx="1533875" cy="605966"/>
              </a:xfrm>
              <a:prstGeom prst="wedgeRectCallout">
                <a:avLst>
                  <a:gd name="adj1" fmla="val -64428"/>
                  <a:gd name="adj2" fmla="val 121529"/>
                </a:avLst>
              </a:prstGeom>
              <a:solidFill>
                <a:schemeClr val="bg1"/>
              </a:solidFill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n>
                            <a:solidFill>
                              <a:srgbClr val="FF0000"/>
                            </a:solidFill>
                          </a:ln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smtClean="0">
                          <a:ln>
                            <a:solidFill>
                              <a:srgbClr val="FF0000"/>
                            </a:solidFill>
                          </a:ln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=4.7551</m:t>
                      </m:r>
                    </m:oMath>
                  </m:oMathPara>
                </a14:m>
                <a:endPara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Speech Bubble: Rectangle 6">
                <a:extLst>
                  <a:ext uri="{FF2B5EF4-FFF2-40B4-BE49-F238E27FC236}">
                    <a16:creationId xmlns:a16="http://schemas.microsoft.com/office/drawing/2014/main" id="{61646A64-234A-25F8-7F72-CDA1A92B7F2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9846" y="1656526"/>
                <a:ext cx="1533875" cy="605966"/>
              </a:xfrm>
              <a:prstGeom prst="wedgeRectCallout">
                <a:avLst>
                  <a:gd name="adj1" fmla="val -64428"/>
                  <a:gd name="adj2" fmla="val 121529"/>
                </a:avLst>
              </a:prstGeom>
              <a:blipFill>
                <a:blip r:embed="rId4"/>
                <a:stretch>
                  <a:fillRect/>
                </a:stretch>
              </a:blipFill>
              <a:ln w="28575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Speech Bubble: Rectangle 7">
            <a:extLst>
              <a:ext uri="{FF2B5EF4-FFF2-40B4-BE49-F238E27FC236}">
                <a16:creationId xmlns:a16="http://schemas.microsoft.com/office/drawing/2014/main" id="{B03DEFF6-AB8E-6B30-99FF-07268597392A}"/>
              </a:ext>
            </a:extLst>
          </p:cNvPr>
          <p:cNvSpPr/>
          <p:nvPr/>
        </p:nvSpPr>
        <p:spPr>
          <a:xfrm>
            <a:off x="532397" y="5032328"/>
            <a:ext cx="2230063" cy="890886"/>
          </a:xfrm>
          <a:prstGeom prst="wedgeRectCallout">
            <a:avLst>
              <a:gd name="adj1" fmla="val 45036"/>
              <a:gd name="adj2" fmla="val -109540"/>
            </a:avLst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rPr>
              <a:t>The mesh having least error with the known samples</a:t>
            </a:r>
          </a:p>
        </p:txBody>
      </p:sp>
    </p:spTree>
    <p:extLst>
      <p:ext uri="{BB962C8B-B14F-4D97-AF65-F5344CB8AC3E}">
        <p14:creationId xmlns:p14="http://schemas.microsoft.com/office/powerpoint/2010/main" val="3845548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B6439-41E6-140A-FAE2-84DA1CCE9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+mn-lt"/>
              </a:rPr>
              <a:t>Session </a:t>
            </a:r>
            <a:r>
              <a:rPr lang="en-US" sz="3200" b="1" dirty="0">
                <a:latin typeface="+mn-lt"/>
              </a:rPr>
              <a:t>23</a:t>
            </a:r>
            <a:r>
              <a:rPr lang="en-US" sz="3200" dirty="0">
                <a:latin typeface="+mn-lt"/>
              </a:rPr>
              <a:t> – Now You Know…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72E0DF-EA1E-2B29-FBAA-C77F1DA8F8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The </a:t>
            </a:r>
            <a:r>
              <a:rPr lang="en-US" sz="2400" b="1" dirty="0"/>
              <a:t>Inverse Distance Weighting</a:t>
            </a:r>
            <a:r>
              <a:rPr lang="en-US" sz="2400" dirty="0"/>
              <a:t> (</a:t>
            </a:r>
            <a:r>
              <a:rPr lang="en-US" sz="2400" b="1" dirty="0">
                <a:solidFill>
                  <a:srgbClr val="FF0000"/>
                </a:solidFill>
              </a:rPr>
              <a:t>IDW</a:t>
            </a:r>
            <a:r>
              <a:rPr lang="en-US" sz="2400" dirty="0"/>
              <a:t>) method can interpolate multi-dimensional data taken from random sample locations</a:t>
            </a:r>
          </a:p>
          <a:p>
            <a:pPr lvl="1">
              <a:spcBef>
                <a:spcPts val="0"/>
              </a:spcBef>
              <a:spcAft>
                <a:spcPts val="1200"/>
              </a:spcAft>
            </a:pPr>
            <a:r>
              <a:rPr lang="en-US" sz="2000" dirty="0"/>
              <a:t>How to convert non-uniformly measured spatial data into a </a:t>
            </a:r>
            <a:r>
              <a:rPr lang="en-US" sz="2000" b="1" dirty="0">
                <a:solidFill>
                  <a:srgbClr val="0070C0"/>
                </a:solidFill>
              </a:rPr>
              <a:t>regular conforming mesh</a:t>
            </a:r>
          </a:p>
          <a:p>
            <a:pPr lvl="1">
              <a:spcBef>
                <a:spcPts val="0"/>
              </a:spcBef>
              <a:spcAft>
                <a:spcPts val="1200"/>
              </a:spcAft>
            </a:pPr>
            <a:r>
              <a:rPr lang="en-US" sz="2000" dirty="0"/>
              <a:t>How to use </a:t>
            </a:r>
            <a:r>
              <a:rPr lang="en-US" sz="2000" b="1" dirty="0">
                <a:solidFill>
                  <a:srgbClr val="00B050"/>
                </a:solidFill>
              </a:rPr>
              <a:t>RMSD</a:t>
            </a:r>
            <a:r>
              <a:rPr lang="en-US" sz="2000" dirty="0"/>
              <a:t> as one metric to characterize the “goodness of fit” for predicted interpolated data points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Scientists </a:t>
            </a:r>
            <a:r>
              <a:rPr lang="en-US" sz="2400" b="1" i="1" dirty="0">
                <a:solidFill>
                  <a:srgbClr val="FF0000"/>
                </a:solidFill>
              </a:rPr>
              <a:t>rarely</a:t>
            </a:r>
            <a:r>
              <a:rPr lang="en-US" sz="2400" dirty="0"/>
              <a:t> enjoy the luxury of having too many data samples and must often </a:t>
            </a:r>
            <a:r>
              <a:rPr lang="en-US" sz="2400" u="sng" dirty="0"/>
              <a:t>interpolate</a:t>
            </a:r>
            <a:r>
              <a:rPr lang="en-US" sz="2400" dirty="0"/>
              <a:t> to fill in the missing gaps in their observations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endParaRPr lang="en-US" sz="2400" dirty="0"/>
          </a:p>
          <a:p>
            <a:pPr>
              <a:spcBef>
                <a:spcPts val="0"/>
              </a:spcBef>
              <a:spcAft>
                <a:spcPts val="1200"/>
              </a:spcAft>
            </a:pPr>
            <a:endParaRPr lang="en-US" sz="2400" dirty="0"/>
          </a:p>
          <a:p>
            <a:pPr>
              <a:spcBef>
                <a:spcPts val="0"/>
              </a:spcBef>
              <a:spcAft>
                <a:spcPts val="1200"/>
              </a:spcAft>
            </a:pPr>
            <a:endParaRPr lang="en-US" sz="2400" dirty="0"/>
          </a:p>
          <a:p>
            <a:pPr>
              <a:spcBef>
                <a:spcPts val="0"/>
              </a:spcBef>
              <a:spcAft>
                <a:spcPts val="1200"/>
              </a:spcAft>
            </a:pP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CC9F32-161F-C116-92EA-A6FCC6DD8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03149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12562</TotalTime>
  <Words>1262</Words>
  <Application>Microsoft Office PowerPoint</Application>
  <PresentationFormat>On-screen Show (4:3)</PresentationFormat>
  <Paragraphs>319</Paragraphs>
  <Slides>46</Slides>
  <Notes>43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2" baseType="lpstr">
      <vt:lpstr>Arial</vt:lpstr>
      <vt:lpstr>Calibri</vt:lpstr>
      <vt:lpstr>Calibri Light</vt:lpstr>
      <vt:lpstr>Cambria Math</vt:lpstr>
      <vt:lpstr>Wingdings</vt:lpstr>
      <vt:lpstr>Office Theme</vt:lpstr>
      <vt:lpstr>PowerPoint Presentation</vt:lpstr>
      <vt:lpstr>Session 23 – Goals</vt:lpstr>
      <vt:lpstr>Interpolating Spatial Data</vt:lpstr>
      <vt:lpstr>Interpolating Spatial Data</vt:lpstr>
      <vt:lpstr>Interpolating Spatial Data</vt:lpstr>
      <vt:lpstr>Interpolating Spatial Data</vt:lpstr>
      <vt:lpstr>Interpolating Spatial Data</vt:lpstr>
      <vt:lpstr>The Inverse Distance Weighting (IDW) Method</vt:lpstr>
      <vt:lpstr>The Inverse Distance Weighting (IDW) Method</vt:lpstr>
      <vt:lpstr>The Inverse Distance Weighting (IDW) Method</vt:lpstr>
      <vt:lpstr>The Inverse Distance Weighting (IDW) Method</vt:lpstr>
      <vt:lpstr>SciComp As Translational Science</vt:lpstr>
      <vt:lpstr>An “Actual” Ocean Floor</vt:lpstr>
      <vt:lpstr>Sample Ocean Depth Soundings</vt:lpstr>
      <vt:lpstr>Open idw.py</vt:lpstr>
      <vt:lpstr>PowerPoint Presentation</vt:lpstr>
      <vt:lpstr>PowerPoint Presentation</vt:lpstr>
      <vt:lpstr>View idw.py</vt:lpstr>
      <vt:lpstr>View idw.py</vt:lpstr>
      <vt:lpstr>View idw.py</vt:lpstr>
      <vt:lpstr>PowerPoint Presentation</vt:lpstr>
      <vt:lpstr>View idw.py</vt:lpstr>
      <vt:lpstr>View idw.py</vt:lpstr>
      <vt:lpstr>View idw.py</vt:lpstr>
      <vt:lpstr>View idw.py</vt:lpstr>
      <vt:lpstr>View idw.py</vt:lpstr>
      <vt:lpstr>Run idw.py</vt:lpstr>
      <vt:lpstr>Run idw.py</vt:lpstr>
      <vt:lpstr>Run idw.py</vt:lpstr>
      <vt:lpstr>Run idw.py</vt:lpstr>
      <vt:lpstr>Edit idw.py</vt:lpstr>
      <vt:lpstr>Run idw.py</vt:lpstr>
      <vt:lpstr>Run idw.py</vt:lpstr>
      <vt:lpstr>Edit idw.py</vt:lpstr>
      <vt:lpstr>Run idw.py</vt:lpstr>
      <vt:lpstr>Edit idw.py</vt:lpstr>
      <vt:lpstr>Run idw.py</vt:lpstr>
      <vt:lpstr>Edit idw.py</vt:lpstr>
      <vt:lpstr>Run idw.py</vt:lpstr>
      <vt:lpstr>Root Mean Square Deviation</vt:lpstr>
      <vt:lpstr>Open idw_min_rmsd.py</vt:lpstr>
      <vt:lpstr>View idw_min_rmsd.py</vt:lpstr>
      <vt:lpstr>Run idw_min_rmsd.py</vt:lpstr>
      <vt:lpstr>Edit idw.py</vt:lpstr>
      <vt:lpstr>Run idw.py</vt:lpstr>
      <vt:lpstr>Session 23 – Now You Know…</vt:lpstr>
    </vt:vector>
  </TitlesOfParts>
  <Company>Personal Use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David MSN Biersach</dc:creator>
  <cp:lastModifiedBy>David MSN Biersach</cp:lastModifiedBy>
  <cp:revision>1244</cp:revision>
  <cp:lastPrinted>2015-06-01T00:45:11Z</cp:lastPrinted>
  <dcterms:created xsi:type="dcterms:W3CDTF">2014-09-21T17:58:26Z</dcterms:created>
  <dcterms:modified xsi:type="dcterms:W3CDTF">2026-04-15T13:06:26Z</dcterms:modified>
</cp:coreProperties>
</file>