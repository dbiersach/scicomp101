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handoutMasterIdLst>
    <p:handoutMasterId r:id="rId75"/>
  </p:handoutMasterIdLst>
  <p:sldIdLst>
    <p:sldId id="1237" r:id="rId2"/>
    <p:sldId id="909" r:id="rId3"/>
    <p:sldId id="1018" r:id="rId4"/>
    <p:sldId id="1260" r:id="rId5"/>
    <p:sldId id="1217" r:id="rId6"/>
    <p:sldId id="397" r:id="rId7"/>
    <p:sldId id="259" r:id="rId8"/>
    <p:sldId id="260" r:id="rId9"/>
    <p:sldId id="262" r:id="rId10"/>
    <p:sldId id="263" r:id="rId11"/>
    <p:sldId id="264" r:id="rId12"/>
    <p:sldId id="267" r:id="rId13"/>
    <p:sldId id="364" r:id="rId14"/>
    <p:sldId id="343" r:id="rId15"/>
    <p:sldId id="888" r:id="rId16"/>
    <p:sldId id="556" r:id="rId17"/>
    <p:sldId id="1262" r:id="rId18"/>
    <p:sldId id="370" r:id="rId19"/>
    <p:sldId id="371" r:id="rId20"/>
    <p:sldId id="459" r:id="rId21"/>
    <p:sldId id="404" r:id="rId22"/>
    <p:sldId id="405" r:id="rId23"/>
    <p:sldId id="653" r:id="rId24"/>
    <p:sldId id="354" r:id="rId25"/>
    <p:sldId id="355" r:id="rId26"/>
    <p:sldId id="992" r:id="rId27"/>
    <p:sldId id="1259" r:id="rId28"/>
    <p:sldId id="896" r:id="rId29"/>
    <p:sldId id="352" r:id="rId30"/>
    <p:sldId id="883" r:id="rId31"/>
    <p:sldId id="898" r:id="rId32"/>
    <p:sldId id="417" r:id="rId33"/>
    <p:sldId id="362" r:id="rId34"/>
    <p:sldId id="365" r:id="rId35"/>
    <p:sldId id="902" r:id="rId36"/>
    <p:sldId id="1218" r:id="rId37"/>
    <p:sldId id="1285" r:id="rId38"/>
    <p:sldId id="339" r:id="rId39"/>
    <p:sldId id="884" r:id="rId40"/>
    <p:sldId id="1239" r:id="rId41"/>
    <p:sldId id="1240" r:id="rId42"/>
    <p:sldId id="1241" r:id="rId43"/>
    <p:sldId id="1258" r:id="rId44"/>
    <p:sldId id="1261" r:id="rId45"/>
    <p:sldId id="1257" r:id="rId46"/>
    <p:sldId id="401" r:id="rId47"/>
    <p:sldId id="375" r:id="rId48"/>
    <p:sldId id="349" r:id="rId49"/>
    <p:sldId id="1226" r:id="rId50"/>
    <p:sldId id="1174" r:id="rId51"/>
    <p:sldId id="1300" r:id="rId52"/>
    <p:sldId id="1301" r:id="rId53"/>
    <p:sldId id="1302" r:id="rId54"/>
    <p:sldId id="1304" r:id="rId55"/>
    <p:sldId id="1305" r:id="rId56"/>
    <p:sldId id="1307" r:id="rId57"/>
    <p:sldId id="1308" r:id="rId58"/>
    <p:sldId id="1306" r:id="rId59"/>
    <p:sldId id="1309" r:id="rId60"/>
    <p:sldId id="1310" r:id="rId61"/>
    <p:sldId id="1311" r:id="rId62"/>
    <p:sldId id="1312" r:id="rId63"/>
    <p:sldId id="1313" r:id="rId64"/>
    <p:sldId id="1315" r:id="rId65"/>
    <p:sldId id="1289" r:id="rId66"/>
    <p:sldId id="1314" r:id="rId67"/>
    <p:sldId id="1316" r:id="rId68"/>
    <p:sldId id="1317" r:id="rId69"/>
    <p:sldId id="1250" r:id="rId70"/>
    <p:sldId id="1251" r:id="rId71"/>
    <p:sldId id="973" r:id="rId72"/>
    <p:sldId id="995" r:id="rId73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8D4CF-A7F0-43E9-B10A-B78091E3B8FA}" v="3" dt="2022-06-03T06:15:10.8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1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  <pc:docChgLst>
    <pc:chgData name="Biersach, David" userId="14a9feb0-85a7-4da4-be8a-c1e22b637acc" providerId="ADAL" clId="{9038D4CF-A7F0-43E9-B10A-B78091E3B8FA}"/>
    <pc:docChg chg="custSel modSld">
      <pc:chgData name="Biersach, David" userId="14a9feb0-85a7-4da4-be8a-c1e22b637acc" providerId="ADAL" clId="{9038D4CF-A7F0-43E9-B10A-B78091E3B8FA}" dt="2022-06-03T06:15:10.896" v="3" actId="20577"/>
      <pc:docMkLst>
        <pc:docMk/>
      </pc:docMkLst>
      <pc:sldChg chg="modSp mod">
        <pc:chgData name="Biersach, David" userId="14a9feb0-85a7-4da4-be8a-c1e22b637acc" providerId="ADAL" clId="{9038D4CF-A7F0-43E9-B10A-B78091E3B8FA}" dt="2022-06-03T06:15:10.893" v="2" actId="27636"/>
        <pc:sldMkLst>
          <pc:docMk/>
          <pc:sldMk cId="3841371092" sldId="283"/>
        </pc:sldMkLst>
        <pc:spChg chg="mod">
          <ac:chgData name="Biersach, David" userId="14a9feb0-85a7-4da4-be8a-c1e22b637acc" providerId="ADAL" clId="{9038D4CF-A7F0-43E9-B10A-B78091E3B8FA}" dt="2022-06-03T06:15:10.893" v="2" actId="27636"/>
          <ac:spMkLst>
            <pc:docMk/>
            <pc:sldMk cId="3841371092" sldId="283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9038D4CF-A7F0-43E9-B10A-B78091E3B8FA}" dt="2022-06-03T06:15:10.896" v="3" actId="20577"/>
        <pc:sldMkLst>
          <pc:docMk/>
          <pc:sldMk cId="901817266" sldId="906"/>
        </pc:sldMkLst>
        <pc:spChg chg="mod">
          <ac:chgData name="Biersach, David" userId="14a9feb0-85a7-4da4-be8a-c1e22b637acc" providerId="ADAL" clId="{9038D4CF-A7F0-43E9-B10A-B78091E3B8FA}" dt="2022-06-03T06:15:10.896" v="3" actId="20577"/>
          <ac:spMkLst>
            <pc:docMk/>
            <pc:sldMk cId="901817266" sldId="90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317BBA-0BC6-419B-B826-088209688372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0601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8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55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76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14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715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nl.gov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sgXRPV0R3A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www.youtube.com/watch?v=y7g6dKncO-I" TargetMode="Externa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M%C3%B3%C3%B0i_and_Magni" TargetMode="Externa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tgenscience.org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nl.gov/education/programs/program.php?q=219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6-V7dFbYrk" TargetMode="External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nl.gov/newsroom/news.php?a=26599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nl.gov/newsroom/news.php?a=213064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python.org/" TargetMode="External"/><Relationship Id="rId2" Type="http://schemas.openxmlformats.org/officeDocument/2006/relationships/hyperlink" Target="https://docs.python.org/3/tutoria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ullstackpython.com/" TargetMode="External"/><Relationship Id="rId5" Type="http://schemas.openxmlformats.org/officeDocument/2006/relationships/hyperlink" Target="https://www.w3schools.com/python" TargetMode="External"/><Relationship Id="rId4" Type="http://schemas.openxmlformats.org/officeDocument/2006/relationships/hyperlink" Target="https://realpython.com/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install/mac" TargetMode="Externa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uv/getting-started/installation/#__tabbed_1_2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uv/getting-started/installation/#homebrew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iersach/scicomp101" TargetMode="Externa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iersach/scicomp101" TargetMode="Externa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01 </a:t>
            </a:r>
            <a:r>
              <a:rPr lang="en-US" dirty="0"/>
              <a:t>Introducing Scientific Computing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Welcome!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367701" cy="45890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My name is </a:t>
            </a:r>
            <a:r>
              <a:rPr lang="en-US" sz="2400" b="1" dirty="0"/>
              <a:t>Dave Biersach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 am a Senior Technology Architect at BNL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 am a 1989 graduate of the United States Military Academy at West Point, and I served in the Persian Gulf War as a Combat Engineer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 worked for DARPA, developing satellite counter-reconnaissance search algorithms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 have worked at </a:t>
            </a:r>
            <a:r>
              <a:rPr lang="en-US" sz="2400" b="1" dirty="0">
                <a:solidFill>
                  <a:srgbClr val="FF0000"/>
                </a:solidFill>
              </a:rPr>
              <a:t>Microsoft</a:t>
            </a:r>
            <a:r>
              <a:rPr lang="en-US" sz="2400" dirty="0"/>
              <a:t> &amp; </a:t>
            </a:r>
            <a:r>
              <a:rPr lang="en-US" sz="2400" b="1" dirty="0">
                <a:solidFill>
                  <a:srgbClr val="0070C0"/>
                </a:solidFill>
              </a:rPr>
              <a:t>Pfizer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 have been married for 34 years, have three adult children, two dogs, and have mentored students for the past 15 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0624" y="2588332"/>
            <a:ext cx="1724526" cy="21224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130" y="4980240"/>
            <a:ext cx="1733073" cy="11680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190" y="621130"/>
            <a:ext cx="1660952" cy="1705244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0A199-D236-42A3-A225-70CD01155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653" y="2681301"/>
            <a:ext cx="1552027" cy="2056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2A7135-996B-904C-5393-DED22B84E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190" y="902623"/>
            <a:ext cx="1660952" cy="136379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84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E327B8-8289-A7BC-6941-30B5A4C1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9371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latin typeface="+mn-lt"/>
              </a:rPr>
              <a:t>The US Department of Energy</a:t>
            </a:r>
            <a:endParaRPr lang="en-US" sz="2800" b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E3942D-1C2E-0E1B-25BB-671560A19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20" y="1368887"/>
            <a:ext cx="6915858" cy="5170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4FF0ED-0349-A30B-8DA1-79CF379270FF}"/>
              </a:ext>
            </a:extLst>
          </p:cNvPr>
          <p:cNvSpPr txBox="1"/>
          <p:nvPr/>
        </p:nvSpPr>
        <p:spPr>
          <a:xfrm>
            <a:off x="4223947" y="2917423"/>
            <a:ext cx="1805378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+mn-lt"/>
              </a:rPr>
              <a:t>17</a:t>
            </a:r>
            <a:r>
              <a:rPr lang="en-US" sz="1800" b="1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800" dirty="0">
                <a:solidFill>
                  <a:srgbClr val="7030A0"/>
                </a:solidFill>
                <a:latin typeface="+mn-lt"/>
              </a:rPr>
              <a:t>National Labs across the USA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AE35B-69B6-8B15-7400-243FAC8E1BD7}"/>
              </a:ext>
            </a:extLst>
          </p:cNvPr>
          <p:cNvSpPr txBox="1"/>
          <p:nvPr/>
        </p:nvSpPr>
        <p:spPr>
          <a:xfrm>
            <a:off x="6839261" y="845667"/>
            <a:ext cx="1851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National Nuclear</a:t>
            </a:r>
          </a:p>
          <a:p>
            <a:pPr algn="ctr"/>
            <a:r>
              <a:rPr lang="en-US" sz="1400" dirty="0">
                <a:solidFill>
                  <a:srgbClr val="00B050"/>
                </a:solidFill>
              </a:rPr>
              <a:t>Safety Administration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2EE53-BD31-B7B0-F411-BFA0B1904681}"/>
              </a:ext>
            </a:extLst>
          </p:cNvPr>
          <p:cNvSpPr/>
          <p:nvPr/>
        </p:nvSpPr>
        <p:spPr>
          <a:xfrm>
            <a:off x="1109272" y="2443397"/>
            <a:ext cx="1356610" cy="474026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B3661-D157-FAA9-D9E6-7670B673B251}"/>
              </a:ext>
            </a:extLst>
          </p:cNvPr>
          <p:cNvSpPr txBox="1"/>
          <p:nvPr/>
        </p:nvSpPr>
        <p:spPr>
          <a:xfrm>
            <a:off x="7073485" y="4922661"/>
            <a:ext cx="1772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Student</a:t>
            </a:r>
            <a:r>
              <a:rPr lang="en-US" sz="1600" dirty="0">
                <a:solidFill>
                  <a:srgbClr val="FF0000"/>
                </a:solidFill>
              </a:rPr>
              <a:t> research opportunities exist at all US Labs</a:t>
            </a:r>
          </a:p>
        </p:txBody>
      </p:sp>
    </p:spTree>
    <p:extLst>
      <p:ext uri="{BB962C8B-B14F-4D97-AF65-F5344CB8AC3E}">
        <p14:creationId xmlns:p14="http://schemas.microsoft.com/office/powerpoint/2010/main" val="132875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124" y="899886"/>
            <a:ext cx="8595752" cy="4898571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1E6B7-BD01-E789-7D19-29B95B3D21B5}"/>
              </a:ext>
            </a:extLst>
          </p:cNvPr>
          <p:cNvSpPr txBox="1"/>
          <p:nvPr/>
        </p:nvSpPr>
        <p:spPr>
          <a:xfrm>
            <a:off x="2286000" y="60998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https://www.bnl.gov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48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42A9-FC68-4E90-A49D-9F696671B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95144"/>
            <a:ext cx="7772400" cy="848844"/>
          </a:xfrm>
        </p:spPr>
        <p:txBody>
          <a:bodyPr/>
          <a:lstStyle/>
          <a:p>
            <a:r>
              <a:rPr lang="en-US" sz="3200" dirty="0">
                <a:latin typeface="+mn-lt"/>
              </a:rPr>
              <a:t>About Brookhaven National Laboratory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6B2C-3C57-49F3-A255-4B1D386F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FE05A-9FF4-449C-946D-CFE7C8745C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231" y="1936354"/>
            <a:ext cx="7499538" cy="32352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663605-4747-B006-D88F-7F775D99B76E}"/>
              </a:ext>
            </a:extLst>
          </p:cNvPr>
          <p:cNvSpPr txBox="1"/>
          <p:nvPr/>
        </p:nvSpPr>
        <p:spPr>
          <a:xfrm>
            <a:off x="1997439" y="5579312"/>
            <a:ext cx="5149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https://www.youtube.com/watch?v=csgXRPV0R3A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 National Challenge is Your Opportunity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What is Scientific Computing?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Differentiating SciComp from CompSci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SciComp as a </a:t>
            </a:r>
            <a:r>
              <a:rPr lang="en-US" sz="2400" b="1" dirty="0">
                <a:solidFill>
                  <a:srgbClr val="FF0000"/>
                </a:solidFill>
              </a:rPr>
              <a:t>Translational</a:t>
            </a:r>
            <a:r>
              <a:rPr lang="en-US" sz="2400" dirty="0"/>
              <a:t> Science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Scientific Computing Skills and STEM Internships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SciComp101 Topics &amp; Syllabus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Installing Thonny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Writing your first Python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9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5F131B-BB38-4AD2-BDBA-A1DAECF2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22" y="1354393"/>
            <a:ext cx="8186556" cy="47735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 National Challenge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kumimoji="0" lang="en-US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6248856"/>
            <a:ext cx="658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National Center for Education Statistics, US Dept. of Education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1753849" y="4924269"/>
            <a:ext cx="6761501" cy="344774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49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 National Challenge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987" y="1447800"/>
            <a:ext cx="7658026" cy="4768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kumimoji="0" lang="en-US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458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Challenge to DOE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Scientists across DOE have noted a dramatic rise in the </a:t>
            </a:r>
            <a:r>
              <a:rPr lang="en-US" sz="2400" b="1" dirty="0">
                <a:solidFill>
                  <a:srgbClr val="FF0000"/>
                </a:solidFill>
              </a:rPr>
              <a:t>startup latency </a:t>
            </a:r>
            <a:r>
              <a:rPr lang="en-US" sz="2400" dirty="0"/>
              <a:t>of interns who do not possess foundational programming skills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This latency means that for the </a:t>
            </a:r>
            <a:r>
              <a:rPr lang="en-US" sz="2400" b="1" i="1" dirty="0"/>
              <a:t>initial 6-8 weeks of their assignment</a:t>
            </a:r>
            <a:r>
              <a:rPr lang="en-US" sz="2400" dirty="0"/>
              <a:t>, the interns are essentially </a:t>
            </a:r>
            <a:r>
              <a:rPr lang="en-US" sz="2400" u="sng" dirty="0"/>
              <a:t>unproductive</a:t>
            </a:r>
            <a:r>
              <a:rPr lang="en-US" sz="2400" dirty="0"/>
              <a:t> as they must first acquire basic knowledge of how to write software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Instead of learning critical scientific principles from their mentor, the interns are spending their precious lab time </a:t>
            </a:r>
            <a:r>
              <a:rPr lang="en-US" sz="2400" b="1" dirty="0"/>
              <a:t>often working alone</a:t>
            </a:r>
            <a:r>
              <a:rPr lang="en-US" sz="2400" dirty="0"/>
              <a:t>, figuring out how to instruct the computer to perform rudimentary data processing tasks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From the perspective of DOE scientists, </a:t>
            </a:r>
            <a:r>
              <a:rPr lang="en-US" sz="2400" b="1" dirty="0">
                <a:solidFill>
                  <a:srgbClr val="00B050"/>
                </a:solidFill>
              </a:rPr>
              <a:t>the need to adeptly wield software tools has never been as urgent as it is today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kumimoji="0" lang="en-US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117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Hype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5" y="1350079"/>
            <a:ext cx="7099271" cy="508700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kumimoji="0" lang="en-US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260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Reality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4970" y="1468581"/>
            <a:ext cx="6826191" cy="52107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kumimoji="0" lang="en-US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494970" y="6233160"/>
            <a:ext cx="6391730" cy="381000"/>
            <a:chOff x="1494970" y="6233160"/>
            <a:chExt cx="6391730" cy="381000"/>
          </a:xfrm>
        </p:grpSpPr>
        <p:sp>
          <p:nvSpPr>
            <p:cNvPr id="5" name="Rectangle 4"/>
            <p:cNvSpPr/>
            <p:nvPr/>
          </p:nvSpPr>
          <p:spPr>
            <a:xfrm>
              <a:off x="2552700" y="6233160"/>
              <a:ext cx="5334000" cy="190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494970" y="6423660"/>
              <a:ext cx="1339670" cy="190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0271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What is Scientific Computing?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022" y="1536959"/>
            <a:ext cx="7011659" cy="4268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5771" y="3270930"/>
            <a:ext cx="1944571" cy="299464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28650" y="3025140"/>
            <a:ext cx="6084571" cy="558210"/>
            <a:chOff x="628650" y="3025140"/>
            <a:chExt cx="6084571" cy="558210"/>
          </a:xfrm>
        </p:grpSpPr>
        <p:sp>
          <p:nvSpPr>
            <p:cNvPr id="8" name="Rectangle 7"/>
            <p:cNvSpPr/>
            <p:nvPr/>
          </p:nvSpPr>
          <p:spPr>
            <a:xfrm>
              <a:off x="3992881" y="3025140"/>
              <a:ext cx="2720340" cy="2457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8650" y="3337560"/>
              <a:ext cx="2720340" cy="2457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45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Scientific computing problems </a:t>
            </a:r>
            <a:r>
              <a:rPr lang="en-US" sz="2400" b="1" dirty="0"/>
              <a:t>cannot be solved </a:t>
            </a:r>
            <a:r>
              <a:rPr lang="en-US" sz="2400" dirty="0"/>
              <a:t>using just a graphing calculator or a spreadsheet program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A computer should not be viewed as just another closed-form benchtop instrument with fixed functionality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SciComp does not require writing thousands of lines of code to answer problems – complete code usually fits on </a:t>
            </a:r>
            <a:r>
              <a:rPr lang="en-US" sz="2000" b="1" dirty="0">
                <a:solidFill>
                  <a:srgbClr val="00B050"/>
                </a:solidFill>
              </a:rPr>
              <a:t>one</a:t>
            </a:r>
            <a:r>
              <a:rPr lang="en-US" sz="2000" dirty="0"/>
              <a:t> slide!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SciComp is </a:t>
            </a:r>
            <a:r>
              <a:rPr lang="en-US" sz="2400" b="1" dirty="0">
                <a:solidFill>
                  <a:srgbClr val="FF0000"/>
                </a:solidFill>
              </a:rPr>
              <a:t>applied</a:t>
            </a:r>
            <a:r>
              <a:rPr lang="en-US" sz="2400" dirty="0"/>
              <a:t> computer science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first name of CompSci is </a:t>
            </a:r>
            <a:r>
              <a:rPr lang="en-US" sz="2000" i="1" dirty="0"/>
              <a:t>computer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first name of SciComp is </a:t>
            </a:r>
            <a:r>
              <a:rPr lang="en-US" sz="2000" b="1" u="sng" dirty="0">
                <a:solidFill>
                  <a:srgbClr val="0070C0"/>
                </a:solidFill>
              </a:rPr>
              <a:t>science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A </a:t>
            </a:r>
            <a:r>
              <a:rPr lang="en-US" sz="2000" b="1" dirty="0">
                <a:solidFill>
                  <a:srgbClr val="00B050"/>
                </a:solidFill>
              </a:rPr>
              <a:t>triple helix </a:t>
            </a:r>
            <a:r>
              <a:rPr lang="en-US" sz="2000" dirty="0"/>
              <a:t>of math, science, and computing</a:t>
            </a:r>
            <a:endParaRPr lang="en-US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What is Scientific Computing?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7950" y="4810384"/>
            <a:ext cx="1332476" cy="154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2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SciComp vs CompSci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905000"/>
            <a:ext cx="3867150" cy="460953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Probability and Statistics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Simulation and Modelling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Data Visualization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Storing and Analyzing Very Large Datasets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Parallel &amp; Distributed Algorithms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Speed and Accuracy Paramount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Functional Languages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/>
              <a:t>Open-Ended Problems with Unknown Solutions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/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1550" y="1905001"/>
            <a:ext cx="3448050" cy="460953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General Data Structures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Design Methodologies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Procedural Languages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Stand-Alone Programs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Emphasis on Object-Orientation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Simple Data Models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Sequential Algorithms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Less Graphics Intensive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Directed Closed-Form Problems with Known Solutions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87424" y="1367135"/>
            <a:ext cx="2844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Scientific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2289" y="1367135"/>
            <a:ext cx="2866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</a:rPr>
              <a:t>Computer Science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7DF82-30A9-44D4-9F6A-EE1E06F2E0FE}"/>
              </a:ext>
            </a:extLst>
          </p:cNvPr>
          <p:cNvSpPr/>
          <p:nvPr/>
        </p:nvSpPr>
        <p:spPr>
          <a:xfrm>
            <a:off x="548640" y="1905000"/>
            <a:ext cx="3343046" cy="3627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917002-8DE2-4E81-9D15-FAE975943BF0}"/>
              </a:ext>
            </a:extLst>
          </p:cNvPr>
          <p:cNvSpPr/>
          <p:nvPr/>
        </p:nvSpPr>
        <p:spPr>
          <a:xfrm>
            <a:off x="548640" y="2723082"/>
            <a:ext cx="3343046" cy="36271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178B65-145E-4C76-AF47-D3E2D4C3A4F1}"/>
              </a:ext>
            </a:extLst>
          </p:cNvPr>
          <p:cNvSpPr/>
          <p:nvPr/>
        </p:nvSpPr>
        <p:spPr>
          <a:xfrm>
            <a:off x="548640" y="4618808"/>
            <a:ext cx="3343046" cy="66276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4C2CE91-7E55-454C-B727-A7980304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CEE59E-BBC4-48CA-8B37-15D13D25AB55}"/>
              </a:ext>
            </a:extLst>
          </p:cNvPr>
          <p:cNvSpPr/>
          <p:nvPr/>
        </p:nvSpPr>
        <p:spPr>
          <a:xfrm>
            <a:off x="548639" y="5748071"/>
            <a:ext cx="3738067" cy="66276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8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/>
      <p:bldP spid="6" grpId="0"/>
      <p:bldP spid="8" grpId="0" animBg="1"/>
      <p:bldP spid="9" grpId="0" animBg="1"/>
      <p:bldP spid="10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0077"/>
            <a:ext cx="4661807" cy="498883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Data </a:t>
            </a:r>
            <a:r>
              <a:rPr lang="en-US" sz="2400" b="1" dirty="0"/>
              <a:t>types</a:t>
            </a:r>
            <a:r>
              <a:rPr lang="en-US" sz="2400" dirty="0"/>
              <a:t>: int, float, bool, string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Data </a:t>
            </a:r>
            <a:r>
              <a:rPr lang="en-US" sz="2400" b="1" dirty="0"/>
              <a:t>structures</a:t>
            </a:r>
            <a:r>
              <a:rPr lang="en-US" sz="2400" dirty="0"/>
              <a:t>: lists, arrays, dictionaries, classes, modules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Functions</a:t>
            </a:r>
            <a:r>
              <a:rPr lang="en-US" sz="2400" dirty="0"/>
              <a:t>: def, return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Statements</a:t>
            </a:r>
            <a:r>
              <a:rPr lang="en-US" sz="2400" dirty="0"/>
              <a:t>: if, for, while, break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Patterns</a:t>
            </a:r>
            <a:r>
              <a:rPr lang="en-US" sz="2400" dirty="0"/>
              <a:t>: vectorization, divide &amp; conquer, list comprehensions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Algorithms</a:t>
            </a:r>
            <a:r>
              <a:rPr lang="en-US" sz="2400" dirty="0"/>
              <a:t>: GCD, mean/variance, sorting, searching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Modules</a:t>
            </a:r>
            <a:r>
              <a:rPr lang="en-US" sz="2400" dirty="0"/>
              <a:t>: </a:t>
            </a:r>
            <a:r>
              <a:rPr lang="en-US" sz="2400" dirty="0" err="1"/>
              <a:t>numpy</a:t>
            </a:r>
            <a:r>
              <a:rPr lang="en-US" sz="2400" dirty="0"/>
              <a:t>, matplotlib, </a:t>
            </a:r>
            <a:r>
              <a:rPr lang="en-US" sz="2400" dirty="0" err="1"/>
              <a:t>numba</a:t>
            </a:r>
            <a:r>
              <a:rPr lang="en-US" sz="2400" dirty="0"/>
              <a:t>, </a:t>
            </a:r>
            <a:r>
              <a:rPr lang="en-US" sz="2400" dirty="0" err="1"/>
              <a:t>scipy</a:t>
            </a:r>
            <a:r>
              <a:rPr lang="en-US" sz="2400" dirty="0"/>
              <a:t>, </a:t>
            </a:r>
            <a:r>
              <a:rPr lang="en-US" sz="2400" dirty="0" err="1"/>
              <a:t>sympy</a:t>
            </a:r>
            <a:r>
              <a:rPr lang="en-US" sz="2400" dirty="0"/>
              <a:t>, scikit-learn 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SciComp = </a:t>
            </a:r>
            <a:r>
              <a:rPr lang="en-US" sz="3200" b="1">
                <a:solidFill>
                  <a:srgbClr val="00B050"/>
                </a:solidFill>
                <a:latin typeface="+mn-lt"/>
              </a:rPr>
              <a:t>Just Enough</a:t>
            </a:r>
            <a:r>
              <a:rPr lang="en-US" sz="3200">
                <a:latin typeface="+mn-lt"/>
              </a:rPr>
              <a:t> CompSci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lang="en-US" kern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8058" y="1809751"/>
            <a:ext cx="3131484" cy="1543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8058" y="3847517"/>
            <a:ext cx="3131484" cy="221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3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5662" y="3642377"/>
            <a:ext cx="4758997" cy="26769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82" y="1697649"/>
            <a:ext cx="2193071" cy="35936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3970" y="5529873"/>
            <a:ext cx="21454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YouTube - Jonsey Reports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5662" y="1580417"/>
            <a:ext cx="3053646" cy="17176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1444" y="1505007"/>
            <a:ext cx="1908925" cy="169548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D4C684-7C25-4EE4-B35F-4F464B92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+mn-lt"/>
              </a:rPr>
              <a:t>Example SciComp Topic</a:t>
            </a:r>
            <a:br>
              <a:rPr lang="en-US" sz="3200" dirty="0">
                <a:latin typeface="+mn-lt"/>
              </a:rPr>
            </a:br>
            <a:r>
              <a:rPr lang="en-US" sz="3200" b="1" dirty="0">
                <a:latin typeface="+mn-lt"/>
              </a:rPr>
              <a:t>Multidimensional Interpolation</a:t>
            </a:r>
          </a:p>
        </p:txBody>
      </p:sp>
    </p:spTree>
    <p:extLst>
      <p:ext uri="{BB962C8B-B14F-4D97-AF65-F5344CB8AC3E}">
        <p14:creationId xmlns:p14="http://schemas.microsoft.com/office/powerpoint/2010/main" val="4118786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50" name="Google Shape;15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4157" y="1746816"/>
            <a:ext cx="5895687" cy="2942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47662" y="2419304"/>
            <a:ext cx="6067688" cy="366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730396" y="5455288"/>
            <a:ext cx="3434531" cy="369332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Modi (Brave) and Magni (Strong)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Example SciComp Topic</a:t>
            </a:r>
            <a:br>
              <a:rPr lang="en-US" sz="3200" dirty="0"/>
            </a:br>
            <a:r>
              <a:rPr lang="en-US" sz="3200" b="1" dirty="0">
                <a:latin typeface="+mn-lt"/>
              </a:rPr>
              <a:t>Multidimensional Interpolation</a:t>
            </a:r>
            <a:endParaRPr sz="3200" b="1" dirty="0">
              <a:latin typeface="+mn-lt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FE6F3C-AB9B-54AF-F278-68C893CBAB09}"/>
              </a:ext>
            </a:extLst>
          </p:cNvPr>
          <p:cNvSpPr/>
          <p:nvPr/>
        </p:nvSpPr>
        <p:spPr>
          <a:xfrm>
            <a:off x="2919664" y="4002506"/>
            <a:ext cx="1724526" cy="449177"/>
          </a:xfrm>
          <a:custGeom>
            <a:avLst/>
            <a:gdLst>
              <a:gd name="connsiteX0" fmla="*/ 2029326 w 2029326"/>
              <a:gd name="connsiteY0" fmla="*/ 976 h 73165"/>
              <a:gd name="connsiteX1" fmla="*/ 0 w 2029326"/>
              <a:gd name="connsiteY1" fmla="*/ 73165 h 73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29326" h="73165">
                <a:moveTo>
                  <a:pt x="2029326" y="976"/>
                </a:moveTo>
                <a:cubicBezTo>
                  <a:pt x="1189121" y="-1698"/>
                  <a:pt x="348916" y="-4372"/>
                  <a:pt x="0" y="73165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+mn-lt"/>
              </a:rPr>
              <a:t>Example SciComp Topic</a:t>
            </a:r>
            <a:br>
              <a:rPr lang="en-US" sz="3200">
                <a:latin typeface="+mn-lt"/>
              </a:rPr>
            </a:br>
            <a:r>
              <a:rPr lang="en-US" sz="3200" b="1">
                <a:latin typeface="+mn-lt"/>
              </a:rPr>
              <a:t>Multidimensional Interpolation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548997" y="5404962"/>
            <a:ext cx="6046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A first order 3-D approximation of the ocean floor based upon only 220 sample (red) points (sonar timings)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0390B7-9121-4464-9BAC-D4D38FE1C65D}"/>
              </a:ext>
            </a:extLst>
          </p:cNvPr>
          <p:cNvGrpSpPr/>
          <p:nvPr/>
        </p:nvGrpSpPr>
        <p:grpSpPr>
          <a:xfrm>
            <a:off x="479674" y="2095856"/>
            <a:ext cx="8184653" cy="2793233"/>
            <a:chOff x="383459" y="2095856"/>
            <a:chExt cx="8184653" cy="27932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91F1EC-1CBB-42B7-9CAD-0BD1976A8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3459" y="2095856"/>
              <a:ext cx="4034258" cy="27932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34216E3-13C9-475C-BDB0-3E29B6516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58982" y="2095856"/>
              <a:ext cx="3909130" cy="27932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5F02DF-1D6E-4ECB-A451-7490000EDC25}"/>
              </a:ext>
            </a:extLst>
          </p:cNvPr>
          <p:cNvCxnSpPr/>
          <p:nvPr/>
        </p:nvCxnSpPr>
        <p:spPr>
          <a:xfrm flipV="1">
            <a:off x="4889090" y="4476135"/>
            <a:ext cx="678426" cy="973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797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F89753C-AF02-4C48-BA01-2DD49BFB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SciComp As </a:t>
            </a:r>
            <a:r>
              <a:rPr lang="en-US" sz="3200" u="sng">
                <a:latin typeface="+mn-lt"/>
              </a:rPr>
              <a:t>Translational</a:t>
            </a:r>
            <a:r>
              <a:rPr lang="en-US" sz="3200">
                <a:latin typeface="+mn-lt"/>
              </a:rPr>
              <a:t> Science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631" y="2488116"/>
            <a:ext cx="3570748" cy="19722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F605471-EEBB-469B-9882-79A6574F6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887" y="2539019"/>
            <a:ext cx="4242483" cy="2108228"/>
          </a:xfrm>
          <a:prstGeom prst="rect">
            <a:avLst/>
          </a:prstGeom>
        </p:spPr>
      </p:pic>
      <p:cxnSp>
        <p:nvCxnSpPr>
          <p:cNvPr id="11" name="Elbow Connector 10"/>
          <p:cNvCxnSpPr>
            <a:cxnSpLocks/>
            <a:stCxn id="17" idx="1"/>
            <a:endCxn id="16" idx="3"/>
          </p:cNvCxnSpPr>
          <p:nvPr/>
        </p:nvCxnSpPr>
        <p:spPr>
          <a:xfrm>
            <a:off x="4001502" y="3656503"/>
            <a:ext cx="1098289" cy="265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cxnSpLocks/>
            <a:stCxn id="26" idx="1"/>
            <a:endCxn id="15" idx="3"/>
          </p:cNvCxnSpPr>
          <p:nvPr/>
        </p:nvCxnSpPr>
        <p:spPr>
          <a:xfrm flipV="1">
            <a:off x="1874920" y="3989789"/>
            <a:ext cx="3224872" cy="309465"/>
          </a:xfrm>
          <a:prstGeom prst="bentConnector3">
            <a:avLst>
              <a:gd name="adj1" fmla="val 2210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cxnSpLocks/>
            <a:stCxn id="19" idx="1"/>
            <a:endCxn id="14" idx="3"/>
          </p:cNvCxnSpPr>
          <p:nvPr/>
        </p:nvCxnSpPr>
        <p:spPr>
          <a:xfrm>
            <a:off x="2151259" y="2790676"/>
            <a:ext cx="2948534" cy="1371689"/>
          </a:xfrm>
          <a:prstGeom prst="bentConnector3">
            <a:avLst>
              <a:gd name="adj1" fmla="val 6900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cxnSpLocks/>
            <a:stCxn id="29" idx="1"/>
            <a:endCxn id="6" idx="3"/>
          </p:cNvCxnSpPr>
          <p:nvPr/>
        </p:nvCxnSpPr>
        <p:spPr>
          <a:xfrm>
            <a:off x="2091650" y="3295224"/>
            <a:ext cx="3008143" cy="1039717"/>
          </a:xfrm>
          <a:prstGeom prst="bentConnector3">
            <a:avLst>
              <a:gd name="adj1" fmla="val 2891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cxnSpLocks/>
            <a:stCxn id="22" idx="3"/>
            <a:endCxn id="25" idx="3"/>
          </p:cNvCxnSpPr>
          <p:nvPr/>
        </p:nvCxnSpPr>
        <p:spPr>
          <a:xfrm rot="10800000" flipH="1" flipV="1">
            <a:off x="623996" y="3156532"/>
            <a:ext cx="4226591" cy="1335817"/>
          </a:xfrm>
          <a:prstGeom prst="bentConnector3">
            <a:avLst>
              <a:gd name="adj1" fmla="val -540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C473409-C074-4F6D-8BAA-C5A2999A3E53}"/>
              </a:ext>
            </a:extLst>
          </p:cNvPr>
          <p:cNvSpPr/>
          <p:nvPr/>
        </p:nvSpPr>
        <p:spPr>
          <a:xfrm flipH="1" flipV="1">
            <a:off x="5099793" y="4256359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76096-EF53-41E1-B8AC-FC0BC5A60601}"/>
              </a:ext>
            </a:extLst>
          </p:cNvPr>
          <p:cNvSpPr/>
          <p:nvPr/>
        </p:nvSpPr>
        <p:spPr>
          <a:xfrm flipH="1" flipV="1">
            <a:off x="5099793" y="4083783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0CBBC-B83F-43D5-A36C-71FBBE1510BD}"/>
              </a:ext>
            </a:extLst>
          </p:cNvPr>
          <p:cNvSpPr/>
          <p:nvPr/>
        </p:nvSpPr>
        <p:spPr>
          <a:xfrm flipH="1" flipV="1">
            <a:off x="5099792" y="3911207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E589D-0ACD-4973-B69E-A9D333D97005}"/>
              </a:ext>
            </a:extLst>
          </p:cNvPr>
          <p:cNvSpPr/>
          <p:nvPr/>
        </p:nvSpPr>
        <p:spPr>
          <a:xfrm flipH="1" flipV="1">
            <a:off x="5099791" y="3580574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6809B2-BE2C-4B49-9F03-A87D26340C79}"/>
              </a:ext>
            </a:extLst>
          </p:cNvPr>
          <p:cNvSpPr/>
          <p:nvPr/>
        </p:nvSpPr>
        <p:spPr>
          <a:xfrm flipH="1" flipV="1">
            <a:off x="3687265" y="3577921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BAF430-A278-4520-AE3F-7C8C9BA4C58F}"/>
              </a:ext>
            </a:extLst>
          </p:cNvPr>
          <p:cNvSpPr/>
          <p:nvPr/>
        </p:nvSpPr>
        <p:spPr>
          <a:xfrm flipH="1" flipV="1">
            <a:off x="1837022" y="2712094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43397A-32E4-4131-AC86-85242EBA065C}"/>
              </a:ext>
            </a:extLst>
          </p:cNvPr>
          <p:cNvSpPr/>
          <p:nvPr/>
        </p:nvSpPr>
        <p:spPr>
          <a:xfrm flipH="1" flipV="1">
            <a:off x="623997" y="3077951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67F5F1-F3E7-4408-B501-E92D2801DCA3}"/>
              </a:ext>
            </a:extLst>
          </p:cNvPr>
          <p:cNvSpPr/>
          <p:nvPr/>
        </p:nvSpPr>
        <p:spPr>
          <a:xfrm flipH="1" flipV="1">
            <a:off x="4850588" y="4413768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9A553-146F-4A2A-AE89-3C357E99C3F4}"/>
              </a:ext>
            </a:extLst>
          </p:cNvPr>
          <p:cNvSpPr/>
          <p:nvPr/>
        </p:nvSpPr>
        <p:spPr>
          <a:xfrm flipH="1" flipV="1">
            <a:off x="1560683" y="4220672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9DDD28-DC06-498F-8D4C-FD37F0B6A2FE}"/>
              </a:ext>
            </a:extLst>
          </p:cNvPr>
          <p:cNvSpPr/>
          <p:nvPr/>
        </p:nvSpPr>
        <p:spPr>
          <a:xfrm flipH="1" flipV="1">
            <a:off x="1777413" y="3216642"/>
            <a:ext cx="314237" cy="15716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C1B0C7-0A62-47C1-8801-7929154C6D67}"/>
              </a:ext>
            </a:extLst>
          </p:cNvPr>
          <p:cNvSpPr txBox="1"/>
          <p:nvPr/>
        </p:nvSpPr>
        <p:spPr>
          <a:xfrm>
            <a:off x="1318597" y="5181807"/>
            <a:ext cx="6583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SciComp is the ability to translate mathematical expressions of scientific concepts into correct and efficient software 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3956-4167-4E5E-9EE7-076D569A2F17}"/>
              </a:ext>
            </a:extLst>
          </p:cNvPr>
          <p:cNvSpPr txBox="1"/>
          <p:nvPr/>
        </p:nvSpPr>
        <p:spPr>
          <a:xfrm>
            <a:off x="1382112" y="1741699"/>
            <a:ext cx="6456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"The algorithm that almost won the cold war"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37195-9DEA-943E-66B8-02E012E9377B}"/>
              </a:ext>
            </a:extLst>
          </p:cNvPr>
          <p:cNvSpPr txBox="1"/>
          <p:nvPr/>
        </p:nvSpPr>
        <p:spPr>
          <a:xfrm>
            <a:off x="4450887" y="4636050"/>
            <a:ext cx="42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11</a:t>
            </a:r>
            <a:r>
              <a:rPr lang="en-US" dirty="0">
                <a:solidFill>
                  <a:srgbClr val="FF0000"/>
                </a:solidFill>
              </a:rPr>
              <a:t> lines of code can change the world!</a:t>
            </a:r>
          </a:p>
        </p:txBody>
      </p:sp>
    </p:spTree>
    <p:extLst>
      <p:ext uri="{BB962C8B-B14F-4D97-AF65-F5344CB8AC3E}">
        <p14:creationId xmlns:p14="http://schemas.microsoft.com/office/powerpoint/2010/main" val="264920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409154D-F97E-4A0D-9F4C-89F2E0013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76" y="4314633"/>
            <a:ext cx="5019048" cy="1885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2858B7-9968-4CB3-BAA6-F47A296DA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715" y="1663421"/>
            <a:ext cx="5028571" cy="1914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US Department of Labor - 2019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4C2CE91-7E55-454C-B727-A7980304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BD144A-1016-4CFB-B55A-1740BF43D9EB}"/>
              </a:ext>
            </a:extLst>
          </p:cNvPr>
          <p:cNvSpPr/>
          <p:nvPr/>
        </p:nvSpPr>
        <p:spPr>
          <a:xfrm>
            <a:off x="2057713" y="3126050"/>
            <a:ext cx="5019047" cy="224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DF4C3-F917-4213-A2DA-728BD802E481}"/>
              </a:ext>
            </a:extLst>
          </p:cNvPr>
          <p:cNvSpPr txBox="1"/>
          <p:nvPr/>
        </p:nvSpPr>
        <p:spPr>
          <a:xfrm>
            <a:off x="2190903" y="3873836"/>
            <a:ext cx="476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Scientific Computing Careers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31E1D4-1C5E-4DAE-A608-8AF15FC173DC}"/>
              </a:ext>
            </a:extLst>
          </p:cNvPr>
          <p:cNvSpPr txBox="1"/>
          <p:nvPr/>
        </p:nvSpPr>
        <p:spPr>
          <a:xfrm>
            <a:off x="2190903" y="1237771"/>
            <a:ext cx="476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Robotics Engineering Careers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2B1AEF-13B2-44A3-9F1F-F224736CEF4E}"/>
              </a:ext>
            </a:extLst>
          </p:cNvPr>
          <p:cNvSpPr/>
          <p:nvPr/>
        </p:nvSpPr>
        <p:spPr>
          <a:xfrm>
            <a:off x="2057712" y="5772934"/>
            <a:ext cx="5019047" cy="224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7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Challenge Facing Educators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How to introduce SciComp into a tightly controlled preexisting </a:t>
            </a:r>
            <a:r>
              <a:rPr lang="en-US" sz="2400" b="1" dirty="0">
                <a:solidFill>
                  <a:srgbClr val="00B050"/>
                </a:solidFill>
              </a:rPr>
              <a:t>science</a:t>
            </a:r>
            <a:r>
              <a:rPr lang="en-US" sz="2400" dirty="0"/>
              <a:t> curriculum?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How to control compute resources normally owned by the Math, Engineering, or Business departments?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How to demonstrate solving </a:t>
            </a:r>
            <a:r>
              <a:rPr lang="en-US" sz="2400" b="1" dirty="0"/>
              <a:t>science problems </a:t>
            </a:r>
            <a:r>
              <a:rPr lang="en-US" sz="2400" dirty="0"/>
              <a:t>using code </a:t>
            </a:r>
            <a:r>
              <a:rPr lang="en-US" sz="2400" i="1" dirty="0">
                <a:solidFill>
                  <a:srgbClr val="FF0000"/>
                </a:solidFill>
              </a:rPr>
              <a:t>before</a:t>
            </a:r>
            <a:r>
              <a:rPr lang="en-US" sz="2400" dirty="0"/>
              <a:t> students complete their first CompSci course?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How to address worries that writing code impairs scientific intuition or reduces the time for hands-on experiences?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How to raise the comfort level of science educators who have not written computer code </a:t>
            </a:r>
            <a:r>
              <a:rPr lang="en-US" sz="2400" b="1" dirty="0">
                <a:solidFill>
                  <a:srgbClr val="0070C0"/>
                </a:solidFill>
              </a:rPr>
              <a:t>in years</a:t>
            </a:r>
            <a:r>
              <a:rPr lang="en-US" sz="2400" dirty="0"/>
              <a:t>?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43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0DA2AE-CAAA-BA11-5B91-7C799F85CE9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0729" y="1468581"/>
            <a:ext cx="6222541" cy="46538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Challenge Facing Educators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12805" y="6268065"/>
            <a:ext cx="363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https://www.nextgenscience.org</a:t>
            </a:r>
            <a:endParaRPr lang="en-US" dirty="0"/>
          </a:p>
        </p:txBody>
      </p:sp>
      <p:sp>
        <p:nvSpPr>
          <p:cNvPr id="6" name="Speech Bubble: Rectangle 5"/>
          <p:cNvSpPr/>
          <p:nvPr/>
        </p:nvSpPr>
        <p:spPr>
          <a:xfrm>
            <a:off x="906906" y="2938073"/>
            <a:ext cx="2578670" cy="1209972"/>
          </a:xfrm>
          <a:prstGeom prst="wedgeRectCallout">
            <a:avLst>
              <a:gd name="adj1" fmla="val 82737"/>
              <a:gd name="adj2" fmla="val 11929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A search for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computing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for HS students</a:t>
            </a:r>
          </a:p>
        </p:txBody>
      </p:sp>
    </p:spTree>
    <p:extLst>
      <p:ext uri="{BB962C8B-B14F-4D97-AF65-F5344CB8AC3E}">
        <p14:creationId xmlns:p14="http://schemas.microsoft.com/office/powerpoint/2010/main" val="377236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400532A-D06D-21CD-0AFE-619A1E805DD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8" y="1351007"/>
            <a:ext cx="7102784" cy="4935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Challenge Facing Educators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Speech Bubble: Rectangle 5"/>
          <p:cNvSpPr/>
          <p:nvPr/>
        </p:nvSpPr>
        <p:spPr>
          <a:xfrm>
            <a:off x="550387" y="5012893"/>
            <a:ext cx="2260269" cy="988199"/>
          </a:xfrm>
          <a:prstGeom prst="wedgeRectCallout">
            <a:avLst>
              <a:gd name="adj1" fmla="val 41007"/>
              <a:gd name="adj2" fmla="val -13674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The word </a:t>
            </a:r>
            <a:r>
              <a:rPr lang="en-US" b="1" dirty="0">
                <a:solidFill>
                  <a:srgbClr val="FF0000"/>
                </a:solidFill>
              </a:rPr>
              <a:t>computing</a:t>
            </a:r>
            <a:r>
              <a:rPr lang="en-US" dirty="0">
                <a:solidFill>
                  <a:srgbClr val="FF0000"/>
                </a:solidFill>
              </a:rPr>
              <a:t> doesn't appear once in the "lesson"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B9710-B31A-43C7-AFD2-FD1531004C3C}"/>
              </a:ext>
            </a:extLst>
          </p:cNvPr>
          <p:cNvSpPr txBox="1"/>
          <p:nvPr/>
        </p:nvSpPr>
        <p:spPr>
          <a:xfrm>
            <a:off x="6081758" y="1982384"/>
            <a:ext cx="2642517" cy="23083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</a:rPr>
              <a:t>Searches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tx1"/>
                  </a:solidFill>
                </a:ln>
              </a:rPr>
              <a:t>computers…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tx1"/>
                  </a:solidFill>
                </a:ln>
              </a:rPr>
              <a:t>programming…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n>
                  <a:solidFill>
                    <a:schemeClr val="tx1"/>
                  </a:solidFill>
                </a:ln>
              </a:rPr>
              <a:t>coding…</a:t>
            </a:r>
          </a:p>
          <a:p>
            <a:r>
              <a:rPr lang="en-US" sz="2400" dirty="0">
                <a:ln>
                  <a:solidFill>
                    <a:schemeClr val="tx1"/>
                  </a:solidFill>
                </a:ln>
              </a:rPr>
              <a:t>return equally </a:t>
            </a:r>
            <a:r>
              <a:rPr lang="en-US" sz="2400" i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generic</a:t>
            </a:r>
            <a:r>
              <a:rPr lang="en-US" sz="2400" dirty="0">
                <a:ln>
                  <a:solidFill>
                    <a:schemeClr val="tx1"/>
                  </a:solidFill>
                </a:ln>
              </a:rPr>
              <a:t> documents</a:t>
            </a:r>
          </a:p>
        </p:txBody>
      </p:sp>
    </p:spTree>
    <p:extLst>
      <p:ext uri="{BB962C8B-B14F-4D97-AF65-F5344CB8AC3E}">
        <p14:creationId xmlns:p14="http://schemas.microsoft.com/office/powerpoint/2010/main" val="277609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SciComp Is Getting Lost in the Middle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2516" y="1556682"/>
            <a:ext cx="4338968" cy="4702739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sp>
        <p:nvSpPr>
          <p:cNvPr id="15" name="Speech Bubble: Rectangle 14"/>
          <p:cNvSpPr/>
          <p:nvPr/>
        </p:nvSpPr>
        <p:spPr>
          <a:xfrm>
            <a:off x="6169434" y="1468580"/>
            <a:ext cx="2399379" cy="1188008"/>
          </a:xfrm>
          <a:prstGeom prst="wedgeRectCallout">
            <a:avLst>
              <a:gd name="adj1" fmla="val -114453"/>
              <a:gd name="adj2" fmla="val 58559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Science</a:t>
            </a:r>
            <a:r>
              <a:rPr lang="en-US" sz="1600" dirty="0">
                <a:solidFill>
                  <a:schemeClr val="tx1"/>
                </a:solidFill>
              </a:rPr>
              <a:t> courses focus on natural laws, laboratory protocols, physical device manipulation</a:t>
            </a:r>
          </a:p>
        </p:txBody>
      </p:sp>
      <p:sp>
        <p:nvSpPr>
          <p:cNvPr id="16" name="Speech Bubble: Rectangle 15"/>
          <p:cNvSpPr/>
          <p:nvPr/>
        </p:nvSpPr>
        <p:spPr>
          <a:xfrm>
            <a:off x="429853" y="2800851"/>
            <a:ext cx="2399379" cy="1188008"/>
          </a:xfrm>
          <a:prstGeom prst="wedgeRectCallout">
            <a:avLst>
              <a:gd name="adj1" fmla="val 73023"/>
              <a:gd name="adj2" fmla="val 92699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Math</a:t>
            </a:r>
            <a:r>
              <a:rPr lang="en-US" sz="1600" dirty="0">
                <a:solidFill>
                  <a:schemeClr val="tx1"/>
                </a:solidFill>
              </a:rPr>
              <a:t> courses focus on formulae, proofs, problem solving mechanics, abstract tasks</a:t>
            </a:r>
          </a:p>
        </p:txBody>
      </p:sp>
      <p:sp>
        <p:nvSpPr>
          <p:cNvPr id="17" name="Speech Bubble: Rectangle 16"/>
          <p:cNvSpPr/>
          <p:nvPr/>
        </p:nvSpPr>
        <p:spPr>
          <a:xfrm>
            <a:off x="2096571" y="5650413"/>
            <a:ext cx="3434074" cy="888500"/>
          </a:xfrm>
          <a:prstGeom prst="wedgeRectCallout">
            <a:avLst>
              <a:gd name="adj1" fmla="val 56964"/>
              <a:gd name="adj2" fmla="val -158777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Computer Science</a:t>
            </a:r>
            <a:r>
              <a:rPr lang="en-US" sz="1600" dirty="0">
                <a:solidFill>
                  <a:schemeClr val="tx1"/>
                </a:solidFill>
              </a:rPr>
              <a:t> courses focus on theory, platforms, tools, languages, business information systems</a:t>
            </a:r>
          </a:p>
        </p:txBody>
      </p:sp>
      <p:sp>
        <p:nvSpPr>
          <p:cNvPr id="18" name="Arrow: Down 17"/>
          <p:cNvSpPr/>
          <p:nvPr/>
        </p:nvSpPr>
        <p:spPr>
          <a:xfrm rot="10800000">
            <a:off x="4461384" y="2996648"/>
            <a:ext cx="162233" cy="79641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/>
          <p:cNvSpPr/>
          <p:nvPr/>
        </p:nvSpPr>
        <p:spPr>
          <a:xfrm rot="3600000">
            <a:off x="3977881" y="3806102"/>
            <a:ext cx="162233" cy="79641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/>
          <p:cNvSpPr/>
          <p:nvPr/>
        </p:nvSpPr>
        <p:spPr>
          <a:xfrm rot="17977567">
            <a:off x="4959655" y="3794890"/>
            <a:ext cx="162233" cy="79641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C2130-844F-22D6-9BC6-CC9278A0E8A9}"/>
              </a:ext>
            </a:extLst>
          </p:cNvPr>
          <p:cNvSpPr txBox="1"/>
          <p:nvPr/>
        </p:nvSpPr>
        <p:spPr>
          <a:xfrm>
            <a:off x="6457950" y="5448332"/>
            <a:ext cx="2317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 three-rotor Wankel combustion engine is used in military drones</a:t>
            </a:r>
          </a:p>
        </p:txBody>
      </p:sp>
    </p:spTree>
    <p:extLst>
      <p:ext uri="{BB962C8B-B14F-4D97-AF65-F5344CB8AC3E}">
        <p14:creationId xmlns:p14="http://schemas.microsoft.com/office/powerpoint/2010/main" val="415487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SciComp Is Getting Lost in the Middle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3873" y="1562567"/>
            <a:ext cx="4336253" cy="4699797"/>
          </a:xfrm>
          <a:prstGeom prst="rect">
            <a:avLst/>
          </a:prstGeom>
        </p:spPr>
      </p:pic>
      <p:sp>
        <p:nvSpPr>
          <p:cNvPr id="8" name="Speech Bubble: Rectangle 7"/>
          <p:cNvSpPr/>
          <p:nvPr/>
        </p:nvSpPr>
        <p:spPr>
          <a:xfrm>
            <a:off x="6169434" y="1468580"/>
            <a:ext cx="2399379" cy="1188008"/>
          </a:xfrm>
          <a:prstGeom prst="wedgeRectCallout">
            <a:avLst>
              <a:gd name="adj1" fmla="val -114453"/>
              <a:gd name="adj2" fmla="val 58559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Science</a:t>
            </a:r>
            <a:r>
              <a:rPr lang="en-US" sz="1600" dirty="0">
                <a:solidFill>
                  <a:schemeClr val="tx1"/>
                </a:solidFill>
              </a:rPr>
              <a:t> courses focus on natural laws, laboratory protocols, physical device manipulation</a:t>
            </a:r>
          </a:p>
        </p:txBody>
      </p:sp>
      <p:sp>
        <p:nvSpPr>
          <p:cNvPr id="9" name="Speech Bubble: Rectangle 8"/>
          <p:cNvSpPr/>
          <p:nvPr/>
        </p:nvSpPr>
        <p:spPr>
          <a:xfrm>
            <a:off x="429853" y="2800851"/>
            <a:ext cx="2399379" cy="1188008"/>
          </a:xfrm>
          <a:prstGeom prst="wedgeRectCallout">
            <a:avLst>
              <a:gd name="adj1" fmla="val 73023"/>
              <a:gd name="adj2" fmla="val 92699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Math</a:t>
            </a:r>
            <a:r>
              <a:rPr lang="en-US" sz="1600" dirty="0">
                <a:solidFill>
                  <a:schemeClr val="tx1"/>
                </a:solidFill>
              </a:rPr>
              <a:t> courses focus on formulae, proofs, problem solving mechanics, abstract tasks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EFE7F8E3-CC17-4923-84EE-987722AF60D5}"/>
              </a:ext>
            </a:extLst>
          </p:cNvPr>
          <p:cNvSpPr/>
          <p:nvPr/>
        </p:nvSpPr>
        <p:spPr>
          <a:xfrm>
            <a:off x="2096571" y="5650413"/>
            <a:ext cx="3434074" cy="888500"/>
          </a:xfrm>
          <a:prstGeom prst="wedgeRectCallout">
            <a:avLst>
              <a:gd name="adj1" fmla="val 56964"/>
              <a:gd name="adj2" fmla="val -158777"/>
            </a:avLst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Computer Science</a:t>
            </a:r>
            <a:r>
              <a:rPr lang="en-US" sz="1600" dirty="0">
                <a:solidFill>
                  <a:schemeClr val="tx1"/>
                </a:solidFill>
              </a:rPr>
              <a:t> courses focus on theory, platforms, tools, languages, business information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50916-0B44-4BE5-8ECC-0A628C73D184}"/>
              </a:ext>
            </a:extLst>
          </p:cNvPr>
          <p:cNvSpPr txBox="1"/>
          <p:nvPr/>
        </p:nvSpPr>
        <p:spPr>
          <a:xfrm>
            <a:off x="3532239" y="3624989"/>
            <a:ext cx="19984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SciComp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D9CB5-000C-4900-AF73-A0C89123F47F}"/>
              </a:ext>
            </a:extLst>
          </p:cNvPr>
          <p:cNvSpPr txBox="1"/>
          <p:nvPr/>
        </p:nvSpPr>
        <p:spPr>
          <a:xfrm>
            <a:off x="6817443" y="3971005"/>
            <a:ext cx="1896703" cy="212365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Historical Departmental Silos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Organizational Inertia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sz="16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Instructor Readiness</a:t>
            </a:r>
          </a:p>
        </p:txBody>
      </p:sp>
    </p:spTree>
    <p:extLst>
      <p:ext uri="{BB962C8B-B14F-4D97-AF65-F5344CB8AC3E}">
        <p14:creationId xmlns:p14="http://schemas.microsoft.com/office/powerpoint/2010/main" val="239883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710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Designed for delivery as a weekly high school extracurricular club, </a:t>
            </a:r>
            <a:r>
              <a:rPr lang="en-US" sz="2400" b="1" dirty="0">
                <a:solidFill>
                  <a:srgbClr val="0070C0"/>
                </a:solidFill>
              </a:rPr>
              <a:t>20 seminars,</a:t>
            </a:r>
            <a:r>
              <a:rPr lang="en-US" sz="2400" dirty="0"/>
              <a:t> one-hour duration each</a:t>
            </a:r>
            <a:endParaRPr lang="en-US" sz="2400" b="1" dirty="0"/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BNL provides all required presentations, sample code, lab exercises, and teacher guide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software tools are 100% open-source and free of charge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students can use Windows, Apple Mac, or Chromebook (Linux)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Seminar sessions are split into </a:t>
            </a:r>
            <a:r>
              <a:rPr lang="en-US" sz="2400" b="1" dirty="0">
                <a:solidFill>
                  <a:srgbClr val="00B050"/>
                </a:solidFill>
              </a:rPr>
              <a:t>three 20-minute sections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last 20-minute section in each session is optional &amp; not required for pedagogical continuity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This structure enables sessions to be delivered within a high school </a:t>
            </a:r>
            <a:r>
              <a:rPr lang="en-US" sz="2000" u="sng" dirty="0"/>
              <a:t>Science Research</a:t>
            </a:r>
            <a:r>
              <a:rPr lang="en-US" sz="2000" dirty="0"/>
              <a:t> course </a:t>
            </a:r>
            <a:r>
              <a:rPr lang="en-US" sz="2000" b="1" dirty="0">
                <a:solidFill>
                  <a:srgbClr val="7030A0"/>
                </a:solidFill>
              </a:rPr>
              <a:t>during school hours, in a typical 40-minute class period</a:t>
            </a:r>
            <a:endParaRPr lang="en-US" sz="16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F260E9-9B10-4305-9B5A-C31B1E5B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SciComp 101</a:t>
            </a:r>
            <a:br>
              <a:rPr lang="en-US" sz="3200" dirty="0">
                <a:latin typeface="+mn-lt"/>
              </a:rPr>
            </a:br>
            <a:r>
              <a:rPr lang="en-US" sz="2800" b="1" dirty="0">
                <a:solidFill>
                  <a:srgbClr val="00B050"/>
                </a:solidFill>
                <a:latin typeface="+mn-lt"/>
              </a:rPr>
              <a:t>Foundations of Scientific Computing</a:t>
            </a:r>
            <a:endParaRPr lang="en-US" sz="3200" b="1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341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710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Objectives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Provide patterns for solving real-world </a:t>
            </a:r>
            <a:r>
              <a:rPr lang="en-US" sz="2000" b="1" dirty="0">
                <a:solidFill>
                  <a:srgbClr val="0070C0"/>
                </a:solidFill>
              </a:rPr>
              <a:t>science problems </a:t>
            </a:r>
            <a:r>
              <a:rPr lang="en-US" sz="2000" dirty="0"/>
              <a:t>by writing custom software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Demonstrate how </a:t>
            </a:r>
            <a:r>
              <a:rPr lang="en-US" sz="2000" b="1" dirty="0">
                <a:solidFill>
                  <a:srgbClr val="7030A0"/>
                </a:solidFill>
              </a:rPr>
              <a:t>scientific computing impacts all science disciplines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Enable students to </a:t>
            </a:r>
            <a:r>
              <a:rPr lang="en-US" sz="2000" b="1" dirty="0">
                <a:solidFill>
                  <a:srgbClr val="FF0000"/>
                </a:solidFill>
              </a:rPr>
              <a:t>translate scientific formulas into correct and efficient code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Review techniques for the </a:t>
            </a:r>
            <a:r>
              <a:rPr lang="en-US" sz="2000" b="1" dirty="0">
                <a:solidFill>
                  <a:srgbClr val="00B050"/>
                </a:solidFill>
              </a:rPr>
              <a:t>effective visualization </a:t>
            </a:r>
            <a:r>
              <a:rPr lang="en-US" sz="2000" dirty="0"/>
              <a:t>of complex data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Show optimal methods to store and analyze very large data sets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b="1" dirty="0"/>
              <a:t>Prepare students to conduct interdisciplinary research at world-class institutions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1C7025-35F8-4404-8579-59346A73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SciComp 101</a:t>
            </a:r>
            <a:br>
              <a:rPr lang="en-US" sz="3200" dirty="0">
                <a:latin typeface="+mn-lt"/>
              </a:rPr>
            </a:br>
            <a:r>
              <a:rPr lang="en-US" sz="2800" b="1" dirty="0">
                <a:solidFill>
                  <a:srgbClr val="00B050"/>
                </a:solidFill>
                <a:latin typeface="+mn-lt"/>
              </a:rPr>
              <a:t>Foundations of Scientific Computing</a:t>
            </a:r>
            <a:endParaRPr lang="en-US" sz="3200" b="1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115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7C46C-D73E-44C3-89D8-55C612001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973" y="1349356"/>
            <a:ext cx="6840054" cy="523861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92C2D1-ECDE-457D-95D6-5816BD2D878A}"/>
              </a:ext>
            </a:extLst>
          </p:cNvPr>
          <p:cNvSpPr/>
          <p:nvPr/>
        </p:nvSpPr>
        <p:spPr>
          <a:xfrm>
            <a:off x="2362810" y="1477670"/>
            <a:ext cx="2055571" cy="292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A6C477B7-D48A-4553-8F05-9DA9DF307E44}"/>
              </a:ext>
            </a:extLst>
          </p:cNvPr>
          <p:cNvSpPr/>
          <p:nvPr/>
        </p:nvSpPr>
        <p:spPr>
          <a:xfrm>
            <a:off x="6713983" y="1717633"/>
            <a:ext cx="2057399" cy="1470355"/>
          </a:xfrm>
          <a:prstGeom prst="wedgeEllipseCallout">
            <a:avLst>
              <a:gd name="adj1" fmla="val -74927"/>
              <a:gd name="adj2" fmla="val 122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Your school could be the </a:t>
            </a:r>
            <a:r>
              <a:rPr lang="en-US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top </a:t>
            </a:r>
            <a:r>
              <a:rPr lang="en-US" b="1" dirty="0"/>
              <a:t>hits in Google!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6253FBB-A980-4DB5-83C1-C03CF08FA8B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+mn-lt"/>
              </a:rPr>
              <a:t>You can lead the world!</a:t>
            </a:r>
          </a:p>
        </p:txBody>
      </p:sp>
    </p:spTree>
    <p:extLst>
      <p:ext uri="{BB962C8B-B14F-4D97-AF65-F5344CB8AC3E}">
        <p14:creationId xmlns:p14="http://schemas.microsoft.com/office/powerpoint/2010/main" val="212681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9CDB13-F7F2-4920-8516-EE4DBFF0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57" y="490119"/>
            <a:ext cx="6065834" cy="57038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E700D7-5723-4B47-8883-F27ECCCA5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001" y="986590"/>
            <a:ext cx="5438103" cy="5816088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174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lang="en-US" kern="0" dirty="0">
              <a:solidFill>
                <a:sysClr val="windowText" lastClr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EFD6E-BE99-4D4D-9752-22DEB95FF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08" y="263622"/>
            <a:ext cx="4948355" cy="5540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507C13-2089-4DC0-97CE-97B0B3FA3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779" y="686794"/>
            <a:ext cx="5032240" cy="54844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61FCBC-E80B-4323-B799-17295EB81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843" y="1803970"/>
            <a:ext cx="6628571" cy="4552381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249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F138F-596C-4A1D-84B5-500D0B00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4EBA1-0362-4FFB-8C4F-C38EF049703C}"/>
              </a:ext>
            </a:extLst>
          </p:cNvPr>
          <p:cNvSpPr txBox="1"/>
          <p:nvPr/>
        </p:nvSpPr>
        <p:spPr>
          <a:xfrm>
            <a:off x="774291" y="516193"/>
            <a:ext cx="4203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Miller Place High School</a:t>
            </a:r>
          </a:p>
          <a:p>
            <a:pPr algn="ctr"/>
            <a:r>
              <a:rPr lang="en-US" sz="2400" dirty="0"/>
              <a:t>First Public High School in NYS to Offer </a:t>
            </a:r>
            <a:r>
              <a:rPr lang="en-US" sz="2400" b="1" dirty="0">
                <a:solidFill>
                  <a:srgbClr val="FF0000"/>
                </a:solidFill>
              </a:rPr>
              <a:t>Scientific Computing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728E7-D7CC-4179-88F2-EB678B9817E7}"/>
              </a:ext>
            </a:extLst>
          </p:cNvPr>
          <p:cNvSpPr/>
          <p:nvPr/>
        </p:nvSpPr>
        <p:spPr>
          <a:xfrm>
            <a:off x="2168013" y="2632588"/>
            <a:ext cx="1069259" cy="17252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ED3165-4345-4D99-818F-634556B1787A}"/>
              </a:ext>
            </a:extLst>
          </p:cNvPr>
          <p:cNvSpPr/>
          <p:nvPr/>
        </p:nvSpPr>
        <p:spPr>
          <a:xfrm>
            <a:off x="1084006" y="2999064"/>
            <a:ext cx="1069259" cy="17252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5F943-86F4-4369-B1CF-2FE47C0B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379" y="483024"/>
            <a:ext cx="1228571" cy="12666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FE81D7-A540-4937-9F28-D89C82E09A43}"/>
              </a:ext>
            </a:extLst>
          </p:cNvPr>
          <p:cNvSpPr txBox="1"/>
          <p:nvPr/>
        </p:nvSpPr>
        <p:spPr>
          <a:xfrm>
            <a:off x="6784258" y="654692"/>
            <a:ext cx="1814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Nick </a:t>
            </a:r>
            <a:r>
              <a:rPr lang="en-US" b="1" dirty="0" err="1"/>
              <a:t>Corleto</a:t>
            </a:r>
            <a:endParaRPr lang="en-US" b="1" dirty="0"/>
          </a:p>
          <a:p>
            <a:pPr algn="ctr"/>
            <a:r>
              <a:rPr lang="en-US" dirty="0"/>
              <a:t>Chemistry Teacher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A44C43-1776-4A9D-9718-968573C64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89" y="2114267"/>
            <a:ext cx="3633647" cy="429387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97D8FF2-945D-44DC-B932-2B54EFE6EE00}"/>
              </a:ext>
            </a:extLst>
          </p:cNvPr>
          <p:cNvGrpSpPr/>
          <p:nvPr/>
        </p:nvGrpSpPr>
        <p:grpSpPr>
          <a:xfrm>
            <a:off x="576762" y="3019461"/>
            <a:ext cx="7990476" cy="1723810"/>
            <a:chOff x="856328" y="3019461"/>
            <a:chExt cx="7990476" cy="172381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D0A5879-F767-4FA5-BC6A-2B97C97C6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328" y="3019461"/>
              <a:ext cx="7990476" cy="17238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B69FA9-5464-4486-A061-7EA29E99D809}"/>
                </a:ext>
              </a:extLst>
            </p:cNvPr>
            <p:cNvSpPr/>
            <p:nvPr/>
          </p:nvSpPr>
          <p:spPr>
            <a:xfrm>
              <a:off x="3141406" y="3795103"/>
              <a:ext cx="2586294" cy="1725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647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F138F-596C-4A1D-84B5-500D0B00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B49EB-1BA8-4191-A9E8-29026E20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51" y="2352374"/>
            <a:ext cx="8416906" cy="30012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24B0EC-0827-4706-96F5-7B03E7B13BF7}"/>
              </a:ext>
            </a:extLst>
          </p:cNvPr>
          <p:cNvSpPr/>
          <p:nvPr/>
        </p:nvSpPr>
        <p:spPr>
          <a:xfrm>
            <a:off x="1084006" y="2632587"/>
            <a:ext cx="1069259" cy="17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0696F-6941-471A-BABD-D6B68DEF1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03" y="610149"/>
            <a:ext cx="1314493" cy="1240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0A045C-04F2-46ED-B1BB-F96EA5796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724" y="573343"/>
            <a:ext cx="1314493" cy="1314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04EBA1-0362-4FFB-8C4F-C38EF049703C}"/>
              </a:ext>
            </a:extLst>
          </p:cNvPr>
          <p:cNvSpPr txBox="1"/>
          <p:nvPr/>
        </p:nvSpPr>
        <p:spPr>
          <a:xfrm>
            <a:off x="774291" y="516194"/>
            <a:ext cx="4203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St. Anthony’s High School</a:t>
            </a:r>
          </a:p>
          <a:p>
            <a:pPr algn="ctr"/>
            <a:r>
              <a:rPr lang="en-US" sz="2400" dirty="0"/>
              <a:t>First Private High School in NYS to Offer </a:t>
            </a:r>
            <a:r>
              <a:rPr lang="en-US" sz="2400" b="1" dirty="0">
                <a:solidFill>
                  <a:srgbClr val="FF0000"/>
                </a:solidFill>
              </a:rPr>
              <a:t>Scientific Computing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728E7-D7CC-4179-88F2-EB678B9817E7}"/>
              </a:ext>
            </a:extLst>
          </p:cNvPr>
          <p:cNvSpPr/>
          <p:nvPr/>
        </p:nvSpPr>
        <p:spPr>
          <a:xfrm>
            <a:off x="2168013" y="2632588"/>
            <a:ext cx="1069259" cy="17252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ED3165-4345-4D99-818F-634556B1787A}"/>
              </a:ext>
            </a:extLst>
          </p:cNvPr>
          <p:cNvSpPr/>
          <p:nvPr/>
        </p:nvSpPr>
        <p:spPr>
          <a:xfrm>
            <a:off x="1084006" y="2999064"/>
            <a:ext cx="1069259" cy="17252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49F1B7-16A8-46E4-AE87-BC42FC634E3A}"/>
              </a:ext>
            </a:extLst>
          </p:cNvPr>
          <p:cNvSpPr/>
          <p:nvPr/>
        </p:nvSpPr>
        <p:spPr>
          <a:xfrm>
            <a:off x="4946415" y="4687204"/>
            <a:ext cx="3452791" cy="15026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C49C98-1F14-44A4-81FA-86F4F55B551B}"/>
              </a:ext>
            </a:extLst>
          </p:cNvPr>
          <p:cNvSpPr/>
          <p:nvPr/>
        </p:nvSpPr>
        <p:spPr>
          <a:xfrm>
            <a:off x="548938" y="4869102"/>
            <a:ext cx="2768937" cy="15026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48FCD83-A5CE-4F43-AEAF-4B9D171D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652" y="1468581"/>
            <a:ext cx="6064888" cy="5196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SciComp = The </a:t>
            </a:r>
            <a:r>
              <a:rPr lang="en-US" sz="3200" u="sng">
                <a:latin typeface="+mn-lt"/>
              </a:rPr>
              <a:t>Pathway</a:t>
            </a:r>
            <a:r>
              <a:rPr lang="en-US" sz="3200">
                <a:latin typeface="+mn-lt"/>
              </a:rPr>
              <a:t> to Internships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F7452-2271-4691-81C0-1F3425121E44}"/>
              </a:ext>
            </a:extLst>
          </p:cNvPr>
          <p:cNvSpPr/>
          <p:nvPr/>
        </p:nvSpPr>
        <p:spPr>
          <a:xfrm>
            <a:off x="2027904" y="1873046"/>
            <a:ext cx="840658" cy="258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870B6E-6828-41C5-9FDF-CFC827BD0A87}"/>
              </a:ext>
            </a:extLst>
          </p:cNvPr>
          <p:cNvSpPr/>
          <p:nvPr/>
        </p:nvSpPr>
        <p:spPr>
          <a:xfrm>
            <a:off x="6037621" y="2572480"/>
            <a:ext cx="135869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066DC-1BF6-4C25-A931-A9DA617AD057}"/>
              </a:ext>
            </a:extLst>
          </p:cNvPr>
          <p:cNvSpPr/>
          <p:nvPr/>
        </p:nvSpPr>
        <p:spPr>
          <a:xfrm>
            <a:off x="6013656" y="4601110"/>
            <a:ext cx="1382662" cy="416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EA196-B8E3-433D-82A4-70DDC757183D}"/>
              </a:ext>
            </a:extLst>
          </p:cNvPr>
          <p:cNvSpPr/>
          <p:nvPr/>
        </p:nvSpPr>
        <p:spPr>
          <a:xfrm>
            <a:off x="6037622" y="6121284"/>
            <a:ext cx="1358696" cy="365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360665C-224F-4378-BF6C-5F91B82E9311}"/>
              </a:ext>
            </a:extLst>
          </p:cNvPr>
          <p:cNvCxnSpPr/>
          <p:nvPr/>
        </p:nvCxnSpPr>
        <p:spPr>
          <a:xfrm>
            <a:off x="4572000" y="2013155"/>
            <a:ext cx="15780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653ED-077D-44EB-8829-9401FD3374AA}"/>
              </a:ext>
            </a:extLst>
          </p:cNvPr>
          <p:cNvSpPr/>
          <p:nvPr/>
        </p:nvSpPr>
        <p:spPr>
          <a:xfrm>
            <a:off x="3352801" y="3175821"/>
            <a:ext cx="840658" cy="2531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5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0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08" y="1529452"/>
            <a:ext cx="8249584" cy="402803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A59932B-AA21-429C-A5AF-318631CBE1FB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latin typeface="+mn-lt"/>
              </a:rPr>
              <a:t>SciComp = The </a:t>
            </a:r>
            <a:r>
              <a:rPr lang="en-US" sz="3200" u="sng">
                <a:latin typeface="+mn-lt"/>
              </a:rPr>
              <a:t>Pathway</a:t>
            </a:r>
            <a:r>
              <a:rPr lang="en-US" sz="3200">
                <a:latin typeface="+mn-lt"/>
              </a:rPr>
              <a:t> to Internships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D244C6-BA74-8BBA-1FB9-ABFF11F915F5}"/>
              </a:ext>
            </a:extLst>
          </p:cNvPr>
          <p:cNvSpPr txBox="1"/>
          <p:nvPr/>
        </p:nvSpPr>
        <p:spPr>
          <a:xfrm>
            <a:off x="3760840" y="4758330"/>
            <a:ext cx="4754510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school interns at </a:t>
            </a:r>
            <a:r>
              <a:rPr lang="en-US" b="1" dirty="0"/>
              <a:t>CERN</a:t>
            </a:r>
            <a:r>
              <a:rPr lang="en-US" dirty="0"/>
              <a:t> must complete a course in </a:t>
            </a:r>
            <a:r>
              <a:rPr lang="en-US" b="1" dirty="0">
                <a:solidFill>
                  <a:srgbClr val="FF0000"/>
                </a:solidFill>
              </a:rPr>
              <a:t>Scientific Computing </a:t>
            </a:r>
            <a:r>
              <a:rPr lang="en-US" u="sng" dirty="0"/>
              <a:t>before</a:t>
            </a:r>
            <a:r>
              <a:rPr lang="en-US" dirty="0"/>
              <a:t> they can begin their internship.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dirty="0"/>
          </a:p>
          <a:p>
            <a:pPr algn="ctr"/>
            <a:r>
              <a:rPr lang="en-US" b="1" dirty="0"/>
              <a:t>That</a:t>
            </a:r>
            <a:r>
              <a:rPr lang="en-US" dirty="0"/>
              <a:t> is how important CERN views these skills!</a:t>
            </a:r>
          </a:p>
        </p:txBody>
      </p:sp>
    </p:spTree>
    <p:extLst>
      <p:ext uri="{BB962C8B-B14F-4D97-AF65-F5344CB8AC3E}">
        <p14:creationId xmlns:p14="http://schemas.microsoft.com/office/powerpoint/2010/main" val="117354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59932B-AA21-429C-A5AF-318631CBE1FB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1034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latin typeface="+mn-lt"/>
              </a:rPr>
              <a:t>SciComp = The </a:t>
            </a:r>
            <a:r>
              <a:rPr lang="en-US" sz="3200" u="sng">
                <a:latin typeface="+mn-lt"/>
              </a:rPr>
              <a:t>Pathway</a:t>
            </a:r>
            <a:r>
              <a:rPr lang="en-US" sz="3200">
                <a:latin typeface="+mn-lt"/>
              </a:rPr>
              <a:t> to Internships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228750-8780-43F3-B878-BFE708CF6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78" y="2022660"/>
            <a:ext cx="7188044" cy="46133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929C2E-B924-4D9E-9E94-FB5E20CEAE79}"/>
              </a:ext>
            </a:extLst>
          </p:cNvPr>
          <p:cNvSpPr txBox="1"/>
          <p:nvPr/>
        </p:nvSpPr>
        <p:spPr>
          <a:xfrm>
            <a:off x="1287719" y="1378974"/>
            <a:ext cx="6568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https://www.bnl.gov/education/programs/program.php?q=219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853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42A9-FC68-4E90-A49D-9F696671B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95144"/>
            <a:ext cx="7772400" cy="848844"/>
          </a:xfrm>
        </p:spPr>
        <p:txBody>
          <a:bodyPr/>
          <a:lstStyle/>
          <a:p>
            <a:r>
              <a:rPr lang="en-US" sz="3200" dirty="0">
                <a:latin typeface="+mn-lt"/>
              </a:rPr>
              <a:t>About BNL's High School Research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6B2C-3C57-49F3-A255-4B1D386F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610EB5-4037-442A-B6C5-F32B77935C7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434" y="2202870"/>
            <a:ext cx="7539132" cy="349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4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42A9-FC68-4E90-A49D-9F696671B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95144"/>
            <a:ext cx="7772400" cy="848844"/>
          </a:xfrm>
        </p:spPr>
        <p:txBody>
          <a:bodyPr/>
          <a:lstStyle/>
          <a:p>
            <a:r>
              <a:rPr lang="en-US" sz="3200" dirty="0">
                <a:latin typeface="+mn-lt"/>
              </a:rPr>
              <a:t>About BNL's College Internships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96B2C-3C57-49F3-A255-4B1D386F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7FB2B-3068-4174-81C7-91EC775862F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383" y="1800911"/>
            <a:ext cx="7955234" cy="4449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1996FD-A19F-3C29-ECDC-D4184A2B58AA}"/>
              </a:ext>
            </a:extLst>
          </p:cNvPr>
          <p:cNvSpPr txBox="1"/>
          <p:nvPr/>
        </p:nvSpPr>
        <p:spPr>
          <a:xfrm>
            <a:off x="1532186" y="1962768"/>
            <a:ext cx="607962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YouTube - Summer Internship Programs at Brookhaven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46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19" y="325955"/>
            <a:ext cx="7194962" cy="63955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E9C616-31EF-432C-8694-17C0DBE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724626-75BA-A11F-4CFF-0B67774D15DB}"/>
              </a:ext>
            </a:extLst>
          </p:cNvPr>
          <p:cNvSpPr txBox="1"/>
          <p:nvPr/>
        </p:nvSpPr>
        <p:spPr>
          <a:xfrm>
            <a:off x="1963711" y="3915304"/>
            <a:ext cx="52165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https://www.bnl.gov/newsroom/news.php?a=26599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0612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 kern="0">
                <a:solidFill>
                  <a:sysClr val="windowText" lastClr="000000"/>
                </a:solidFill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lang="en-US" kern="0">
              <a:solidFill>
                <a:sysClr val="windowText" lastClr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0C3AD-EEE5-4181-ACD3-BE8D7D67D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99" y="301923"/>
            <a:ext cx="6366002" cy="6254154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0CC310-2247-8C3E-2A09-B4D501B0DCEB}"/>
              </a:ext>
            </a:extLst>
          </p:cNvPr>
          <p:cNvSpPr txBox="1"/>
          <p:nvPr/>
        </p:nvSpPr>
        <p:spPr>
          <a:xfrm>
            <a:off x="1963711" y="5987019"/>
            <a:ext cx="52165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https://www.bnl.gov/newsroom/news.php?a=213064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Mathematical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229350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Systems of Equations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Probability Distributions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Combinatorics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Simulation &amp; Modeling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Monte Carlo Integration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Polar &amp; Spherical Coordinates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Dynamical Systems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Mesh Interpolation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2D Affine Transformations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Vector &amp; Complex Algebra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Signals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8DBE3-4750-4693-B4B2-938CA1C4E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515" y="1757964"/>
            <a:ext cx="2112693" cy="760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EB47D4-3654-47F2-BE2C-AE74A7E6E5AF}"/>
                  </a:ext>
                </a:extLst>
              </p:cNvPr>
              <p:cNvSpPr/>
              <p:nvPr/>
            </p:nvSpPr>
            <p:spPr>
              <a:xfrm>
                <a:off x="5093429" y="2697749"/>
                <a:ext cx="3524865" cy="67980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EB47D4-3654-47F2-BE2C-AE74A7E6E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429" y="2697749"/>
                <a:ext cx="3524865" cy="6798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1F0E993-48A1-4F06-B2CD-FF62AE59328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8909" y="3556938"/>
            <a:ext cx="3733904" cy="280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96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Computer Science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890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Representations and Encodings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Random Number Generation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Strings, Arrays, Operators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Loops, Functions, Recursion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Searching &amp; Sorting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2D and 3D Graphics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Accuracy &amp; Precision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Runtime Complexity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File I/O (CSV)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47C84-FD05-441D-817A-1FEB15AA80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5832" y="1711161"/>
            <a:ext cx="1948631" cy="2105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527C31-7A85-4EE3-A328-9507B78FDE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4566" y="4048279"/>
            <a:ext cx="4453937" cy="259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0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Science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890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Mechanics and Kinematics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Waves (Nyquist Sampling)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Unit Conversion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Genetic Sequence Analysis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Balancing Ionic Equations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Projectile Motion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Equilibrium &amp; Thermodynamics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Radioactive Decay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33" y="1365343"/>
            <a:ext cx="1311570" cy="15193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3753" y="916853"/>
            <a:ext cx="1790877" cy="27813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854" y="3926544"/>
            <a:ext cx="1574682" cy="24298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174" y="5487821"/>
            <a:ext cx="3706553" cy="735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661D38-D4E7-472D-B886-87C3FE537A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304" y="4007020"/>
            <a:ext cx="2111307" cy="199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348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710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We are </a:t>
            </a:r>
            <a:r>
              <a:rPr lang="en-US" sz="2400" b="1" dirty="0">
                <a:solidFill>
                  <a:srgbClr val="FF0000"/>
                </a:solidFill>
              </a:rPr>
              <a:t>not</a:t>
            </a:r>
            <a:r>
              <a:rPr lang="en-US" sz="2400" dirty="0"/>
              <a:t> going to teach you coding for coding’s sake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This is </a:t>
            </a:r>
            <a:r>
              <a:rPr lang="en-US" sz="2000" u="sng" dirty="0"/>
              <a:t>not</a:t>
            </a:r>
            <a:r>
              <a:rPr lang="en-US" sz="2000" dirty="0"/>
              <a:t> a simple coding course or "boot camp"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b="1" dirty="0"/>
              <a:t> There are lots of great, free, online courses that teach coding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We cannot shy away from complexity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b="1" dirty="0">
                <a:solidFill>
                  <a:srgbClr val="00B050"/>
                </a:solidFill>
              </a:rPr>
              <a:t>We are not going to teach you "CompSci 101"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We will introduce math and science topics that are new to you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We are professional scientists showing you how to write custom code to solve </a:t>
            </a:r>
            <a:r>
              <a:rPr lang="en-US" sz="2400" i="1" dirty="0"/>
              <a:t>technical</a:t>
            </a:r>
            <a:r>
              <a:rPr lang="en-US" sz="2400" dirty="0"/>
              <a:t> problems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We will focus initially on math and then on science problems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These are the skills </a:t>
            </a:r>
            <a:r>
              <a:rPr lang="en-US" sz="2000" b="1" dirty="0">
                <a:solidFill>
                  <a:srgbClr val="7030A0"/>
                </a:solidFill>
              </a:rPr>
              <a:t>high-school interns</a:t>
            </a:r>
            <a:r>
              <a:rPr lang="en-US" sz="2000" dirty="0"/>
              <a:t> should have </a:t>
            </a:r>
            <a:r>
              <a:rPr lang="en-US" sz="2000" b="1" dirty="0">
                <a:solidFill>
                  <a:srgbClr val="FF0000"/>
                </a:solidFill>
              </a:rPr>
              <a:t>at the start</a:t>
            </a:r>
            <a:r>
              <a:rPr lang="en-US" sz="2000" dirty="0"/>
              <a:t> of their summer research project at any US National Lab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66EAD11-1197-D54F-18A9-3C7D219B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What SciComp 101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Is Not</a:t>
            </a:r>
          </a:p>
        </p:txBody>
      </p:sp>
    </p:spTree>
    <p:extLst>
      <p:ext uri="{BB962C8B-B14F-4D97-AF65-F5344CB8AC3E}">
        <p14:creationId xmlns:p14="http://schemas.microsoft.com/office/powerpoint/2010/main" val="260938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Scientific Computing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024" y="1825625"/>
            <a:ext cx="7886700" cy="45890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is quickly becoming one of the </a:t>
            </a:r>
            <a:r>
              <a:rPr lang="en-US" sz="2400" b="1" dirty="0">
                <a:solidFill>
                  <a:srgbClr val="0070C0"/>
                </a:solidFill>
              </a:rPr>
              <a:t>most heavily used languages </a:t>
            </a:r>
            <a:r>
              <a:rPr lang="en-US" sz="2400" dirty="0"/>
              <a:t>in science projects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runs on all major modern </a:t>
            </a:r>
            <a:r>
              <a:rPr lang="en-US" sz="2400" b="1" dirty="0">
                <a:solidFill>
                  <a:srgbClr val="FF0000"/>
                </a:solidFill>
              </a:rPr>
              <a:t>operating systems</a:t>
            </a:r>
            <a:r>
              <a:rPr lang="en-US" sz="2400" dirty="0"/>
              <a:t> and is completely free and open-source (not vendor-controlled)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makes it easy for your code to directly integrate with a large spectrum of available 3</a:t>
            </a:r>
            <a:r>
              <a:rPr lang="en-US" sz="2400" baseline="30000" dirty="0"/>
              <a:t>rd</a:t>
            </a:r>
            <a:r>
              <a:rPr lang="en-US" sz="2400" dirty="0"/>
              <a:t> party software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code runs </a:t>
            </a:r>
            <a:r>
              <a:rPr lang="en-US" sz="2400" b="1" dirty="0"/>
              <a:t>consistently</a:t>
            </a:r>
            <a:r>
              <a:rPr lang="en-US" sz="2400" dirty="0"/>
              <a:t> on different platforms and </a:t>
            </a:r>
            <a:r>
              <a:rPr lang="en-US" sz="2400" u="sng" dirty="0"/>
              <a:t>scales</a:t>
            </a:r>
            <a:r>
              <a:rPr lang="en-US" sz="2400" dirty="0"/>
              <a:t> well from small IoT devices to large server clusters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Python benefits from a very active and growing user community that continues to enhance the language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1" dirty="0"/>
              <a:t>200,000+ free/open-source packages are readily available!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5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 Computer Science Exam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ACA492-1D36-0A1A-3EBF-7C48BFB256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312" y="1597405"/>
            <a:ext cx="4033291" cy="17480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4B2197-5739-EA71-D988-B75EF3C5A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194" y="3234938"/>
            <a:ext cx="5836317" cy="31214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745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Useful Python Reference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hlinkClick r:id="rId2"/>
              </a:rPr>
              <a:t>https://docs.python.org/3/tutorial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hlinkClick r:id="rId3"/>
              </a:rPr>
              <a:t>https://www.learnpython.org</a:t>
            </a:r>
            <a:endParaRPr lang="en-US" sz="2400" dirty="0">
              <a:hlinkClick r:id="" action="ppaction://noaction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hlinkClick r:id="rId4"/>
              </a:rPr>
              <a:t>https://realpython.com</a:t>
            </a:r>
            <a:endParaRPr lang="en-US" sz="2400" dirty="0">
              <a:hlinkClick r:id="rId5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hlinkClick r:id="rId5"/>
              </a:rPr>
              <a:t>https://www.w3schools.com/python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hlinkClick r:id="rId6"/>
              </a:rPr>
              <a:t>https://www.fullstackpython.com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829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Every </a:t>
            </a:r>
            <a:r>
              <a:rPr lang="en-US" sz="2400" b="1" dirty="0"/>
              <a:t>high school</a:t>
            </a:r>
            <a:r>
              <a:rPr lang="en-US" sz="2400" dirty="0"/>
              <a:t> </a:t>
            </a:r>
            <a:r>
              <a:rPr lang="en-US" sz="2400" b="1" dirty="0"/>
              <a:t>science research project </a:t>
            </a:r>
            <a:r>
              <a:rPr lang="en-US" sz="2400" dirty="0"/>
              <a:t>can benefit from even just a slight touch of </a:t>
            </a:r>
            <a:r>
              <a:rPr lang="en-US" sz="2400" b="1" dirty="0">
                <a:solidFill>
                  <a:srgbClr val="0070C0"/>
                </a:solidFill>
              </a:rPr>
              <a:t>scientific computing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Better </a:t>
            </a:r>
            <a:r>
              <a:rPr lang="en-US" sz="2000" b="1" dirty="0">
                <a:solidFill>
                  <a:srgbClr val="FF0000"/>
                </a:solidFill>
              </a:rPr>
              <a:t>statistics</a:t>
            </a:r>
            <a:r>
              <a:rPr lang="en-US" sz="2000" dirty="0"/>
              <a:t> &amp; data </a:t>
            </a:r>
            <a:r>
              <a:rPr lang="en-US" sz="2000" b="1" dirty="0">
                <a:solidFill>
                  <a:srgbClr val="FF0000"/>
                </a:solidFill>
              </a:rPr>
              <a:t>visualization</a:t>
            </a:r>
            <a:r>
              <a:rPr lang="en-US" sz="2000" dirty="0"/>
              <a:t> on posters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Compelling analysis from modeling &amp; </a:t>
            </a:r>
            <a:r>
              <a:rPr lang="en-US" sz="2000" u="sng" dirty="0"/>
              <a:t>simulation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Novel integration of computation is a big </a:t>
            </a:r>
            <a:r>
              <a:rPr lang="en-US" sz="2000" b="1" i="1" dirty="0">
                <a:solidFill>
                  <a:srgbClr val="7030A0"/>
                </a:solidFill>
              </a:rPr>
              <a:t>differentiator!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The lab exercises we have developed are taken directly from active research projects </a:t>
            </a:r>
            <a:r>
              <a:rPr lang="en-US" sz="2400" b="1" dirty="0">
                <a:solidFill>
                  <a:srgbClr val="0070C0"/>
                </a:solidFill>
              </a:rPr>
              <a:t>at BNL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We all learned how to </a:t>
            </a:r>
            <a:r>
              <a:rPr lang="en-US" sz="2000" b="1" i="1" dirty="0">
                <a:solidFill>
                  <a:srgbClr val="0070C0"/>
                </a:solidFill>
              </a:rPr>
              <a:t>read</a:t>
            </a:r>
            <a:r>
              <a:rPr lang="en-US" sz="2000" dirty="0"/>
              <a:t> before we learned how to </a:t>
            </a:r>
            <a:r>
              <a:rPr lang="en-US" sz="2000" b="1" i="1" dirty="0">
                <a:solidFill>
                  <a:srgbClr val="0070C0"/>
                </a:solidFill>
              </a:rPr>
              <a:t>write</a:t>
            </a:r>
            <a:r>
              <a:rPr lang="en-US" sz="2000" i="1" dirty="0"/>
              <a:t> - </a:t>
            </a:r>
            <a:r>
              <a:rPr lang="en-US" sz="2000" dirty="0"/>
              <a:t>many junior BNL staff inherit existing code to fix or extend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b="1" dirty="0"/>
              <a:t>More than </a:t>
            </a:r>
            <a:r>
              <a:rPr lang="en-US" sz="2000" b="1" dirty="0">
                <a:solidFill>
                  <a:srgbClr val="FF0000"/>
                </a:solidFill>
              </a:rPr>
              <a:t>80%</a:t>
            </a:r>
            <a:r>
              <a:rPr lang="en-US" sz="2000" b="1" dirty="0"/>
              <a:t> of all summer research projects at BNL require high school interns to </a:t>
            </a:r>
            <a:r>
              <a:rPr lang="en-US" sz="2000" b="1" u="sng" dirty="0"/>
              <a:t>write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527126-8920-4B82-8E19-4FE00FB7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Final Motivations</a:t>
            </a:r>
          </a:p>
        </p:txBody>
      </p:sp>
    </p:spTree>
    <p:extLst>
      <p:ext uri="{BB962C8B-B14F-4D97-AF65-F5344CB8AC3E}">
        <p14:creationId xmlns:p14="http://schemas.microsoft.com/office/powerpoint/2010/main" val="207385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Final Motivations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It does not take thousands of lines of code to keep important science moving right along…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You don’t have to be a professional programmer or know all the arcane aspects of computer languages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closer you get to </a:t>
            </a:r>
            <a:r>
              <a:rPr lang="en-US" sz="2000" b="1" dirty="0">
                <a:solidFill>
                  <a:srgbClr val="00B050"/>
                </a:solidFill>
              </a:rPr>
              <a:t>cutting-edge science</a:t>
            </a:r>
            <a:r>
              <a:rPr lang="en-US" sz="2000" dirty="0"/>
              <a:t>, the less likely you’ll be to “download an app” to accomplish what you need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If you don’t know how to code…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You will start to </a:t>
            </a:r>
            <a:r>
              <a:rPr lang="en-US" sz="2000" b="1" i="1" dirty="0">
                <a:solidFill>
                  <a:srgbClr val="0070C0"/>
                </a:solidFill>
              </a:rPr>
              <a:t>subconsciously</a:t>
            </a:r>
            <a:r>
              <a:rPr lang="en-US" sz="2000" dirty="0"/>
              <a:t> limit the types of analysis you can perform because you will remain at the mercy of the available software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Will software limit your science? Or will you create software to </a:t>
            </a:r>
            <a:r>
              <a:rPr lang="en-US" sz="2000" b="1" dirty="0">
                <a:solidFill>
                  <a:srgbClr val="FF0000"/>
                </a:solidFill>
              </a:rPr>
              <a:t>advance</a:t>
            </a:r>
            <a:r>
              <a:rPr lang="en-US" sz="2000" dirty="0"/>
              <a:t> science for all?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7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39B1D-B7E3-45FB-E6CD-A6311E4A5FF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9363" y="351831"/>
            <a:ext cx="4925274" cy="61543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EE3E11-C495-4B5F-332E-4686A6DEC498}"/>
              </a:ext>
            </a:extLst>
          </p:cNvPr>
          <p:cNvSpPr/>
          <p:nvPr/>
        </p:nvSpPr>
        <p:spPr>
          <a:xfrm>
            <a:off x="5119141" y="5973580"/>
            <a:ext cx="1146748" cy="25483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8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1 </a:t>
            </a:r>
            <a:r>
              <a:rPr lang="en-US" sz="3200" dirty="0">
                <a:latin typeface="+mn-lt"/>
              </a:rPr>
              <a:t>– Install Git (Windows)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F17DE-F342-49AE-C926-DEDA2BA34C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0" y="15839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https://git-scm.com/install/windows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C3465D-5A97-6FCA-B2C4-9C83D2287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714" y="2194446"/>
            <a:ext cx="6380952" cy="41619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A1F1236-259E-D07A-EACA-58A987A8623D}"/>
              </a:ext>
            </a:extLst>
          </p:cNvPr>
          <p:cNvSpPr/>
          <p:nvPr/>
        </p:nvSpPr>
        <p:spPr>
          <a:xfrm>
            <a:off x="1628274" y="3930316"/>
            <a:ext cx="2045368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544C3C-04A6-519B-7E5F-F6B1D8B39184}"/>
              </a:ext>
            </a:extLst>
          </p:cNvPr>
          <p:cNvCxnSpPr>
            <a:cxnSpLocks/>
          </p:cNvCxnSpPr>
          <p:nvPr/>
        </p:nvCxnSpPr>
        <p:spPr>
          <a:xfrm>
            <a:off x="958450" y="4048002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34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B949B-A2E2-5E97-BAD7-44A3DC67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93251-2D00-2BB0-E170-383190543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953" y="2197689"/>
            <a:ext cx="6438095" cy="40380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8C4EAC-7095-7A6F-4C50-4AE1F668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1 </a:t>
            </a:r>
            <a:r>
              <a:rPr lang="en-US" sz="3200" dirty="0">
                <a:latin typeface="+mn-lt"/>
              </a:rPr>
              <a:t>– Install Git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3B1EF-FBCF-010D-8448-D89E02A2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F9667-BCBA-B861-EE6C-AD1A6E7B03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0" y="15839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https://git-scm.com/install/mac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D0A5A8-3CFA-182A-D36F-F96137933682}"/>
              </a:ext>
            </a:extLst>
          </p:cNvPr>
          <p:cNvSpPr/>
          <p:nvPr/>
        </p:nvSpPr>
        <p:spPr>
          <a:xfrm>
            <a:off x="1572127" y="4315326"/>
            <a:ext cx="1804736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3876E9-9B54-4D9A-D2FD-8A529DEC8CB8}"/>
              </a:ext>
            </a:extLst>
          </p:cNvPr>
          <p:cNvCxnSpPr>
            <a:cxnSpLocks/>
          </p:cNvCxnSpPr>
          <p:nvPr/>
        </p:nvCxnSpPr>
        <p:spPr>
          <a:xfrm>
            <a:off x="870219" y="4416970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7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93E2-7C0A-7CEC-14B6-5ECAE013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D52560-FC51-86F2-638F-9020921AD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51" y="2223967"/>
            <a:ext cx="6979698" cy="41323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6F291E-83E1-D535-9DCF-B60DE3FA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2 </a:t>
            </a:r>
            <a:r>
              <a:rPr lang="en-US" sz="3200" dirty="0">
                <a:latin typeface="+mn-lt"/>
              </a:rPr>
              <a:t>– Install VS Code (Windows)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5E50D-AE16-60D3-5A3D-EE99B6AE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7CB29-B751-864E-0860-2726DF605E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0" y="15839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https://code.visualstudio.com/download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11AF53-FEF2-B3D1-D817-E0FF80DBCA7C}"/>
              </a:ext>
            </a:extLst>
          </p:cNvPr>
          <p:cNvSpPr/>
          <p:nvPr/>
        </p:nvSpPr>
        <p:spPr>
          <a:xfrm>
            <a:off x="1299412" y="4495977"/>
            <a:ext cx="1459830" cy="761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7CEA52-3D65-AADD-224E-4EC6922C8F59}"/>
              </a:ext>
            </a:extLst>
          </p:cNvPr>
          <p:cNvCxnSpPr>
            <a:cxnSpLocks/>
          </p:cNvCxnSpPr>
          <p:nvPr/>
        </p:nvCxnSpPr>
        <p:spPr>
          <a:xfrm>
            <a:off x="628650" y="4906254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1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2039-C12D-3965-31F0-766180EA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2A3A92-8B0D-E59C-75E9-1FE0DB08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51" y="2223967"/>
            <a:ext cx="6979698" cy="41323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88577E-2CF7-6245-D9CE-DB096C6CA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2 </a:t>
            </a:r>
            <a:r>
              <a:rPr lang="en-US" sz="3200" dirty="0">
                <a:latin typeface="+mn-lt"/>
              </a:rPr>
              <a:t>– Install VS Code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44603-EE1E-B59E-5B6E-3B6FE0DB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90F38-524F-C32A-EA18-CA97F67DFB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0" y="15839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https://code.visualstudio.com/download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BE0D8-29A3-A228-7864-CE3BFD334634}"/>
              </a:ext>
            </a:extLst>
          </p:cNvPr>
          <p:cNvSpPr/>
          <p:nvPr/>
        </p:nvSpPr>
        <p:spPr>
          <a:xfrm>
            <a:off x="6433887" y="4503999"/>
            <a:ext cx="1137987" cy="761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CB9398-496F-239C-F5EC-69BC3C62320F}"/>
              </a:ext>
            </a:extLst>
          </p:cNvPr>
          <p:cNvCxnSpPr>
            <a:cxnSpLocks/>
          </p:cNvCxnSpPr>
          <p:nvPr/>
        </p:nvCxnSpPr>
        <p:spPr>
          <a:xfrm>
            <a:off x="5754102" y="4874170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32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1740-AE4A-0288-3EF3-6F77D929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482EFD-B87C-50E0-83E5-C32E9ED82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7" y="2225772"/>
            <a:ext cx="8301789" cy="28923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B9C607-66A2-87BA-7054-57F4F30DA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3 </a:t>
            </a:r>
            <a:r>
              <a:rPr lang="en-US" sz="3200" dirty="0">
                <a:latin typeface="+mn-lt"/>
              </a:rPr>
              <a:t>– Install Astral “uv” (Windows)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D9C0C-A901-4A30-13FA-9AAA6C5C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474096-B27A-C742-BBC7-4CB14CE4199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6363" y="1583981"/>
            <a:ext cx="6831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https://docs.astral.sh/uv/getting-started/installation/#__tabbed_1_2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D94F5-E115-74E6-B622-9B60D77F1075}"/>
              </a:ext>
            </a:extLst>
          </p:cNvPr>
          <p:cNvSpPr/>
          <p:nvPr/>
        </p:nvSpPr>
        <p:spPr>
          <a:xfrm>
            <a:off x="8238184" y="4221990"/>
            <a:ext cx="454191" cy="4610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3FCD8C-D0AC-BAA3-0873-E95FB759981F}"/>
              </a:ext>
            </a:extLst>
          </p:cNvPr>
          <p:cNvCxnSpPr>
            <a:cxnSpLocks/>
          </p:cNvCxnSpPr>
          <p:nvPr/>
        </p:nvCxnSpPr>
        <p:spPr>
          <a:xfrm>
            <a:off x="7916779" y="3948863"/>
            <a:ext cx="438576" cy="3904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B16967A-05A6-13E6-C90F-875EF982F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26" y="5274019"/>
            <a:ext cx="8355491" cy="9503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16B480-F717-7F86-1DF5-481756F3B8FC}"/>
              </a:ext>
            </a:extLst>
          </p:cNvPr>
          <p:cNvSpPr/>
          <p:nvPr/>
        </p:nvSpPr>
        <p:spPr>
          <a:xfrm>
            <a:off x="1885510" y="5758021"/>
            <a:ext cx="6705037" cy="249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C2B817-FA0B-C691-D069-CEDCE399B1D1}"/>
              </a:ext>
            </a:extLst>
          </p:cNvPr>
          <p:cNvCxnSpPr>
            <a:cxnSpLocks/>
          </p:cNvCxnSpPr>
          <p:nvPr/>
        </p:nvCxnSpPr>
        <p:spPr>
          <a:xfrm>
            <a:off x="1278409" y="5876802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57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53B0-36E5-0149-7308-3DBE3C27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F3BE4B-1629-6807-2E2A-6F5791601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96" y="2262523"/>
            <a:ext cx="7523809" cy="32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6319C7-580F-F837-7FCF-20F1C87AD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3 </a:t>
            </a:r>
            <a:r>
              <a:rPr lang="en-US" sz="3200" dirty="0">
                <a:latin typeface="+mn-lt"/>
              </a:rPr>
              <a:t>– Install Astral “uv”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95C6D-8AA4-D92A-88B2-8A8E60F0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9ECBAF-9EB5-3D6C-6FDF-D5EAFFCAC6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6363" y="1583981"/>
            <a:ext cx="6831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https://docs.astral.sh/uv/getting-started/installation/#homebrew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B9435-A4C2-F023-745D-82B2D5A5C510}"/>
              </a:ext>
            </a:extLst>
          </p:cNvPr>
          <p:cNvSpPr/>
          <p:nvPr/>
        </p:nvSpPr>
        <p:spPr>
          <a:xfrm>
            <a:off x="1227222" y="3328737"/>
            <a:ext cx="1483894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A7F6DD-5E46-89CB-657D-F55D94776C96}"/>
              </a:ext>
            </a:extLst>
          </p:cNvPr>
          <p:cNvCxnSpPr>
            <a:cxnSpLocks/>
          </p:cNvCxnSpPr>
          <p:nvPr/>
        </p:nvCxnSpPr>
        <p:spPr>
          <a:xfrm>
            <a:off x="432069" y="3469105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59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7278-4299-D5F3-E632-A1124E16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E0743C-78BD-557D-596D-203AB72E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34" y="2631513"/>
            <a:ext cx="7733333" cy="2561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3E2C43-8680-F272-B841-C24DE564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4 </a:t>
            </a:r>
            <a:r>
              <a:rPr lang="en-US" sz="3200" dirty="0">
                <a:latin typeface="+mn-lt"/>
              </a:rPr>
              <a:t>– Clone SciComp101 Repo (Windows)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6B5CE-14C8-8C0A-CB83-4EC4F01DB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C374F6-F41D-7138-E53E-F4831E3F81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6363" y="1583981"/>
            <a:ext cx="6831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git clone </a:t>
            </a:r>
            <a:r>
              <a:rPr lang="en-US" dirty="0">
                <a:latin typeface="Consolas" panose="020B0609020204030204" pitchFamily="49" charset="0"/>
                <a:hlinkClick r:id="rId3"/>
              </a:rPr>
              <a:t>https://github.com/dbiersach/scicomp101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27E3A6-D4FD-1096-2F02-2208026C32F7}"/>
              </a:ext>
            </a:extLst>
          </p:cNvPr>
          <p:cNvSpPr/>
          <p:nvPr/>
        </p:nvSpPr>
        <p:spPr>
          <a:xfrm>
            <a:off x="2719137" y="3477126"/>
            <a:ext cx="5268499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872740-43F4-A86F-4C8C-62612334DF21}"/>
              </a:ext>
            </a:extLst>
          </p:cNvPr>
          <p:cNvCxnSpPr>
            <a:cxnSpLocks/>
          </p:cNvCxnSpPr>
          <p:nvPr/>
        </p:nvCxnSpPr>
        <p:spPr>
          <a:xfrm>
            <a:off x="2012216" y="3605463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94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631F-8729-7797-D40B-43F9224B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3BC7CE-5E0F-543B-517D-E677723DB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422" y="2517542"/>
            <a:ext cx="6577155" cy="33921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54C4D-8173-92FE-283E-46074003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4 </a:t>
            </a:r>
            <a:r>
              <a:rPr lang="en-US" sz="3200" dirty="0">
                <a:latin typeface="+mn-lt"/>
              </a:rPr>
              <a:t>– Clone SciComp101 Repo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E995C-F151-37EA-063C-DD863655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31857-8E67-8843-3355-ABF583D68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56363" y="1583981"/>
            <a:ext cx="6831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</a:rPr>
              <a:t>git clone </a:t>
            </a:r>
            <a:r>
              <a:rPr lang="en-US" dirty="0">
                <a:latin typeface="Consolas" panose="020B0609020204030204" pitchFamily="49" charset="0"/>
                <a:hlinkClick r:id="rId3"/>
              </a:rPr>
              <a:t>https://github.com/dbiersach/scicomp101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9F5A3F-050B-FF87-57DB-DF1FBB434227}"/>
              </a:ext>
            </a:extLst>
          </p:cNvPr>
          <p:cNvSpPr/>
          <p:nvPr/>
        </p:nvSpPr>
        <p:spPr>
          <a:xfrm>
            <a:off x="1700464" y="3296653"/>
            <a:ext cx="4467726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3CADCB-353E-6ED0-BB00-1B0E3F67EC8E}"/>
              </a:ext>
            </a:extLst>
          </p:cNvPr>
          <p:cNvCxnSpPr>
            <a:cxnSpLocks/>
          </p:cNvCxnSpPr>
          <p:nvPr/>
        </p:nvCxnSpPr>
        <p:spPr>
          <a:xfrm>
            <a:off x="1093363" y="3437021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4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52A2-1930-9269-9B2F-3537DB6E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586CB1A-04DF-B96D-6A5E-1D3EBBF17D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25" y="2701171"/>
            <a:ext cx="8272550" cy="1614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C0F20E-EDDA-63C1-A155-47C6DB4F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5 </a:t>
            </a:r>
            <a:r>
              <a:rPr lang="en-US" sz="3200" dirty="0">
                <a:latin typeface="+mn-lt"/>
              </a:rPr>
              <a:t>– Install VS Code Extensions (Windows)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7BACD-CC6C-D84D-1733-482E3094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208A4-4FB0-AFEB-51DB-C79680694E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43076" y="1583981"/>
            <a:ext cx="4257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cd $HOME\scicomp101</a:t>
            </a:r>
          </a:p>
          <a:p>
            <a:r>
              <a:rPr lang="en-US" dirty="0">
                <a:latin typeface="Consolas" panose="020B0609020204030204" pitchFamily="49" charset="0"/>
              </a:rPr>
              <a:t>.\install_vscode_extensions.ps1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C3C941-04E6-CAE9-039A-3DCEBAFAA102}"/>
              </a:ext>
            </a:extLst>
          </p:cNvPr>
          <p:cNvSpPr/>
          <p:nvPr/>
        </p:nvSpPr>
        <p:spPr>
          <a:xfrm>
            <a:off x="4419226" y="3780964"/>
            <a:ext cx="4096124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B42BC-C90A-4B09-AADB-7196A008BEDD}"/>
              </a:ext>
            </a:extLst>
          </p:cNvPr>
          <p:cNvSpPr/>
          <p:nvPr/>
        </p:nvSpPr>
        <p:spPr>
          <a:xfrm>
            <a:off x="2951373" y="3526217"/>
            <a:ext cx="2623259" cy="264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1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DC9FF-E446-E45F-4AD5-93B39C0D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7BAC15-49B7-CED9-BCAA-14963C1FD1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35" y="2760226"/>
            <a:ext cx="8543329" cy="22026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60A434-C23F-BA93-FF93-56E13A0F6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5 </a:t>
            </a:r>
            <a:r>
              <a:rPr lang="en-US" sz="3200" dirty="0">
                <a:latin typeface="+mn-lt"/>
              </a:rPr>
              <a:t>– Install VS Code Extensions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2FEA9-4EA1-4B71-0D80-DE577A17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6CB97-3341-DE13-81E2-1D3A05AC4E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31928" y="1583981"/>
            <a:ext cx="4880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cd ~/scicomp101</a:t>
            </a:r>
          </a:p>
          <a:p>
            <a:r>
              <a:rPr lang="en-US" dirty="0">
                <a:latin typeface="Consolas" panose="020B0609020204030204" pitchFamily="49" charset="0"/>
              </a:rPr>
              <a:t>bash .\install_vscode_extensions.sh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E4579-7BDF-AEAF-F693-1F4940EA9EE1}"/>
              </a:ext>
            </a:extLst>
          </p:cNvPr>
          <p:cNvSpPr/>
          <p:nvPr/>
        </p:nvSpPr>
        <p:spPr>
          <a:xfrm>
            <a:off x="3464720" y="4278269"/>
            <a:ext cx="4508205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5C49F-7111-2902-F1AE-1F3BFADE10EC}"/>
              </a:ext>
            </a:extLst>
          </p:cNvPr>
          <p:cNvSpPr/>
          <p:nvPr/>
        </p:nvSpPr>
        <p:spPr>
          <a:xfrm>
            <a:off x="914025" y="3933764"/>
            <a:ext cx="2045743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5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9693-5450-6E89-70A5-BFEC3FE5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7D84B7-47E0-1027-B1A8-6038861E48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36" y="2746374"/>
            <a:ext cx="7114928" cy="2520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2EC0A7-1181-3459-9551-89C041DB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6 </a:t>
            </a:r>
            <a:r>
              <a:rPr lang="en-US" sz="3200" dirty="0">
                <a:latin typeface="+mn-lt"/>
              </a:rPr>
              <a:t>– Create Python .venv (Windows)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C8539-A426-1ACE-9236-69C8EA60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B925D-AF10-298E-D2C6-83EC16AB8CE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31928" y="1583981"/>
            <a:ext cx="4880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uv sync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67657-ACA7-531E-0CB1-D7C28B24368A}"/>
              </a:ext>
            </a:extLst>
          </p:cNvPr>
          <p:cNvSpPr/>
          <p:nvPr/>
        </p:nvSpPr>
        <p:spPr>
          <a:xfrm>
            <a:off x="6360321" y="4246185"/>
            <a:ext cx="1548438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2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ACAC-CB68-69BD-E755-9B7B776E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ED702-4D0D-3F8B-6ABA-27270C773B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40" y="2731913"/>
            <a:ext cx="8272921" cy="2520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C1C191-798C-D874-1E9F-803BD6D3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6 </a:t>
            </a:r>
            <a:r>
              <a:rPr lang="en-US" sz="3200" dirty="0">
                <a:latin typeface="+mn-lt"/>
              </a:rPr>
              <a:t>– Create Python .venv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208E4-B9DC-8F1F-DD5A-0254419A6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9D73B3-C69C-FC09-8E48-DD46632605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31928" y="1583981"/>
            <a:ext cx="4880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uv sync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037EFC-A3F4-A95F-0E12-FF7A34664103}"/>
              </a:ext>
            </a:extLst>
          </p:cNvPr>
          <p:cNvSpPr/>
          <p:nvPr/>
        </p:nvSpPr>
        <p:spPr>
          <a:xfrm>
            <a:off x="3802607" y="4248916"/>
            <a:ext cx="1074193" cy="274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60EE-8989-EED3-7B82-059E2F1E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ADD883-939C-D7B1-B8A1-D088FACFC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42" y="1645826"/>
            <a:ext cx="8045116" cy="43349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2197CE-B1FC-E00A-8121-8FA77B60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7 </a:t>
            </a:r>
            <a:r>
              <a:rPr lang="en-US" sz="3200" dirty="0">
                <a:latin typeface="+mn-lt"/>
              </a:rPr>
              <a:t>– Open the Workspace (Windows)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F90A2-A997-5E97-1440-4C847A0D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62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C09CF6-30BD-1634-D605-FE1D377A3FAB}"/>
              </a:ext>
            </a:extLst>
          </p:cNvPr>
          <p:cNvSpPr/>
          <p:nvPr/>
        </p:nvSpPr>
        <p:spPr>
          <a:xfrm>
            <a:off x="722522" y="3538326"/>
            <a:ext cx="625015" cy="274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527CE0-8B37-7613-44E0-AD629E4DE12E}"/>
              </a:ext>
            </a:extLst>
          </p:cNvPr>
          <p:cNvSpPr/>
          <p:nvPr/>
        </p:nvSpPr>
        <p:spPr>
          <a:xfrm>
            <a:off x="2559343" y="1902031"/>
            <a:ext cx="2012657" cy="274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5FB1B6-E42C-DAA6-F22F-ED4BE6292B3B}"/>
              </a:ext>
            </a:extLst>
          </p:cNvPr>
          <p:cNvSpPr/>
          <p:nvPr/>
        </p:nvSpPr>
        <p:spPr>
          <a:xfrm>
            <a:off x="2984460" y="5177846"/>
            <a:ext cx="1425616" cy="172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1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8218-7D24-729F-D808-A7D5DF62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17A14F-B719-F907-A6BE-44A630E95E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48" y="1637805"/>
            <a:ext cx="8761905" cy="40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B22E2F-46A1-F5D2-A131-A66A3778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Step 7 </a:t>
            </a:r>
            <a:r>
              <a:rPr lang="en-US" sz="3200" dirty="0">
                <a:latin typeface="+mn-lt"/>
              </a:rPr>
              <a:t>– Open the Workspace (macOS)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E7ED-256C-A0A5-11B6-663B7A50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7EA37-EEE9-DDE6-33C1-1C16EB57FCE1}"/>
              </a:ext>
            </a:extLst>
          </p:cNvPr>
          <p:cNvSpPr/>
          <p:nvPr/>
        </p:nvSpPr>
        <p:spPr>
          <a:xfrm>
            <a:off x="401680" y="5212562"/>
            <a:ext cx="961899" cy="274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C8226-2825-499B-7FF3-E085742B7180}"/>
              </a:ext>
            </a:extLst>
          </p:cNvPr>
          <p:cNvSpPr/>
          <p:nvPr/>
        </p:nvSpPr>
        <p:spPr>
          <a:xfrm>
            <a:off x="2559344" y="1741610"/>
            <a:ext cx="1074194" cy="2749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562E7E-3E0A-D521-4AFF-8837FF66E20B}"/>
              </a:ext>
            </a:extLst>
          </p:cNvPr>
          <p:cNvSpPr/>
          <p:nvPr/>
        </p:nvSpPr>
        <p:spPr>
          <a:xfrm>
            <a:off x="2005891" y="4159172"/>
            <a:ext cx="2100887" cy="1882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2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A080-6CB6-E00D-5816-E6EC0630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88312-BBDB-88B3-F826-B6921278D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Trust the Workspace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9A3C5-B222-D338-7407-5522FD51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F0086-4F5F-917D-78AD-F6E75572C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4065"/>
            <a:ext cx="7315200" cy="49122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5DD322-12F6-A13F-C6A3-71CB845BF582}"/>
              </a:ext>
            </a:extLst>
          </p:cNvPr>
          <p:cNvSpPr/>
          <p:nvPr/>
        </p:nvSpPr>
        <p:spPr>
          <a:xfrm>
            <a:off x="3024565" y="4476788"/>
            <a:ext cx="1876297" cy="4481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AFE2-EC34-C8DF-5656-8253AA87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81AE885-277C-490C-5E36-95E702ED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94" y="1376828"/>
            <a:ext cx="7395412" cy="4966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29D8D-6EB4-237E-212F-DF75D559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hello_world.py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18830-AAD9-89AB-1356-EC4539D6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D1690E-4493-54D1-CF04-CB9133A30A5E}"/>
              </a:ext>
            </a:extLst>
          </p:cNvPr>
          <p:cNvSpPr/>
          <p:nvPr/>
        </p:nvSpPr>
        <p:spPr>
          <a:xfrm>
            <a:off x="1425118" y="2752230"/>
            <a:ext cx="937083" cy="1882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6DCFBB-269C-DA45-04C6-D23D8A87CE8E}"/>
              </a:ext>
            </a:extLst>
          </p:cNvPr>
          <p:cNvCxnSpPr>
            <a:cxnSpLocks/>
          </p:cNvCxnSpPr>
          <p:nvPr/>
        </p:nvCxnSpPr>
        <p:spPr>
          <a:xfrm>
            <a:off x="740437" y="2851484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C15770C-9FBA-02F9-7AA2-B911F32A25A6}"/>
              </a:ext>
            </a:extLst>
          </p:cNvPr>
          <p:cNvSpPr/>
          <p:nvPr/>
        </p:nvSpPr>
        <p:spPr>
          <a:xfrm>
            <a:off x="874294" y="1677408"/>
            <a:ext cx="320843" cy="327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53B88-347E-738A-6777-A9D98A873715}"/>
              </a:ext>
            </a:extLst>
          </p:cNvPr>
          <p:cNvCxnSpPr>
            <a:cxnSpLocks/>
          </p:cNvCxnSpPr>
          <p:nvPr/>
        </p:nvCxnSpPr>
        <p:spPr>
          <a:xfrm>
            <a:off x="333120" y="1840831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63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C35D-B02B-0CFA-8C81-36BA0FB26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966B-4A03-C690-1B3F-585055A9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Select Python Interpreter (if necessary)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B8B65-A8F8-AFD8-FA59-35BECF0E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0D9B7-1CAF-1987-E03A-35E200A4B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94" y="1376828"/>
            <a:ext cx="7395412" cy="49661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E73997-039B-59AC-9B86-4C772909FF0C}"/>
              </a:ext>
            </a:extLst>
          </p:cNvPr>
          <p:cNvSpPr/>
          <p:nvPr/>
        </p:nvSpPr>
        <p:spPr>
          <a:xfrm>
            <a:off x="6457950" y="6162760"/>
            <a:ext cx="1017671" cy="201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47C1B9-5164-27E6-9622-3C7BB0AAD14E}"/>
              </a:ext>
            </a:extLst>
          </p:cNvPr>
          <p:cNvCxnSpPr>
            <a:cxnSpLocks/>
          </p:cNvCxnSpPr>
          <p:nvPr/>
        </p:nvCxnSpPr>
        <p:spPr>
          <a:xfrm>
            <a:off x="6019374" y="5758985"/>
            <a:ext cx="438576" cy="3904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19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AAC2-FF03-15E4-873E-D6E9588D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70645D-FFB7-7EAF-821B-BDC93323C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94" y="1376828"/>
            <a:ext cx="7405369" cy="4972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083112-3FB8-8549-8C9A-B8D0CD26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Select Python Interpreter (if necessary)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1BDA-8E22-4DA0-DD3C-9D6B6742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24F6D-BC05-54C3-A03D-3184BFC57D17}"/>
              </a:ext>
            </a:extLst>
          </p:cNvPr>
          <p:cNvSpPr/>
          <p:nvPr/>
        </p:nvSpPr>
        <p:spPr>
          <a:xfrm>
            <a:off x="2359192" y="2403540"/>
            <a:ext cx="2453440" cy="201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E08BD6-C757-A562-22DB-F1F73DF22CFC}"/>
              </a:ext>
            </a:extLst>
          </p:cNvPr>
          <p:cNvCxnSpPr>
            <a:cxnSpLocks/>
          </p:cNvCxnSpPr>
          <p:nvPr/>
        </p:nvCxnSpPr>
        <p:spPr>
          <a:xfrm>
            <a:off x="1815258" y="2514599"/>
            <a:ext cx="607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53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9E0A-DA0F-249C-3A5F-BCFDD3E57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BD46A9-2BD3-C764-DE50-97B8AAB19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94" y="1376828"/>
            <a:ext cx="7395412" cy="4966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9F862C-11F5-3539-E323-247C50BB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Confirm Python Interpreter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DB49C-5D20-DB18-6B4D-D4A04121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AD656-6FF9-465D-B7B0-1CD0DD39CD23}" type="slidenum">
              <a:rPr lang="en-US"/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8274E5-C9D4-A602-8168-7F56C4B45FF9}"/>
              </a:ext>
            </a:extLst>
          </p:cNvPr>
          <p:cNvSpPr/>
          <p:nvPr/>
        </p:nvSpPr>
        <p:spPr>
          <a:xfrm>
            <a:off x="6457950" y="6162760"/>
            <a:ext cx="1017671" cy="201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E3FAD0-8B32-B0F3-EFD6-3C34B115F1FD}"/>
              </a:ext>
            </a:extLst>
          </p:cNvPr>
          <p:cNvCxnSpPr>
            <a:cxnSpLocks/>
          </p:cNvCxnSpPr>
          <p:nvPr/>
        </p:nvCxnSpPr>
        <p:spPr>
          <a:xfrm>
            <a:off x="6116054" y="5857123"/>
            <a:ext cx="438576" cy="3904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56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7AD250-7B9C-3DC1-CAF0-21E5AB299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71" y="1726230"/>
            <a:ext cx="8227259" cy="27976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hello_world.py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5BCC2-EED6-7FE8-136C-60D74276E1A2}"/>
              </a:ext>
            </a:extLst>
          </p:cNvPr>
          <p:cNvSpPr txBox="1"/>
          <p:nvPr/>
        </p:nvSpPr>
        <p:spPr>
          <a:xfrm>
            <a:off x="6254129" y="4755401"/>
            <a:ext cx="1873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Note: Type this code statement </a:t>
            </a:r>
            <a:r>
              <a:rPr lang="en-US" b="1" dirty="0"/>
              <a:t>exactly</a:t>
            </a:r>
            <a:r>
              <a:rPr lang="en-US" dirty="0"/>
              <a:t> as it appears here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B53D1-B5F8-00C3-EA8A-4B5485AA5AF3}"/>
              </a:ext>
            </a:extLst>
          </p:cNvPr>
          <p:cNvSpPr/>
          <p:nvPr/>
        </p:nvSpPr>
        <p:spPr>
          <a:xfrm>
            <a:off x="4209193" y="3125072"/>
            <a:ext cx="2248757" cy="398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9D35BE2-640B-A406-F500-442692211E85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H="1">
            <a:off x="6254129" y="3324100"/>
            <a:ext cx="203821" cy="2031466"/>
          </a:xfrm>
          <a:prstGeom prst="bentConnector5">
            <a:avLst>
              <a:gd name="adj1" fmla="val -312860"/>
              <a:gd name="adj2" fmla="val 40127"/>
              <a:gd name="adj3" fmla="val 212157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3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6CA001-EDA4-EB48-B1DB-07319255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78775"/>
            <a:ext cx="7315200" cy="49122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hello_world.py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70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12F495-D05D-37C8-B734-6572F42B6B0A}"/>
              </a:ext>
            </a:extLst>
          </p:cNvPr>
          <p:cNvSpPr/>
          <p:nvPr/>
        </p:nvSpPr>
        <p:spPr>
          <a:xfrm>
            <a:off x="7211169" y="1736733"/>
            <a:ext cx="397240" cy="3006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63FF7A-C66D-9B90-65C5-8D60C5F550DA}"/>
              </a:ext>
            </a:extLst>
          </p:cNvPr>
          <p:cNvCxnSpPr/>
          <p:nvPr/>
        </p:nvCxnSpPr>
        <p:spPr>
          <a:xfrm flipV="1">
            <a:off x="5814237" y="1887040"/>
            <a:ext cx="1551482" cy="10118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F536374-DDDD-687D-B5EB-8449505F7678}"/>
              </a:ext>
            </a:extLst>
          </p:cNvPr>
          <p:cNvSpPr/>
          <p:nvPr/>
        </p:nvSpPr>
        <p:spPr>
          <a:xfrm>
            <a:off x="3200643" y="5363183"/>
            <a:ext cx="922178" cy="219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556C69-58D5-E92B-DBAA-478604FC17B8}"/>
              </a:ext>
            </a:extLst>
          </p:cNvPr>
          <p:cNvSpPr/>
          <p:nvPr/>
        </p:nvSpPr>
        <p:spPr>
          <a:xfrm>
            <a:off x="5093611" y="3873453"/>
            <a:ext cx="585294" cy="219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704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01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Scientific Computing </a:t>
            </a:r>
            <a:r>
              <a:rPr lang="en-US" sz="2400" b="1" dirty="0">
                <a:solidFill>
                  <a:srgbClr val="FF0000"/>
                </a:solidFill>
              </a:rPr>
              <a:t>is not the same </a:t>
            </a:r>
            <a:r>
              <a:rPr lang="en-US" sz="2400" dirty="0"/>
              <a:t>as Computer Science</a:t>
            </a:r>
          </a:p>
          <a:p>
            <a:r>
              <a:rPr lang="en-US" sz="2400" dirty="0"/>
              <a:t>You cannot do modern science without knowing how to </a:t>
            </a:r>
            <a:r>
              <a:rPr lang="en-US" sz="2400" b="1" dirty="0">
                <a:solidFill>
                  <a:srgbClr val="0070C0"/>
                </a:solidFill>
              </a:rPr>
              <a:t>program</a:t>
            </a:r>
            <a:r>
              <a:rPr lang="en-US" sz="2400" dirty="0"/>
              <a:t> a computer (not just </a:t>
            </a:r>
            <a:r>
              <a:rPr lang="en-US" sz="2400" i="1" dirty="0"/>
              <a:t>use</a:t>
            </a:r>
            <a:r>
              <a:rPr lang="en-US" sz="2400" dirty="0"/>
              <a:t> a computer)</a:t>
            </a:r>
          </a:p>
          <a:p>
            <a:r>
              <a:rPr lang="en-US" sz="2400" dirty="0"/>
              <a:t>The US Department of Energy offers high school and college internships at 17 National Laboratories across the USA</a:t>
            </a:r>
          </a:p>
          <a:p>
            <a:r>
              <a:rPr lang="en-US" sz="2400" dirty="0"/>
              <a:t>One of the best ways to </a:t>
            </a:r>
            <a:r>
              <a:rPr lang="en-US" sz="2400" b="1" dirty="0">
                <a:solidFill>
                  <a:srgbClr val="7030A0"/>
                </a:solidFill>
              </a:rPr>
              <a:t>differentiate yourself </a:t>
            </a:r>
            <a:r>
              <a:rPr lang="en-US" sz="2400" dirty="0"/>
              <a:t>from other students </a:t>
            </a:r>
            <a:r>
              <a:rPr lang="en-US" sz="2400" u="sng" dirty="0"/>
              <a:t>competing</a:t>
            </a:r>
            <a:r>
              <a:rPr lang="en-US" sz="2400" dirty="0"/>
              <a:t> for internships is to develop foundational skills in scientific computing</a:t>
            </a:r>
          </a:p>
          <a:p>
            <a:r>
              <a:rPr lang="en-US" sz="2400" dirty="0"/>
              <a:t>AP College Board is now offering exams in Python</a:t>
            </a:r>
          </a:p>
          <a:p>
            <a:r>
              <a:rPr lang="en-US" sz="2400" dirty="0"/>
              <a:t>Thonny is a 100% open-source (and cost-free) integrated development environment (IDE) for Python created by selfless programmers around the world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7C4-7DE6-4E7A-C6B2-5ABB65AA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F2F9-4030-DA6C-06CA-A0EE555C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30726"/>
          </a:xfrm>
        </p:spPr>
        <p:txBody>
          <a:bodyPr>
            <a:normAutofit/>
          </a:bodyPr>
          <a:lstStyle/>
          <a:p>
            <a:r>
              <a:rPr lang="en-US" sz="2400" dirty="0"/>
              <a:t>Add new code to the Python script file </a:t>
            </a:r>
            <a:r>
              <a:rPr lang="en-US" sz="2400" b="1" dirty="0"/>
              <a:t>my_quip.py </a:t>
            </a:r>
            <a:r>
              <a:rPr lang="en-US" sz="2400" dirty="0"/>
              <a:t>to print a quip of your choosing or creation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Ensure your program runs correctly before exiting VS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FDF3A-2C6D-91EB-88A5-0196BBE6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26D2C-536C-2EE3-4C4A-F51A2A856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121" y="2666710"/>
            <a:ext cx="2529758" cy="25297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22C79D-0F8F-B307-D604-23DE7FB8A9D5}"/>
              </a:ext>
            </a:extLst>
          </p:cNvPr>
          <p:cNvSpPr/>
          <p:nvPr/>
        </p:nvSpPr>
        <p:spPr>
          <a:xfrm>
            <a:off x="3415642" y="4824761"/>
            <a:ext cx="2312717" cy="327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0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6450</TotalTime>
  <Words>2335</Words>
  <Application>Microsoft Office PowerPoint</Application>
  <PresentationFormat>On-screen Show (4:3)</PresentationFormat>
  <Paragraphs>363</Paragraphs>
  <Slides>72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Welcome!</vt:lpstr>
      <vt:lpstr>The US Department of Energy</vt:lpstr>
      <vt:lpstr>PowerPoint Presentation</vt:lpstr>
      <vt:lpstr>About Brookhaven National Laboratory</vt:lpstr>
      <vt:lpstr>Agenda</vt:lpstr>
      <vt:lpstr>A National Challenge</vt:lpstr>
      <vt:lpstr>A National Challenge</vt:lpstr>
      <vt:lpstr>The Challenge to DOE</vt:lpstr>
      <vt:lpstr>The Hype</vt:lpstr>
      <vt:lpstr>The Reality</vt:lpstr>
      <vt:lpstr>What is Scientific Computing?</vt:lpstr>
      <vt:lpstr>What is Scientific Computing?</vt:lpstr>
      <vt:lpstr>SciComp vs CompSci</vt:lpstr>
      <vt:lpstr>SciComp = Just Enough CompSci</vt:lpstr>
      <vt:lpstr>Example SciComp Topic Multidimensional Interpolation</vt:lpstr>
      <vt:lpstr>Example SciComp Topic Multidimensional Interpolation</vt:lpstr>
      <vt:lpstr>Example SciComp Topic Multidimensional Interpolation</vt:lpstr>
      <vt:lpstr>SciComp As Translational Science</vt:lpstr>
      <vt:lpstr>US Department of Labor - 2019</vt:lpstr>
      <vt:lpstr>The Challenge Facing Educators</vt:lpstr>
      <vt:lpstr>The Challenge Facing Educators</vt:lpstr>
      <vt:lpstr>The Challenge Facing Educators</vt:lpstr>
      <vt:lpstr>SciComp Is Getting Lost in the Middle</vt:lpstr>
      <vt:lpstr>SciComp Is Getting Lost in the Middle</vt:lpstr>
      <vt:lpstr>SciComp 101 Foundations of Scientific Computing</vt:lpstr>
      <vt:lpstr>SciComp 101 Foundations of Scientific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SciComp = The Pathway to Internships</vt:lpstr>
      <vt:lpstr>PowerPoint Presentation</vt:lpstr>
      <vt:lpstr>PowerPoint Presentation</vt:lpstr>
      <vt:lpstr>About BNL's High School Research Program</vt:lpstr>
      <vt:lpstr>About BNL's College Internships</vt:lpstr>
      <vt:lpstr>PowerPoint Presentation</vt:lpstr>
      <vt:lpstr>PowerPoint Presentation</vt:lpstr>
      <vt:lpstr>Mathematical Concepts</vt:lpstr>
      <vt:lpstr>Computer Science Concepts</vt:lpstr>
      <vt:lpstr>Science Concepts</vt:lpstr>
      <vt:lpstr>What SciComp 101 Is Not</vt:lpstr>
      <vt:lpstr>Scientific Computing with Python</vt:lpstr>
      <vt:lpstr>AP Computer Science Exam</vt:lpstr>
      <vt:lpstr>Useful Python Reference Sites</vt:lpstr>
      <vt:lpstr>Final Motivations</vt:lpstr>
      <vt:lpstr>Final Motivations</vt:lpstr>
      <vt:lpstr>PowerPoint Presentation</vt:lpstr>
      <vt:lpstr>Step 1 – Install Git (Windows)</vt:lpstr>
      <vt:lpstr>Step 1 – Install Git (macOS)</vt:lpstr>
      <vt:lpstr>Step 2 – Install VS Code (Windows)</vt:lpstr>
      <vt:lpstr>Step 2 – Install VS Code (macOS)</vt:lpstr>
      <vt:lpstr>Step 3 – Install Astral “uv” (Windows)</vt:lpstr>
      <vt:lpstr>Step 3 – Install Astral “uv” (macOS)</vt:lpstr>
      <vt:lpstr>Step 4 – Clone SciComp101 Repo (Windows)</vt:lpstr>
      <vt:lpstr>Step 4 – Clone SciComp101 Repo (macOS)</vt:lpstr>
      <vt:lpstr>Step 5 – Install VS Code Extensions (Windows)</vt:lpstr>
      <vt:lpstr>Step 5 – Install VS Code Extensions (macOS)</vt:lpstr>
      <vt:lpstr>Step 6 – Create Python .venv (Windows)</vt:lpstr>
      <vt:lpstr>Step 6 – Create Python .venv (macOS)</vt:lpstr>
      <vt:lpstr>Step 7 – Open the Workspace (Windows)</vt:lpstr>
      <vt:lpstr>Step 7 – Open the Workspace (macOS)</vt:lpstr>
      <vt:lpstr>Trust the Workspace</vt:lpstr>
      <vt:lpstr>Open hello_world.py</vt:lpstr>
      <vt:lpstr>Select Python Interpreter (if necessary)</vt:lpstr>
      <vt:lpstr>Select Python Interpreter (if necessary)</vt:lpstr>
      <vt:lpstr>Confirm Python Interpreter</vt:lpstr>
      <vt:lpstr>Edit hello_world.py</vt:lpstr>
      <vt:lpstr>Run hello_world.py</vt:lpstr>
      <vt:lpstr>Session 01 – Now You Know…</vt:lpstr>
      <vt:lpstr>TASK 01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908</cp:revision>
  <cp:lastPrinted>2015-06-01T00:45:11Z</cp:lastPrinted>
  <dcterms:created xsi:type="dcterms:W3CDTF">2014-09-21T17:58:26Z</dcterms:created>
  <dcterms:modified xsi:type="dcterms:W3CDTF">2025-11-14T17:48:08Z</dcterms:modified>
</cp:coreProperties>
</file>