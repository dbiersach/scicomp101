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1220" r:id="rId2"/>
    <p:sldId id="972" r:id="rId3"/>
    <p:sldId id="993" r:id="rId4"/>
    <p:sldId id="1298" r:id="rId5"/>
    <p:sldId id="975" r:id="rId6"/>
    <p:sldId id="403" r:id="rId7"/>
    <p:sldId id="1221" r:id="rId8"/>
    <p:sldId id="1224" r:id="rId9"/>
    <p:sldId id="1227" r:id="rId10"/>
    <p:sldId id="398" r:id="rId11"/>
    <p:sldId id="401" r:id="rId12"/>
    <p:sldId id="1228" r:id="rId13"/>
    <p:sldId id="1229" r:id="rId14"/>
    <p:sldId id="1230" r:id="rId15"/>
    <p:sldId id="1231" r:id="rId16"/>
    <p:sldId id="1232" r:id="rId17"/>
    <p:sldId id="1233" r:id="rId18"/>
    <p:sldId id="1234" r:id="rId19"/>
    <p:sldId id="435" r:id="rId20"/>
    <p:sldId id="932" r:id="rId21"/>
    <p:sldId id="933" r:id="rId22"/>
    <p:sldId id="1235" r:id="rId23"/>
    <p:sldId id="1365" r:id="rId24"/>
    <p:sldId id="1264" r:id="rId25"/>
    <p:sldId id="1271" r:id="rId26"/>
    <p:sldId id="1299" r:id="rId27"/>
    <p:sldId id="1363" r:id="rId28"/>
    <p:sldId id="1291" r:id="rId29"/>
    <p:sldId id="1284" r:id="rId30"/>
    <p:sldId id="1364" r:id="rId31"/>
    <p:sldId id="1281" r:id="rId32"/>
    <p:sldId id="412" r:id="rId33"/>
    <p:sldId id="1348" r:id="rId34"/>
    <p:sldId id="983" r:id="rId35"/>
    <p:sldId id="1362" r:id="rId36"/>
    <p:sldId id="415" r:id="rId37"/>
    <p:sldId id="416" r:id="rId38"/>
    <p:sldId id="995" r:id="rId39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758A"/>
    <a:srgbClr val="D09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0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1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library/function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peps.python.org/pep-0008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sf/black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ruff/formatter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02</a:t>
            </a:r>
          </a:p>
          <a:p>
            <a:pPr algn="ctr"/>
            <a:r>
              <a:rPr lang="en-US" dirty="0"/>
              <a:t>Python Fundamentals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02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Review mathematical operators (</a:t>
            </a:r>
            <a:r>
              <a:rPr lang="en-US" sz="2400" b="1" dirty="0"/>
              <a:t>PEMDAS</a:t>
            </a:r>
            <a:r>
              <a:rPr lang="en-US" sz="2400" dirty="0"/>
              <a:t>) in Python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Declare a </a:t>
            </a:r>
            <a:r>
              <a:rPr lang="en-US" sz="2400" b="1" dirty="0"/>
              <a:t>variable</a:t>
            </a:r>
            <a:r>
              <a:rPr lang="en-US" sz="2400" dirty="0"/>
              <a:t> using a built-in data </a:t>
            </a:r>
            <a:r>
              <a:rPr lang="en-US" sz="2400" b="1" dirty="0">
                <a:solidFill>
                  <a:srgbClr val="0070C0"/>
                </a:solidFill>
              </a:rPr>
              <a:t>type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Review mathematical </a:t>
            </a:r>
            <a:r>
              <a:rPr lang="en-US" sz="2400" b="1" dirty="0"/>
              <a:t>operators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B050"/>
                </a:solidFill>
              </a:rPr>
              <a:t>precedence</a:t>
            </a:r>
            <a:r>
              <a:rPr lang="en-US" sz="2400" dirty="0"/>
              <a:t> in Python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Display the values of </a:t>
            </a:r>
            <a:r>
              <a:rPr lang="en-US" sz="2400" b="1" dirty="0"/>
              <a:t>variables</a:t>
            </a:r>
            <a:r>
              <a:rPr lang="en-US" sz="2400" dirty="0"/>
              <a:t> in the output terminal using </a:t>
            </a:r>
            <a:r>
              <a:rPr lang="en-US" sz="2400" b="1" dirty="0">
                <a:solidFill>
                  <a:srgbClr val="7030A0"/>
                </a:solidFill>
              </a:rPr>
              <a:t>formatted strings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print format specifiers</a:t>
            </a:r>
            <a:endParaRPr lang="en-US" sz="2400" b="1" dirty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Learn about Python Enhancement Proposals (PEPs)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Ruff to enforce the code format standards in PEP 8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Create a </a:t>
            </a:r>
            <a:r>
              <a:rPr lang="en-US" sz="2400" b="1" dirty="0">
                <a:solidFill>
                  <a:srgbClr val="7030A0"/>
                </a:solidFill>
              </a:rPr>
              <a:t>for </a:t>
            </a:r>
            <a:r>
              <a:rPr lang="en-US" sz="2400" dirty="0"/>
              <a:t>loop to enumerate over a </a:t>
            </a:r>
            <a:r>
              <a:rPr lang="en-US" sz="2400" b="1" dirty="0">
                <a:solidFill>
                  <a:srgbClr val="7030A0"/>
                </a:solidFill>
              </a:rPr>
              <a:t>range</a:t>
            </a:r>
            <a:r>
              <a:rPr lang="en-US" sz="2400" dirty="0"/>
              <a:t> of numbers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Convert Temperatures from </a:t>
            </a:r>
            <a:r>
              <a:rPr lang="en-US" sz="2400" b="1" dirty="0">
                <a:solidFill>
                  <a:srgbClr val="0070C0"/>
                </a:solidFill>
              </a:rPr>
              <a:t>Fahrenheit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00B050"/>
                </a:solidFill>
              </a:rPr>
              <a:t>Celsius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7C4-7DE6-4E7A-C6B2-5ABB65AA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Python Tutorial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FDF3A-2C6D-91EB-88A5-0196BBE6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C52617-02CD-1191-3306-FCC4E3F3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1993051"/>
            <a:ext cx="8386997" cy="37829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F2CDAF-837D-4635-542D-28702E1CFE86}"/>
              </a:ext>
            </a:extLst>
          </p:cNvPr>
          <p:cNvSpPr txBox="1"/>
          <p:nvPr/>
        </p:nvSpPr>
        <p:spPr>
          <a:xfrm>
            <a:off x="2746948" y="1424066"/>
            <a:ext cx="365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https://docs.python.org/3/tutorial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42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Python’s </a:t>
            </a:r>
            <a:r>
              <a:rPr lang="en-US" sz="3200" b="1" dirty="0">
                <a:latin typeface="+mn-lt"/>
              </a:rPr>
              <a:t>Built-in</a:t>
            </a:r>
            <a:r>
              <a:rPr lang="en-US" sz="3200" dirty="0">
                <a:latin typeface="+mn-lt"/>
              </a:rPr>
              <a:t>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0817CB-D5F5-9679-E828-E1C0A430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315" y="1786975"/>
            <a:ext cx="3861367" cy="478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29E44F-15D4-575C-2B14-769EB783FEC8}"/>
              </a:ext>
            </a:extLst>
          </p:cNvPr>
          <p:cNvSpPr txBox="1"/>
          <p:nvPr/>
        </p:nvSpPr>
        <p:spPr>
          <a:xfrm>
            <a:off x="1966713" y="1321357"/>
            <a:ext cx="5210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https://docs.python.org/3/library/functions.html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2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Python’s </a:t>
            </a:r>
            <a:r>
              <a:rPr lang="en-US" sz="3200" b="1" dirty="0">
                <a:latin typeface="+mn-lt"/>
              </a:rPr>
              <a:t>Built-in</a:t>
            </a:r>
            <a:r>
              <a:rPr lang="en-US" sz="3200" dirty="0">
                <a:latin typeface="+mn-lt"/>
              </a:rPr>
              <a:t>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323228-EFD4-891C-852F-2C4EF8857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480" y="1318681"/>
            <a:ext cx="5886450" cy="51339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377A65-858E-B4BB-54DF-E03E971301CA}"/>
              </a:ext>
            </a:extLst>
          </p:cNvPr>
          <p:cNvSpPr/>
          <p:nvPr/>
        </p:nvSpPr>
        <p:spPr>
          <a:xfrm>
            <a:off x="3797980" y="3552670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2DDD5-943C-0F3E-B9E9-409BDECB7C8B}"/>
              </a:ext>
            </a:extLst>
          </p:cNvPr>
          <p:cNvSpPr/>
          <p:nvPr/>
        </p:nvSpPr>
        <p:spPr>
          <a:xfrm>
            <a:off x="3797980" y="4244717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D6F855-A062-B886-BD3A-6FE336A3412F}"/>
              </a:ext>
            </a:extLst>
          </p:cNvPr>
          <p:cNvSpPr/>
          <p:nvPr/>
        </p:nvSpPr>
        <p:spPr>
          <a:xfrm>
            <a:off x="5480470" y="4239720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588F4-6604-655F-879E-6A66CA4CE3DC}"/>
              </a:ext>
            </a:extLst>
          </p:cNvPr>
          <p:cNvSpPr/>
          <p:nvPr/>
        </p:nvSpPr>
        <p:spPr>
          <a:xfrm>
            <a:off x="5480470" y="4928472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BB892-C600-EEC0-8565-29719A533A51}"/>
              </a:ext>
            </a:extLst>
          </p:cNvPr>
          <p:cNvSpPr/>
          <p:nvPr/>
        </p:nvSpPr>
        <p:spPr>
          <a:xfrm>
            <a:off x="5480470" y="5624719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50C11-28D4-6A3C-674C-2D760383C305}"/>
              </a:ext>
            </a:extLst>
          </p:cNvPr>
          <p:cNvSpPr txBox="1"/>
          <p:nvPr/>
        </p:nvSpPr>
        <p:spPr>
          <a:xfrm>
            <a:off x="487184" y="4984231"/>
            <a:ext cx="2098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But you can use </a:t>
            </a:r>
            <a:r>
              <a:rPr lang="en-US" b="1" dirty="0">
                <a:solidFill>
                  <a:srgbClr val="FF0000"/>
                </a:solidFill>
              </a:rPr>
              <a:t>enumerate()</a:t>
            </a:r>
            <a:r>
              <a:rPr lang="en-US" dirty="0">
                <a:solidFill>
                  <a:srgbClr val="FF0000"/>
                </a:solidFill>
              </a:rPr>
              <a:t> with all of these data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FF15C-4BBC-17B6-438B-932EC96C0D57}"/>
              </a:ext>
            </a:extLst>
          </p:cNvPr>
          <p:cNvSpPr txBox="1"/>
          <p:nvPr/>
        </p:nvSpPr>
        <p:spPr>
          <a:xfrm>
            <a:off x="6961334" y="4343423"/>
            <a:ext cx="11551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5588B"/>
                </a:solidFill>
              </a:rPr>
              <a:t>Only</a:t>
            </a:r>
          </a:p>
          <a:p>
            <a:pPr algn="ctr"/>
            <a:r>
              <a:rPr lang="en-US" dirty="0">
                <a:solidFill>
                  <a:srgbClr val="45588B"/>
                </a:solidFill>
              </a:rPr>
              <a:t>sequence types support </a:t>
            </a:r>
            <a:r>
              <a:rPr lang="en-US" b="1" dirty="0">
                <a:solidFill>
                  <a:srgbClr val="45588B"/>
                </a:solidFill>
              </a:rPr>
              <a:t>indexed [] </a:t>
            </a:r>
            <a:r>
              <a:rPr lang="en-US" dirty="0">
                <a:solidFill>
                  <a:srgbClr val="45588B"/>
                </a:solidFill>
              </a:rPr>
              <a:t>access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03EBF-2815-46DC-BC37-09583409AC28}"/>
              </a:ext>
            </a:extLst>
          </p:cNvPr>
          <p:cNvSpPr/>
          <p:nvPr/>
        </p:nvSpPr>
        <p:spPr>
          <a:xfrm>
            <a:off x="5276541" y="4137285"/>
            <a:ext cx="3013023" cy="2241029"/>
          </a:xfrm>
          <a:prstGeom prst="rect">
            <a:avLst/>
          </a:prstGeom>
          <a:noFill/>
          <a:ln w="28575">
            <a:solidFill>
              <a:srgbClr val="4558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Mathematical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382108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operators obey normal </a:t>
            </a:r>
            <a:r>
              <a:rPr lang="en-US" sz="2400" b="1" dirty="0"/>
              <a:t>PEMDAS</a:t>
            </a:r>
            <a:r>
              <a:rPr lang="en-US" sz="2400" dirty="0"/>
              <a:t> precedence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Expressions are evaluated left to right in your source code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</a:t>
            </a:r>
            <a:r>
              <a:rPr lang="en-US" sz="2000" b="1" dirty="0">
                <a:solidFill>
                  <a:srgbClr val="0070C0"/>
                </a:solidFill>
              </a:rPr>
              <a:t>parentheses</a:t>
            </a:r>
            <a:r>
              <a:rPr lang="en-US" sz="2000" dirty="0"/>
              <a:t> to </a:t>
            </a:r>
            <a:r>
              <a:rPr lang="en-US" sz="2000" b="1" dirty="0"/>
              <a:t>override</a:t>
            </a:r>
            <a:r>
              <a:rPr lang="en-US" sz="2000" dirty="0"/>
              <a:t> the order of operations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a </a:t>
            </a:r>
            <a:r>
              <a:rPr lang="en-US" sz="2000" u="sng" dirty="0"/>
              <a:t>single</a:t>
            </a:r>
            <a:r>
              <a:rPr lang="en-US" sz="2000" dirty="0"/>
              <a:t> equal sign </a:t>
            </a:r>
            <a:r>
              <a:rPr lang="en-US" sz="2000" b="1" dirty="0">
                <a:solidFill>
                  <a:srgbClr val="00B050"/>
                </a:solidFill>
              </a:rPr>
              <a:t>=</a:t>
            </a:r>
            <a:r>
              <a:rPr lang="en-US" sz="2000" dirty="0"/>
              <a:t> to assign a value to a variable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</a:t>
            </a:r>
            <a:r>
              <a:rPr lang="en-US" sz="2000" b="1" dirty="0"/>
              <a:t>double</a:t>
            </a:r>
            <a:r>
              <a:rPr lang="en-US" sz="2000" dirty="0"/>
              <a:t> equal signs </a:t>
            </a:r>
            <a:r>
              <a:rPr lang="en-US" sz="2000" b="1" dirty="0">
                <a:solidFill>
                  <a:srgbClr val="00B050"/>
                </a:solidFill>
              </a:rPr>
              <a:t>==</a:t>
            </a:r>
            <a:r>
              <a:rPr lang="en-US" sz="2000" dirty="0"/>
              <a:t> to test for </a:t>
            </a:r>
            <a:r>
              <a:rPr lang="en-US" sz="2000" b="1" i="1" dirty="0"/>
              <a:t>equality</a:t>
            </a:r>
            <a:endParaRPr lang="en-US" sz="20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</a:t>
            </a:r>
            <a:r>
              <a:rPr lang="en-US" sz="2000" b="1" dirty="0">
                <a:solidFill>
                  <a:srgbClr val="00B050"/>
                </a:solidFill>
              </a:rPr>
              <a:t>*</a:t>
            </a:r>
            <a:r>
              <a:rPr lang="en-US" sz="2000" dirty="0"/>
              <a:t> for multiplication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double asterisks </a:t>
            </a:r>
            <a:r>
              <a:rPr lang="en-US" sz="2000" b="1" dirty="0">
                <a:solidFill>
                  <a:srgbClr val="00B050"/>
                </a:solidFill>
              </a:rPr>
              <a:t>**</a:t>
            </a:r>
            <a:r>
              <a:rPr lang="en-US" sz="2000" dirty="0"/>
              <a:t> for exponentiation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</a:t>
            </a:r>
            <a:r>
              <a:rPr lang="en-US" sz="2000" b="1" dirty="0">
                <a:solidFill>
                  <a:srgbClr val="00B050"/>
                </a:solidFill>
              </a:rPr>
              <a:t>/</a:t>
            </a:r>
            <a:r>
              <a:rPr lang="en-US" sz="2000" dirty="0"/>
              <a:t> for </a:t>
            </a:r>
            <a:r>
              <a:rPr lang="en-US" sz="2000" b="1" dirty="0">
                <a:solidFill>
                  <a:srgbClr val="7030A0"/>
                </a:solidFill>
              </a:rPr>
              <a:t>floating point</a:t>
            </a:r>
            <a:r>
              <a:rPr lang="en-US" sz="2000" dirty="0"/>
              <a:t> division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</a:t>
            </a:r>
            <a:r>
              <a:rPr lang="en-US" sz="2000" b="1" dirty="0">
                <a:solidFill>
                  <a:srgbClr val="00B050"/>
                </a:solidFill>
              </a:rPr>
              <a:t>//</a:t>
            </a:r>
            <a:r>
              <a:rPr lang="en-US" sz="2000" dirty="0"/>
              <a:t> for </a:t>
            </a:r>
            <a:r>
              <a:rPr lang="en-US" sz="2000" b="1" dirty="0"/>
              <a:t>integer</a:t>
            </a:r>
            <a:r>
              <a:rPr lang="en-US" sz="2000" dirty="0"/>
              <a:t> (floor, aka “round down”) division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B4528-E280-48F5-A251-89FEF3ACC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967" y="5805866"/>
            <a:ext cx="5087271" cy="39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DAD330-FD97-71E2-8250-63083E28B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38" y="1929000"/>
            <a:ext cx="7809524" cy="30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6582CF-E938-079D-84D8-C969C6C5CB72}"/>
              </a:ext>
            </a:extLst>
          </p:cNvPr>
          <p:cNvSpPr/>
          <p:nvPr/>
        </p:nvSpPr>
        <p:spPr>
          <a:xfrm>
            <a:off x="1524396" y="4695824"/>
            <a:ext cx="771129" cy="233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16FE6-B8FA-3BBF-D409-6CC896A437F6}"/>
              </a:ext>
            </a:extLst>
          </p:cNvPr>
          <p:cNvSpPr/>
          <p:nvPr/>
        </p:nvSpPr>
        <p:spPr>
          <a:xfrm>
            <a:off x="5158458" y="2819927"/>
            <a:ext cx="1242342" cy="228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5A44C6-C213-E46A-ACBC-A2D1F5E0EC71}"/>
              </a:ext>
            </a:extLst>
          </p:cNvPr>
          <p:cNvSpPr/>
          <p:nvPr/>
        </p:nvSpPr>
        <p:spPr>
          <a:xfrm>
            <a:off x="1274560" y="3443289"/>
            <a:ext cx="2183015" cy="1923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43CA5B1-7154-EE38-2261-890BF8D00F79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H="1">
            <a:off x="1524396" y="3539476"/>
            <a:ext cx="1933179" cy="1272936"/>
          </a:xfrm>
          <a:prstGeom prst="bentConnector5">
            <a:avLst>
              <a:gd name="adj1" fmla="val -11825"/>
              <a:gd name="adj2" fmla="val 49199"/>
              <a:gd name="adj3" fmla="val 11182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19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52B6DD-C057-CC04-BFEC-58E77CAB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09" y="1523520"/>
            <a:ext cx="6752381" cy="50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&amp;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7E5A2A-3A91-1AB6-9392-F95B29E89381}"/>
              </a:ext>
            </a:extLst>
          </p:cNvPr>
          <p:cNvGrpSpPr/>
          <p:nvPr/>
        </p:nvGrpSpPr>
        <p:grpSpPr>
          <a:xfrm>
            <a:off x="3615790" y="2231897"/>
            <a:ext cx="3870860" cy="923330"/>
            <a:chOff x="2867217" y="2223876"/>
            <a:chExt cx="3870860" cy="923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7B37B5-FCB7-7971-537A-1B68E991DC7E}"/>
                </a:ext>
              </a:extLst>
            </p:cNvPr>
            <p:cNvSpPr txBox="1"/>
            <p:nvPr/>
          </p:nvSpPr>
          <p:spPr>
            <a:xfrm>
              <a:off x="4137283" y="2223876"/>
              <a:ext cx="260079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FF00"/>
                  </a:solidFill>
                </a:rPr>
                <a:t>Type each statement and </a:t>
              </a:r>
              <a:r>
                <a:rPr lang="en-US" b="1" dirty="0">
                  <a:solidFill>
                    <a:srgbClr val="FFFF00"/>
                  </a:solidFill>
                </a:rPr>
                <a:t>run the program</a:t>
              </a:r>
              <a:r>
                <a:rPr lang="en-US" dirty="0">
                  <a:solidFill>
                    <a:srgbClr val="FFFF00"/>
                  </a:solidFill>
                </a:rPr>
                <a:t> when indicated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44A132D-0000-5C9B-0237-01BFBA183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7217" y="2607836"/>
              <a:ext cx="114651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A8CCB20-ECBC-60B2-911B-8A761614AABE}"/>
              </a:ext>
            </a:extLst>
          </p:cNvPr>
          <p:cNvSpPr/>
          <p:nvPr/>
        </p:nvSpPr>
        <p:spPr>
          <a:xfrm>
            <a:off x="7038974" y="1561593"/>
            <a:ext cx="212057" cy="228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977D9B-A894-1473-FD4A-9AA60C59C85C}"/>
              </a:ext>
            </a:extLst>
          </p:cNvPr>
          <p:cNvCxnSpPr>
            <a:cxnSpLocks/>
          </p:cNvCxnSpPr>
          <p:nvPr/>
        </p:nvCxnSpPr>
        <p:spPr>
          <a:xfrm>
            <a:off x="6633411" y="1363637"/>
            <a:ext cx="511591" cy="3152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3C26C1C-A57D-CC57-13D0-971E5159AA60}"/>
              </a:ext>
            </a:extLst>
          </p:cNvPr>
          <p:cNvSpPr/>
          <p:nvPr/>
        </p:nvSpPr>
        <p:spPr>
          <a:xfrm>
            <a:off x="1360069" y="6258823"/>
            <a:ext cx="1679910" cy="228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6443C6-E11E-F6A2-E42D-1B01F6B00DA3}"/>
              </a:ext>
            </a:extLst>
          </p:cNvPr>
          <p:cNvCxnSpPr>
            <a:cxnSpLocks/>
          </p:cNvCxnSpPr>
          <p:nvPr/>
        </p:nvCxnSpPr>
        <p:spPr>
          <a:xfrm>
            <a:off x="520336" y="6380414"/>
            <a:ext cx="8397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6FD4D29-8732-AD98-353E-D778C1E6643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9142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50B4C2-8E98-1E3C-E33E-05C4914E4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381" y="1374062"/>
            <a:ext cx="6095238" cy="52476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4A132D-0000-5C9B-0237-01BFBA183BF8}"/>
              </a:ext>
            </a:extLst>
          </p:cNvPr>
          <p:cNvCxnSpPr>
            <a:cxnSpLocks/>
          </p:cNvCxnSpPr>
          <p:nvPr/>
        </p:nvCxnSpPr>
        <p:spPr>
          <a:xfrm flipH="1">
            <a:off x="3998743" y="2716200"/>
            <a:ext cx="11465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1C2E861-2E2A-1AAF-0759-95410E87E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207" y="3042839"/>
            <a:ext cx="3331545" cy="29055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EF03A9-4C67-AD7F-26BF-9533E51696C3}"/>
              </a:ext>
            </a:extLst>
          </p:cNvPr>
          <p:cNvSpPr/>
          <p:nvPr/>
        </p:nvSpPr>
        <p:spPr>
          <a:xfrm>
            <a:off x="1608720" y="6363096"/>
            <a:ext cx="412585" cy="228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5ECF67-126A-168A-6233-A59B31333455}"/>
              </a:ext>
            </a:extLst>
          </p:cNvPr>
          <p:cNvCxnSpPr>
            <a:cxnSpLocks/>
          </p:cNvCxnSpPr>
          <p:nvPr/>
        </p:nvCxnSpPr>
        <p:spPr>
          <a:xfrm>
            <a:off x="744924" y="6484687"/>
            <a:ext cx="8397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50F5D-A222-65F7-BB3C-A03D3BCCE3B5}"/>
              </a:ext>
            </a:extLst>
          </p:cNvPr>
          <p:cNvSpPr/>
          <p:nvPr/>
        </p:nvSpPr>
        <p:spPr>
          <a:xfrm>
            <a:off x="7285724" y="1440139"/>
            <a:ext cx="212057" cy="228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769B8B-885A-64F3-8A64-E35759646422}"/>
              </a:ext>
            </a:extLst>
          </p:cNvPr>
          <p:cNvCxnSpPr>
            <a:cxnSpLocks/>
          </p:cNvCxnSpPr>
          <p:nvPr/>
        </p:nvCxnSpPr>
        <p:spPr>
          <a:xfrm>
            <a:off x="6880161" y="1242183"/>
            <a:ext cx="511591" cy="3152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6169492-56BC-8629-CC90-8BC9F872FE79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115557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0993"/>
            <a:ext cx="7886700" cy="48436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Identifiers are just </a:t>
            </a:r>
            <a:r>
              <a:rPr lang="en-US" sz="2400" b="1" dirty="0"/>
              <a:t>names</a:t>
            </a:r>
            <a:r>
              <a:rPr lang="en-US" sz="2400" dirty="0"/>
              <a:t> – everything in code has a name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Names must be &lt; 64 chars in length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They can include upper- or lower-case letters and numbers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Identifiers must start with a letter and </a:t>
            </a:r>
            <a:r>
              <a:rPr lang="en-US" sz="2000" b="1" u="sng" dirty="0">
                <a:solidFill>
                  <a:srgbClr val="00B050"/>
                </a:solidFill>
              </a:rPr>
              <a:t>cannot contain spaces!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Three types of identifier “casing”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CamelCaseEachWord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camelCaseEachWord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all </a:t>
            </a:r>
            <a:r>
              <a:rPr lang="en-US" sz="2000" b="1" dirty="0"/>
              <a:t>lower_case </a:t>
            </a:r>
            <a:r>
              <a:rPr lang="en-US" sz="2000" dirty="0"/>
              <a:t>with underscores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Identifiers in Python are</a:t>
            </a:r>
            <a:r>
              <a:rPr lang="en-US" sz="2400" b="1" dirty="0">
                <a:solidFill>
                  <a:srgbClr val="FF0000"/>
                </a:solidFill>
              </a:rPr>
              <a:t> case sensitive!!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i="1" dirty="0"/>
              <a:t>x</a:t>
            </a:r>
            <a:r>
              <a:rPr lang="en-US" sz="2000" i="1" dirty="0"/>
              <a:t> is not the same as </a:t>
            </a:r>
            <a:r>
              <a:rPr lang="en-US" sz="2000" b="1" i="1" dirty="0"/>
              <a:t>X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Never create ALLCAPS identifiers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C2226-5390-4814-912E-22A654328676}"/>
              </a:ext>
            </a:extLst>
          </p:cNvPr>
          <p:cNvSpPr txBox="1"/>
          <p:nvPr/>
        </p:nvSpPr>
        <p:spPr>
          <a:xfrm>
            <a:off x="5095570" y="4062143"/>
            <a:ext cx="3148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(first letter </a:t>
            </a:r>
            <a:r>
              <a:rPr lang="en-US" sz="2000" u="sng" dirty="0"/>
              <a:t>is not</a:t>
            </a:r>
            <a:r>
              <a:rPr lang="en-US" sz="2000" dirty="0"/>
              <a:t> capitalized)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213DB-2C06-47E5-9329-AD9E72361A86}"/>
              </a:ext>
            </a:extLst>
          </p:cNvPr>
          <p:cNvSpPr txBox="1"/>
          <p:nvPr/>
        </p:nvSpPr>
        <p:spPr>
          <a:xfrm>
            <a:off x="5095570" y="4505461"/>
            <a:ext cx="3148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(Snake case in Python!)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6E2F5-A11B-444F-A0C7-3CA382B431D3}"/>
              </a:ext>
            </a:extLst>
          </p:cNvPr>
          <p:cNvSpPr txBox="1"/>
          <p:nvPr/>
        </p:nvSpPr>
        <p:spPr>
          <a:xfrm>
            <a:off x="5095570" y="3633572"/>
            <a:ext cx="3148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(first letter </a:t>
            </a:r>
            <a:r>
              <a:rPr lang="en-US" sz="2000" u="sng" dirty="0"/>
              <a:t>is</a:t>
            </a:r>
            <a:r>
              <a:rPr lang="en-US" sz="2000" dirty="0"/>
              <a:t> Capitalized)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BF6E3-7E00-4FC0-937A-6A099BD6301F}"/>
              </a:ext>
            </a:extLst>
          </p:cNvPr>
          <p:cNvSpPr txBox="1"/>
          <p:nvPr/>
        </p:nvSpPr>
        <p:spPr>
          <a:xfrm>
            <a:off x="7742902" y="4563420"/>
            <a:ext cx="289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ln>
                <a:solidFill>
                  <a:srgbClr val="0070C0"/>
                </a:solidFill>
              </a:ln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89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Variable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Variables</a:t>
            </a:r>
            <a:r>
              <a:rPr lang="en-US" sz="2400" dirty="0"/>
              <a:t> store data in memory to be used later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Variables can be called whatever </a:t>
            </a:r>
            <a:r>
              <a:rPr lang="en-US" sz="2000" u="sng" dirty="0"/>
              <a:t>you</a:t>
            </a:r>
            <a:r>
              <a:rPr lang="en-US" sz="2000" dirty="0"/>
              <a:t> want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Pick variable names that mean something to a human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Use </a:t>
            </a:r>
            <a:r>
              <a:rPr lang="en-US" sz="2000" b="1" dirty="0">
                <a:solidFill>
                  <a:srgbClr val="00B050"/>
                </a:solidFill>
              </a:rPr>
              <a:t>snake_case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(all lower case, underscores to break words)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supports many built-in </a:t>
            </a:r>
            <a:r>
              <a:rPr lang="en-US" sz="2400" b="1" dirty="0"/>
              <a:t>data</a:t>
            </a:r>
            <a:r>
              <a:rPr lang="en-US" sz="2400" dirty="0"/>
              <a:t> </a:t>
            </a:r>
            <a:r>
              <a:rPr lang="en-US" sz="2400" b="1" dirty="0"/>
              <a:t>types</a:t>
            </a:r>
            <a:r>
              <a:rPr lang="en-US" sz="2400" dirty="0"/>
              <a:t> for variables: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= Stores integers only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float</a:t>
            </a:r>
            <a:r>
              <a:rPr lang="en-US" sz="2000" dirty="0"/>
              <a:t> = Stores Real numbers with 15 digits of precision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bool</a:t>
            </a:r>
            <a:r>
              <a:rPr lang="en-US" sz="2000" dirty="0"/>
              <a:t> = Stores </a:t>
            </a:r>
            <a:r>
              <a:rPr lang="en-US" sz="2000" b="1" dirty="0">
                <a:solidFill>
                  <a:srgbClr val="7030A0"/>
                </a:solidFill>
              </a:rPr>
              <a:t>True</a:t>
            </a:r>
            <a:r>
              <a:rPr lang="en-US" sz="2000" dirty="0"/>
              <a:t> or </a:t>
            </a:r>
            <a:r>
              <a:rPr lang="en-US" sz="2000" b="1" dirty="0">
                <a:solidFill>
                  <a:srgbClr val="7030A0"/>
                </a:solidFill>
              </a:rPr>
              <a:t>False</a:t>
            </a:r>
            <a:r>
              <a:rPr lang="en-US" sz="2000" dirty="0"/>
              <a:t> (Boolean logic, uppercase T/F)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str</a:t>
            </a:r>
            <a:r>
              <a:rPr lang="en-US" sz="2000" dirty="0"/>
              <a:t> = Stores zero or more letters &amp; numbers (a string)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mostly “infers” the type of a variable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b="1" dirty="0">
                <a:solidFill>
                  <a:srgbClr val="FF0000"/>
                </a:solidFill>
              </a:rPr>
              <a:t>0</a:t>
            </a:r>
            <a:r>
              <a:rPr lang="en-US" sz="2400" dirty="0">
                <a:solidFill>
                  <a:srgbClr val="FF0000"/>
                </a:solidFill>
              </a:rPr>
              <a:t> vs. </a:t>
            </a:r>
            <a:r>
              <a:rPr lang="en-US" sz="2400" b="1" dirty="0">
                <a:solidFill>
                  <a:srgbClr val="FF0000"/>
                </a:solidFill>
              </a:rPr>
              <a:t>0.0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2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Displaying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20" y="1825625"/>
            <a:ext cx="7992664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/>
              <a:t>print</a:t>
            </a:r>
            <a:r>
              <a:rPr lang="en-US" sz="2400" dirty="0"/>
              <a:t>()</a:t>
            </a:r>
            <a:r>
              <a:rPr lang="en-US" sz="2400" b="1" dirty="0"/>
              <a:t> </a:t>
            </a:r>
            <a:r>
              <a:rPr lang="en-US" sz="2400" dirty="0"/>
              <a:t>function is used to display the value of variables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When running inside </a:t>
            </a:r>
            <a:r>
              <a:rPr lang="en-US" sz="2400" b="1" dirty="0"/>
              <a:t>VS Code</a:t>
            </a:r>
            <a:r>
              <a:rPr lang="en-US" sz="2400" dirty="0"/>
              <a:t>, the output will show up in the </a:t>
            </a:r>
            <a:r>
              <a:rPr lang="en-US" sz="2400" b="1" dirty="0">
                <a:solidFill>
                  <a:srgbClr val="7030A0"/>
                </a:solidFill>
              </a:rPr>
              <a:t>Terminal</a:t>
            </a:r>
            <a:r>
              <a:rPr lang="en-US" sz="2400" dirty="0"/>
              <a:t> window </a:t>
            </a:r>
            <a:r>
              <a:rPr lang="en-US" sz="2400" u="sng" dirty="0"/>
              <a:t>below</a:t>
            </a:r>
            <a:r>
              <a:rPr lang="en-US" sz="2400" dirty="0"/>
              <a:t> your source code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String </a:t>
            </a:r>
            <a:r>
              <a:rPr lang="en-US" sz="2400" i="1" dirty="0"/>
              <a:t>literals</a:t>
            </a:r>
            <a:r>
              <a:rPr lang="en-US" sz="2400" dirty="0"/>
              <a:t> must be enclosed in </a:t>
            </a:r>
            <a:r>
              <a:rPr lang="en-US" sz="2400" b="1" dirty="0">
                <a:solidFill>
                  <a:srgbClr val="00B050"/>
                </a:solidFill>
              </a:rPr>
              <a:t>double</a:t>
            </a:r>
            <a:r>
              <a:rPr lang="en-US" sz="2400" dirty="0"/>
              <a:t> quotation marks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6E999-BF87-C7FB-604B-4EF738AE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65" y="3869153"/>
            <a:ext cx="2517300" cy="1489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629F7-BE7F-E5F4-C976-CB7F009D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51" y="4280699"/>
            <a:ext cx="1886748" cy="9433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A40F7A-788E-C248-75C9-2237C8728AD7}"/>
              </a:ext>
            </a:extLst>
          </p:cNvPr>
          <p:cNvCxnSpPr/>
          <p:nvPr/>
        </p:nvCxnSpPr>
        <p:spPr>
          <a:xfrm>
            <a:off x="4077324" y="4569098"/>
            <a:ext cx="147653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C06A53-240D-33BC-9E74-F78B2BA72930}"/>
              </a:ext>
            </a:extLst>
          </p:cNvPr>
          <p:cNvCxnSpPr>
            <a:cxnSpLocks/>
          </p:cNvCxnSpPr>
          <p:nvPr/>
        </p:nvCxnSpPr>
        <p:spPr>
          <a:xfrm>
            <a:off x="4447080" y="4991321"/>
            <a:ext cx="11442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56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906C5F5-F32C-44AD-17F2-5CDCFEE63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616" y="4622732"/>
            <a:ext cx="2738768" cy="112190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3595407" y="5400750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B9D3D9E-ADC3-DE39-A60B-751C549F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873" y="1628604"/>
            <a:ext cx="3220254" cy="27523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4334909" y="3297092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4689517" y="3646167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664F2FC-3957-893F-7323-6B77A3DABBA3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381878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A5ACD8C-7C93-4975-AF98-0F26DE66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82" y="4895324"/>
            <a:ext cx="2680752" cy="1476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4CF30-0F7E-288C-9968-3EF8EADC0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334" y="1690689"/>
            <a:ext cx="2333333" cy="2590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4505555" y="3484056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5088604" y="3728903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1418875" y="5970729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01E14-C15C-63EC-C8EF-A642AD798F29}"/>
              </a:ext>
            </a:extLst>
          </p:cNvPr>
          <p:cNvSpPr txBox="1"/>
          <p:nvPr/>
        </p:nvSpPr>
        <p:spPr>
          <a:xfrm>
            <a:off x="3903141" y="5121280"/>
            <a:ext cx="1993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You can display multiple variables in a single </a:t>
            </a:r>
            <a:r>
              <a:rPr lang="en-US" b="1" dirty="0">
                <a:solidFill>
                  <a:srgbClr val="7030A0"/>
                </a:solidFill>
              </a:rPr>
              <a:t>print() </a:t>
            </a:r>
            <a:r>
              <a:rPr lang="en-US" dirty="0">
                <a:solidFill>
                  <a:srgbClr val="7030A0"/>
                </a:solidFill>
              </a:rPr>
              <a:t>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2C2EEB-6AAF-F922-5F9D-41F8E8380C0E}"/>
              </a:ext>
            </a:extLst>
          </p:cNvPr>
          <p:cNvSpPr txBox="1"/>
          <p:nvPr/>
        </p:nvSpPr>
        <p:spPr>
          <a:xfrm>
            <a:off x="6204434" y="5233216"/>
            <a:ext cx="2145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By default, Python will put a space between the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FCD76-E178-DE10-E7B9-4AFE75BC4D1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137588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E5E310B-ADA2-62D5-BA2D-2CD6D4397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69" y="4331343"/>
            <a:ext cx="2311389" cy="18326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70717A-DB71-EF00-4E35-18E12FB17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66" y="1834090"/>
            <a:ext cx="3740575" cy="19087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5345217" y="2737300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1727630" y="5519569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6349363" y="3051377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01E14-C15C-63EC-C8EF-A642AD798F29}"/>
              </a:ext>
            </a:extLst>
          </p:cNvPr>
          <p:cNvSpPr txBox="1"/>
          <p:nvPr/>
        </p:nvSpPr>
        <p:spPr>
          <a:xfrm>
            <a:off x="3735423" y="5057904"/>
            <a:ext cx="1993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In Python, we test for equality using </a:t>
            </a:r>
            <a:r>
              <a:rPr lang="en-US" b="1" dirty="0">
                <a:solidFill>
                  <a:srgbClr val="7030A0"/>
                </a:solidFill>
              </a:rPr>
              <a:t>double</a:t>
            </a:r>
            <a:r>
              <a:rPr lang="en-US" dirty="0">
                <a:solidFill>
                  <a:srgbClr val="7030A0"/>
                </a:solidFill>
              </a:rPr>
              <a:t> equal signs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2C2EEB-6AAF-F922-5F9D-41F8E8380C0E}"/>
              </a:ext>
            </a:extLst>
          </p:cNvPr>
          <p:cNvSpPr txBox="1"/>
          <p:nvPr/>
        </p:nvSpPr>
        <p:spPr>
          <a:xfrm>
            <a:off x="6038593" y="5196404"/>
            <a:ext cx="2145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Multiplication is </a:t>
            </a:r>
            <a:r>
              <a:rPr lang="en-US" b="1" dirty="0">
                <a:solidFill>
                  <a:srgbClr val="7030A0"/>
                </a:solidFill>
              </a:rPr>
              <a:t>commutative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CCAC79-DFBB-039E-B3B7-AB3BAC812943}"/>
              </a:ext>
            </a:extLst>
          </p:cNvPr>
          <p:cNvGrpSpPr/>
          <p:nvPr/>
        </p:nvGrpSpPr>
        <p:grpSpPr>
          <a:xfrm>
            <a:off x="1656552" y="5804589"/>
            <a:ext cx="1064340" cy="369332"/>
            <a:chOff x="3647644" y="5421073"/>
            <a:chExt cx="106434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43ACAD-0548-084F-4384-0A2EB50BB79F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5064093-DE69-4635-5A8B-7E281F7F3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4ED2D4-F27E-8589-ED86-17A7A9DA5C73}"/>
                  </a:ext>
                </a:extLst>
              </p:cNvPr>
              <p:cNvSpPr txBox="1"/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4ED2D4-F27E-8589-ED86-17A7A9DA5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blipFill>
                <a:blip r:embed="rId4"/>
                <a:stretch>
                  <a:fillRect l="-4950" r="-891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10890C-B399-2BDA-A22D-1D0F214BDB91}"/>
                  </a:ext>
                </a:extLst>
              </p:cNvPr>
              <p:cNvSpPr txBox="1"/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10890C-B399-2BDA-A22D-1D0F214BD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blipFill>
                <a:blip r:embed="rId5"/>
                <a:stretch>
                  <a:fillRect l="-8824" r="-784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730D474-3091-19D5-B83C-9095E69C583D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132274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B8C2451-5629-5959-4500-D9EE89147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29" y="4362980"/>
            <a:ext cx="1264582" cy="1743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61AB05-D409-9A96-3ABA-DFEA42878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659" y="1623477"/>
            <a:ext cx="4230943" cy="2286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6498075" y="2786217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2031059" y="5265186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6353205" y="3147528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01E14-C15C-63EC-C8EF-A642AD798F29}"/>
              </a:ext>
            </a:extLst>
          </p:cNvPr>
          <p:cNvSpPr txBox="1"/>
          <p:nvPr/>
        </p:nvSpPr>
        <p:spPr>
          <a:xfrm>
            <a:off x="3705563" y="5029991"/>
            <a:ext cx="199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Subtraction is </a:t>
            </a:r>
            <a:r>
              <a:rPr lang="en-US" b="1" dirty="0">
                <a:solidFill>
                  <a:srgbClr val="7030A0"/>
                </a:solidFill>
              </a:rPr>
              <a:t>NOT</a:t>
            </a:r>
            <a:r>
              <a:rPr lang="en-US" dirty="0">
                <a:solidFill>
                  <a:srgbClr val="7030A0"/>
                </a:solidFill>
              </a:rPr>
              <a:t> commutative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2C2EEB-6AAF-F922-5F9D-41F8E8380C0E}"/>
              </a:ext>
            </a:extLst>
          </p:cNvPr>
          <p:cNvSpPr txBox="1"/>
          <p:nvPr/>
        </p:nvSpPr>
        <p:spPr>
          <a:xfrm>
            <a:off x="5988556" y="4891491"/>
            <a:ext cx="2145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Parentheses </a:t>
            </a:r>
            <a:r>
              <a:rPr lang="en-US" i="1" dirty="0">
                <a:solidFill>
                  <a:srgbClr val="7030A0"/>
                </a:solidFill>
              </a:rPr>
              <a:t>override</a:t>
            </a:r>
            <a:r>
              <a:rPr lang="en-US" dirty="0">
                <a:solidFill>
                  <a:srgbClr val="7030A0"/>
                </a:solidFill>
              </a:rPr>
              <a:t> the regular order of operations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CCAC79-DFBB-039E-B3B7-AB3BAC812943}"/>
              </a:ext>
            </a:extLst>
          </p:cNvPr>
          <p:cNvGrpSpPr/>
          <p:nvPr/>
        </p:nvGrpSpPr>
        <p:grpSpPr>
          <a:xfrm>
            <a:off x="1675935" y="5687619"/>
            <a:ext cx="1064340" cy="369332"/>
            <a:chOff x="3647644" y="5421073"/>
            <a:chExt cx="106434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43ACAD-0548-084F-4384-0A2EB50BB79F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5064093-DE69-4635-5A8B-7E281F7F3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500EE-BDD5-EA6D-503C-B1CD549FFE30}"/>
                  </a:ext>
                </a:extLst>
              </p:cNvPr>
              <p:cNvSpPr txBox="1"/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500EE-BDD5-EA6D-503C-B1CD549F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blipFill>
                <a:blip r:embed="rId4"/>
                <a:stretch>
                  <a:fillRect l="-4950" r="-891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2A0D93-25AA-35BB-696F-1589E0CF8EB9}"/>
                  </a:ext>
                </a:extLst>
              </p:cNvPr>
              <p:cNvSpPr txBox="1"/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2A0D93-25AA-35BB-696F-1589E0CF8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blipFill>
                <a:blip r:embed="rId5"/>
                <a:stretch>
                  <a:fillRect l="-8824" r="-784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DF7EEC1-2E03-CCE4-8EDE-6998D9A90B5A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86146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3304BE7-06AE-60CB-1D75-CCBB7296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7" y="4146276"/>
            <a:ext cx="2991940" cy="1138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CB397F-334E-7B40-A91F-93C278CB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973" y="1831053"/>
            <a:ext cx="3576054" cy="15950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4676779" y="2724538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4498985" y="3056795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3608136" y="4889674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01E14-C15C-63EC-C8EF-A642AD798F29}"/>
              </a:ext>
            </a:extLst>
          </p:cNvPr>
          <p:cNvSpPr txBox="1"/>
          <p:nvPr/>
        </p:nvSpPr>
        <p:spPr>
          <a:xfrm>
            <a:off x="5027926" y="4146276"/>
            <a:ext cx="2860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Expressions (formulas) don't need any numbers </a:t>
            </a:r>
            <a:r>
              <a:rPr lang="en-US" i="1" dirty="0">
                <a:solidFill>
                  <a:srgbClr val="7030A0"/>
                </a:solidFill>
              </a:rPr>
              <a:t>per se</a:t>
            </a:r>
            <a:r>
              <a:rPr lang="en-US" dirty="0">
                <a:solidFill>
                  <a:srgbClr val="7030A0"/>
                </a:solidFill>
              </a:rPr>
              <a:t>; they can also reference other identifiers (variables)</a:t>
            </a: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0CAC87-ED71-6042-C3AA-B7DE928CEBE8}"/>
                  </a:ext>
                </a:extLst>
              </p:cNvPr>
              <p:cNvSpPr txBox="1"/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0CAC87-ED71-6042-C3AA-B7DE928CE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blipFill>
                <a:blip r:embed="rId4"/>
                <a:stretch>
                  <a:fillRect l="-4950" r="-891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519C40-54B8-360A-B3DA-218C4434B9CB}"/>
                  </a:ext>
                </a:extLst>
              </p:cNvPr>
              <p:cNvSpPr txBox="1"/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519C40-54B8-360A-B3DA-218C4434B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blipFill>
                <a:blip r:embed="rId5"/>
                <a:stretch>
                  <a:fillRect l="-8824" r="-784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FAF4FF-1395-CCF4-4A46-0691F92423CE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94017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C949411-7183-07D8-D7C9-ABDE7748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45" y="4502502"/>
            <a:ext cx="2711380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D8517-0CA5-8D02-4B7E-CE61A8CB7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529" y="1615463"/>
            <a:ext cx="3456941" cy="22994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6178322" y="2740381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5036412" y="3109713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3503356" y="5475655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01E14-C15C-63EC-C8EF-A642AD798F29}"/>
              </a:ext>
            </a:extLst>
          </p:cNvPr>
          <p:cNvSpPr txBox="1"/>
          <p:nvPr/>
        </p:nvSpPr>
        <p:spPr>
          <a:xfrm>
            <a:off x="4615894" y="5458733"/>
            <a:ext cx="263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Division before Addition</a:t>
            </a: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6C5314-1E05-5B53-7925-5CA1A7094B47}"/>
                  </a:ext>
                </a:extLst>
              </p:cNvPr>
              <p:cNvSpPr txBox="1"/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6C5314-1E05-5B53-7925-5CA1A7094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2787495"/>
                <a:ext cx="612925" cy="276999"/>
              </a:xfrm>
              <a:prstGeom prst="rect">
                <a:avLst/>
              </a:prstGeom>
              <a:blipFill>
                <a:blip r:embed="rId4"/>
                <a:stretch>
                  <a:fillRect l="-4950" r="-891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A433E7-4EEF-7CAE-4077-4C5BC9644E86}"/>
                  </a:ext>
                </a:extLst>
              </p:cNvPr>
              <p:cNvSpPr txBox="1"/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A433E7-4EEF-7CAE-4077-4C5BC9644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9" y="3152001"/>
                <a:ext cx="616323" cy="276999"/>
              </a:xfrm>
              <a:prstGeom prst="rect">
                <a:avLst/>
              </a:prstGeom>
              <a:blipFill>
                <a:blip r:embed="rId5"/>
                <a:stretch>
                  <a:fillRect l="-8824" r="-784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594809-E05F-F8BA-DBA7-CEFE34C77E5F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357043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Displaying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20" y="1825625"/>
            <a:ext cx="7992664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Within a </a:t>
            </a:r>
            <a:r>
              <a:rPr lang="en-US" sz="2400" b="1" dirty="0">
                <a:solidFill>
                  <a:srgbClr val="7030A0"/>
                </a:solidFill>
              </a:rPr>
              <a:t>print() </a:t>
            </a:r>
            <a:r>
              <a:rPr lang="en-US" sz="2400" dirty="0"/>
              <a:t>statement, Python can substitute a variable's </a:t>
            </a:r>
            <a:r>
              <a:rPr lang="en-US" sz="2400" u="sng" dirty="0"/>
              <a:t>value</a:t>
            </a:r>
            <a:r>
              <a:rPr lang="en-US" sz="2400" dirty="0"/>
              <a:t> into a </a:t>
            </a:r>
            <a:r>
              <a:rPr lang="en-US" sz="2400" b="1" dirty="0"/>
              <a:t>placeholder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To make a </a:t>
            </a:r>
            <a:r>
              <a:rPr lang="en-US" sz="2000" b="1" dirty="0"/>
              <a:t>placeholder</a:t>
            </a:r>
            <a:r>
              <a:rPr lang="en-US" sz="2000" dirty="0"/>
              <a:t> (aka a </a:t>
            </a:r>
            <a:r>
              <a:rPr lang="en-US" sz="2000" i="1" dirty="0"/>
              <a:t>replacement field</a:t>
            </a:r>
            <a:r>
              <a:rPr lang="en-US" sz="2000" dirty="0"/>
              <a:t>) you enclose the variable name between curly braces </a:t>
            </a:r>
            <a:r>
              <a:rPr lang="en-US" sz="2000" b="1" dirty="0">
                <a:solidFill>
                  <a:srgbClr val="0070C0"/>
                </a:solidFill>
              </a:rPr>
              <a:t>{}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Substituting a variable's actual value into its </a:t>
            </a:r>
            <a:r>
              <a:rPr lang="en-US" sz="2000" i="1" dirty="0"/>
              <a:t>replacement field </a:t>
            </a:r>
            <a:r>
              <a:rPr lang="en-US" sz="2000" dirty="0"/>
              <a:t>is called </a:t>
            </a:r>
            <a:r>
              <a:rPr lang="en-US" sz="2000" i="1" dirty="0">
                <a:solidFill>
                  <a:srgbClr val="00B050"/>
                </a:solidFill>
              </a:rPr>
              <a:t>string interpolation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Placeholders can also contain </a:t>
            </a:r>
            <a:r>
              <a:rPr lang="en-US" sz="2400" b="1" dirty="0"/>
              <a:t>format specifiers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You can specify the number of digits to the right of the decimal, etc.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You can specify left/right/center justification, column width, etc.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44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print</a:t>
            </a:r>
            <a:r>
              <a:rPr lang="en-US" sz="3200" dirty="0">
                <a:latin typeface="+mn-lt"/>
              </a:rPr>
              <a:t>() and 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f-strings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18FDC-EEC3-4CB0-97E8-6752CC43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73" y="2440186"/>
            <a:ext cx="7324655" cy="1245356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448B76F3-1C7C-411C-BF49-67E9B477968A}"/>
              </a:ext>
            </a:extLst>
          </p:cNvPr>
          <p:cNvSpPr/>
          <p:nvPr/>
        </p:nvSpPr>
        <p:spPr>
          <a:xfrm>
            <a:off x="774480" y="4321856"/>
            <a:ext cx="2212874" cy="1819148"/>
          </a:xfrm>
          <a:prstGeom prst="wedgeRoundRectCallout">
            <a:avLst>
              <a:gd name="adj1" fmla="val 23054"/>
              <a:gd name="adj2" fmla="val -9742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Placing a lowercase </a:t>
            </a:r>
            <a:r>
              <a:rPr lang="en-US" b="1" dirty="0">
                <a:solidFill>
                  <a:srgbClr val="0070C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 before the first quote in a </a:t>
            </a:r>
            <a:r>
              <a:rPr lang="en-US" b="1" dirty="0">
                <a:solidFill>
                  <a:schemeClr val="tx1"/>
                </a:solidFill>
              </a:rPr>
              <a:t>print</a:t>
            </a:r>
            <a:r>
              <a:rPr lang="en-US" dirty="0">
                <a:solidFill>
                  <a:schemeClr val="tx1"/>
                </a:solidFill>
              </a:rPr>
              <a:t>() statement indicates you will use some </a:t>
            </a:r>
            <a:r>
              <a:rPr lang="en-US" b="1" dirty="0">
                <a:solidFill>
                  <a:schemeClr val="tx1"/>
                </a:solidFill>
              </a:rPr>
              <a:t>placeholders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671151E-53F3-44FE-8DF3-D97B4DA0856D}"/>
              </a:ext>
            </a:extLst>
          </p:cNvPr>
          <p:cNvSpPr/>
          <p:nvPr/>
        </p:nvSpPr>
        <p:spPr>
          <a:xfrm>
            <a:off x="3331139" y="4332628"/>
            <a:ext cx="2346530" cy="1491286"/>
          </a:xfrm>
          <a:prstGeom prst="wedgeRoundRectCallout">
            <a:avLst>
              <a:gd name="adj1" fmla="val -37495"/>
              <a:gd name="adj2" fmla="val -108839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placeholder contains the variable's name sandwiched between curly </a:t>
            </a:r>
            <a:r>
              <a:rPr lang="en-US" b="1" dirty="0">
                <a:solidFill>
                  <a:schemeClr val="tx1"/>
                </a:solidFill>
              </a:rPr>
              <a:t>braces</a:t>
            </a:r>
            <a:r>
              <a:rPr lang="en-US" dirty="0">
                <a:solidFill>
                  <a:schemeClr val="tx1"/>
                </a:solidFill>
              </a:rPr>
              <a:t> {}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B4DA9A9-0F7B-4672-B978-21C4668BAA29}"/>
              </a:ext>
            </a:extLst>
          </p:cNvPr>
          <p:cNvSpPr/>
          <p:nvPr/>
        </p:nvSpPr>
        <p:spPr>
          <a:xfrm>
            <a:off x="6021454" y="4332628"/>
            <a:ext cx="2346530" cy="1103455"/>
          </a:xfrm>
          <a:prstGeom prst="wedgeRoundRectCallout">
            <a:avLst>
              <a:gd name="adj1" fmla="val -26089"/>
              <a:gd name="adj2" fmla="val -129286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colon</a:t>
            </a:r>
            <a:r>
              <a:rPr lang="en-US" dirty="0">
                <a:solidFill>
                  <a:schemeClr val="tx1"/>
                </a:solidFill>
              </a:rPr>
              <a:t> after the variable's name starts a </a:t>
            </a:r>
            <a:r>
              <a:rPr lang="en-US" b="1" dirty="0">
                <a:solidFill>
                  <a:schemeClr val="tx1"/>
                </a:solidFill>
              </a:rPr>
              <a:t>format specifier</a:t>
            </a:r>
          </a:p>
        </p:txBody>
      </p:sp>
    </p:spTree>
    <p:extLst>
      <p:ext uri="{BB962C8B-B14F-4D97-AF65-F5344CB8AC3E}">
        <p14:creationId xmlns:p14="http://schemas.microsoft.com/office/powerpoint/2010/main" val="402232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Some Common Format Specifiers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10C75-CA20-4FBB-B8BD-EBA4F100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42" y="1968618"/>
            <a:ext cx="5688116" cy="3370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04CD42-88C7-4A32-B501-355AD5A9131F}"/>
              </a:ext>
            </a:extLst>
          </p:cNvPr>
          <p:cNvSpPr txBox="1"/>
          <p:nvPr/>
        </p:nvSpPr>
        <p:spPr>
          <a:xfrm>
            <a:off x="2612308" y="5651027"/>
            <a:ext cx="3919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Using format specifiers is optional but makes your output more professional</a:t>
            </a:r>
          </a:p>
        </p:txBody>
      </p:sp>
    </p:spTree>
    <p:extLst>
      <p:ext uri="{BB962C8B-B14F-4D97-AF65-F5344CB8AC3E}">
        <p14:creationId xmlns:p14="http://schemas.microsoft.com/office/powerpoint/2010/main" val="283203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50A47AF-6223-F28C-30A0-EDD98BCE8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610" y="4594309"/>
            <a:ext cx="3659435" cy="15318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D8C3CF5-B5D7-DCFA-AC7C-49D6B65DC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8" y="1656421"/>
            <a:ext cx="4237551" cy="2304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84E6FB-D83E-0C64-8783-DB31264F8780}"/>
              </a:ext>
            </a:extLst>
          </p:cNvPr>
          <p:cNvGrpSpPr/>
          <p:nvPr/>
        </p:nvGrpSpPr>
        <p:grpSpPr>
          <a:xfrm>
            <a:off x="4237357" y="2799392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C23088B-8AEA-378C-8278-0B4FF337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9D88A9-6FBC-0372-BF0A-999847D36A2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5292E-092C-477E-3575-84EAB46693BB}"/>
              </a:ext>
            </a:extLst>
          </p:cNvPr>
          <p:cNvGrpSpPr/>
          <p:nvPr/>
        </p:nvGrpSpPr>
        <p:grpSpPr>
          <a:xfrm>
            <a:off x="5307386" y="5360039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8304B3F-339B-511F-FAF8-E6BF99447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40621B-9BD5-5623-B3AB-F97BA942994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2718E-F899-9058-2A89-C4385DA21D86}"/>
              </a:ext>
            </a:extLst>
          </p:cNvPr>
          <p:cNvGrpSpPr/>
          <p:nvPr/>
        </p:nvGrpSpPr>
        <p:grpSpPr>
          <a:xfrm>
            <a:off x="4804274" y="3204229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622D54-BB90-68B2-F53E-99FC4D5B5F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638256-D51F-DF99-8A1B-2C6E8A659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01E14-C15C-63EC-C8EF-A642AD798F29}"/>
              </a:ext>
            </a:extLst>
          </p:cNvPr>
          <p:cNvSpPr txBox="1"/>
          <p:nvPr/>
        </p:nvSpPr>
        <p:spPr>
          <a:xfrm>
            <a:off x="5667580" y="3334237"/>
            <a:ext cx="2685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This format specifier </a:t>
            </a:r>
            <a:r>
              <a:rPr lang="en-US" i="1" dirty="0">
                <a:solidFill>
                  <a:srgbClr val="7030A0"/>
                </a:solidFill>
              </a:rPr>
              <a:t>rounds </a:t>
            </a:r>
            <a:r>
              <a:rPr lang="en-US" dirty="0">
                <a:solidFill>
                  <a:srgbClr val="7030A0"/>
                </a:solidFill>
              </a:rPr>
              <a:t>to </a:t>
            </a:r>
            <a:r>
              <a:rPr lang="en-US" b="1" dirty="0">
                <a:solidFill>
                  <a:srgbClr val="7030A0"/>
                </a:solidFill>
              </a:rPr>
              <a:t>4</a:t>
            </a:r>
            <a:r>
              <a:rPr lang="en-US" dirty="0">
                <a:solidFill>
                  <a:srgbClr val="7030A0"/>
                </a:solidFill>
              </a:rPr>
              <a:t> digits to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of the decimal</a:t>
            </a:r>
            <a:endParaRPr lang="en-US" b="1" dirty="0">
              <a:solidFill>
                <a:srgbClr val="7030A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D305D8-F97D-AB54-DB11-462CA9C1EC46}"/>
              </a:ext>
            </a:extLst>
          </p:cNvPr>
          <p:cNvGrpSpPr/>
          <p:nvPr/>
        </p:nvGrpSpPr>
        <p:grpSpPr>
          <a:xfrm>
            <a:off x="3507660" y="5756834"/>
            <a:ext cx="1064340" cy="369332"/>
            <a:chOff x="3647644" y="5421073"/>
            <a:chExt cx="1064340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F9FBAE-0D63-1D02-6133-1745D875616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3C1662-A09B-AB85-84DC-2D5B715683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39A1139-550D-EC47-D082-4520A1F3F46A}"/>
              </a:ext>
            </a:extLst>
          </p:cNvPr>
          <p:cNvSpPr txBox="1"/>
          <p:nvPr/>
        </p:nvSpPr>
        <p:spPr>
          <a:xfrm>
            <a:off x="5667581" y="2065158"/>
            <a:ext cx="2685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This type of </a:t>
            </a:r>
            <a:r>
              <a:rPr lang="en-US" u="sng" dirty="0">
                <a:solidFill>
                  <a:srgbClr val="7030A0"/>
                </a:solidFill>
              </a:rPr>
              <a:t>placeholder</a:t>
            </a:r>
            <a:r>
              <a:rPr lang="en-US" dirty="0">
                <a:solidFill>
                  <a:srgbClr val="7030A0"/>
                </a:solidFill>
              </a:rPr>
              <a:t> prints the </a:t>
            </a:r>
            <a:r>
              <a:rPr lang="en-US" b="1" dirty="0">
                <a:solidFill>
                  <a:srgbClr val="7030A0"/>
                </a:solidFill>
              </a:rPr>
              <a:t>name</a:t>
            </a:r>
            <a:r>
              <a:rPr lang="en-US" dirty="0">
                <a:solidFill>
                  <a:srgbClr val="7030A0"/>
                </a:solidFill>
              </a:rPr>
              <a:t> of the variable as well as its </a:t>
            </a:r>
            <a:r>
              <a:rPr lang="en-US" i="1" dirty="0">
                <a:solidFill>
                  <a:srgbClr val="7030A0"/>
                </a:solidFill>
              </a:rPr>
              <a:t>value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A21C0-15B7-6787-245F-EB146322FA9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169089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5765-35BE-33A8-3315-24FCDA7A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A3C1E2B-56EA-6341-909E-D2685374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938" y="4594309"/>
            <a:ext cx="3659107" cy="1413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96A778-73EF-82B9-01CF-0426479DA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7" y="1648979"/>
            <a:ext cx="4186443" cy="23197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1D4246-8E03-2BEC-81D0-6A3D34E7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pemdas.py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3970A-3690-2B73-414D-ECB9B05A5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02D0C7-1407-4D5F-379B-0917D36244F2}"/>
              </a:ext>
            </a:extLst>
          </p:cNvPr>
          <p:cNvGrpSpPr/>
          <p:nvPr/>
        </p:nvGrpSpPr>
        <p:grpSpPr>
          <a:xfrm>
            <a:off x="2997175" y="2169079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0F87B0-FDFB-99E2-5BD2-2F08975932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A03964-D34F-5A6C-AA6E-2F7725A57A4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613EDA-1764-5821-F711-22DCC2D48CC8}"/>
              </a:ext>
            </a:extLst>
          </p:cNvPr>
          <p:cNvGrpSpPr/>
          <p:nvPr/>
        </p:nvGrpSpPr>
        <p:grpSpPr>
          <a:xfrm>
            <a:off x="1920543" y="4681001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62AE435-3282-4431-71F0-EE69F00A15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114AA7-158D-0CC6-2DE4-FD75C3D7063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3A039C-B003-203E-28AF-C968D25A2AEA}"/>
              </a:ext>
            </a:extLst>
          </p:cNvPr>
          <p:cNvGrpSpPr/>
          <p:nvPr/>
        </p:nvGrpSpPr>
        <p:grpSpPr>
          <a:xfrm>
            <a:off x="4661396" y="2588501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F780EC-2D3C-4251-5812-C06B075764F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D2FA8FA-2818-8394-AE4C-FF2883348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8AA9C2C-E30F-1166-E557-E16613BF35DC}"/>
              </a:ext>
            </a:extLst>
          </p:cNvPr>
          <p:cNvSpPr txBox="1"/>
          <p:nvPr/>
        </p:nvSpPr>
        <p:spPr>
          <a:xfrm>
            <a:off x="5855516" y="2808859"/>
            <a:ext cx="2685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double forward slash </a:t>
            </a:r>
            <a:r>
              <a:rPr lang="en-US" b="1" dirty="0">
                <a:solidFill>
                  <a:srgbClr val="7030A0"/>
                </a:solidFill>
              </a:rPr>
              <a:t>//</a:t>
            </a:r>
            <a:r>
              <a:rPr lang="en-US" dirty="0">
                <a:solidFill>
                  <a:srgbClr val="7030A0"/>
                </a:solidFill>
              </a:rPr>
              <a:t> is the </a:t>
            </a:r>
            <a:r>
              <a:rPr lang="en-US" u="sng" dirty="0">
                <a:solidFill>
                  <a:srgbClr val="7030A0"/>
                </a:solidFill>
              </a:rPr>
              <a:t>integer</a:t>
            </a:r>
            <a:r>
              <a:rPr lang="en-US" dirty="0">
                <a:solidFill>
                  <a:srgbClr val="7030A0"/>
                </a:solidFill>
              </a:rPr>
              <a:t> (round down) division operator</a:t>
            </a:r>
            <a:endParaRPr lang="en-US" b="1" dirty="0">
              <a:solidFill>
                <a:srgbClr val="7030A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475B39-7EB1-DC44-E061-AAE6E72173B8}"/>
              </a:ext>
            </a:extLst>
          </p:cNvPr>
          <p:cNvGrpSpPr/>
          <p:nvPr/>
        </p:nvGrpSpPr>
        <p:grpSpPr>
          <a:xfrm>
            <a:off x="5346581" y="5136196"/>
            <a:ext cx="1064340" cy="369332"/>
            <a:chOff x="3647644" y="5421073"/>
            <a:chExt cx="1064340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634D14-A8ED-F995-44DA-8E979EE6635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27966B8-AAD5-A4FD-0CD5-C2822F8EB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F91673F-5926-CB20-035D-61278381C5B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C255BB-7D1B-C309-452C-E8A141E10E0E}"/>
              </a:ext>
            </a:extLst>
          </p:cNvPr>
          <p:cNvGrpSpPr/>
          <p:nvPr/>
        </p:nvGrpSpPr>
        <p:grpSpPr>
          <a:xfrm>
            <a:off x="4812259" y="3046938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8860E0-879F-AA87-75DF-F09C3444B27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8F01928-38DA-3D96-9477-51CE68E01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925875-8638-43B6-711F-87FB003F6169}"/>
              </a:ext>
            </a:extLst>
          </p:cNvPr>
          <p:cNvGrpSpPr/>
          <p:nvPr/>
        </p:nvGrpSpPr>
        <p:grpSpPr>
          <a:xfrm>
            <a:off x="2386214" y="5562432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4B84AC-156F-A9D8-3EB6-F0E8117210B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B68A333-DB8E-E7CB-054E-3955360B9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EECF9D-4757-5160-FA3E-BCAECCAEE096}"/>
              </a:ext>
            </a:extLst>
          </p:cNvPr>
          <p:cNvSpPr txBox="1"/>
          <p:nvPr/>
        </p:nvSpPr>
        <p:spPr>
          <a:xfrm>
            <a:off x="5855516" y="1659296"/>
            <a:ext cx="2685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Calling </a:t>
            </a:r>
            <a:r>
              <a:rPr lang="en-US" b="1" dirty="0">
                <a:solidFill>
                  <a:srgbClr val="7030A0"/>
                </a:solidFill>
              </a:rPr>
              <a:t>print() </a:t>
            </a:r>
            <a:r>
              <a:rPr lang="en-US" dirty="0">
                <a:solidFill>
                  <a:srgbClr val="7030A0"/>
                </a:solidFill>
              </a:rPr>
              <a:t>with no arguments just displays a blank line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8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PEP 8 </a:t>
            </a:r>
            <a:r>
              <a:rPr lang="en-US" sz="3200" dirty="0">
                <a:latin typeface="+mn-lt"/>
              </a:rPr>
              <a:t>– Style Guide for Python Code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28FBA-9A18-C43F-0200-822C69EF5FA4}"/>
              </a:ext>
            </a:extLst>
          </p:cNvPr>
          <p:cNvSpPr txBox="1"/>
          <p:nvPr/>
        </p:nvSpPr>
        <p:spPr>
          <a:xfrm>
            <a:off x="2682303" y="1402598"/>
            <a:ext cx="377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https://peps.python.org/pep-0008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5092EA-7931-F912-95BF-9BDA3BCE7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09" y="2062324"/>
            <a:ext cx="7004982" cy="42127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2D1C34-BA5C-8DF0-EA18-91727EDF738C}"/>
              </a:ext>
            </a:extLst>
          </p:cNvPr>
          <p:cNvSpPr/>
          <p:nvPr/>
        </p:nvSpPr>
        <p:spPr>
          <a:xfrm>
            <a:off x="3200401" y="5021705"/>
            <a:ext cx="4083844" cy="1648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79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75ABEB-DF72-A729-25B7-225C2254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70" y="1897287"/>
            <a:ext cx="7225259" cy="46815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black</a:t>
            </a:r>
            <a:r>
              <a:rPr lang="en-US" sz="3200" dirty="0">
                <a:latin typeface="+mn-lt"/>
              </a:rPr>
              <a:t> Package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28FBA-9A18-C43F-0200-822C69EF5FA4}"/>
              </a:ext>
            </a:extLst>
          </p:cNvPr>
          <p:cNvSpPr txBox="1"/>
          <p:nvPr/>
        </p:nvSpPr>
        <p:spPr>
          <a:xfrm>
            <a:off x="2973674" y="1402598"/>
            <a:ext cx="319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https://github.com/psf/black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E6D21-0922-B1D6-3F20-C56734F729BB}"/>
              </a:ext>
            </a:extLst>
          </p:cNvPr>
          <p:cNvSpPr/>
          <p:nvPr/>
        </p:nvSpPr>
        <p:spPr>
          <a:xfrm>
            <a:off x="2870617" y="3918588"/>
            <a:ext cx="3507698" cy="3236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37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590FAD-738C-0C94-D11D-559440D47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00" y="1897177"/>
            <a:ext cx="7526799" cy="43964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Ruff</a:t>
            </a:r>
            <a:r>
              <a:rPr lang="en-US" sz="3200" dirty="0">
                <a:latin typeface="+mn-lt"/>
              </a:rPr>
              <a:t> Formatter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28FBA-9A18-C43F-0200-822C69EF5FA4}"/>
              </a:ext>
            </a:extLst>
          </p:cNvPr>
          <p:cNvSpPr txBox="1"/>
          <p:nvPr/>
        </p:nvSpPr>
        <p:spPr>
          <a:xfrm>
            <a:off x="2661955" y="1402598"/>
            <a:ext cx="3820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https://docs.astral.sh/ruff/formatter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10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7ECC-CED2-47A5-D9CB-F245F9E6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A48828-4831-6C9B-E1B8-7B990CC3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29" y="1580808"/>
            <a:ext cx="6852212" cy="2626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9CB346-BC75-702F-14F7-1DD29FD0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age_in_weeks.py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7BD086-2D48-21F0-EFC1-524BCA81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42B325-5A46-0F10-DF51-6873CCA9250F}"/>
              </a:ext>
            </a:extLst>
          </p:cNvPr>
          <p:cNvGrpSpPr/>
          <p:nvPr/>
        </p:nvGrpSpPr>
        <p:grpSpPr>
          <a:xfrm>
            <a:off x="3912737" y="2203466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592B699-CD54-4869-E678-1044F943B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D29166-5E36-BB11-D3B4-08AAD9C8346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939897-970C-0493-41D0-6A2C9716CF8B}"/>
              </a:ext>
            </a:extLst>
          </p:cNvPr>
          <p:cNvGrpSpPr/>
          <p:nvPr/>
        </p:nvGrpSpPr>
        <p:grpSpPr>
          <a:xfrm>
            <a:off x="5389793" y="2534955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CA1AF4-0077-0DF5-70D0-84714C3CF4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611E66-E352-242F-F27F-63CD9893B5F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4D51FE3-E1E9-D886-48E3-46BBF69394C8}"/>
              </a:ext>
            </a:extLst>
          </p:cNvPr>
          <p:cNvGrpSpPr/>
          <p:nvPr/>
        </p:nvGrpSpPr>
        <p:grpSpPr>
          <a:xfrm>
            <a:off x="7900372" y="3153129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F87E80-9941-91F4-40C7-43DB14E64BC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A62547E-9711-DEA7-6FF9-96E04A258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92B6B-A914-20E9-806F-75D7FF816552}"/>
              </a:ext>
            </a:extLst>
          </p:cNvPr>
          <p:cNvGrpSpPr/>
          <p:nvPr/>
        </p:nvGrpSpPr>
        <p:grpSpPr>
          <a:xfrm>
            <a:off x="7104448" y="3478476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D64D30-90B5-93D1-B596-430DCDEC083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3260C1B-9AAB-FF79-085C-C1AA89F36C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ECE1A4-4DED-8917-2C60-DB5BEEDA3FD5}"/>
              </a:ext>
            </a:extLst>
          </p:cNvPr>
          <p:cNvGrpSpPr/>
          <p:nvPr/>
        </p:nvGrpSpPr>
        <p:grpSpPr>
          <a:xfrm>
            <a:off x="7634466" y="5746132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F0CE22-D8CE-86F4-0C23-E9DD24FF168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3FC99A5-2FD6-5C1A-C8BD-801FAD98A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37CAB6D-45EE-C656-E4B8-F4C4C48467F1}"/>
              </a:ext>
            </a:extLst>
          </p:cNvPr>
          <p:cNvSpPr txBox="1"/>
          <p:nvPr/>
        </p:nvSpPr>
        <p:spPr>
          <a:xfrm>
            <a:off x="1472148" y="4356187"/>
            <a:ext cx="1447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Type your </a:t>
            </a:r>
            <a:r>
              <a:rPr lang="en-US" b="1" dirty="0">
                <a:solidFill>
                  <a:srgbClr val="7030A0"/>
                </a:solidFill>
              </a:rPr>
              <a:t>own</a:t>
            </a:r>
            <a:r>
              <a:rPr lang="en-US" dirty="0">
                <a:solidFill>
                  <a:srgbClr val="7030A0"/>
                </a:solidFill>
              </a:rPr>
              <a:t> age &amp; notice the </a:t>
            </a:r>
            <a:r>
              <a:rPr lang="en-US" b="1" dirty="0">
                <a:solidFill>
                  <a:srgbClr val="7030A0"/>
                </a:solidFill>
              </a:rPr>
              <a:t>underscore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23D390-265D-F919-BC40-9BCFFA96C24D}"/>
              </a:ext>
            </a:extLst>
          </p:cNvPr>
          <p:cNvSpPr txBox="1"/>
          <p:nvPr/>
        </p:nvSpPr>
        <p:spPr>
          <a:xfrm>
            <a:off x="3067765" y="4356187"/>
            <a:ext cx="1268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There are </a:t>
            </a:r>
            <a:r>
              <a:rPr lang="en-US" b="1" dirty="0">
                <a:solidFill>
                  <a:srgbClr val="7030A0"/>
                </a:solidFill>
              </a:rPr>
              <a:t>52 weeks</a:t>
            </a:r>
            <a:r>
              <a:rPr lang="en-US" dirty="0">
                <a:solidFill>
                  <a:srgbClr val="7030A0"/>
                </a:solidFill>
              </a:rPr>
              <a:t> in a year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9DB7F5-B6A4-5898-3012-A73D68EEECDE}"/>
              </a:ext>
            </a:extLst>
          </p:cNvPr>
          <p:cNvSpPr txBox="1"/>
          <p:nvPr/>
        </p:nvSpPr>
        <p:spPr>
          <a:xfrm>
            <a:off x="4502942" y="4356187"/>
            <a:ext cx="1494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end=", " suppresses the line break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89A21C-3798-597A-7EB1-1F2835E371A8}"/>
              </a:ext>
            </a:extLst>
          </p:cNvPr>
          <p:cNvSpPr txBox="1"/>
          <p:nvPr/>
        </p:nvSpPr>
        <p:spPr>
          <a:xfrm>
            <a:off x="6165008" y="4356187"/>
            <a:ext cx="1761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:,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rgbClr val="7030A0"/>
                </a:solidFill>
              </a:rPr>
              <a:t>format specifier</a:t>
            </a:r>
            <a:r>
              <a:rPr lang="en-US" dirty="0">
                <a:solidFill>
                  <a:srgbClr val="7030A0"/>
                </a:solidFill>
              </a:rPr>
              <a:t> puts a comma between every 3 digits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86C7B6-FF1A-6D9E-B447-AAF02497A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155" y="5726656"/>
            <a:ext cx="5945688" cy="385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E796A-F04A-667B-70AE-D73F81FFBD8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183689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for</a:t>
            </a:r>
            <a:r>
              <a:rPr lang="en-US" sz="3200" dirty="0">
                <a:latin typeface="+mn-lt"/>
              </a:rPr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7030A0"/>
                </a:solidFill>
              </a:rPr>
              <a:t>for</a:t>
            </a:r>
            <a:r>
              <a:rPr lang="en-US" sz="2400" dirty="0"/>
              <a:t> loop executes all the statements within its </a:t>
            </a:r>
            <a:r>
              <a:rPr lang="en-US" sz="2400" u="sng" dirty="0"/>
              <a:t>scope</a:t>
            </a:r>
            <a:r>
              <a:rPr lang="en-US" sz="2400" dirty="0"/>
              <a:t> for </a:t>
            </a:r>
            <a:r>
              <a:rPr lang="en-US" sz="2400" i="1" dirty="0"/>
              <a:t>each</a:t>
            </a:r>
            <a:r>
              <a:rPr lang="en-US" sz="2400" dirty="0"/>
              <a:t> number within a given range</a:t>
            </a:r>
            <a:endParaRPr lang="en-US" sz="2400" b="1" dirty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It is common to use the </a:t>
            </a:r>
            <a:r>
              <a:rPr lang="en-US" sz="2400" b="1" dirty="0"/>
              <a:t>range</a:t>
            </a:r>
            <a:r>
              <a:rPr lang="en-US" sz="2400" dirty="0"/>
              <a:t>() function to create the array of numbers passed into the </a:t>
            </a:r>
            <a:r>
              <a:rPr lang="en-US" sz="2400" b="1" dirty="0">
                <a:solidFill>
                  <a:srgbClr val="7030A0"/>
                </a:solidFill>
              </a:rPr>
              <a:t>for</a:t>
            </a:r>
            <a:r>
              <a:rPr lang="en-US" sz="2400" dirty="0"/>
              <a:t> statement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/>
              <a:t>range</a:t>
            </a:r>
            <a:r>
              <a:rPr lang="en-US" sz="2400" dirty="0"/>
              <a:t>()</a:t>
            </a:r>
            <a:r>
              <a:rPr lang="en-US" sz="2400" b="1" dirty="0"/>
              <a:t> </a:t>
            </a:r>
            <a:r>
              <a:rPr lang="en-US" sz="2400" dirty="0"/>
              <a:t>function takes </a:t>
            </a:r>
            <a:r>
              <a:rPr lang="en-US" sz="2400" i="1" dirty="0"/>
              <a:t>up to three</a:t>
            </a:r>
            <a:r>
              <a:rPr lang="en-US" sz="2400" dirty="0"/>
              <a:t> parameters: (</a:t>
            </a:r>
            <a:r>
              <a:rPr lang="en-US" sz="2400" b="1" dirty="0">
                <a:solidFill>
                  <a:srgbClr val="00B050"/>
                </a:solidFill>
              </a:rPr>
              <a:t>start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stop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step</a:t>
            </a:r>
            <a:r>
              <a:rPr lang="en-US" sz="2400" dirty="0"/>
              <a:t>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stop</a:t>
            </a:r>
            <a:r>
              <a:rPr lang="en-US" sz="2000" dirty="0"/>
              <a:t> value is </a:t>
            </a:r>
            <a:r>
              <a:rPr lang="en-US" sz="2000" u="sng" dirty="0">
                <a:solidFill>
                  <a:srgbClr val="FF0000"/>
                </a:solidFill>
              </a:rPr>
              <a:t>required</a:t>
            </a:r>
            <a:r>
              <a:rPr lang="en-US" sz="2000" dirty="0"/>
              <a:t> but the </a:t>
            </a:r>
            <a:r>
              <a:rPr lang="en-US" sz="2000" b="1" dirty="0">
                <a:solidFill>
                  <a:srgbClr val="00B050"/>
                </a:solidFill>
              </a:rPr>
              <a:t>start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70C0"/>
                </a:solidFill>
              </a:rPr>
              <a:t>step</a:t>
            </a:r>
            <a:r>
              <a:rPr lang="en-US" sz="2000" dirty="0"/>
              <a:t> values are </a:t>
            </a:r>
            <a:r>
              <a:rPr lang="en-US" sz="2000" i="1" dirty="0"/>
              <a:t>optional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</a:t>
            </a:r>
            <a:r>
              <a:rPr lang="en-US" sz="2000" i="1" dirty="0"/>
              <a:t>default</a:t>
            </a:r>
            <a:r>
              <a:rPr lang="en-US" sz="2000" dirty="0"/>
              <a:t> value (if unspecified) for </a:t>
            </a:r>
            <a:r>
              <a:rPr lang="en-US" sz="2000" b="1" dirty="0">
                <a:solidFill>
                  <a:srgbClr val="00B050"/>
                </a:solidFill>
              </a:rPr>
              <a:t>start</a:t>
            </a:r>
            <a:r>
              <a:rPr lang="en-US" sz="2000" dirty="0"/>
              <a:t> is </a:t>
            </a:r>
            <a:r>
              <a:rPr lang="en-US" sz="2000" b="1" dirty="0"/>
              <a:t>0</a:t>
            </a:r>
            <a:r>
              <a:rPr lang="en-US" sz="2000" dirty="0"/>
              <a:t> and for </a:t>
            </a:r>
            <a:r>
              <a:rPr lang="en-US" sz="2000" b="1" dirty="0">
                <a:solidFill>
                  <a:srgbClr val="0070C0"/>
                </a:solidFill>
              </a:rPr>
              <a:t>step</a:t>
            </a:r>
            <a:r>
              <a:rPr lang="en-US" sz="2000" dirty="0"/>
              <a:t> is </a:t>
            </a:r>
            <a:r>
              <a:rPr lang="en-US" sz="2000" b="1" dirty="0"/>
              <a:t>1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range </a:t>
            </a:r>
            <a:r>
              <a:rPr lang="en-US" sz="2000" b="1" dirty="0"/>
              <a:t>span</a:t>
            </a:r>
            <a:r>
              <a:rPr lang="en-US" sz="2000" dirty="0"/>
              <a:t> is inclusive, </a:t>
            </a:r>
            <a:r>
              <a:rPr lang="en-US" sz="2000" i="1" u="sng" dirty="0"/>
              <a:t>exclusive</a:t>
            </a:r>
            <a:r>
              <a:rPr lang="en-US" sz="2000" dirty="0"/>
              <a:t>: </a:t>
            </a:r>
            <a:r>
              <a:rPr lang="en-US" sz="2000" b="1" dirty="0"/>
              <a:t>[start, stop)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950DFD-3DF9-49B6-8C79-78112A0258CC}"/>
              </a:ext>
            </a:extLst>
          </p:cNvPr>
          <p:cNvCxnSpPr/>
          <p:nvPr/>
        </p:nvCxnSpPr>
        <p:spPr>
          <a:xfrm flipH="1">
            <a:off x="6595476" y="5300474"/>
            <a:ext cx="121674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50F3780-ECF2-3EFE-4FF8-37D58B57D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17" y="5745698"/>
            <a:ext cx="2428323" cy="747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46E424-E9DE-A7AB-8CE9-292525B73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374" y="5936319"/>
            <a:ext cx="2831180" cy="365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13A35D-8811-C26F-BC72-BD863E6B5CA9}"/>
                  </a:ext>
                </a:extLst>
              </p:cNvPr>
              <p:cNvSpPr txBox="1"/>
              <p:nvPr/>
            </p:nvSpPr>
            <p:spPr>
              <a:xfrm>
                <a:off x="4245652" y="5980786"/>
                <a:ext cx="3254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13A35D-8811-C26F-BC72-BD863E6B5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52" y="5980786"/>
                <a:ext cx="325410" cy="276999"/>
              </a:xfrm>
              <a:prstGeom prst="rect">
                <a:avLst/>
              </a:prstGeom>
              <a:blipFill>
                <a:blip r:embed="rId4"/>
                <a:stretch>
                  <a:fillRect l="-11111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891625B-3DE4-8B40-7A76-C70C90C4EF53}"/>
              </a:ext>
            </a:extLst>
          </p:cNvPr>
          <p:cNvSpPr/>
          <p:nvPr/>
        </p:nvSpPr>
        <p:spPr>
          <a:xfrm>
            <a:off x="3075953" y="6082531"/>
            <a:ext cx="899651" cy="28759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1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for</a:t>
            </a:r>
            <a:r>
              <a:rPr lang="en-US" sz="3200" dirty="0">
                <a:latin typeface="+mn-lt"/>
              </a:rPr>
              <a:t>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7B185-AD4E-196E-242F-7BDF473A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67" y="1434119"/>
            <a:ext cx="6279666" cy="16129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EF2BD-2F35-4443-D862-36BA20F44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530" y="3332503"/>
            <a:ext cx="4824940" cy="605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52DDF6-DC20-67C6-7F55-3F0C175C6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167" y="4116079"/>
            <a:ext cx="6400800" cy="11535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CCA6A8-56D7-EFC8-B780-1BD24E700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2261" y="5378394"/>
            <a:ext cx="2720611" cy="68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0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3195-25D6-581B-02F0-E5B483A0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9D3C-CF6A-B81C-2BD6-7E1EB3EB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for</a:t>
            </a:r>
            <a:r>
              <a:rPr lang="en-US" sz="3200" dirty="0">
                <a:latin typeface="+mn-lt"/>
              </a:rPr>
              <a:t> loops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CBF58-9D0F-97F5-6A8B-C19376C8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9D8BC3-F02D-BB62-0367-AA78ED34F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05" y="1382373"/>
            <a:ext cx="7996989" cy="470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21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14E4F-9C7E-3419-0BED-F3B1B4A91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04" y="1909952"/>
            <a:ext cx="8441991" cy="32841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4B088E-D44A-6A33-4517-126ECF2B0815}"/>
              </a:ext>
            </a:extLst>
          </p:cNvPr>
          <p:cNvSpPr/>
          <p:nvPr/>
        </p:nvSpPr>
        <p:spPr>
          <a:xfrm>
            <a:off x="6205928" y="2241030"/>
            <a:ext cx="2750695" cy="3230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48AC9A-83D5-CC0B-4DFF-A125CFAA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for</a:t>
            </a:r>
            <a:r>
              <a:rPr lang="en-US" sz="3200" dirty="0">
                <a:latin typeface="+mn-lt"/>
              </a:rPr>
              <a:t> loops</a:t>
            </a:r>
          </a:p>
        </p:txBody>
      </p:sp>
    </p:spTree>
    <p:extLst>
      <p:ext uri="{BB962C8B-B14F-4D97-AF65-F5344CB8AC3E}">
        <p14:creationId xmlns:p14="http://schemas.microsoft.com/office/powerpoint/2010/main" val="358916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Temperature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896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Your scientist needs a program to calculate the correct Celsius temperature for a given Fahrenheit temperature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Display values between </a:t>
            </a:r>
            <a:r>
              <a:rPr lang="en-US" sz="2400" b="1" dirty="0"/>
              <a:t>-44°F </a:t>
            </a:r>
            <a:r>
              <a:rPr lang="en-US" sz="2400" dirty="0"/>
              <a:t>and </a:t>
            </a:r>
            <a:r>
              <a:rPr lang="en-US" sz="2400" b="1" dirty="0"/>
              <a:t>216°F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inclusive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Your code should increment the temperature in steps of </a:t>
            </a:r>
            <a:r>
              <a:rPr lang="en-US" sz="2400" b="1" dirty="0">
                <a:solidFill>
                  <a:srgbClr val="0070C0"/>
                </a:solidFill>
              </a:rPr>
              <a:t>4°F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Make the output look nice: display both the Fahrenheit and Celsius temperatures in right-justified columns, with </a:t>
            </a:r>
            <a:r>
              <a:rPr lang="en-US" sz="2400" b="1" dirty="0"/>
              <a:t>two</a:t>
            </a:r>
            <a:r>
              <a:rPr lang="en-US" sz="2400" dirty="0"/>
              <a:t> digits to the right of the decimal in each column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research problem your scientist wants you to solve: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What is the </a:t>
            </a:r>
            <a:r>
              <a:rPr lang="en-US" sz="2400" b="1" dirty="0">
                <a:solidFill>
                  <a:srgbClr val="00B050"/>
                </a:solidFill>
              </a:rPr>
              <a:t>one temperature that is the </a:t>
            </a:r>
            <a:r>
              <a:rPr lang="en-US" sz="2400" b="1" u="sng" dirty="0">
                <a:solidFill>
                  <a:srgbClr val="00B050"/>
                </a:solidFill>
              </a:rPr>
              <a:t>same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 both Fahrenheit and Celsius?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964841-4769-4BC4-9480-124B722FD71B}"/>
              </a:ext>
            </a:extLst>
          </p:cNvPr>
          <p:cNvSpPr/>
          <p:nvPr/>
        </p:nvSpPr>
        <p:spPr>
          <a:xfrm>
            <a:off x="1607574" y="5231652"/>
            <a:ext cx="5928852" cy="84065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8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D711-B9F4-35F9-5738-DA72550E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11E491-1A1D-A344-ED04-BB0A0F253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7" y="1990979"/>
            <a:ext cx="7862285" cy="18114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5F3BAC-94A0-8213-B34C-CDE8839E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fahrenheit_to_celsius.py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FB111-7690-4DE8-A838-C6FD7044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A72A79-7E42-D1FB-B9EC-8ECD0E4A3345}"/>
              </a:ext>
            </a:extLst>
          </p:cNvPr>
          <p:cNvGrpSpPr>
            <a:grpSpLocks/>
          </p:cNvGrpSpPr>
          <p:nvPr/>
        </p:nvGrpSpPr>
        <p:grpSpPr>
          <a:xfrm>
            <a:off x="5976399" y="2564955"/>
            <a:ext cx="1076632" cy="369332"/>
            <a:chOff x="4968362" y="2079211"/>
            <a:chExt cx="1076632" cy="36933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176CC86-FFF1-0387-7B15-5298C7CD19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0A5146-E1EE-FC02-9D12-098BA6B71D7B}"/>
                </a:ext>
              </a:extLst>
            </p:cNvPr>
            <p:cNvSpPr txBox="1">
              <a:spLocks/>
            </p:cNvSpPr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FF328A4-0E82-7C77-DFF1-6BC52F566AF5}"/>
              </a:ext>
            </a:extLst>
          </p:cNvPr>
          <p:cNvGrpSpPr>
            <a:grpSpLocks/>
          </p:cNvGrpSpPr>
          <p:nvPr/>
        </p:nvGrpSpPr>
        <p:grpSpPr>
          <a:xfrm>
            <a:off x="6250151" y="2863030"/>
            <a:ext cx="1076632" cy="369332"/>
            <a:chOff x="4704120" y="2356972"/>
            <a:chExt cx="1076632" cy="369332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4DE6786-A710-5F7B-3C59-35414A1E2F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5AFED39-49D3-B259-9ABD-3735CA6049DC}"/>
                </a:ext>
              </a:extLst>
            </p:cNvPr>
            <p:cNvSpPr txBox="1">
              <a:spLocks/>
            </p:cNvSpPr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84E353-4FDB-B9EC-D498-6AD2291EB8D2}"/>
              </a:ext>
            </a:extLst>
          </p:cNvPr>
          <p:cNvGrpSpPr>
            <a:grpSpLocks/>
          </p:cNvGrpSpPr>
          <p:nvPr/>
        </p:nvGrpSpPr>
        <p:grpSpPr>
          <a:xfrm>
            <a:off x="8068911" y="3169721"/>
            <a:ext cx="852076" cy="369332"/>
            <a:chOff x="3647644" y="4910075"/>
            <a:chExt cx="852076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7E363E-6AC9-8A84-FA43-C409EDDBA010}"/>
                </a:ext>
              </a:extLst>
            </p:cNvPr>
            <p:cNvSpPr txBox="1">
              <a:spLocks/>
            </p:cNvSpPr>
            <p:nvPr/>
          </p:nvSpPr>
          <p:spPr>
            <a:xfrm>
              <a:off x="4116262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BC24A4C-1FEC-31E8-E4A1-CDD26940B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4719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BD3BBB-1E64-CDA2-990E-3416FF51FC78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37622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fahrenheit_to_celsius.py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AFB95-60C2-6151-5F5C-C116E9A04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31" y="1944048"/>
            <a:ext cx="7562538" cy="2969903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14258F93-17D1-965F-6B20-3B88B0CA1850}"/>
              </a:ext>
            </a:extLst>
          </p:cNvPr>
          <p:cNvSpPr/>
          <p:nvPr/>
        </p:nvSpPr>
        <p:spPr>
          <a:xfrm>
            <a:off x="5306518" y="3237875"/>
            <a:ext cx="1633928" cy="959371"/>
          </a:xfrm>
          <a:prstGeom prst="wedgeRoundRectCallout">
            <a:avLst>
              <a:gd name="adj1" fmla="val 66323"/>
              <a:gd name="adj2" fmla="val 78906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Scroll the output window 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C40C5-DFDD-9F46-B4D4-10A0B1AAB5EC}"/>
              </a:ext>
            </a:extLst>
          </p:cNvPr>
          <p:cNvSpPr txBox="1"/>
          <p:nvPr/>
        </p:nvSpPr>
        <p:spPr>
          <a:xfrm>
            <a:off x="1851285" y="5285703"/>
            <a:ext cx="5441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What is the </a:t>
            </a:r>
            <a:r>
              <a:rPr lang="en-US" sz="2000" b="1" dirty="0">
                <a:solidFill>
                  <a:srgbClr val="00B050"/>
                </a:solidFill>
              </a:rPr>
              <a:t>one temperature that is the </a:t>
            </a:r>
            <a:r>
              <a:rPr lang="en-US" sz="2000" b="1" u="sng" dirty="0">
                <a:solidFill>
                  <a:srgbClr val="00B050"/>
                </a:solidFill>
              </a:rPr>
              <a:t>same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in both Fahrenheit and Celsius?</a:t>
            </a:r>
          </a:p>
        </p:txBody>
      </p:sp>
    </p:spTree>
    <p:extLst>
      <p:ext uri="{BB962C8B-B14F-4D97-AF65-F5344CB8AC3E}">
        <p14:creationId xmlns:p14="http://schemas.microsoft.com/office/powerpoint/2010/main" val="1717677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FB89-D3C4-3F84-7C29-5CBC4D83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AF29-8283-E98E-27FB-3D1C84F54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Temperature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34036-386C-633D-A0D8-D2D10B66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90F0E1-9B81-AA63-F634-2309971EF6E6}"/>
                  </a:ext>
                </a:extLst>
              </p:cNvPr>
              <p:cNvSpPr txBox="1"/>
              <p:nvPr/>
            </p:nvSpPr>
            <p:spPr>
              <a:xfrm>
                <a:off x="3896367" y="1624264"/>
                <a:ext cx="1351267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90F0E1-9B81-AA63-F634-2309971EF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367" y="1624264"/>
                <a:ext cx="1351267" cy="5204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06599B-0832-BF57-34D6-29BF0CCDBE3A}"/>
                  </a:ext>
                </a:extLst>
              </p:cNvPr>
              <p:cNvSpPr txBox="1"/>
              <p:nvPr/>
            </p:nvSpPr>
            <p:spPr>
              <a:xfrm>
                <a:off x="3890692" y="2348904"/>
                <a:ext cx="136261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06599B-0832-BF57-34D6-29BF0CCDB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692" y="2348904"/>
                <a:ext cx="1362616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31CC2B-0BEF-93E1-E9D5-3222BE577C17}"/>
                  </a:ext>
                </a:extLst>
              </p:cNvPr>
              <p:cNvSpPr txBox="1"/>
              <p:nvPr/>
            </p:nvSpPr>
            <p:spPr>
              <a:xfrm>
                <a:off x="3890692" y="3073544"/>
                <a:ext cx="1362617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31CC2B-0BEF-93E1-E9D5-3222BE577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692" y="3073544"/>
                <a:ext cx="1362617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B98C6E-076D-3378-0E6A-5732B721AC9A}"/>
                  </a:ext>
                </a:extLst>
              </p:cNvPr>
              <p:cNvSpPr txBox="1"/>
              <p:nvPr/>
            </p:nvSpPr>
            <p:spPr>
              <a:xfrm>
                <a:off x="3807336" y="3798184"/>
                <a:ext cx="1529328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B98C6E-076D-3378-0E6A-5732B721A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36" y="3798184"/>
                <a:ext cx="1529328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26D115-242D-D294-3682-F5DD58A264D9}"/>
                  </a:ext>
                </a:extLst>
              </p:cNvPr>
              <p:cNvSpPr txBox="1"/>
              <p:nvPr/>
            </p:nvSpPr>
            <p:spPr>
              <a:xfrm>
                <a:off x="4000113" y="4528402"/>
                <a:ext cx="1143775" cy="519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26D115-242D-D294-3682-F5DD58A26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113" y="4528402"/>
                <a:ext cx="1143775" cy="5194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F3F5CF-01AC-4D68-0B6F-B6F7E7F3A8E8}"/>
                  </a:ext>
                </a:extLst>
              </p:cNvPr>
              <p:cNvSpPr txBox="1"/>
              <p:nvPr/>
            </p:nvSpPr>
            <p:spPr>
              <a:xfrm>
                <a:off x="3466185" y="5252016"/>
                <a:ext cx="2211631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−40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F3F5CF-01AC-4D68-0B6F-B6F7E7F3A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185" y="5252016"/>
                <a:ext cx="2211631" cy="6223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B402575-92E6-83E0-29AF-9DBC1B867110}"/>
              </a:ext>
            </a:extLst>
          </p:cNvPr>
          <p:cNvSpPr txBox="1"/>
          <p:nvPr/>
        </p:nvSpPr>
        <p:spPr>
          <a:xfrm>
            <a:off x="4114800" y="281137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B5A0E-C05D-F94C-C048-A41393D357C9}"/>
              </a:ext>
            </a:extLst>
          </p:cNvPr>
          <p:cNvSpPr txBox="1"/>
          <p:nvPr/>
        </p:nvSpPr>
        <p:spPr>
          <a:xfrm>
            <a:off x="340693" y="3080961"/>
            <a:ext cx="2903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Temperature</a:t>
            </a:r>
            <a:r>
              <a:rPr lang="en-US" dirty="0">
                <a:solidFill>
                  <a:srgbClr val="7030A0"/>
                </a:solidFill>
              </a:rPr>
              <a:t> = Avg. KE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An </a:t>
            </a:r>
            <a:r>
              <a:rPr lang="en-US" i="1" dirty="0">
                <a:solidFill>
                  <a:srgbClr val="7030A0"/>
                </a:solidFill>
              </a:rPr>
              <a:t>intensive</a:t>
            </a:r>
            <a:r>
              <a:rPr lang="en-US" dirty="0">
                <a:solidFill>
                  <a:srgbClr val="7030A0"/>
                </a:solidFill>
              </a:rPr>
              <a:t> property that DOES NOT depend on how much material you have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9F9A66-B8BD-2827-1B31-33520C10975C}"/>
              </a:ext>
            </a:extLst>
          </p:cNvPr>
          <p:cNvSpPr txBox="1"/>
          <p:nvPr/>
        </p:nvSpPr>
        <p:spPr>
          <a:xfrm>
            <a:off x="5899753" y="3080961"/>
            <a:ext cx="2903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Heat Content</a:t>
            </a:r>
            <a:r>
              <a:rPr lang="en-US" dirty="0">
                <a:solidFill>
                  <a:srgbClr val="7030A0"/>
                </a:solidFill>
              </a:rPr>
              <a:t> = </a:t>
            </a:r>
            <a:r>
              <a:rPr lang="en-US" u="sng" dirty="0">
                <a:solidFill>
                  <a:srgbClr val="7030A0"/>
                </a:solidFill>
              </a:rPr>
              <a:t>enthalpy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An </a:t>
            </a:r>
            <a:r>
              <a:rPr lang="en-US" i="1" dirty="0">
                <a:solidFill>
                  <a:srgbClr val="7030A0"/>
                </a:solidFill>
              </a:rPr>
              <a:t>extensive</a:t>
            </a:r>
            <a:r>
              <a:rPr lang="en-US" dirty="0">
                <a:solidFill>
                  <a:srgbClr val="7030A0"/>
                </a:solidFill>
              </a:rPr>
              <a:t> property that DOES depend on how much material you have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0C078F-E5C7-6750-78D8-3F93F60D21DD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5677816" y="5563191"/>
            <a:ext cx="59464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59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262" y="1617198"/>
            <a:ext cx="6696145" cy="48635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How did we calculate absolute zero in </a:t>
            </a:r>
            <a:r>
              <a:rPr lang="en-US" sz="3200" b="1" dirty="0">
                <a:latin typeface="+mn-lt"/>
              </a:rPr>
              <a:t>1779</a:t>
            </a:r>
            <a:r>
              <a:rPr lang="en-US" sz="3200" dirty="0">
                <a:latin typeface="+mn-lt"/>
              </a:rPr>
              <a:t>?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(PV = nRT)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2661770"/>
            <a:ext cx="1784814" cy="10032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3994" y="3553964"/>
            <a:ext cx="2545311" cy="138918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3431381" y="2671508"/>
            <a:ext cx="3326607" cy="3777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293144" y="4855369"/>
            <a:ext cx="4081462" cy="66198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431380" y="2903941"/>
            <a:ext cx="2943226" cy="38222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431381" y="3120408"/>
            <a:ext cx="2643188" cy="4218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498295C-C3EC-AAA6-EE35-CD9BE19A102C}"/>
              </a:ext>
            </a:extLst>
          </p:cNvPr>
          <p:cNvSpPr txBox="1"/>
          <p:nvPr/>
        </p:nvSpPr>
        <p:spPr>
          <a:xfrm>
            <a:off x="411918" y="1098575"/>
            <a:ext cx="2507745" cy="307777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Johann Heinrich Lambert (1779)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A6EF80-4FB9-148C-7A84-4AB9DECEB4EB}"/>
              </a:ext>
            </a:extLst>
          </p:cNvPr>
          <p:cNvCxnSpPr>
            <a:cxnSpLocks/>
          </p:cNvCxnSpPr>
          <p:nvPr/>
        </p:nvCxnSpPr>
        <p:spPr>
          <a:xfrm flipH="1">
            <a:off x="4329113" y="3283780"/>
            <a:ext cx="1513472" cy="9535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E2D892-C8D4-47CF-E7B9-9537DF19F82E}"/>
              </a:ext>
            </a:extLst>
          </p:cNvPr>
          <p:cNvSpPr txBox="1"/>
          <p:nvPr/>
        </p:nvSpPr>
        <p:spPr>
          <a:xfrm>
            <a:off x="6757988" y="1021631"/>
            <a:ext cx="21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FF0000"/>
                </a:solidFill>
              </a:rPr>
              <a:t>Jacques Charles (1787)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Joseph Louis Gay-Lussac (1802)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E0937E-8AF1-D0CD-1CBB-817FA507D700}"/>
              </a:ext>
            </a:extLst>
          </p:cNvPr>
          <p:cNvSpPr txBox="1"/>
          <p:nvPr/>
        </p:nvSpPr>
        <p:spPr>
          <a:xfrm>
            <a:off x="1784522" y="2293412"/>
            <a:ext cx="1763921" cy="307777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“Air Thermometer”</a:t>
            </a:r>
          </a:p>
        </p:txBody>
      </p:sp>
    </p:spTree>
    <p:extLst>
      <p:ext uri="{BB962C8B-B14F-4D97-AF65-F5344CB8AC3E}">
        <p14:creationId xmlns:p14="http://schemas.microsoft.com/office/powerpoint/2010/main" val="394420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02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respects </a:t>
            </a:r>
            <a:r>
              <a:rPr lang="en-US" sz="2400" b="1" dirty="0"/>
              <a:t>PEMDAS</a:t>
            </a:r>
            <a:r>
              <a:rPr lang="en-US" sz="2400" dirty="0"/>
              <a:t> operator precedence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define variables in Python (</a:t>
            </a:r>
            <a:r>
              <a:rPr lang="en-US" sz="2400" b="1" dirty="0">
                <a:solidFill>
                  <a:srgbClr val="0070C0"/>
                </a:solidFill>
              </a:rPr>
              <a:t>snake_case</a:t>
            </a:r>
            <a:r>
              <a:rPr lang="en-US" sz="2400" dirty="0"/>
              <a:t>)</a:t>
            </a:r>
            <a:endParaRPr lang="en-US" sz="2400" b="1" dirty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use </a:t>
            </a:r>
            <a:r>
              <a:rPr lang="en-US" sz="2400" b="1" dirty="0"/>
              <a:t>print</a:t>
            </a:r>
            <a:r>
              <a:rPr lang="en-US" sz="2400" dirty="0"/>
              <a:t>()</a:t>
            </a:r>
            <a:r>
              <a:rPr lang="en-US" sz="2400" b="1" dirty="0"/>
              <a:t> </a:t>
            </a:r>
            <a:r>
              <a:rPr lang="en-US" sz="2400" dirty="0"/>
              <a:t>to show variable values on screen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use </a:t>
            </a:r>
            <a:r>
              <a:rPr lang="en-US" sz="2400" b="1" dirty="0"/>
              <a:t>f-strings</a:t>
            </a:r>
            <a:r>
              <a:rPr lang="en-US" sz="2400" dirty="0"/>
              <a:t> and </a:t>
            </a:r>
            <a:r>
              <a:rPr lang="en-US" sz="2400" b="1" dirty="0"/>
              <a:t>print format specifiers</a:t>
            </a:r>
            <a:r>
              <a:rPr lang="en-US" sz="2400" dirty="0"/>
              <a:t> (replacement fields) to give your output a more professional appearance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use </a:t>
            </a:r>
            <a:r>
              <a:rPr lang="en-US" sz="2400" b="1" dirty="0"/>
              <a:t>for</a:t>
            </a:r>
            <a:r>
              <a:rPr lang="en-US" sz="2400" dirty="0"/>
              <a:t> loops with a </a:t>
            </a:r>
            <a:r>
              <a:rPr lang="en-US" sz="2400" b="1" dirty="0"/>
              <a:t>range() </a:t>
            </a:r>
            <a:r>
              <a:rPr lang="en-US" sz="2400" dirty="0"/>
              <a:t>function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7C4-7DE6-4E7A-C6B2-5ABB65AA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latin typeface="+mn-lt"/>
              </a:rPr>
              <a:t>TASK 02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F2F9-4030-DA6C-06CA-A0EE555C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r>
              <a:rPr lang="en-US" sz="2400" dirty="0"/>
              <a:t>Update the code in </a:t>
            </a:r>
            <a:r>
              <a:rPr lang="en-US" sz="2400" b="1" dirty="0"/>
              <a:t>age_in_seconds.py </a:t>
            </a:r>
            <a:r>
              <a:rPr lang="en-US" sz="2400" dirty="0"/>
              <a:t>to calculate and display your age in both years </a:t>
            </a:r>
            <a:r>
              <a:rPr lang="en-US" sz="2400" i="1" dirty="0"/>
              <a:t>and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FDF3A-2C6D-91EB-88A5-0196BBE6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0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6193</TotalTime>
  <Words>1512</Words>
  <Application>Microsoft Office PowerPoint</Application>
  <PresentationFormat>On-screen Show (4:3)</PresentationFormat>
  <Paragraphs>259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02 – Goals</vt:lpstr>
      <vt:lpstr>The Python Tutorial</vt:lpstr>
      <vt:lpstr>Python’s Built-in Functions</vt:lpstr>
      <vt:lpstr>Python’s Built-in Data Types</vt:lpstr>
      <vt:lpstr>Mathematical Operators</vt:lpstr>
      <vt:lpstr>Open pemdas.py</vt:lpstr>
      <vt:lpstr>Edit &amp; Run pemdas.py</vt:lpstr>
      <vt:lpstr>Edit then Run pemdas.py</vt:lpstr>
      <vt:lpstr>Identifiers</vt:lpstr>
      <vt:lpstr>Variable Types</vt:lpstr>
      <vt:lpstr>Displaying Variables</vt:lpstr>
      <vt:lpstr>Edit then Run pemdas.py</vt:lpstr>
      <vt:lpstr>Edit then Run pemdas.py</vt:lpstr>
      <vt:lpstr>Edit then Run pemdas.py</vt:lpstr>
      <vt:lpstr>Edit then Run pemdas.py</vt:lpstr>
      <vt:lpstr>Edit then Run pemdas.py</vt:lpstr>
      <vt:lpstr>Edit then Run pemdas.py</vt:lpstr>
      <vt:lpstr>Displaying Variables</vt:lpstr>
      <vt:lpstr>print() and f-strings</vt:lpstr>
      <vt:lpstr>Some Common Format Specifiers</vt:lpstr>
      <vt:lpstr>Edit then Run pemdas.py</vt:lpstr>
      <vt:lpstr>Edit then Run pemdas.py</vt:lpstr>
      <vt:lpstr>PEP 8 – Style Guide for Python Code</vt:lpstr>
      <vt:lpstr>The black Package</vt:lpstr>
      <vt:lpstr>The Ruff Formatter</vt:lpstr>
      <vt:lpstr>Edit then Run age_in_weeks.py</vt:lpstr>
      <vt:lpstr>for loops</vt:lpstr>
      <vt:lpstr>for loops</vt:lpstr>
      <vt:lpstr>for loops</vt:lpstr>
      <vt:lpstr>for loops</vt:lpstr>
      <vt:lpstr>Temperature Conversion</vt:lpstr>
      <vt:lpstr>Edit fahrenheit_to_celsius.py </vt:lpstr>
      <vt:lpstr>Run fahrenheit_to_celsius.py</vt:lpstr>
      <vt:lpstr>Temperature Equivalence</vt:lpstr>
      <vt:lpstr>How did we calculate absolute zero in 1779? (PV = nRT)</vt:lpstr>
      <vt:lpstr>Session 02 – Now You Know…</vt:lpstr>
      <vt:lpstr>TASK 02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985</cp:revision>
  <cp:lastPrinted>2015-06-01T00:45:11Z</cp:lastPrinted>
  <dcterms:created xsi:type="dcterms:W3CDTF">2014-09-21T17:58:26Z</dcterms:created>
  <dcterms:modified xsi:type="dcterms:W3CDTF">2025-12-18T18:54:14Z</dcterms:modified>
</cp:coreProperties>
</file>