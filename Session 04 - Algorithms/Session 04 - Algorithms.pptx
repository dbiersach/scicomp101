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handoutMasterIdLst>
    <p:handoutMasterId r:id="rId58"/>
  </p:handoutMasterIdLst>
  <p:sldIdLst>
    <p:sldId id="1220" r:id="rId2"/>
    <p:sldId id="972" r:id="rId3"/>
    <p:sldId id="1409" r:id="rId4"/>
    <p:sldId id="1394" r:id="rId5"/>
    <p:sldId id="1395" r:id="rId6"/>
    <p:sldId id="1396" r:id="rId7"/>
    <p:sldId id="1397" r:id="rId8"/>
    <p:sldId id="1289" r:id="rId9"/>
    <p:sldId id="1290" r:id="rId10"/>
    <p:sldId id="1401" r:id="rId11"/>
    <p:sldId id="1186" r:id="rId12"/>
    <p:sldId id="1187" r:id="rId13"/>
    <p:sldId id="1268" r:id="rId14"/>
    <p:sldId id="1271" r:id="rId15"/>
    <p:sldId id="1270" r:id="rId16"/>
    <p:sldId id="1269" r:id="rId17"/>
    <p:sldId id="1273" r:id="rId18"/>
    <p:sldId id="1265" r:id="rId19"/>
    <p:sldId id="282" r:id="rId20"/>
    <p:sldId id="1398" r:id="rId21"/>
    <p:sldId id="1399" r:id="rId22"/>
    <p:sldId id="1400" r:id="rId23"/>
    <p:sldId id="1403" r:id="rId24"/>
    <p:sldId id="1267" r:id="rId25"/>
    <p:sldId id="1331" r:id="rId26"/>
    <p:sldId id="1266" r:id="rId27"/>
    <p:sldId id="1274" r:id="rId28"/>
    <p:sldId id="1282" r:id="rId29"/>
    <p:sldId id="1285" r:id="rId30"/>
    <p:sldId id="1284" r:id="rId31"/>
    <p:sldId id="1332" r:id="rId32"/>
    <p:sldId id="1404" r:id="rId33"/>
    <p:sldId id="1405" r:id="rId34"/>
    <p:sldId id="1406" r:id="rId35"/>
    <p:sldId id="1407" r:id="rId36"/>
    <p:sldId id="1287" r:id="rId37"/>
    <p:sldId id="1031" r:id="rId38"/>
    <p:sldId id="309" r:id="rId39"/>
    <p:sldId id="307" r:id="rId40"/>
    <p:sldId id="308" r:id="rId41"/>
    <p:sldId id="280" r:id="rId42"/>
    <p:sldId id="969" r:id="rId43"/>
    <p:sldId id="1402" r:id="rId44"/>
    <p:sldId id="1307" r:id="rId45"/>
    <p:sldId id="312" r:id="rId46"/>
    <p:sldId id="501" r:id="rId47"/>
    <p:sldId id="383" r:id="rId48"/>
    <p:sldId id="994" r:id="rId49"/>
    <p:sldId id="995" r:id="rId50"/>
    <p:sldId id="1025" r:id="rId51"/>
    <p:sldId id="1408" r:id="rId52"/>
    <p:sldId id="997" r:id="rId53"/>
    <p:sldId id="1393" r:id="rId54"/>
    <p:sldId id="1410" r:id="rId55"/>
    <p:sldId id="1253" r:id="rId56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4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430B-5475-5C3B-EC26-4B3376C3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7AE8-CD0B-D5F2-6ADA-0F9AA7C12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52AFF-ACFB-FB9B-E96E-BB884425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2C9D8-E62D-1B64-C17B-836D6A8E4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22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04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Shebang_(Unix)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25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python.org/3/library/__main__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slicing-and-indexing-in-python/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04</a:t>
            </a:r>
          </a:p>
          <a:p>
            <a:pPr algn="ctr"/>
            <a:r>
              <a:rPr lang="en-US" dirty="0"/>
              <a:t>Algorithms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04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Understand the syntax and motivation for the </a:t>
            </a:r>
            <a:r>
              <a:rPr lang="en-US" sz="2400" b="1" dirty="0">
                <a:solidFill>
                  <a:srgbClr val="7030A0"/>
                </a:solidFill>
              </a:rPr>
              <a:t>Unix shebang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docstrings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Utilize the </a:t>
            </a:r>
            <a:r>
              <a:rPr lang="en-US" sz="2400" b="1" dirty="0">
                <a:solidFill>
                  <a:srgbClr val="00B050"/>
                </a:solidFill>
              </a:rPr>
              <a:t>main guard </a:t>
            </a:r>
            <a:r>
              <a:rPr lang="en-US" sz="2400" dirty="0"/>
              <a:t>and a </a:t>
            </a:r>
            <a:r>
              <a:rPr lang="en-US" sz="2400" b="1" dirty="0"/>
              <a:t>main()</a:t>
            </a:r>
            <a:r>
              <a:rPr lang="en-US" sz="2400" dirty="0"/>
              <a:t> function to clearly designate the place where your Python script </a:t>
            </a:r>
            <a:r>
              <a:rPr lang="en-US" sz="2400" u="sng" dirty="0"/>
              <a:t>starts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Review how to define a custom (user-defined) function using the </a:t>
            </a:r>
            <a:r>
              <a:rPr lang="en-US" sz="2400" b="1" dirty="0">
                <a:solidFill>
                  <a:srgbClr val="0070C0"/>
                </a:solidFill>
              </a:rPr>
              <a:t>def </a:t>
            </a:r>
            <a:r>
              <a:rPr lang="en-US" sz="2400" dirty="0"/>
              <a:t>keyword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Convert integers to and from Base 10 (decimal) and Base 2 </a:t>
            </a:r>
            <a:r>
              <a:rPr lang="en-US" sz="2400" b="1" dirty="0">
                <a:solidFill>
                  <a:srgbClr val="FF0000"/>
                </a:solidFill>
              </a:rPr>
              <a:t>(binary)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Implement a </a:t>
            </a:r>
            <a:r>
              <a:rPr lang="en-US" sz="2400" b="1" dirty="0"/>
              <a:t>while</a:t>
            </a:r>
            <a:r>
              <a:rPr lang="en-US" sz="2400" dirty="0"/>
              <a:t> loop to repeatedly execute code until a </a:t>
            </a:r>
            <a:r>
              <a:rPr lang="en-US" sz="2400" i="1" dirty="0"/>
              <a:t>test condition </a:t>
            </a:r>
            <a:r>
              <a:rPr lang="en-US" sz="2400" dirty="0"/>
              <a:t>obtains a desired value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A721-5757-29E4-8367-ECFF782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D668-FE35-32A3-5355-C0D757BB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04</a:t>
            </a:r>
            <a:r>
              <a:rPr lang="en-US" sz="3200" dirty="0">
                <a:latin typeface="+mn-lt"/>
              </a:rPr>
              <a:t> – Goals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6B3E-E3CA-AA8E-4FA7-26967CFB3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Learn about the </a:t>
            </a:r>
            <a:r>
              <a:rPr lang="en-US" sz="2400" b="1" dirty="0">
                <a:solidFill>
                  <a:srgbClr val="7030A0"/>
                </a:solidFill>
              </a:rPr>
              <a:t>Hamming weight </a:t>
            </a:r>
            <a:r>
              <a:rPr lang="en-US" sz="2400" dirty="0"/>
              <a:t>(popcount) of an integer and consider algorithm </a:t>
            </a:r>
            <a:r>
              <a:rPr lang="en-US" sz="2400" u="sng" dirty="0"/>
              <a:t>efficiency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Write code to </a:t>
            </a:r>
            <a:r>
              <a:rPr lang="en-US" sz="2400" b="1" dirty="0">
                <a:solidFill>
                  <a:srgbClr val="FF0000"/>
                </a:solidFill>
              </a:rPr>
              <a:t>factor a quadratic expression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Implement an </a:t>
            </a:r>
            <a:r>
              <a:rPr lang="en-US" sz="2400" b="1" dirty="0">
                <a:solidFill>
                  <a:srgbClr val="0070C0"/>
                </a:solidFill>
              </a:rPr>
              <a:t>if/else clause</a:t>
            </a:r>
            <a:r>
              <a:rPr lang="en-US" sz="2400" dirty="0"/>
              <a:t> to support conditional code execution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Consider how to </a:t>
            </a:r>
            <a:r>
              <a:rPr lang="en-US" sz="2400" b="1" dirty="0"/>
              <a:t>sort a list of integers </a:t>
            </a:r>
            <a:r>
              <a:rPr lang="en-US" sz="2400" dirty="0"/>
              <a:t>using the </a:t>
            </a:r>
            <a:r>
              <a:rPr lang="en-US" sz="2400" b="1" dirty="0">
                <a:solidFill>
                  <a:srgbClr val="00B050"/>
                </a:solidFill>
              </a:rPr>
              <a:t>Bubble Sort </a:t>
            </a:r>
            <a:r>
              <a:rPr lang="en-US" sz="2400" dirty="0"/>
              <a:t>algorithm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Instrument code to </a:t>
            </a:r>
            <a:r>
              <a:rPr lang="en-US" sz="2400" b="1" dirty="0"/>
              <a:t>time its performance </a:t>
            </a:r>
            <a:r>
              <a:rPr lang="en-US" sz="2400" dirty="0"/>
              <a:t>for comparative reference to </a:t>
            </a:r>
            <a:r>
              <a:rPr lang="en-US" sz="2400" i="1" dirty="0"/>
              <a:t>potentially</a:t>
            </a:r>
            <a:r>
              <a:rPr lang="en-US" sz="2400" dirty="0"/>
              <a:t> faster algorithms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3F89F-C4F4-D8D9-9B2D-44B7B64D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1DBE-051B-8686-D921-36590F55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7E91-0692-4010-94EF-9318C24D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Unix Shebang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4B0E2-A718-E6B9-35C1-1F02D49A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EBF6BE-4630-5A54-440E-B8ACA0469D3C}"/>
              </a:ext>
            </a:extLst>
          </p:cNvPr>
          <p:cNvSpPr txBox="1"/>
          <p:nvPr/>
        </p:nvSpPr>
        <p:spPr>
          <a:xfrm>
            <a:off x="2286000" y="12769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https://en.wikipedia.org/wiki/Shebang_(Unix)</a:t>
            </a:r>
            <a:r>
              <a:rPr lang="en-US" dirty="0"/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289DFEA-72C0-A3CE-DD3D-4B83F97A0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is a common convention in UNIX shell (command line interface or CLI) scripts to specify, </a:t>
            </a:r>
            <a:r>
              <a:rPr lang="en-US" sz="2400" b="1" dirty="0">
                <a:solidFill>
                  <a:srgbClr val="FF0000"/>
                </a:solidFill>
              </a:rPr>
              <a:t>in the first line of the file</a:t>
            </a:r>
            <a:r>
              <a:rPr lang="en-US" sz="2400" dirty="0"/>
              <a:t>,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dirty="0"/>
              <a:t>the name of the program the OS should use to </a:t>
            </a:r>
            <a:r>
              <a:rPr lang="en-US" sz="2400" b="1" dirty="0">
                <a:solidFill>
                  <a:srgbClr val="00B050"/>
                </a:solidFill>
              </a:rPr>
              <a:t>interpret/execute </a:t>
            </a:r>
            <a:r>
              <a:rPr lang="en-US" sz="2400" dirty="0"/>
              <a:t>the script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This is also known as the Unix </a:t>
            </a:r>
            <a:r>
              <a:rPr lang="en-US" sz="2400" b="1" dirty="0">
                <a:solidFill>
                  <a:srgbClr val="7030A0"/>
                </a:solidFill>
              </a:rPr>
              <a:t>shebang</a:t>
            </a:r>
            <a:r>
              <a:rPr lang="en-US" sz="2400" dirty="0"/>
              <a:t>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OS will run the </a:t>
            </a:r>
            <a:r>
              <a:rPr lang="en-US" sz="2400" b="1" dirty="0"/>
              <a:t>env</a:t>
            </a:r>
            <a:r>
              <a:rPr lang="en-US" sz="2400" dirty="0"/>
              <a:t> command, which locates the </a:t>
            </a:r>
            <a:r>
              <a:rPr lang="en-US" sz="2400" u="sng" dirty="0"/>
              <a:t>first </a:t>
            </a:r>
            <a:r>
              <a:rPr lang="en-US" sz="2400" b="1" dirty="0"/>
              <a:t>python3</a:t>
            </a:r>
            <a:r>
              <a:rPr lang="en-US" sz="2400" dirty="0"/>
              <a:t> executable (interpreter) in your current </a:t>
            </a:r>
            <a:r>
              <a:rPr lang="en-US" sz="2400" b="1" dirty="0">
                <a:solidFill>
                  <a:srgbClr val="0070C0"/>
                </a:solidFill>
              </a:rPr>
              <a:t>PATH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respects Python </a:t>
            </a:r>
            <a:r>
              <a:rPr lang="en-US" sz="2400" b="1" dirty="0"/>
              <a:t>virtual environments</a:t>
            </a:r>
            <a:r>
              <a:rPr lang="en-US" sz="2400" dirty="0"/>
              <a:t> (.venv)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is portable across Unix-like systems (Linux, macOS) and MS Windows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1CD277-992E-6F63-59F9-E0CE7732D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659" y="3758877"/>
            <a:ext cx="3948681" cy="34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2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6132-11C1-1065-9960-FCC3E84E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065F-871B-C1C7-5EF7-7FA66102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Docstrings and PEP 257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D04B2-1C44-5579-E9E7-F8C3C591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F2EE0-0E71-7A08-9726-A4EBD9EA1967}"/>
              </a:ext>
            </a:extLst>
          </p:cNvPr>
          <p:cNvSpPr txBox="1"/>
          <p:nvPr/>
        </p:nvSpPr>
        <p:spPr>
          <a:xfrm>
            <a:off x="2286000" y="12769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https://peps.python.org/pep-0257</a:t>
            </a:r>
            <a:r>
              <a:rPr lang="en-US" dirty="0"/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047D15-4920-2987-2295-1ACB5A7D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/>
              <a:t>docstring</a:t>
            </a:r>
            <a:r>
              <a:rPr lang="en-US" sz="2400" dirty="0"/>
              <a:t> is a string literal that occurs </a:t>
            </a:r>
            <a:r>
              <a:rPr lang="en-US" sz="2400" b="1" dirty="0">
                <a:solidFill>
                  <a:srgbClr val="FF0000"/>
                </a:solidFill>
              </a:rPr>
              <a:t>as the first statement</a:t>
            </a:r>
            <a:r>
              <a:rPr lang="en-US" sz="2400" dirty="0"/>
              <a:t> in a module, function, class, or method definition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should be a </a:t>
            </a:r>
            <a:r>
              <a:rPr lang="en-US" sz="2400" u="sng" dirty="0"/>
              <a:t>concise</a:t>
            </a:r>
            <a:r>
              <a:rPr lang="en-US" sz="2400" dirty="0"/>
              <a:t> summary of the purpose of the script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should explain the intent and the audience of the code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For consistency, always use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"""triple double quotes""" </a:t>
            </a:r>
            <a:r>
              <a:rPr lang="en-US" sz="2400" dirty="0"/>
              <a:t>around docstrings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format and use of docstrings is covered in </a:t>
            </a:r>
            <a:r>
              <a:rPr lang="en-US" sz="2400" b="1" dirty="0">
                <a:solidFill>
                  <a:srgbClr val="0070C0"/>
                </a:solidFill>
              </a:rPr>
              <a:t>PEP 257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Tools like </a:t>
            </a:r>
            <a:r>
              <a:rPr lang="en-US" sz="2400" b="1" dirty="0"/>
              <a:t>help(), </a:t>
            </a:r>
            <a:r>
              <a:rPr lang="en-US" sz="2400" b="1" dirty="0" err="1">
                <a:solidFill>
                  <a:srgbClr val="00B050"/>
                </a:solidFill>
              </a:rPr>
              <a:t>pydoc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7030A0"/>
                </a:solidFill>
              </a:rPr>
              <a:t>IDE tooltips</a:t>
            </a:r>
            <a:r>
              <a:rPr lang="en-US" sz="2400" dirty="0"/>
              <a:t>, and documentation generators can display docstrings automatically, keeping docs close to the code</a:t>
            </a:r>
          </a:p>
        </p:txBody>
      </p:sp>
    </p:spTree>
    <p:extLst>
      <p:ext uri="{BB962C8B-B14F-4D97-AF65-F5344CB8AC3E}">
        <p14:creationId xmlns:p14="http://schemas.microsoft.com/office/powerpoint/2010/main" val="177824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88B1-9744-F9B8-72BC-AF320974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A898-ADE2-3F3A-6B8D-8B15B5B7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base_conversion.py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30463-87A7-C7C4-0A12-B9DC4DE7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689EF8-B71C-3300-B3E9-6E16BF0E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47" y="1654350"/>
            <a:ext cx="6361905" cy="414285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096EDFF-F729-D24F-A5A3-0EF98F0E0335}"/>
              </a:ext>
            </a:extLst>
          </p:cNvPr>
          <p:cNvGrpSpPr/>
          <p:nvPr/>
        </p:nvGrpSpPr>
        <p:grpSpPr>
          <a:xfrm>
            <a:off x="4081808" y="1614244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7C34CC1-76CA-AA05-AF6C-1BC8A541A9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DB41BB-73C5-94AF-F578-AA22B74EB37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2AA72B-14EA-5D7E-6D8D-1BE044A0EE53}"/>
              </a:ext>
            </a:extLst>
          </p:cNvPr>
          <p:cNvSpPr txBox="1"/>
          <p:nvPr/>
        </p:nvSpPr>
        <p:spPr>
          <a:xfrm>
            <a:off x="5135379" y="1614244"/>
            <a:ext cx="172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The Unix </a:t>
            </a:r>
            <a:r>
              <a:rPr lang="en-US" sz="1600" b="1" dirty="0">
                <a:solidFill>
                  <a:srgbClr val="FFFF00"/>
                </a:solidFill>
              </a:rPr>
              <a:t>shebang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32F110-EB13-48AD-5364-C1BBBC383345}"/>
              </a:ext>
            </a:extLst>
          </p:cNvPr>
          <p:cNvGrpSpPr/>
          <p:nvPr/>
        </p:nvGrpSpPr>
        <p:grpSpPr>
          <a:xfrm>
            <a:off x="208144" y="1983576"/>
            <a:ext cx="1527809" cy="1617877"/>
            <a:chOff x="208144" y="1983576"/>
            <a:chExt cx="1527809" cy="1617877"/>
          </a:xfrm>
        </p:grpSpPr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E5CB8C87-3890-8AC8-0C1D-DADD6CC60A7E}"/>
                </a:ext>
              </a:extLst>
            </p:cNvPr>
            <p:cNvSpPr/>
            <p:nvPr/>
          </p:nvSpPr>
          <p:spPr>
            <a:xfrm>
              <a:off x="1219201" y="1983576"/>
              <a:ext cx="516752" cy="1617877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038161-990E-6954-15F5-4541AFFC749B}"/>
                </a:ext>
              </a:extLst>
            </p:cNvPr>
            <p:cNvSpPr txBox="1"/>
            <p:nvPr/>
          </p:nvSpPr>
          <p:spPr>
            <a:xfrm>
              <a:off x="208144" y="2422711"/>
              <a:ext cx="10969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A docstring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46C6BE-09AE-E979-9F08-1925BF917D86}"/>
              </a:ext>
            </a:extLst>
          </p:cNvPr>
          <p:cNvGrpSpPr/>
          <p:nvPr/>
        </p:nvGrpSpPr>
        <p:grpSpPr>
          <a:xfrm>
            <a:off x="2208694" y="1798910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A89186-D7D9-B6B7-AF94-488889426D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9EBD11-7EBE-9325-2792-F3F52FFCE84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4CAC95-B269-09E2-880D-909E1CEC4902}"/>
              </a:ext>
            </a:extLst>
          </p:cNvPr>
          <p:cNvGrpSpPr/>
          <p:nvPr/>
        </p:nvGrpSpPr>
        <p:grpSpPr>
          <a:xfrm>
            <a:off x="2208694" y="3416787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C73A67-5135-83FD-10E4-E96AD38CAEC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0C6D7D2-6019-2D16-F401-5A266F01C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D8D0EF6-7105-F3B3-BFD8-560B68CEEA69}"/>
              </a:ext>
            </a:extLst>
          </p:cNvPr>
          <p:cNvSpPr txBox="1"/>
          <p:nvPr/>
        </p:nvSpPr>
        <p:spPr>
          <a:xfrm>
            <a:off x="3433914" y="1814299"/>
            <a:ext cx="172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Triple quote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DADCA4-A6BD-8144-D012-089948C11E06}"/>
              </a:ext>
            </a:extLst>
          </p:cNvPr>
          <p:cNvSpPr txBox="1"/>
          <p:nvPr/>
        </p:nvSpPr>
        <p:spPr>
          <a:xfrm>
            <a:off x="3433914" y="3447565"/>
            <a:ext cx="172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Triple quote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FFF61-5293-94A0-9F92-8E07E28A5DF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272928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24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647E-5040-1E13-555F-A8612213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75FB8-585C-AF53-2030-E04FFFA4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Running </a:t>
            </a:r>
            <a:r>
              <a:rPr lang="en-US" sz="3200" b="1" dirty="0" err="1">
                <a:latin typeface="+mn-lt"/>
              </a:rPr>
              <a:t>pydoc</a:t>
            </a:r>
            <a:r>
              <a:rPr lang="en-US" sz="3200" dirty="0">
                <a:latin typeface="+mn-lt"/>
              </a:rPr>
              <a:t> on </a:t>
            </a:r>
            <a:r>
              <a:rPr lang="en-US" sz="3200" b="1" dirty="0" err="1">
                <a:latin typeface="+mn-lt"/>
              </a:rPr>
              <a:t>base_conversion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93AF1-E05C-2E9F-340E-89CB57FE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41DE7-D7A8-13EA-2C0A-0FDFB76C7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28" y="1528550"/>
            <a:ext cx="8657143" cy="461904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632ECA-A2B3-C596-C8A9-135924C47005}"/>
              </a:ext>
            </a:extLst>
          </p:cNvPr>
          <p:cNvGrpSpPr/>
          <p:nvPr/>
        </p:nvGrpSpPr>
        <p:grpSpPr>
          <a:xfrm>
            <a:off x="771201" y="2171436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CC47503-201E-BDF0-3651-62B2E56ABA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47FCF0-D60C-BD34-E2EA-00466C565BE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C96219B-0B38-0C4A-00B7-DA3B0B14929F}"/>
              </a:ext>
            </a:extLst>
          </p:cNvPr>
          <p:cNvSpPr/>
          <p:nvPr/>
        </p:nvSpPr>
        <p:spPr>
          <a:xfrm>
            <a:off x="6930189" y="1604211"/>
            <a:ext cx="1909011" cy="272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F00D53-4DF1-7226-6B85-F1AFB2C6C934}"/>
              </a:ext>
            </a:extLst>
          </p:cNvPr>
          <p:cNvGrpSpPr/>
          <p:nvPr/>
        </p:nvGrpSpPr>
        <p:grpSpPr>
          <a:xfrm>
            <a:off x="1382871" y="2806299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4EC225-86F7-E7FD-6A16-2A2DC9BC7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A21C1-C2FF-220D-DD9E-9D9AADB36D76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EA0391-CC13-56B7-CB5F-8615340E199B}"/>
              </a:ext>
            </a:extLst>
          </p:cNvPr>
          <p:cNvGrpSpPr/>
          <p:nvPr/>
        </p:nvGrpSpPr>
        <p:grpSpPr>
          <a:xfrm>
            <a:off x="1287329" y="4059985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F25C4D-F028-CAD1-1C1F-CB1F44975CC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79BD11A-A372-D0D3-034B-9098D1829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B4297C-B17A-B329-ADFF-6C4541495B80}"/>
              </a:ext>
            </a:extLst>
          </p:cNvPr>
          <p:cNvGrpSpPr/>
          <p:nvPr/>
        </p:nvGrpSpPr>
        <p:grpSpPr>
          <a:xfrm>
            <a:off x="771201" y="5522401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5DF2E7-68BC-41D5-027B-1BC400068F1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88469DE-F41D-B403-CCB8-C574A2BE7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215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AC2F29-AB07-F346-B566-C6249E75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651" y="3059091"/>
            <a:ext cx="3826698" cy="1769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Defining </a:t>
            </a:r>
            <a:r>
              <a:rPr lang="en-US" sz="3200" dirty="0">
                <a:latin typeface="+mn-lt"/>
              </a:rPr>
              <a:t>a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C88E3891-9795-4B2E-B8E8-64E045ACE8F4}"/>
              </a:ext>
            </a:extLst>
          </p:cNvPr>
          <p:cNvSpPr/>
          <p:nvPr/>
        </p:nvSpPr>
        <p:spPr>
          <a:xfrm>
            <a:off x="696105" y="1798889"/>
            <a:ext cx="1852160" cy="934574"/>
          </a:xfrm>
          <a:prstGeom prst="wedgeRectCallout">
            <a:avLst>
              <a:gd name="adj1" fmla="val 55467"/>
              <a:gd name="adj2" fmla="val 99142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def</a:t>
            </a:r>
            <a:r>
              <a:rPr lang="en-US" dirty="0">
                <a:solidFill>
                  <a:srgbClr val="FF0000"/>
                </a:solidFill>
              </a:rPr>
              <a:t> is how we define a function</a:t>
            </a: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55EF1644-6FC0-4D60-A538-A49CEB5AD039}"/>
              </a:ext>
            </a:extLst>
          </p:cNvPr>
          <p:cNvSpPr/>
          <p:nvPr/>
        </p:nvSpPr>
        <p:spPr>
          <a:xfrm>
            <a:off x="3829505" y="5252506"/>
            <a:ext cx="1852160" cy="934574"/>
          </a:xfrm>
          <a:prstGeom prst="wedgeRectCallout">
            <a:avLst>
              <a:gd name="adj1" fmla="val -35625"/>
              <a:gd name="adj2" fmla="val -99080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Functions can return a value</a:t>
            </a:r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F921956A-F6BA-4F21-92E8-CBFA436F099B}"/>
              </a:ext>
            </a:extLst>
          </p:cNvPr>
          <p:cNvSpPr/>
          <p:nvPr/>
        </p:nvSpPr>
        <p:spPr>
          <a:xfrm>
            <a:off x="3395368" y="1796131"/>
            <a:ext cx="1050834" cy="934574"/>
          </a:xfrm>
          <a:prstGeom prst="wedgeRectCallout">
            <a:avLst>
              <a:gd name="adj1" fmla="val -30051"/>
              <a:gd name="adj2" fmla="val 8834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function name</a:t>
            </a: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76D3412D-B56C-4219-B8CF-02898842AB47}"/>
              </a:ext>
            </a:extLst>
          </p:cNvPr>
          <p:cNvSpPr/>
          <p:nvPr/>
        </p:nvSpPr>
        <p:spPr>
          <a:xfrm>
            <a:off x="5681665" y="1829249"/>
            <a:ext cx="1455797" cy="716525"/>
          </a:xfrm>
          <a:prstGeom prst="wedgeRectCallout">
            <a:avLst>
              <a:gd name="adj1" fmla="val -152137"/>
              <a:gd name="adj2" fmla="val 135113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inbound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parameter(s)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6FB89A-E16B-E092-7CA5-453392825B1A}"/>
              </a:ext>
            </a:extLst>
          </p:cNvPr>
          <p:cNvSpPr/>
          <p:nvPr/>
        </p:nvSpPr>
        <p:spPr>
          <a:xfrm>
            <a:off x="6163102" y="5087396"/>
            <a:ext cx="1948721" cy="879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Functions are just "named" scopes!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7B56059-E681-93C9-EAEF-26FD7E30425C}"/>
              </a:ext>
            </a:extLst>
          </p:cNvPr>
          <p:cNvSpPr/>
          <p:nvPr/>
        </p:nvSpPr>
        <p:spPr>
          <a:xfrm>
            <a:off x="6332969" y="2794221"/>
            <a:ext cx="1948721" cy="716525"/>
          </a:xfrm>
          <a:prstGeom prst="wedgeRectCallout">
            <a:avLst>
              <a:gd name="adj1" fmla="val -139445"/>
              <a:gd name="adj2" fmla="val 1481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 function introduces a scope</a:t>
            </a:r>
          </a:p>
        </p:txBody>
      </p:sp>
    </p:spTree>
    <p:extLst>
      <p:ext uri="{BB962C8B-B14F-4D97-AF65-F5344CB8AC3E}">
        <p14:creationId xmlns:p14="http://schemas.microsoft.com/office/powerpoint/2010/main" val="33274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9067-7332-0161-CB49-A78AB89A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33A2-AEFB-6203-E782-14783AAF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most </a:t>
            </a:r>
            <a:r>
              <a:rPr lang="en-US" sz="3200" u="sng" dirty="0">
                <a:latin typeface="+mn-lt"/>
              </a:rPr>
              <a:t>important</a:t>
            </a:r>
            <a:r>
              <a:rPr lang="en-US" sz="3200" dirty="0">
                <a:latin typeface="+mn-lt"/>
              </a:rPr>
              <a:t> function: </a:t>
            </a:r>
            <a:r>
              <a:rPr lang="en-US" sz="3200" b="1" dirty="0">
                <a:solidFill>
                  <a:srgbClr val="4275D4"/>
                </a:solidFill>
                <a:latin typeface="+mn-lt"/>
              </a:rPr>
              <a:t>main</a:t>
            </a:r>
            <a:r>
              <a:rPr lang="en-US" sz="3200" dirty="0">
                <a:latin typeface="+mn-lt"/>
              </a:rPr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3CD3BA-AEC1-497C-9361-DE5A4AAA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5BC210-455E-275B-57FC-35E18D63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148" y="1664244"/>
            <a:ext cx="4027564" cy="4162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918B48-AADF-FBC3-D11D-D203B1E502CA}"/>
              </a:ext>
            </a:extLst>
          </p:cNvPr>
          <p:cNvSpPr txBox="1"/>
          <p:nvPr/>
        </p:nvSpPr>
        <p:spPr>
          <a:xfrm>
            <a:off x="845289" y="3383165"/>
            <a:ext cx="296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By convention, programmers use </a:t>
            </a:r>
            <a:r>
              <a:rPr lang="en-US" sz="1600" b="1" dirty="0">
                <a:solidFill>
                  <a:srgbClr val="0034B8"/>
                </a:solidFill>
              </a:rPr>
              <a:t>main</a:t>
            </a:r>
            <a:r>
              <a:rPr lang="en-US" sz="1600" b="1" dirty="0"/>
              <a:t>()</a:t>
            </a:r>
            <a:r>
              <a:rPr lang="en-US" sz="1600" b="1" dirty="0">
                <a:solidFill>
                  <a:srgbClr val="0034B8"/>
                </a:solidFill>
              </a:rPr>
              <a:t> </a:t>
            </a:r>
            <a:r>
              <a:rPr lang="en-US" sz="1600" dirty="0"/>
              <a:t>as the name of the </a:t>
            </a:r>
            <a:r>
              <a:rPr lang="en-US" sz="1600" b="1" u="sng" dirty="0"/>
              <a:t>first</a:t>
            </a:r>
            <a:r>
              <a:rPr lang="en-US" sz="1600" dirty="0"/>
              <a:t> function they want the computer to call when starting the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0EEF8-329A-39BD-ED2E-A5EFEF38C239}"/>
              </a:ext>
            </a:extLst>
          </p:cNvPr>
          <p:cNvSpPr txBox="1"/>
          <p:nvPr/>
        </p:nvSpPr>
        <p:spPr>
          <a:xfrm>
            <a:off x="845289" y="1664244"/>
            <a:ext cx="29609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Functions are not executed (run) until they are explicitly called. The </a:t>
            </a:r>
            <a:r>
              <a:rPr lang="en-US" sz="1600" b="1" dirty="0">
                <a:solidFill>
                  <a:srgbClr val="7E008A"/>
                </a:solidFill>
              </a:rPr>
              <a:t>def</a:t>
            </a:r>
            <a:r>
              <a:rPr lang="en-US" sz="1600" dirty="0"/>
              <a:t> keyword merely </a:t>
            </a:r>
            <a:r>
              <a:rPr lang="en-US" sz="1600" b="1" dirty="0"/>
              <a:t>defines </a:t>
            </a:r>
            <a:r>
              <a:rPr lang="en-US" sz="1600" dirty="0"/>
              <a:t>a function but does </a:t>
            </a:r>
            <a:r>
              <a:rPr lang="en-US" sz="1600" b="1" dirty="0">
                <a:solidFill>
                  <a:srgbClr val="FF0000"/>
                </a:solidFill>
              </a:rPr>
              <a:t>NOT</a:t>
            </a:r>
            <a:r>
              <a:rPr lang="en-US" sz="1600" dirty="0"/>
              <a:t> run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BC5BA-192A-D283-4F2F-FBBCE01CD8BE}"/>
              </a:ext>
            </a:extLst>
          </p:cNvPr>
          <p:cNvSpPr txBox="1"/>
          <p:nvPr/>
        </p:nvSpPr>
        <p:spPr>
          <a:xfrm>
            <a:off x="845289" y="5102087"/>
            <a:ext cx="296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is the </a:t>
            </a:r>
            <a:r>
              <a:rPr lang="en-US" sz="1600" b="1" dirty="0"/>
              <a:t>first line of executable code</a:t>
            </a:r>
            <a:r>
              <a:rPr lang="en-US" sz="1600" dirty="0"/>
              <a:t> in the program, and its sole purpose is to call your custom </a:t>
            </a:r>
            <a:r>
              <a:rPr lang="en-US" sz="1600" b="1" dirty="0">
                <a:solidFill>
                  <a:srgbClr val="0034B8"/>
                </a:solidFill>
              </a:rPr>
              <a:t>main</a:t>
            </a:r>
            <a:r>
              <a:rPr lang="en-US" sz="1600" b="1" dirty="0"/>
              <a:t>()</a:t>
            </a:r>
            <a:r>
              <a:rPr lang="en-US" sz="1600" b="1" dirty="0">
                <a:solidFill>
                  <a:srgbClr val="0034B8"/>
                </a:solidFill>
              </a:rPr>
              <a:t> </a:t>
            </a:r>
            <a:r>
              <a:rPr lang="en-US" sz="1600" dirty="0"/>
              <a:t>function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C18241-3609-EEBC-07B2-AA9A6BAE5241}"/>
              </a:ext>
            </a:extLst>
          </p:cNvPr>
          <p:cNvSpPr/>
          <p:nvPr/>
        </p:nvSpPr>
        <p:spPr>
          <a:xfrm>
            <a:off x="3181509" y="2488167"/>
            <a:ext cx="287167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02D8F-4FED-EB4B-C379-5CBB34AAF298}"/>
              </a:ext>
            </a:extLst>
          </p:cNvPr>
          <p:cNvSpPr/>
          <p:nvPr/>
        </p:nvSpPr>
        <p:spPr>
          <a:xfrm>
            <a:off x="4299948" y="2880486"/>
            <a:ext cx="287167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F059A94-02D4-B30E-9D35-6E80C7040AE5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3468676" y="2578851"/>
            <a:ext cx="831272" cy="392319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04EE9EA-01B3-2965-BD9A-4777B9D6B4A0}"/>
              </a:ext>
            </a:extLst>
          </p:cNvPr>
          <p:cNvSpPr/>
          <p:nvPr/>
        </p:nvSpPr>
        <p:spPr>
          <a:xfrm>
            <a:off x="908104" y="3719315"/>
            <a:ext cx="287167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7B914F-65DD-7AD8-781A-918BF81C4D92}"/>
              </a:ext>
            </a:extLst>
          </p:cNvPr>
          <p:cNvSpPr/>
          <p:nvPr/>
        </p:nvSpPr>
        <p:spPr>
          <a:xfrm>
            <a:off x="4708026" y="4232925"/>
            <a:ext cx="447380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342CD92-50D4-6BEF-E867-CF455001E0DC}"/>
              </a:ext>
            </a:extLst>
          </p:cNvPr>
          <p:cNvCxnSpPr>
            <a:cxnSpLocks/>
            <a:stCxn id="18" idx="1"/>
            <a:endCxn id="40" idx="0"/>
          </p:cNvCxnSpPr>
          <p:nvPr/>
        </p:nvCxnSpPr>
        <p:spPr>
          <a:xfrm rot="10800000" flipH="1" flipV="1">
            <a:off x="908103" y="3809999"/>
            <a:ext cx="4167531" cy="397670"/>
          </a:xfrm>
          <a:prstGeom prst="bentConnector4">
            <a:avLst>
              <a:gd name="adj1" fmla="val -5485"/>
              <a:gd name="adj2" fmla="val -121029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C5DA2BE-5F63-E936-1DD6-54690EB65A20}"/>
              </a:ext>
            </a:extLst>
          </p:cNvPr>
          <p:cNvSpPr/>
          <p:nvPr/>
        </p:nvSpPr>
        <p:spPr>
          <a:xfrm>
            <a:off x="908104" y="5927601"/>
            <a:ext cx="584146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0C4605-ED22-19B8-FDB1-955F36BA908A}"/>
              </a:ext>
            </a:extLst>
          </p:cNvPr>
          <p:cNvSpPr/>
          <p:nvPr/>
        </p:nvSpPr>
        <p:spPr>
          <a:xfrm>
            <a:off x="4299948" y="5600479"/>
            <a:ext cx="287167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CB4BEC1-FAD4-973C-6BE6-718DD1DE30C8}"/>
              </a:ext>
            </a:extLst>
          </p:cNvPr>
          <p:cNvCxnSpPr>
            <a:cxnSpLocks/>
            <a:stCxn id="26" idx="2"/>
            <a:endCxn id="31" idx="1"/>
          </p:cNvCxnSpPr>
          <p:nvPr/>
        </p:nvCxnSpPr>
        <p:spPr>
          <a:xfrm rot="5400000" flipH="1" flipV="1">
            <a:off x="2541159" y="4350180"/>
            <a:ext cx="417806" cy="3099771"/>
          </a:xfrm>
          <a:prstGeom prst="bentConnector4">
            <a:avLst>
              <a:gd name="adj1" fmla="val -54714"/>
              <a:gd name="adj2" fmla="val 78269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0A58965-7D09-76D0-113E-D2FB68F989C7}"/>
              </a:ext>
            </a:extLst>
          </p:cNvPr>
          <p:cNvSpPr/>
          <p:nvPr/>
        </p:nvSpPr>
        <p:spPr>
          <a:xfrm>
            <a:off x="4691064" y="4207669"/>
            <a:ext cx="769142" cy="25271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71835A-6181-4BC9-03FF-F5B6C6BEC658}"/>
              </a:ext>
            </a:extLst>
          </p:cNvPr>
          <p:cNvSpPr/>
          <p:nvPr/>
        </p:nvSpPr>
        <p:spPr>
          <a:xfrm>
            <a:off x="4587115" y="5600479"/>
            <a:ext cx="408078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78E46A-0CB2-67A1-B021-60812AE36DD0}"/>
              </a:ext>
            </a:extLst>
          </p:cNvPr>
          <p:cNvSpPr/>
          <p:nvPr/>
        </p:nvSpPr>
        <p:spPr>
          <a:xfrm>
            <a:off x="4700469" y="4467940"/>
            <a:ext cx="408078" cy="18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7D827A5-9A75-CAEB-9F28-3236BF3AEC43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H="1" flipV="1">
            <a:off x="4700469" y="4558624"/>
            <a:ext cx="294724" cy="1132539"/>
          </a:xfrm>
          <a:prstGeom prst="bentConnector5">
            <a:avLst>
              <a:gd name="adj1" fmla="val -77564"/>
              <a:gd name="adj2" fmla="val 50000"/>
              <a:gd name="adj3" fmla="val 17756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80BC7D7-9696-176E-1B68-6081E5ED87E8}"/>
              </a:ext>
            </a:extLst>
          </p:cNvPr>
          <p:cNvSpPr txBox="1"/>
          <p:nvPr/>
        </p:nvSpPr>
        <p:spPr>
          <a:xfrm>
            <a:off x="5704289" y="5411690"/>
            <a:ext cx="1957270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7E008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Your program now starts at the first statement in </a:t>
            </a:r>
            <a:r>
              <a:rPr lang="en-US" sz="1600" b="1" dirty="0">
                <a:solidFill>
                  <a:srgbClr val="0034B8"/>
                </a:solidFill>
              </a:rPr>
              <a:t>main</a:t>
            </a:r>
            <a:r>
              <a:rPr lang="en-US" sz="1600" b="1" dirty="0"/>
              <a:t>()</a:t>
            </a:r>
            <a:r>
              <a:rPr lang="en-US" sz="1600" b="1" dirty="0">
                <a:solidFill>
                  <a:srgbClr val="0034B8"/>
                </a:solidFill>
              </a:rPr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334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40" grpId="0" animBg="1"/>
      <p:bldP spid="40" grpId="1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77C6-C2A2-5FF5-C14F-2CC02A1B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FB49-6DA9-B465-F99C-178EC3F6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Python main() Guard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1DE9D-F645-42F9-1C00-F3D87F3B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9A564-4B1F-290E-C05E-986F40F98F9F}"/>
              </a:ext>
            </a:extLst>
          </p:cNvPr>
          <p:cNvSpPr txBox="1"/>
          <p:nvPr/>
        </p:nvSpPr>
        <p:spPr>
          <a:xfrm>
            <a:off x="2029327" y="1276905"/>
            <a:ext cx="508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https://docs.python.org/3/library/__main__.html</a:t>
            </a:r>
            <a:r>
              <a:rPr lang="en-US" dirty="0"/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D4FE785-870B-4F4A-5262-2900D91C2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7030A0"/>
                </a:solidFill>
              </a:rPr>
              <a:t>main guard </a:t>
            </a:r>
            <a:r>
              <a:rPr lang="en-US" sz="2400" dirty="0"/>
              <a:t>is typically at the </a:t>
            </a:r>
            <a:r>
              <a:rPr lang="en-US" sz="2400" b="1" dirty="0">
                <a:solidFill>
                  <a:srgbClr val="FF0000"/>
                </a:solidFill>
              </a:rPr>
              <a:t>end</a:t>
            </a:r>
            <a:r>
              <a:rPr lang="en-US" sz="2400" dirty="0"/>
              <a:t> of a script file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prevents unintended execution on import as </a:t>
            </a:r>
            <a:r>
              <a:rPr lang="en-US" sz="2400" b="1" dirty="0">
                <a:solidFill>
                  <a:srgbClr val="00B050"/>
                </a:solidFill>
              </a:rPr>
              <a:t>it ensures code runs only when the file is executed directly</a:t>
            </a:r>
            <a:r>
              <a:rPr lang="en-US" sz="2400" dirty="0"/>
              <a:t>, not when it is imported as a module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distinguishes “script” vs “library” behavior because it lets the same file act as either a </a:t>
            </a:r>
            <a:r>
              <a:rPr lang="en-US" sz="2400" b="1" dirty="0"/>
              <a:t>runnable program </a:t>
            </a:r>
            <a:r>
              <a:rPr lang="en-US" sz="2400" dirty="0"/>
              <a:t>or a reusable module (</a:t>
            </a:r>
            <a:r>
              <a:rPr lang="en-US" sz="2400" b="1" dirty="0">
                <a:solidFill>
                  <a:srgbClr val="0070C0"/>
                </a:solidFill>
              </a:rPr>
              <a:t>imported</a:t>
            </a:r>
            <a:r>
              <a:rPr lang="en-US" sz="2400" dirty="0"/>
              <a:t> into other scripts)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is a Python </a:t>
            </a:r>
            <a:r>
              <a:rPr lang="en-US" sz="2400" i="1" dirty="0"/>
              <a:t>convention</a:t>
            </a:r>
            <a:r>
              <a:rPr lang="en-US" sz="2400" dirty="0"/>
              <a:t>, not a requirement - the main guard is idiomatic and widely used, but Python does not enforce it. Consider it</a:t>
            </a:r>
            <a:r>
              <a:rPr lang="en-US" sz="2400" b="1" dirty="0"/>
              <a:t> a best 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B95DF-3D97-6750-AF6C-E9240C47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656" y="5777558"/>
            <a:ext cx="3982688" cy="73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8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Base Conversion – </a:t>
            </a:r>
            <a:r>
              <a:rPr lang="en-US" sz="3200" dirty="0">
                <a:solidFill>
                  <a:srgbClr val="00B050"/>
                </a:solidFill>
                <a:latin typeface="+mn-lt"/>
              </a:rPr>
              <a:t>Binary</a:t>
            </a:r>
            <a:r>
              <a:rPr lang="en-US" sz="3200" dirty="0">
                <a:latin typeface="+mn-lt"/>
              </a:rPr>
              <a:t> to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Decimal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A51A1-A5AB-44DE-AAFE-A7E8ECAD0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07" y="3233274"/>
            <a:ext cx="4647476" cy="23047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D568ED-625D-4249-954E-E0BF3A621D64}"/>
              </a:ext>
            </a:extLst>
          </p:cNvPr>
          <p:cNvSpPr txBox="1"/>
          <p:nvPr/>
        </p:nvSpPr>
        <p:spPr>
          <a:xfrm>
            <a:off x="3622570" y="2613219"/>
            <a:ext cx="2134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1011001</a:t>
            </a:r>
            <a:r>
              <a:rPr lang="en-US" sz="2000" baseline="-25000" dirty="0"/>
              <a:t>2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FF0000"/>
                </a:solidFill>
              </a:rPr>
              <a:t>89</a:t>
            </a:r>
            <a:r>
              <a:rPr lang="en-US" sz="2000" baseline="-25000" dirty="0"/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2960B-A410-47E7-9882-06700C3B8DF7}"/>
              </a:ext>
            </a:extLst>
          </p:cNvPr>
          <p:cNvSpPr/>
          <p:nvPr/>
        </p:nvSpPr>
        <p:spPr>
          <a:xfrm>
            <a:off x="3805080" y="2696238"/>
            <a:ext cx="213852" cy="28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2459EE-C266-4AC9-BA32-5FC836B34FE6}"/>
              </a:ext>
            </a:extLst>
          </p:cNvPr>
          <p:cNvSpPr/>
          <p:nvPr/>
        </p:nvSpPr>
        <p:spPr>
          <a:xfrm>
            <a:off x="4583365" y="2696238"/>
            <a:ext cx="213852" cy="28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78879B-60D1-48D1-8BE1-20408F057135}"/>
              </a:ext>
            </a:extLst>
          </p:cNvPr>
          <p:cNvSpPr txBox="1"/>
          <p:nvPr/>
        </p:nvSpPr>
        <p:spPr>
          <a:xfrm>
            <a:off x="930990" y="2166921"/>
            <a:ext cx="269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Most Significant Bit (</a:t>
            </a:r>
            <a:r>
              <a:rPr lang="en-US" b="1" dirty="0"/>
              <a:t>MSB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94EDB-2E72-4FA8-A484-632F4365951D}"/>
              </a:ext>
            </a:extLst>
          </p:cNvPr>
          <p:cNvSpPr txBox="1"/>
          <p:nvPr/>
        </p:nvSpPr>
        <p:spPr>
          <a:xfrm>
            <a:off x="4913054" y="2166921"/>
            <a:ext cx="269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Least Significant Bit (</a:t>
            </a:r>
            <a:r>
              <a:rPr lang="en-US" b="1" dirty="0"/>
              <a:t>LSB</a:t>
            </a:r>
            <a:r>
              <a:rPr lang="en-US" dirty="0"/>
              <a:t>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41A0085-E61C-4612-A3B0-18A1F463FA51}"/>
              </a:ext>
            </a:extLst>
          </p:cNvPr>
          <p:cNvCxnSpPr>
            <a:stCxn id="14" idx="3"/>
            <a:endCxn id="12" idx="0"/>
          </p:cNvCxnSpPr>
          <p:nvPr/>
        </p:nvCxnSpPr>
        <p:spPr>
          <a:xfrm>
            <a:off x="3622570" y="2351587"/>
            <a:ext cx="289436" cy="344651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4FB7569-7352-4860-97FB-7EDAF27E36CF}"/>
              </a:ext>
            </a:extLst>
          </p:cNvPr>
          <p:cNvCxnSpPr>
            <a:cxnSpLocks/>
            <a:stCxn id="15" idx="1"/>
            <a:endCxn id="13" idx="0"/>
          </p:cNvCxnSpPr>
          <p:nvPr/>
        </p:nvCxnSpPr>
        <p:spPr>
          <a:xfrm rot="10800000" flipV="1">
            <a:off x="4690292" y="2351586"/>
            <a:ext cx="222763" cy="344651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057312-66D2-4EDD-8650-7BD7A3C31386}"/>
                  </a:ext>
                </a:extLst>
              </p:cNvPr>
              <p:cNvSpPr txBox="1"/>
              <p:nvPr/>
            </p:nvSpPr>
            <p:spPr>
              <a:xfrm>
                <a:off x="1160972" y="2727412"/>
                <a:ext cx="2179381" cy="314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𝑊𝑒𝑖𝑔h𝑡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𝐵𝑎𝑠𝑒</m:t>
                          </m:r>
                        </m:e>
                        <m:sup>
                          <m:r>
                            <a:rPr lang="en-US" sz="14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𝑃𝑜𝑠𝑖𝑡𝑖𝑜𝑛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057312-66D2-4EDD-8650-7BD7A3C31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72" y="2727412"/>
                <a:ext cx="2179381" cy="31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880042D-FF7D-49C7-9841-AAEA13745779}"/>
              </a:ext>
            </a:extLst>
          </p:cNvPr>
          <p:cNvSpPr txBox="1"/>
          <p:nvPr/>
        </p:nvSpPr>
        <p:spPr>
          <a:xfrm>
            <a:off x="6795317" y="3507138"/>
            <a:ext cx="78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 </a:t>
            </a:r>
            <a:r>
              <a:rPr lang="en-US" sz="1400" dirty="0"/>
              <a:t>LSB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F3803-C53D-415E-8785-3BDE6FA225FB}"/>
              </a:ext>
            </a:extLst>
          </p:cNvPr>
          <p:cNvSpPr txBox="1"/>
          <p:nvPr/>
        </p:nvSpPr>
        <p:spPr>
          <a:xfrm>
            <a:off x="6795317" y="4955850"/>
            <a:ext cx="78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 </a:t>
            </a:r>
            <a:r>
              <a:rPr lang="en-US" sz="1400" dirty="0"/>
              <a:t>MSB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CEBE86-26C1-480C-BBA0-A026F2ECA133}"/>
              </a:ext>
            </a:extLst>
          </p:cNvPr>
          <p:cNvCxnSpPr>
            <a:stCxn id="26" idx="0"/>
            <a:endCxn id="25" idx="2"/>
          </p:cNvCxnSpPr>
          <p:nvPr/>
        </p:nvCxnSpPr>
        <p:spPr>
          <a:xfrm flipV="1">
            <a:off x="7189836" y="3814915"/>
            <a:ext cx="0" cy="1140935"/>
          </a:xfrm>
          <a:prstGeom prst="straightConnector1">
            <a:avLst/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6408B08-DE43-45DA-8E82-844D755F5421}"/>
              </a:ext>
            </a:extLst>
          </p:cNvPr>
          <p:cNvSpPr/>
          <p:nvPr/>
        </p:nvSpPr>
        <p:spPr>
          <a:xfrm>
            <a:off x="5079434" y="2613219"/>
            <a:ext cx="117388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F7858B-C238-4CD0-B073-79CD0EBE666C}"/>
              </a:ext>
            </a:extLst>
          </p:cNvPr>
          <p:cNvSpPr/>
          <p:nvPr/>
        </p:nvSpPr>
        <p:spPr>
          <a:xfrm>
            <a:off x="4689983" y="5331267"/>
            <a:ext cx="182142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2681B-422F-4042-9249-25FF28A99573}"/>
              </a:ext>
            </a:extLst>
          </p:cNvPr>
          <p:cNvSpPr/>
          <p:nvPr/>
        </p:nvSpPr>
        <p:spPr>
          <a:xfrm>
            <a:off x="4624388" y="2696238"/>
            <a:ext cx="147637" cy="261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03EF0F-12E2-4192-B268-CFAD7EF16F0B}"/>
              </a:ext>
            </a:extLst>
          </p:cNvPr>
          <p:cNvSpPr/>
          <p:nvPr/>
        </p:nvSpPr>
        <p:spPr>
          <a:xfrm>
            <a:off x="5055747" y="3489181"/>
            <a:ext cx="147637" cy="261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670B0CE-049F-4909-AD93-C36E7D1AEF4E}"/>
              </a:ext>
            </a:extLst>
          </p:cNvPr>
          <p:cNvCxnSpPr>
            <a:stCxn id="3" idx="2"/>
            <a:endCxn id="20" idx="1"/>
          </p:cNvCxnSpPr>
          <p:nvPr/>
        </p:nvCxnSpPr>
        <p:spPr>
          <a:xfrm rot="16200000" flipH="1">
            <a:off x="4545914" y="3110163"/>
            <a:ext cx="662127" cy="35754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9D1A5-23F4-4AEE-9156-ABEAFBC24FB0}"/>
              </a:ext>
            </a:extLst>
          </p:cNvPr>
          <p:cNvSpPr/>
          <p:nvPr/>
        </p:nvSpPr>
        <p:spPr>
          <a:xfrm>
            <a:off x="3847948" y="2693617"/>
            <a:ext cx="147637" cy="261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9B3CB6-878D-40ED-B81E-C5EBBED48B01}"/>
              </a:ext>
            </a:extLst>
          </p:cNvPr>
          <p:cNvSpPr/>
          <p:nvPr/>
        </p:nvSpPr>
        <p:spPr>
          <a:xfrm>
            <a:off x="5055747" y="5007091"/>
            <a:ext cx="147637" cy="261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BBB2E4A-7F73-461F-A170-13D325DF1B83}"/>
              </a:ext>
            </a:extLst>
          </p:cNvPr>
          <p:cNvCxnSpPr>
            <a:stCxn id="22" idx="2"/>
            <a:endCxn id="23" idx="1"/>
          </p:cNvCxnSpPr>
          <p:nvPr/>
        </p:nvCxnSpPr>
        <p:spPr>
          <a:xfrm rot="16200000" flipH="1">
            <a:off x="3397428" y="3479588"/>
            <a:ext cx="2182658" cy="113398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4F1F4D5-2D25-4F46-8437-8198BB0DCE3A}"/>
              </a:ext>
            </a:extLst>
          </p:cNvPr>
          <p:cNvSpPr/>
          <p:nvPr/>
        </p:nvSpPr>
        <p:spPr>
          <a:xfrm>
            <a:off x="4729159" y="3149030"/>
            <a:ext cx="3620361" cy="2247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0145B-7DFA-448B-8E69-BF13FFF0530D}"/>
              </a:ext>
            </a:extLst>
          </p:cNvPr>
          <p:cNvSpPr txBox="1"/>
          <p:nvPr/>
        </p:nvSpPr>
        <p:spPr>
          <a:xfrm>
            <a:off x="5597012" y="187193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Position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143459-2A2D-436D-BAB0-FA34507BBE32}"/>
              </a:ext>
            </a:extLst>
          </p:cNvPr>
          <p:cNvSpPr txBox="1"/>
          <p:nvPr/>
        </p:nvSpPr>
        <p:spPr>
          <a:xfrm>
            <a:off x="1819580" y="187136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Position 6</a:t>
            </a:r>
          </a:p>
        </p:txBody>
      </p:sp>
    </p:spTree>
    <p:extLst>
      <p:ext uri="{BB962C8B-B14F-4D97-AF65-F5344CB8AC3E}">
        <p14:creationId xmlns:p14="http://schemas.microsoft.com/office/powerpoint/2010/main" val="281775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24" grpId="0"/>
      <p:bldP spid="25" grpId="0"/>
      <p:bldP spid="26" grpId="0"/>
      <p:bldP spid="29" grpId="0" animBg="1"/>
      <p:bldP spid="30" grpId="0" animBg="1"/>
      <p:bldP spid="3" grpId="0" animBg="1"/>
      <p:bldP spid="20" grpId="0" animBg="1"/>
      <p:bldP spid="22" grpId="0" animBg="1"/>
      <p:bldP spid="23" grpId="0" animBg="1"/>
      <p:bldP spid="8" grpId="0" animBg="1"/>
      <p:bldP spid="9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Base Conversion –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Decimal</a:t>
            </a:r>
            <a:r>
              <a:rPr lang="en-US" sz="3200" dirty="0">
                <a:latin typeface="+mn-lt"/>
              </a:rPr>
              <a:t> to </a:t>
            </a:r>
            <a:r>
              <a:rPr lang="en-US" sz="3200" dirty="0">
                <a:solidFill>
                  <a:srgbClr val="00B050"/>
                </a:solidFill>
                <a:latin typeface="+mn-lt"/>
              </a:rPr>
              <a:t>Binary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568ED-625D-4249-954E-E0BF3A621D64}"/>
              </a:ext>
            </a:extLst>
          </p:cNvPr>
          <p:cNvSpPr txBox="1"/>
          <p:nvPr/>
        </p:nvSpPr>
        <p:spPr>
          <a:xfrm>
            <a:off x="3622570" y="2613219"/>
            <a:ext cx="2134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113</a:t>
            </a:r>
            <a:r>
              <a:rPr lang="en-US" sz="2000" baseline="-25000" dirty="0"/>
              <a:t>10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00B050"/>
                </a:solidFill>
              </a:rPr>
              <a:t>1110001</a:t>
            </a:r>
            <a:r>
              <a:rPr lang="en-US" sz="2000" baseline="-25000" dirty="0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2960B-A410-47E7-9882-06700C3B8DF7}"/>
              </a:ext>
            </a:extLst>
          </p:cNvPr>
          <p:cNvSpPr/>
          <p:nvPr/>
        </p:nvSpPr>
        <p:spPr>
          <a:xfrm>
            <a:off x="4543730" y="2696238"/>
            <a:ext cx="213852" cy="28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2459EE-C266-4AC9-BA32-5FC836B34FE6}"/>
              </a:ext>
            </a:extLst>
          </p:cNvPr>
          <p:cNvSpPr/>
          <p:nvPr/>
        </p:nvSpPr>
        <p:spPr>
          <a:xfrm>
            <a:off x="5320548" y="2687457"/>
            <a:ext cx="213852" cy="28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78879B-60D1-48D1-8BE1-20408F057135}"/>
              </a:ext>
            </a:extLst>
          </p:cNvPr>
          <p:cNvSpPr txBox="1"/>
          <p:nvPr/>
        </p:nvSpPr>
        <p:spPr>
          <a:xfrm>
            <a:off x="1779019" y="2166921"/>
            <a:ext cx="269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Most Significant Bit (</a:t>
            </a:r>
            <a:r>
              <a:rPr lang="en-US" b="1" dirty="0"/>
              <a:t>MSB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94EDB-2E72-4FA8-A484-632F4365951D}"/>
              </a:ext>
            </a:extLst>
          </p:cNvPr>
          <p:cNvSpPr txBox="1"/>
          <p:nvPr/>
        </p:nvSpPr>
        <p:spPr>
          <a:xfrm>
            <a:off x="5584103" y="2166921"/>
            <a:ext cx="269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Least Significant Bit (</a:t>
            </a:r>
            <a:r>
              <a:rPr lang="en-US" b="1" dirty="0"/>
              <a:t>LSB</a:t>
            </a:r>
            <a:r>
              <a:rPr lang="en-US" dirty="0"/>
              <a:t>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41A0085-E61C-4612-A3B0-18A1F463FA51}"/>
              </a:ext>
            </a:extLst>
          </p:cNvPr>
          <p:cNvCxnSpPr>
            <a:cxnSpLocks/>
            <a:stCxn id="14" idx="3"/>
            <a:endCxn id="12" idx="0"/>
          </p:cNvCxnSpPr>
          <p:nvPr/>
        </p:nvCxnSpPr>
        <p:spPr>
          <a:xfrm>
            <a:off x="4470599" y="2351587"/>
            <a:ext cx="180057" cy="344651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4FB7569-7352-4860-97FB-7EDAF27E36CF}"/>
              </a:ext>
            </a:extLst>
          </p:cNvPr>
          <p:cNvCxnSpPr>
            <a:cxnSpLocks/>
            <a:stCxn id="15" idx="1"/>
            <a:endCxn id="13" idx="0"/>
          </p:cNvCxnSpPr>
          <p:nvPr/>
        </p:nvCxnSpPr>
        <p:spPr>
          <a:xfrm rot="10800000" flipV="1">
            <a:off x="5427475" y="2351587"/>
            <a:ext cx="156629" cy="33587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880042D-FF7D-49C7-9841-AAEA13745779}"/>
              </a:ext>
            </a:extLst>
          </p:cNvPr>
          <p:cNvSpPr txBox="1"/>
          <p:nvPr/>
        </p:nvSpPr>
        <p:spPr>
          <a:xfrm>
            <a:off x="6434823" y="3628977"/>
            <a:ext cx="78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 </a:t>
            </a:r>
            <a:r>
              <a:rPr lang="en-US" sz="1400" dirty="0"/>
              <a:t>LSB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F3803-C53D-415E-8785-3BDE6FA225FB}"/>
              </a:ext>
            </a:extLst>
          </p:cNvPr>
          <p:cNvSpPr txBox="1"/>
          <p:nvPr/>
        </p:nvSpPr>
        <p:spPr>
          <a:xfrm>
            <a:off x="6434823" y="5235897"/>
            <a:ext cx="78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 </a:t>
            </a:r>
            <a:r>
              <a:rPr lang="en-US" sz="1400" dirty="0"/>
              <a:t>MSB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FBA8A-1A97-4921-A09B-D7B9CE82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177" y="3348930"/>
            <a:ext cx="3725646" cy="2194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3AE205-2C24-4712-AB3C-E0F45B13D208}"/>
              </a:ext>
            </a:extLst>
          </p:cNvPr>
          <p:cNvSpPr txBox="1"/>
          <p:nvPr/>
        </p:nvSpPr>
        <p:spPr>
          <a:xfrm>
            <a:off x="1229642" y="2680981"/>
            <a:ext cx="1895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% = Remainder (Mod)</a:t>
            </a:r>
          </a:p>
          <a:p>
            <a:r>
              <a:rPr lang="en-US" sz="140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// = Floor (Integer)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C2A95C-9128-4AE6-A515-97AB68F334FB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6829342" y="3936754"/>
            <a:ext cx="0" cy="1299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5674952-8DEB-4485-8FB4-43D69AA0728A}"/>
              </a:ext>
            </a:extLst>
          </p:cNvPr>
          <p:cNvSpPr/>
          <p:nvPr/>
        </p:nvSpPr>
        <p:spPr>
          <a:xfrm>
            <a:off x="5818239" y="3695700"/>
            <a:ext cx="287593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1FB664-58BD-48CD-A350-3D4E797F24CC}"/>
              </a:ext>
            </a:extLst>
          </p:cNvPr>
          <p:cNvSpPr/>
          <p:nvPr/>
        </p:nvSpPr>
        <p:spPr>
          <a:xfrm>
            <a:off x="5818239" y="3965575"/>
            <a:ext cx="287593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08B792-DCE7-437F-B0AC-673C9078B369}"/>
              </a:ext>
            </a:extLst>
          </p:cNvPr>
          <p:cNvSpPr/>
          <p:nvPr/>
        </p:nvSpPr>
        <p:spPr>
          <a:xfrm>
            <a:off x="3897364" y="3965575"/>
            <a:ext cx="287593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9127FA-5DFF-4036-B409-89A599132564}"/>
              </a:ext>
            </a:extLst>
          </p:cNvPr>
          <p:cNvSpPr/>
          <p:nvPr/>
        </p:nvSpPr>
        <p:spPr>
          <a:xfrm>
            <a:off x="3897364" y="4235450"/>
            <a:ext cx="287593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C611E59-2251-415B-B4B3-6B1752FFE630}"/>
              </a:ext>
            </a:extLst>
          </p:cNvPr>
          <p:cNvCxnSpPr>
            <a:stCxn id="22" idx="3"/>
            <a:endCxn id="28" idx="1"/>
          </p:cNvCxnSpPr>
          <p:nvPr/>
        </p:nvCxnSpPr>
        <p:spPr>
          <a:xfrm flipH="1">
            <a:off x="3897364" y="3776663"/>
            <a:ext cx="2208468" cy="269875"/>
          </a:xfrm>
          <a:prstGeom prst="bentConnector5">
            <a:avLst>
              <a:gd name="adj1" fmla="val -17395"/>
              <a:gd name="adj2" fmla="val -205294"/>
              <a:gd name="adj3" fmla="val 110351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8324082-C456-4537-99C0-0F0AEAE8C839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H="1">
            <a:off x="3897364" y="4046538"/>
            <a:ext cx="2208468" cy="269875"/>
          </a:xfrm>
          <a:prstGeom prst="bentConnector5">
            <a:avLst>
              <a:gd name="adj1" fmla="val -17460"/>
              <a:gd name="adj2" fmla="val -307040"/>
              <a:gd name="adj3" fmla="val 11061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24CA731-1D3E-45BF-9053-7470DA8B47F8}"/>
              </a:ext>
            </a:extLst>
          </p:cNvPr>
          <p:cNvSpPr/>
          <p:nvPr/>
        </p:nvSpPr>
        <p:spPr>
          <a:xfrm>
            <a:off x="5848622" y="5300663"/>
            <a:ext cx="214042" cy="2142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D9A6F3-8234-4AAA-9393-8BBB3A787718}"/>
              </a:ext>
            </a:extLst>
          </p:cNvPr>
          <p:cNvSpPr/>
          <p:nvPr/>
        </p:nvSpPr>
        <p:spPr>
          <a:xfrm>
            <a:off x="4598195" y="2696238"/>
            <a:ext cx="1102058" cy="280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5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5" grpId="0"/>
      <p:bldP spid="26" grpId="0"/>
      <p:bldP spid="9" grpId="0"/>
      <p:bldP spid="43" grpId="0" animBg="1"/>
      <p:bldP spid="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2023-5805-B875-5900-C926E13A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0F09-C0AC-846E-3917-6F39FD4A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2E639-FC27-8BF1-C9AD-F49D284E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6A242-F6B4-E6E6-7440-00E08A3E72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1"/>
          <a:stretch/>
        </p:blipFill>
        <p:spPr>
          <a:xfrm>
            <a:off x="1714500" y="1917031"/>
            <a:ext cx="5715000" cy="35686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38AB14-EDA8-116E-E225-C32AAB1B4B7C}"/>
              </a:ext>
            </a:extLst>
          </p:cNvPr>
          <p:cNvSpPr/>
          <p:nvPr/>
        </p:nvSpPr>
        <p:spPr>
          <a:xfrm>
            <a:off x="6457950" y="3224463"/>
            <a:ext cx="408071" cy="2133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2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6107-E83F-672E-265D-88F22CE5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74B3-5C13-F98B-E111-0C337990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E58C-27F3-30B0-9176-82B47DEE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C9D0C-D800-E0BE-6DB3-62221510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294"/>
          <a:stretch/>
        </p:blipFill>
        <p:spPr>
          <a:xfrm>
            <a:off x="1060156" y="1929439"/>
            <a:ext cx="7023687" cy="29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7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EBA4-2EA2-EA57-2DE5-CD2CD1936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9601-13C9-B32D-7B45-3E46570D2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343E8-312F-5AD0-B54E-43B9B007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B6BAC-8B3D-E2DE-973A-139B0B1E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7" b="2419"/>
          <a:stretch/>
        </p:blipFill>
        <p:spPr>
          <a:xfrm>
            <a:off x="2205743" y="1620251"/>
            <a:ext cx="4732514" cy="417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6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652A-A491-09B4-F2F6-87520E43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DB0E-C81F-FDC1-9031-46CB2144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D58B4-06DD-D8CA-C121-95912CC4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331F4-8763-3088-EFE9-D4C02C85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2001001"/>
            <a:ext cx="56959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87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9538-ED24-635B-1066-48604273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9223-EAB0-A65A-164F-E9A3A38D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3B8F8-B7A3-905E-3A9A-F1BFA614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Hexadecimal to Decimal – Table, Examples, and Diagrams">
            <a:extLst>
              <a:ext uri="{FF2B5EF4-FFF2-40B4-BE49-F238E27FC236}">
                <a16:creationId xmlns:a16="http://schemas.microsoft.com/office/drawing/2014/main" id="{0C794499-6D0C-D1F7-4E72-0ED0CC710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2"/>
          <a:stretch/>
        </p:blipFill>
        <p:spPr bwMode="auto">
          <a:xfrm>
            <a:off x="1453417" y="1387641"/>
            <a:ext cx="6237166" cy="502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259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F24-0269-2217-7DD6-7A236B32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189C-504E-570B-3AC6-61EFE587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Hexadecimal (Base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4EEA3-3B94-24ED-83B3-ED707B80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CF6C0-FA50-12C9-E9FD-09768042A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4079"/>
            <a:ext cx="7886700" cy="464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87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60D86F-26A4-46EE-9328-E512B3C95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950" y="3009036"/>
            <a:ext cx="4142857" cy="30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while</a:t>
            </a:r>
            <a:r>
              <a:rPr lang="en-US" sz="32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93281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while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loop executes all the statements within its scope as long as the loop conditional remains </a:t>
            </a:r>
            <a:r>
              <a:rPr lang="en-US" sz="2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Speech Bubble: Rectangle 7"/>
          <p:cNvSpPr/>
          <p:nvPr/>
        </p:nvSpPr>
        <p:spPr>
          <a:xfrm>
            <a:off x="5249188" y="2626167"/>
            <a:ext cx="1504336" cy="634182"/>
          </a:xfrm>
          <a:prstGeom prst="wedgeRectCallout">
            <a:avLst>
              <a:gd name="adj1" fmla="val -53120"/>
              <a:gd name="adj2" fmla="val 146234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loop conditional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7645" y="3880574"/>
            <a:ext cx="1460090" cy="551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044DD-1E90-4621-B7DC-3DEDBB44EEAC}"/>
              </a:ext>
            </a:extLst>
          </p:cNvPr>
          <p:cNvSpPr/>
          <p:nvPr/>
        </p:nvSpPr>
        <p:spPr>
          <a:xfrm>
            <a:off x="3637543" y="5353664"/>
            <a:ext cx="257270" cy="29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05314E-27B2-473B-951D-A5F3F5C455DB}"/>
              </a:ext>
            </a:extLst>
          </p:cNvPr>
          <p:cNvSpPr/>
          <p:nvPr/>
        </p:nvSpPr>
        <p:spPr>
          <a:xfrm>
            <a:off x="2841131" y="4008139"/>
            <a:ext cx="257270" cy="29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B098CA1-8FA6-40DB-A2D8-25BB9DFF8E78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>
            <a:off x="2841131" y="4156233"/>
            <a:ext cx="796412" cy="1345525"/>
          </a:xfrm>
          <a:prstGeom prst="bentConnector3">
            <a:avLst>
              <a:gd name="adj1" fmla="val 12870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949712B0-7A3D-4D40-BDD5-588135B4A9D6}"/>
              </a:ext>
            </a:extLst>
          </p:cNvPr>
          <p:cNvSpPr/>
          <p:nvPr/>
        </p:nvSpPr>
        <p:spPr>
          <a:xfrm>
            <a:off x="6983986" y="3945148"/>
            <a:ext cx="1688065" cy="932815"/>
          </a:xfrm>
          <a:prstGeom prst="wedgeRectCallout">
            <a:avLst>
              <a:gd name="adj1" fmla="val -99862"/>
              <a:gd name="adj2" fmla="val -2531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while</a:t>
            </a:r>
            <a:r>
              <a:rPr lang="en-US" dirty="0">
                <a:solidFill>
                  <a:srgbClr val="FF0000"/>
                </a:solidFill>
              </a:rPr>
              <a:t> loop introduces a scope</a:t>
            </a:r>
          </a:p>
        </p:txBody>
      </p:sp>
    </p:spTree>
    <p:extLst>
      <p:ext uri="{BB962C8B-B14F-4D97-AF65-F5344CB8AC3E}">
        <p14:creationId xmlns:p14="http://schemas.microsoft.com/office/powerpoint/2010/main" val="4058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3C59A-17BF-61B4-874A-AFB99AEB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4E31-2388-02AC-AB38-C9DF2A71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base_conversion.py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12355-0BD9-D8CD-2EF9-1726D78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A1BF6-2933-DD91-3CA7-D5FBFEED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83" y="1844827"/>
            <a:ext cx="4858233" cy="3316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84BE03-F8F0-45A2-A2FC-38B854007E1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C0FEEC-3999-0E37-50C1-AD2834452C9C}"/>
              </a:ext>
            </a:extLst>
          </p:cNvPr>
          <p:cNvGrpSpPr/>
          <p:nvPr/>
        </p:nvGrpSpPr>
        <p:grpSpPr>
          <a:xfrm>
            <a:off x="5514419" y="1913484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551DBF7-3772-47B7-5DF0-96A238A76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22160F-BF1D-6BE1-47E1-A93F1A748DE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65F231-D68E-CFDF-DC37-FDC06E25B903}"/>
              </a:ext>
            </a:extLst>
          </p:cNvPr>
          <p:cNvGrpSpPr/>
          <p:nvPr/>
        </p:nvGrpSpPr>
        <p:grpSpPr>
          <a:xfrm>
            <a:off x="4198966" y="2856167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144B97C-E2A1-1ED3-2AE9-9E6931A47D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C6F081-0867-0AD8-0D3B-0972F55DD34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5D34FB-1617-3701-6195-45E05612053D}"/>
              </a:ext>
            </a:extLst>
          </p:cNvPr>
          <p:cNvGrpSpPr/>
          <p:nvPr/>
        </p:nvGrpSpPr>
        <p:grpSpPr>
          <a:xfrm>
            <a:off x="3749786" y="3157834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6ED8967-2604-1E99-468B-AAFB9C93FB1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45AE9D1-EA26-15BF-F3D2-3292527E7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8A62F8D-630E-D746-AB0E-0600CCE8967A}"/>
              </a:ext>
            </a:extLst>
          </p:cNvPr>
          <p:cNvGrpSpPr/>
          <p:nvPr/>
        </p:nvGrpSpPr>
        <p:grpSpPr>
          <a:xfrm>
            <a:off x="6711564" y="3495082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CC55E7-A932-98D2-CDF4-311ED2E4A33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DA125FB-6404-85C9-BD82-6A832FA85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4E1606-39E8-26C4-0E38-08F7F52E3D94}"/>
              </a:ext>
            </a:extLst>
          </p:cNvPr>
          <p:cNvGrpSpPr/>
          <p:nvPr/>
        </p:nvGrpSpPr>
        <p:grpSpPr>
          <a:xfrm>
            <a:off x="6525069" y="3785755"/>
            <a:ext cx="1068643" cy="369332"/>
            <a:chOff x="3647644" y="5359159"/>
            <a:chExt cx="106864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4E2C4D-13BF-2345-AB0A-85B1EDAD3E9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7CEA6B2-0333-923E-3D66-49999791F5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85F833-322A-4257-9346-7A5B1A70D31E}"/>
              </a:ext>
            </a:extLst>
          </p:cNvPr>
          <p:cNvGrpSpPr/>
          <p:nvPr/>
        </p:nvGrpSpPr>
        <p:grpSpPr>
          <a:xfrm>
            <a:off x="6407010" y="4087327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3CE81C-9D7F-E2A8-3123-73A52DA8CC0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C1375EF-EC3E-1720-1472-F9D449EB1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774C5-03E5-42A5-86A8-BF58C9669D7A}"/>
              </a:ext>
            </a:extLst>
          </p:cNvPr>
          <p:cNvGrpSpPr/>
          <p:nvPr/>
        </p:nvGrpSpPr>
        <p:grpSpPr>
          <a:xfrm>
            <a:off x="5997936" y="4392491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A8D3C0-922E-6833-5C20-1C940C32502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7F0A3B3-28C0-18AD-3793-2D676308F9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48D7FFC-A60F-64CC-4520-CE26B18A5E8B}"/>
              </a:ext>
            </a:extLst>
          </p:cNvPr>
          <p:cNvGrpSpPr/>
          <p:nvPr/>
        </p:nvGrpSpPr>
        <p:grpSpPr>
          <a:xfrm>
            <a:off x="4191500" y="4723267"/>
            <a:ext cx="1076632" cy="369332"/>
            <a:chOff x="2157212" y="5356391"/>
            <a:chExt cx="1076632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795792-8EA6-69D0-5FDA-2B95FD366CA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C48D891-397A-72CB-9D48-31A7F8BA2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681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41C8-14CD-4261-55A1-8815A57D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0F9A29-2784-CFFC-F354-3B2468D1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68" y="1844827"/>
            <a:ext cx="5557465" cy="3316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CD7781-983A-BF24-5E87-4F15D2B6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base_conversion.py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15742-A0DA-75B4-FCD1-9F394707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AA248-49A5-5434-9B12-D6B2FD109FD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2EA749-DBC8-541F-34F0-09F4A5A5DFDA}"/>
              </a:ext>
            </a:extLst>
          </p:cNvPr>
          <p:cNvGrpSpPr/>
          <p:nvPr/>
        </p:nvGrpSpPr>
        <p:grpSpPr>
          <a:xfrm>
            <a:off x="5682861" y="1921505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374BB1-E5B0-B7F9-A8A8-657B1159EB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DAA441-DB4B-72A2-E146-9E6BF6EFDCB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8E334-5628-CD04-450B-D2F16BCD67DA}"/>
              </a:ext>
            </a:extLst>
          </p:cNvPr>
          <p:cNvGrpSpPr/>
          <p:nvPr/>
        </p:nvGrpSpPr>
        <p:grpSpPr>
          <a:xfrm>
            <a:off x="3621449" y="2282816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90AB702-F917-DB2B-7A8B-8F6D063505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F668EE-2F21-E26B-2E03-8F4D2DA5D61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0791F1-7A3B-8466-D359-983C43F063C0}"/>
              </a:ext>
            </a:extLst>
          </p:cNvPr>
          <p:cNvGrpSpPr/>
          <p:nvPr/>
        </p:nvGrpSpPr>
        <p:grpSpPr>
          <a:xfrm>
            <a:off x="4349792" y="2643021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1210C-A427-1EBD-7C5B-486DBCFAF47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6BC592B-59BC-2967-FBB9-733C8A35C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B94FC7-63CB-8A0A-98C2-6B766665B674}"/>
              </a:ext>
            </a:extLst>
          </p:cNvPr>
          <p:cNvGrpSpPr/>
          <p:nvPr/>
        </p:nvGrpSpPr>
        <p:grpSpPr>
          <a:xfrm>
            <a:off x="5415386" y="3011542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EE7D7E-0C95-59EE-B3C7-5524C081F35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74CE622-1392-E870-BE99-58A280F48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69CF45-D7F6-8A3E-2DF7-99F032EAD534}"/>
              </a:ext>
            </a:extLst>
          </p:cNvPr>
          <p:cNvGrpSpPr/>
          <p:nvPr/>
        </p:nvGrpSpPr>
        <p:grpSpPr>
          <a:xfrm>
            <a:off x="5257749" y="3366563"/>
            <a:ext cx="1068643" cy="369332"/>
            <a:chOff x="3647644" y="5359159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2C2DED-4F11-1A0C-FF1D-B2B50662F94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10E9089-E92E-463D-475A-F53010338B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A38CCA-A2F7-E31D-5C0D-DAFE50C8DBF0}"/>
              </a:ext>
            </a:extLst>
          </p:cNvPr>
          <p:cNvGrpSpPr/>
          <p:nvPr/>
        </p:nvGrpSpPr>
        <p:grpSpPr>
          <a:xfrm>
            <a:off x="4198965" y="4430623"/>
            <a:ext cx="1076632" cy="369332"/>
            <a:chOff x="2157212" y="5356391"/>
            <a:chExt cx="10766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464E85-3B18-EC01-214B-862348A530E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2C615D-9C18-B56C-11B0-2C7BD533E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A22730-5A2E-273E-CB63-407CF2B1F909}"/>
              </a:ext>
            </a:extLst>
          </p:cNvPr>
          <p:cNvGrpSpPr/>
          <p:nvPr/>
        </p:nvGrpSpPr>
        <p:grpSpPr>
          <a:xfrm>
            <a:off x="3836314" y="4792047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960181-F6D4-77BB-119C-F32C4971429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89D2CEB-B651-9C9A-251D-9041FE97FF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65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2C06-E0DC-FB3F-ABAD-9132181F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B869-C28D-1633-210D-1B4EBEBB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base_conversion.py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50D81-A012-65E6-6B68-7D6FC4F5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AFBAD-90CE-471D-29FA-BADF48E4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05" y="1283895"/>
            <a:ext cx="5276190" cy="52571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1C6F0F5-88B1-A15D-7481-E4FA4296714F}"/>
              </a:ext>
            </a:extLst>
          </p:cNvPr>
          <p:cNvGrpSpPr/>
          <p:nvPr/>
        </p:nvGrpSpPr>
        <p:grpSpPr>
          <a:xfrm>
            <a:off x="3757807" y="1803305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2265220-F358-55BB-394F-7BF63B986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462E42-C9BD-69CF-91E1-5CD7CF357F1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C44F8E-E7BD-BE14-B19C-3208986FBF0F}"/>
              </a:ext>
            </a:extLst>
          </p:cNvPr>
          <p:cNvGrpSpPr/>
          <p:nvPr/>
        </p:nvGrpSpPr>
        <p:grpSpPr>
          <a:xfrm>
            <a:off x="4776486" y="202603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223ACED-9D61-09E1-9BD3-B5A4A42AE5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6C5FF1-6290-4A7F-23DE-4F43B56643B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1E227B-1561-D1DB-57EB-26FF2DBD48B3}"/>
              </a:ext>
            </a:extLst>
          </p:cNvPr>
          <p:cNvGrpSpPr/>
          <p:nvPr/>
        </p:nvGrpSpPr>
        <p:grpSpPr>
          <a:xfrm>
            <a:off x="6543060" y="2256795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D783F9-1B91-80A6-F908-8DF88B7EE1A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85EBE0F-33C6-9CF5-822A-B987049B5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FD059E-0379-6240-E021-C96DAB15BCC6}"/>
              </a:ext>
            </a:extLst>
          </p:cNvPr>
          <p:cNvGrpSpPr/>
          <p:nvPr/>
        </p:nvGrpSpPr>
        <p:grpSpPr>
          <a:xfrm>
            <a:off x="3188314" y="2964651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2491A7-238A-3EEB-9F0F-96419F84E60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770939-26E3-AE30-C790-36F5C59CDB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FE5E35-0153-FA1A-650B-842D8D68B176}"/>
              </a:ext>
            </a:extLst>
          </p:cNvPr>
          <p:cNvGrpSpPr/>
          <p:nvPr/>
        </p:nvGrpSpPr>
        <p:grpSpPr>
          <a:xfrm>
            <a:off x="4749482" y="3181401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7202FA-68AF-B21B-2F57-9A396FF8CC6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5A6C9F5-73ED-12E5-1C47-95DB2F11B5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B5FFC6-761A-784B-49FC-1C8605CE3CFE}"/>
              </a:ext>
            </a:extLst>
          </p:cNvPr>
          <p:cNvGrpSpPr/>
          <p:nvPr/>
        </p:nvGrpSpPr>
        <p:grpSpPr>
          <a:xfrm>
            <a:off x="6530930" y="3397358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52AD95-E5CA-A0F8-C26A-DCB6AA804F5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77A49CC-24B1-5D87-6502-9178DE3EE9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D2870D-AEA5-4F61-E64B-BCAC4B22DCA8}"/>
              </a:ext>
            </a:extLst>
          </p:cNvPr>
          <p:cNvGrpSpPr/>
          <p:nvPr/>
        </p:nvGrpSpPr>
        <p:grpSpPr>
          <a:xfrm>
            <a:off x="3211468" y="3852227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16A1B6-4988-29EC-5056-ADB682121E5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D0E9960-BE0F-67F6-43B2-82E3FA4E4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45DFF2-B5ED-2FF1-B157-1B32F25CAFB1}"/>
              </a:ext>
            </a:extLst>
          </p:cNvPr>
          <p:cNvGrpSpPr/>
          <p:nvPr/>
        </p:nvGrpSpPr>
        <p:grpSpPr>
          <a:xfrm>
            <a:off x="3739951" y="4767345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041C858-7194-F427-A1B5-56960516430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92656F5-7A5F-611F-00F9-7CB30483C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5102C5-5A86-85E0-2DBE-A07B7A0484A5}"/>
              </a:ext>
            </a:extLst>
          </p:cNvPr>
          <p:cNvGrpSpPr/>
          <p:nvPr/>
        </p:nvGrpSpPr>
        <p:grpSpPr>
          <a:xfrm>
            <a:off x="5001073" y="5910882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E0DAE1-0A80-792A-505C-AD4AF38FCD0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BEF5938-A4EE-AE4A-52BF-E52B21458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70999B5-6541-4D59-69BC-6601C2890EF7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180964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4556-68C7-0EB0-7986-A05256CD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9204-5C8E-37C6-BCB8-F34A62B9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base_conversion.py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53B09-B1FC-63DC-7240-6295BE69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95ECC-F2B1-3B0F-9C2D-BF320DA59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156" y="1601018"/>
            <a:ext cx="4189688" cy="14309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E89367C-0B13-B885-06DE-451D03D4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1" y="3511336"/>
            <a:ext cx="4219092" cy="233868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077046-E0E7-F99F-A69A-98DA2FB50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164" y="3645090"/>
            <a:ext cx="4142356" cy="207117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958FF64-D905-AF6C-2CC1-A08D082DD114}"/>
              </a:ext>
            </a:extLst>
          </p:cNvPr>
          <p:cNvGrpSpPr/>
          <p:nvPr/>
        </p:nvGrpSpPr>
        <p:grpSpPr>
          <a:xfrm>
            <a:off x="6597266" y="1712381"/>
            <a:ext cx="1076632" cy="369332"/>
            <a:chOff x="4968362" y="2079211"/>
            <a:chExt cx="1076632" cy="36933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2111CD8-AA57-E974-0318-AE01906E5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EC49BD7-E789-67BE-DECD-87F3EE3B031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CD25227-5789-8D0C-A918-2CB0CC1A2C16}"/>
              </a:ext>
            </a:extLst>
          </p:cNvPr>
          <p:cNvGrpSpPr/>
          <p:nvPr/>
        </p:nvGrpSpPr>
        <p:grpSpPr>
          <a:xfrm>
            <a:off x="6597266" y="2494069"/>
            <a:ext cx="1076632" cy="369332"/>
            <a:chOff x="4704120" y="2356972"/>
            <a:chExt cx="1076632" cy="36933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3463AF1-081A-6AA4-86E2-7A42D3CB95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A60DF8-EB23-7137-FA62-3663D3D41A3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480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A1392-E1DD-8FD3-0725-2CC40F3D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C5E3D-40CC-694D-625D-CEF638C0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Hamming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2CD88-0063-0B41-2EFC-988555C7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3646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number of ones (1) bits in the binary (Base 2) representation of a </a:t>
            </a:r>
            <a:r>
              <a:rPr lang="en-US" sz="2400" b="1" dirty="0">
                <a:solidFill>
                  <a:srgbClr val="00B050"/>
                </a:solidFill>
              </a:rPr>
              <a:t>non-negative integer </a:t>
            </a:r>
            <a:r>
              <a:rPr lang="en-US" sz="2400" dirty="0"/>
              <a:t>(a whole number) is called its population count (aka </a:t>
            </a:r>
            <a:r>
              <a:rPr lang="en-US" sz="2400" b="1" dirty="0"/>
              <a:t>popcount</a:t>
            </a:r>
            <a:r>
              <a:rPr lang="en-US" sz="2400" dirty="0"/>
              <a:t>, stemming from which positions are </a:t>
            </a:r>
            <a:r>
              <a:rPr lang="en-US" sz="2400" i="1" dirty="0"/>
              <a:t>populated</a:t>
            </a:r>
            <a:r>
              <a:rPr lang="en-US" sz="2400" dirty="0"/>
              <a:t> by 1’s)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1950, while working at Bell Laboratories, Richard Hamming (1915-1998) published the first paper on “</a:t>
            </a:r>
            <a:r>
              <a:rPr lang="en-US" sz="2400" b="1" dirty="0">
                <a:solidFill>
                  <a:srgbClr val="7030A0"/>
                </a:solidFill>
              </a:rPr>
              <a:t>Error Detecting and Error Correcting</a:t>
            </a:r>
            <a:r>
              <a:rPr lang="en-US" sz="2400" dirty="0"/>
              <a:t>” based upon the concept of the </a:t>
            </a:r>
            <a:r>
              <a:rPr lang="en-US" sz="2400" b="1" dirty="0">
                <a:solidFill>
                  <a:srgbClr val="0070C0"/>
                </a:solidFill>
              </a:rPr>
              <a:t>Hamming Weight</a:t>
            </a:r>
            <a:r>
              <a:rPr lang="en-US" sz="2400" dirty="0"/>
              <a:t>, which is what we now call </a:t>
            </a:r>
            <a:r>
              <a:rPr lang="en-US" sz="2400" b="1" dirty="0"/>
              <a:t>popcount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Control Data Corporation CDC6000 mainframe computer (designed by </a:t>
            </a:r>
            <a:r>
              <a:rPr lang="en-US" sz="2400" b="1" dirty="0">
                <a:solidFill>
                  <a:srgbClr val="FF0000"/>
                </a:solidFill>
              </a:rPr>
              <a:t>Seymour Cray</a:t>
            </a:r>
            <a:r>
              <a:rPr lang="en-US" sz="2400" dirty="0"/>
              <a:t> in 1964) was the first computer to include a single CPU instruction that could return the </a:t>
            </a:r>
            <a:r>
              <a:rPr lang="en-US" sz="2400" b="1" dirty="0"/>
              <a:t>popcount</a:t>
            </a:r>
            <a:r>
              <a:rPr lang="en-US" sz="2400" dirty="0"/>
              <a:t> of an integer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BB3C1-CA63-089B-8672-5B200DB3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7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0FC2-D001-9466-16C6-6D2999EB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335D-6DD4-B400-2239-12F31A1BF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hamming_weight.py</a:t>
            </a:r>
            <a:endParaRPr lang="en-US" sz="3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88304-E840-689C-BD49-A72491F9FD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determine the Hamming Weight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95,601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88304-E840-689C-BD49-A72491F9FD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9D483-B8B3-15F2-FCDD-F8415FA1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C5BA0DB-EF75-30B0-59EB-4DEEEC843EA8}"/>
              </a:ext>
            </a:extLst>
          </p:cNvPr>
          <p:cNvSpPr/>
          <p:nvPr/>
        </p:nvSpPr>
        <p:spPr>
          <a:xfrm>
            <a:off x="709472" y="3981679"/>
            <a:ext cx="1515979" cy="1217969"/>
          </a:xfrm>
          <a:prstGeom prst="wedgeRectCallout">
            <a:avLst>
              <a:gd name="adj1" fmla="val 94511"/>
              <a:gd name="adj2" fmla="val -158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must create this file and type this code exactly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A83504A-574D-C0C6-13EF-308002323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299" y="2548085"/>
            <a:ext cx="2963402" cy="34642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C7E6FDD-70A1-ABBF-ED62-774C9A8D44B5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5657D5-DC4E-A41B-9366-B20E2D330154}"/>
              </a:ext>
            </a:extLst>
          </p:cNvPr>
          <p:cNvGrpSpPr/>
          <p:nvPr/>
        </p:nvGrpSpPr>
        <p:grpSpPr>
          <a:xfrm>
            <a:off x="4572000" y="3244334"/>
            <a:ext cx="1076632" cy="369332"/>
            <a:chOff x="4968362" y="2079211"/>
            <a:chExt cx="1076632" cy="36933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1A58658-E2DB-A8E8-5DB0-729318C8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651232-C096-E8D2-C406-54577B56806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CE3FCF-6EFF-32F5-34B2-2B0F77B907F6}"/>
              </a:ext>
            </a:extLst>
          </p:cNvPr>
          <p:cNvGrpSpPr/>
          <p:nvPr/>
        </p:nvGrpSpPr>
        <p:grpSpPr>
          <a:xfrm>
            <a:off x="4148784" y="3917733"/>
            <a:ext cx="1076632" cy="369332"/>
            <a:chOff x="4704120" y="2356972"/>
            <a:chExt cx="1076632" cy="36933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6D746E0-6D6D-F0D6-EA5D-4F318E37B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0A0ACA3-4B98-FD75-8DA0-DDC96B95DBF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F997BC9-528B-9928-16DF-60CEE1A01048}"/>
              </a:ext>
            </a:extLst>
          </p:cNvPr>
          <p:cNvGrpSpPr/>
          <p:nvPr/>
        </p:nvGrpSpPr>
        <p:grpSpPr>
          <a:xfrm>
            <a:off x="4975856" y="4261399"/>
            <a:ext cx="1068643" cy="369332"/>
            <a:chOff x="3647644" y="4910075"/>
            <a:chExt cx="1068643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6B6339-2DCD-1736-B2B9-2B6285195BA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EDA514A-8B2E-C5FA-91A2-986F1629C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34096A6-2494-840A-D73B-283F29E9E1EB}"/>
              </a:ext>
            </a:extLst>
          </p:cNvPr>
          <p:cNvGrpSpPr/>
          <p:nvPr/>
        </p:nvGrpSpPr>
        <p:grpSpPr>
          <a:xfrm>
            <a:off x="5724052" y="4614688"/>
            <a:ext cx="1064340" cy="369332"/>
            <a:chOff x="3647644" y="5421073"/>
            <a:chExt cx="1064340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F15DAB-A355-C024-FC36-FECFD25F96E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789EBE2-401D-0FA0-3EE0-17FA03DAE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F78958F-E9F0-3532-A881-ECA0CBF5B74B}"/>
              </a:ext>
            </a:extLst>
          </p:cNvPr>
          <p:cNvGrpSpPr/>
          <p:nvPr/>
        </p:nvGrpSpPr>
        <p:grpSpPr>
          <a:xfrm>
            <a:off x="5318913" y="4925565"/>
            <a:ext cx="1068643" cy="369332"/>
            <a:chOff x="3647644" y="5359159"/>
            <a:chExt cx="1068643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DC34ED4-A105-CDE1-3310-B984F94737C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136E248-09F2-4733-162E-720BCBB492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46AE65-AE7F-955D-676B-F6D4A502E5B7}"/>
              </a:ext>
            </a:extLst>
          </p:cNvPr>
          <p:cNvGrpSpPr/>
          <p:nvPr/>
        </p:nvGrpSpPr>
        <p:grpSpPr>
          <a:xfrm>
            <a:off x="4455132" y="5604825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602A43F-121F-4BEC-B203-E4094B14796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868D5AB-0F0A-1B51-227A-74D67BA4DE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913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8623-C7E1-AEB8-6C19-8C09DD34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AD8E-740F-FF66-ECA0-0ACF17B4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hamming_weight.py</a:t>
            </a:r>
            <a:endParaRPr lang="en-US" sz="3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44CA4-96D3-0FE5-2F27-206054E055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determine the Hamming Weight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95,601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44CA4-96D3-0FE5-2F27-206054E055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1032A-B9CB-62BD-27F1-74599020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E4190-206A-522F-D61A-7C6FA2682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299" y="2548085"/>
            <a:ext cx="2963402" cy="3464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FC923F-95FE-5F72-CD7C-FF2741A51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295" y="2949005"/>
            <a:ext cx="877767" cy="707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544CFC-A5F1-CDA3-DB66-6B589695CC8B}"/>
              </a:ext>
            </a:extLst>
          </p:cNvPr>
          <p:cNvSpPr txBox="1"/>
          <p:nvPr/>
        </p:nvSpPr>
        <p:spPr>
          <a:xfrm>
            <a:off x="2285499" y="6147334"/>
            <a:ext cx="4573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95601</a:t>
            </a:r>
            <a:r>
              <a:rPr lang="en-US" baseline="-25000" dirty="0"/>
              <a:t>10 </a:t>
            </a:r>
            <a:r>
              <a:rPr lang="en-US" dirty="0"/>
              <a:t>=</a:t>
            </a:r>
            <a:r>
              <a:rPr lang="en-US" baseline="-25000" dirty="0"/>
              <a:t>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0</a:t>
            </a:r>
            <a:r>
              <a:rPr lang="en-US" b="1" dirty="0">
                <a:solidFill>
                  <a:srgbClr val="FF0000"/>
                </a:solidFill>
              </a:rPr>
              <a:t>111</a:t>
            </a:r>
            <a:r>
              <a:rPr lang="en-US" dirty="0"/>
              <a:t>0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0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0</a:t>
            </a:r>
            <a:r>
              <a:rPr lang="en-US" b="1" dirty="0">
                <a:solidFill>
                  <a:srgbClr val="FF0000"/>
                </a:solidFill>
              </a:rPr>
              <a:t>111</a:t>
            </a:r>
            <a:r>
              <a:rPr lang="en-US" dirty="0"/>
              <a:t>000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aseline="-25000" dirty="0"/>
              <a:t>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4527BC-F948-0924-DA86-18213AFC3774}"/>
              </a:ext>
            </a:extLst>
          </p:cNvPr>
          <p:cNvGrpSpPr/>
          <p:nvPr/>
        </p:nvGrpSpPr>
        <p:grpSpPr>
          <a:xfrm>
            <a:off x="7486650" y="3118277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6842FFE-1AA5-DEF3-4286-E390144697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088F30-380C-88C2-4957-E7E3A9E271B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74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D266-B32C-EC1A-277E-77533F8D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91D70A7-2EB8-3F6B-AC57-592771B1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91" y="2574451"/>
            <a:ext cx="7247619" cy="3123809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5041C2-BB3D-5478-1F71-9421BCFE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Always Seek </a:t>
            </a:r>
            <a:r>
              <a:rPr lang="en-US" sz="3200" b="1" dirty="0">
                <a:solidFill>
                  <a:srgbClr val="7030A0"/>
                </a:solidFill>
                <a:latin typeface="+mn-lt"/>
              </a:rPr>
              <a:t>Independent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Confirmation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95C31-0F0E-2264-AAD0-65D096DE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10969A6-2400-B105-8FFF-7B1436EAE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determine the Hamming Weight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95,601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10969A6-2400-B105-8FFF-7B1436EAE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5394326-20BB-52C8-C8CE-A02B52DB4060}"/>
              </a:ext>
            </a:extLst>
          </p:cNvPr>
          <p:cNvGrpSpPr/>
          <p:nvPr/>
        </p:nvGrpSpPr>
        <p:grpSpPr>
          <a:xfrm>
            <a:off x="5919634" y="4257747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345333B-6BFC-2A34-7CA6-AE3A44BA8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6D1F75-F7D9-CAF1-B136-0A7AAD6DE35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DFEECA-C147-77B8-870D-262FEBB8F9F8}"/>
              </a:ext>
            </a:extLst>
          </p:cNvPr>
          <p:cNvGrpSpPr/>
          <p:nvPr/>
        </p:nvGrpSpPr>
        <p:grpSpPr>
          <a:xfrm>
            <a:off x="2057350" y="5021852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5FB34D-700A-B520-F1E2-317DEA992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1FA5EA-4318-42C4-B52A-A9568E1131B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195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B84D-BDB7-949F-D2FB-D395E2ED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CD73-9DAE-438D-D317-F04DBC63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Two Adjacent Bits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B4DFFD-54AD-BF04-12EF-975F15CD2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</a:t>
                </a:r>
                <a:r>
                  <a:rPr lang="en-US" sz="2400" b="1" dirty="0"/>
                  <a:t>popcount() </a:t>
                </a:r>
                <a:r>
                  <a:rPr lang="en-US" sz="2400" dirty="0"/>
                  <a:t>function tells us the number of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1s</a:t>
                </a:r>
                <a:r>
                  <a:rPr lang="en-US" sz="2400" dirty="0"/>
                  <a:t> in the binary representation of a whole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But what if we want a list of </a:t>
                </a:r>
                <a:r>
                  <a:rPr lang="en-US" sz="2400" u="sng" dirty="0"/>
                  <a:t>only</a:t>
                </a:r>
                <a:r>
                  <a:rPr lang="en-US" sz="2400" dirty="0"/>
                  <a:t> those natural numbers (within a given interval) with a popcount of </a:t>
                </a:r>
                <a:r>
                  <a:rPr lang="en-US" sz="2400" i="1" dirty="0"/>
                  <a:t>exactly</a:t>
                </a:r>
                <a:r>
                  <a:rPr lang="en-US" sz="2400" dirty="0"/>
                  <a:t> </a:t>
                </a:r>
                <a:r>
                  <a:rPr lang="en-US" sz="2400" b="1" dirty="0"/>
                  <a:t>two</a:t>
                </a:r>
                <a:r>
                  <a:rPr lang="en-US" sz="2400" dirty="0"/>
                  <a:t>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Even more specifically, what if we want natural numbers with a </a:t>
                </a:r>
                <a:r>
                  <a:rPr lang="en-US" sz="2400" b="1" dirty="0"/>
                  <a:t>popcount</a:t>
                </a:r>
                <a:r>
                  <a:rPr lang="en-US" sz="2400" dirty="0"/>
                  <a:t> of 2 </a:t>
                </a:r>
                <a:r>
                  <a:rPr lang="en-US" sz="2400" u="sng" dirty="0"/>
                  <a:t>and</a:t>
                </a:r>
                <a:r>
                  <a:rPr lang="en-US" sz="2400" dirty="0"/>
                  <a:t> where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the two 1s must be adjacent </a:t>
                </a:r>
                <a:r>
                  <a:rPr lang="en-US" sz="2400" dirty="0"/>
                  <a:t>in the bitstring?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Supposed your scientist needs to know the number of integers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</m:sSup>
                  </m:oMath>
                </a14:m>
                <a:r>
                  <a:rPr lang="en-US" sz="2400" dirty="0"/>
                  <a:t> (inclusive) that have </a:t>
                </a:r>
                <a:r>
                  <a:rPr lang="en-US" sz="2400" i="1" dirty="0"/>
                  <a:t>only</a:t>
                </a:r>
                <a:r>
                  <a:rPr lang="en-US" sz="2400" dirty="0"/>
                  <a:t> two adjacent 1s in their binary representation –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what would be your approach?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B4DFFD-54AD-BF04-12EF-975F15CD2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2"/>
                <a:stretch>
                  <a:fillRect l="-1005" t="-196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5CB9-CAA1-83E2-FEFE-82453285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5955-E531-F961-F23E-CE37A6DB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7D2-167B-8DBF-E9DD-686A2E33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Scale of Large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5A994-8AA8-B822-3A27-AF0E4AC8D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We could start by converting every integer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</m:sSup>
                  </m:oMath>
                </a14:m>
                <a:r>
                  <a:rPr lang="en-US" sz="2400" dirty="0"/>
                  <a:t> (inclusive) into a binary bitstring</a:t>
                </a:r>
                <a:endParaRPr lang="en-US" sz="2400" b="1" dirty="0">
                  <a:solidFill>
                    <a:srgbClr val="00B050"/>
                  </a:solidFill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Then we could remove the integers whose </a:t>
                </a:r>
                <a:r>
                  <a:rPr lang="en-US" sz="2000" b="1" dirty="0"/>
                  <a:t>popcount</a:t>
                </a:r>
                <a:r>
                  <a:rPr lang="en-US" sz="2000" dirty="0"/>
                  <a:t> is not 2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Finally, we could remove the integers </a:t>
                </a:r>
                <a:r>
                  <a:rPr lang="en-US" sz="2000" b="1" dirty="0"/>
                  <a:t>without two adjacent 1 bits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But even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2400" dirty="0"/>
                  <a:t> integer operations per second, given the age of the universe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sz="2400" dirty="0"/>
                  <a:t> years old, a CPU would need to spend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universe-lifetimes</a:t>
                </a:r>
                <a:r>
                  <a:rPr lang="en-US" sz="2400" dirty="0"/>
                  <a:t> to reach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Furthermore, if the </a:t>
                </a:r>
                <a:r>
                  <a:rPr lang="en-US" sz="2400" u="sng" dirty="0"/>
                  <a:t>entire</a:t>
                </a:r>
                <a:r>
                  <a:rPr lang="en-US" sz="2400" dirty="0"/>
                  <a:t> Earth were only silicon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lang="en-US" sz="2400" dirty="0"/>
                  <a:t> atoms), it would take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1000 such Earths </a:t>
                </a:r>
                <a:r>
                  <a:rPr lang="en-US" sz="2400" dirty="0"/>
                  <a:t>to build the memory to store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</m:sSup>
                  </m:oMath>
                </a14:m>
                <a:r>
                  <a:rPr lang="en-US" sz="2400" dirty="0"/>
                  <a:t> bitstrings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Maybe we need a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better</a:t>
                </a:r>
                <a:r>
                  <a:rPr lang="en-US" sz="2400" dirty="0"/>
                  <a:t> way? </a:t>
                </a:r>
                <a:r>
                  <a:rPr lang="en-US" sz="2400" dirty="0">
                    <a:sym typeface="Wingdings" panose="05000000000000000000" pitchFamily="2" charset="2"/>
                  </a:rPr>
                  <a:t>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5A994-8AA8-B822-3A27-AF0E4AC8D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2"/>
                <a:stretch>
                  <a:fillRect l="-1005" t="-1821" r="-1236" b="-4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CC21D-4A7C-2071-3211-26E92B4F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6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A95D-224C-121F-03E9-95FC3206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7650-79A5-D3F4-4177-403C1CA9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Two Adjacent Bits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B8B03-003E-8086-2F18-5474214D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3A0B7-8149-5A36-23B0-EF4ABE94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16" y="1808751"/>
            <a:ext cx="6279963" cy="260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89A331-747F-839A-67D7-B2639EFA95ED}"/>
              </a:ext>
            </a:extLst>
          </p:cNvPr>
          <p:cNvSpPr txBox="1"/>
          <p:nvPr/>
        </p:nvSpPr>
        <p:spPr>
          <a:xfrm>
            <a:off x="1056770" y="4681577"/>
            <a:ext cx="70304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</a:rPr>
              <a:t>We start with 3, which has a popcount = 2 and two adjacent 1 bits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</a:rPr>
              <a:t>We then multiply that by 2, which is equivalent to shifting the value to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by one binary 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</a:rPr>
              <a:t>We </a:t>
            </a:r>
            <a:r>
              <a:rPr lang="en-US" u="sng" dirty="0">
                <a:solidFill>
                  <a:srgbClr val="7030A0"/>
                </a:solidFill>
              </a:rPr>
              <a:t>count</a:t>
            </a:r>
            <a:r>
              <a:rPr lang="en-US" dirty="0">
                <a:solidFill>
                  <a:srgbClr val="7030A0"/>
                </a:solidFill>
              </a:rPr>
              <a:t> how many times we can do this multiplication </a:t>
            </a:r>
            <a:r>
              <a:rPr lang="en-US" b="1" dirty="0">
                <a:solidFill>
                  <a:srgbClr val="7030A0"/>
                </a:solidFill>
              </a:rPr>
              <a:t>within</a:t>
            </a:r>
            <a:r>
              <a:rPr lang="en-US" dirty="0">
                <a:solidFill>
                  <a:srgbClr val="7030A0"/>
                </a:solidFill>
              </a:rPr>
              <a:t> the requested interval [low, high]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</a:rPr>
              <a:t>The final count is the number of integers that satisfy the requirement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8A4F4F-B8A5-5D4F-A1EE-32B0AD917C95}"/>
              </a:ext>
            </a:extLst>
          </p:cNvPr>
          <p:cNvSpPr/>
          <p:nvPr/>
        </p:nvSpPr>
        <p:spPr>
          <a:xfrm>
            <a:off x="5991726" y="2398295"/>
            <a:ext cx="1114927" cy="280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2639B-8AF1-ABD2-C728-FC4425806846}"/>
              </a:ext>
            </a:extLst>
          </p:cNvPr>
          <p:cNvSpPr/>
          <p:nvPr/>
        </p:nvSpPr>
        <p:spPr>
          <a:xfrm>
            <a:off x="5434262" y="2703095"/>
            <a:ext cx="1114927" cy="280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A5E90-4B82-76E9-4429-48E352FE787C}"/>
              </a:ext>
            </a:extLst>
          </p:cNvPr>
          <p:cNvSpPr/>
          <p:nvPr/>
        </p:nvSpPr>
        <p:spPr>
          <a:xfrm>
            <a:off x="4876798" y="2987839"/>
            <a:ext cx="1114927" cy="280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F25CA-08FB-5EA2-6518-245B71C04525}"/>
              </a:ext>
            </a:extLst>
          </p:cNvPr>
          <p:cNvSpPr/>
          <p:nvPr/>
        </p:nvSpPr>
        <p:spPr>
          <a:xfrm>
            <a:off x="2590798" y="4115267"/>
            <a:ext cx="1114927" cy="280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EE2ADF-A0BD-E565-411E-30BA281B801B}"/>
              </a:ext>
            </a:extLst>
          </p:cNvPr>
          <p:cNvGrpSpPr/>
          <p:nvPr/>
        </p:nvGrpSpPr>
        <p:grpSpPr>
          <a:xfrm>
            <a:off x="7691390" y="2501308"/>
            <a:ext cx="523038" cy="1835741"/>
            <a:chOff x="7665990" y="2501308"/>
            <a:chExt cx="523038" cy="1835741"/>
          </a:xfrm>
        </p:grpSpPr>
        <p:sp>
          <p:nvSpPr>
            <p:cNvPr id="14" name="Arrow: Up-Down 13">
              <a:extLst>
                <a:ext uri="{FF2B5EF4-FFF2-40B4-BE49-F238E27FC236}">
                  <a16:creationId xmlns:a16="http://schemas.microsoft.com/office/drawing/2014/main" id="{961EF686-F909-9FB7-18BB-6A851B13A725}"/>
                </a:ext>
              </a:extLst>
            </p:cNvPr>
            <p:cNvSpPr/>
            <p:nvPr/>
          </p:nvSpPr>
          <p:spPr>
            <a:xfrm>
              <a:off x="7665990" y="2501308"/>
              <a:ext cx="184484" cy="1835741"/>
            </a:xfrm>
            <a:prstGeom prst="up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4F199E-18F5-8E83-6EF1-8188B738DB53}"/>
                </a:ext>
              </a:extLst>
            </p:cNvPr>
            <p:cNvSpPr txBox="1"/>
            <p:nvPr/>
          </p:nvSpPr>
          <p:spPr>
            <a:xfrm rot="16200000">
              <a:off x="7527629" y="3249901"/>
              <a:ext cx="984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Count = 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7B45BA-AB00-D23F-5FDA-757F1419D140}"/>
                  </a:ext>
                </a:extLst>
              </p:cNvPr>
              <p:cNvSpPr txBox="1"/>
              <p:nvPr/>
            </p:nvSpPr>
            <p:spPr>
              <a:xfrm>
                <a:off x="1814764" y="1353901"/>
                <a:ext cx="55144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How many natural numbers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1600" dirty="0">
                    <a:solidFill>
                      <a:srgbClr val="7030A0"/>
                    </a:solidFill>
                  </a:rPr>
                  <a:t> have </a:t>
                </a:r>
                <a:r>
                  <a:rPr lang="en-US" sz="1600" i="1" dirty="0">
                    <a:solidFill>
                      <a:srgbClr val="7030A0"/>
                    </a:solidFill>
                  </a:rPr>
                  <a:t>only</a:t>
                </a:r>
                <a:r>
                  <a:rPr lang="en-US" sz="1600" dirty="0">
                    <a:solidFill>
                      <a:srgbClr val="7030A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two</a:t>
                </a:r>
                <a:r>
                  <a:rPr lang="en-US" sz="1600" dirty="0">
                    <a:solidFill>
                      <a:srgbClr val="7030A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adjacent</a:t>
                </a:r>
                <a:r>
                  <a:rPr lang="en-US" sz="1600" dirty="0">
                    <a:solidFill>
                      <a:srgbClr val="7030A0"/>
                    </a:solidFill>
                  </a:rPr>
                  <a:t> bits?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7B45BA-AB00-D23F-5FDA-757F1419D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764" y="1353901"/>
                <a:ext cx="5514473" cy="338554"/>
              </a:xfrm>
              <a:prstGeom prst="rect">
                <a:avLst/>
              </a:prstGeom>
              <a:blipFill>
                <a:blip r:embed="rId3"/>
                <a:stretch>
                  <a:fillRect l="-442" t="-5357" r="-22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7D07722-A2F3-5133-EDF4-7CEBB5789197}"/>
              </a:ext>
            </a:extLst>
          </p:cNvPr>
          <p:cNvSpPr/>
          <p:nvPr/>
        </p:nvSpPr>
        <p:spPr>
          <a:xfrm>
            <a:off x="7953374" y="2981451"/>
            <a:ext cx="182471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A4FA063-73BA-8533-2B2C-7C2109FBBE9C}"/>
              </a:ext>
            </a:extLst>
          </p:cNvPr>
          <p:cNvCxnSpPr>
            <a:stCxn id="5" idx="3"/>
            <a:endCxn id="3" idx="3"/>
          </p:cNvCxnSpPr>
          <p:nvPr/>
        </p:nvCxnSpPr>
        <p:spPr>
          <a:xfrm flipH="1" flipV="1">
            <a:off x="7329237" y="1523178"/>
            <a:ext cx="806608" cy="1554526"/>
          </a:xfrm>
          <a:prstGeom prst="bentConnector3">
            <a:avLst>
              <a:gd name="adj1" fmla="val -2834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24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4B59-5195-0038-A371-0F410539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9A8F-EEB8-4652-2F60-CEE8B55A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two_adjacent_bits.py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2B727-557C-AB06-6603-C0EBFC4C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1E3F80-9F4A-E793-01A6-BBE1FB2B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62" y="1686143"/>
            <a:ext cx="7790476" cy="348571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4629CDC-94B4-733A-581F-02107242A327}"/>
              </a:ext>
            </a:extLst>
          </p:cNvPr>
          <p:cNvGrpSpPr/>
          <p:nvPr/>
        </p:nvGrpSpPr>
        <p:grpSpPr>
          <a:xfrm>
            <a:off x="2955705" y="1638017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6395B-D491-CC27-A519-0CCB36B45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1A5FC6-094A-6277-01FE-14A1147975E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3DF24E-68AE-B8E0-25F9-DFA16B034166}"/>
              </a:ext>
            </a:extLst>
          </p:cNvPr>
          <p:cNvGrpSpPr/>
          <p:nvPr/>
        </p:nvGrpSpPr>
        <p:grpSpPr>
          <a:xfrm>
            <a:off x="1126294" y="1830704"/>
            <a:ext cx="1076632" cy="369332"/>
            <a:chOff x="4704120" y="2356972"/>
            <a:chExt cx="1076632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A2EAD63-5874-4374-E3CD-BB142C957B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40D6EF-81E4-6AAF-114E-9221D6067FB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CA397D6-8AD2-D22C-5F1C-0452C19041C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40488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EFAE-86E3-576E-6755-14E8D74F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8F33-FD38-D38C-50AD-2FCAED6C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two_adjacent_bits.py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B9015-5560-2BBC-F7CF-D142FF75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62DF7-6F14-39F6-D89A-93A0A48A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33" y="1490708"/>
            <a:ext cx="8733333" cy="47428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1E859B2-FEFA-9677-52A7-829384FC46AB}"/>
              </a:ext>
            </a:extLst>
          </p:cNvPr>
          <p:cNvGrpSpPr/>
          <p:nvPr/>
        </p:nvGrpSpPr>
        <p:grpSpPr>
          <a:xfrm>
            <a:off x="7650376" y="1444143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2E7FE95-6B0D-0AA2-3891-709429564E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9058D6-26E3-0EA4-BE86-F76EBBAEF1B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3792FA-3636-7A61-B9E4-A7FF5E3A9497}"/>
              </a:ext>
            </a:extLst>
          </p:cNvPr>
          <p:cNvGrpSpPr/>
          <p:nvPr/>
        </p:nvGrpSpPr>
        <p:grpSpPr>
          <a:xfrm>
            <a:off x="1006592" y="1651796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43B433F-5850-F454-6E5B-9924FD200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CFC42A-2FFA-4C7B-5832-4B40514FE81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0B08F5B-EDC5-F27A-00EC-7847E6BDD3B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8903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5AEA-C005-8B19-06B3-2F64D430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610D6D-54ED-1407-B448-4BC29E6E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47" y="1557571"/>
            <a:ext cx="6561905" cy="3742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B6DB7F-5EE1-E5C0-BDF7-B4BB7F18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two_adjacent_bits.py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5274-5BEE-AF8F-1538-AD98470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4177E9-1DC1-F806-293D-E0ED2DB70F96}"/>
              </a:ext>
            </a:extLst>
          </p:cNvPr>
          <p:cNvGrpSpPr/>
          <p:nvPr/>
        </p:nvGrpSpPr>
        <p:grpSpPr>
          <a:xfrm>
            <a:off x="5605007" y="2899176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3B41220-C5B8-903C-D9F5-044747AE7C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35F75F-6757-7632-2BDE-6A2505AAEC0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4591ED-F7DF-25DD-6B4A-FA4C62561DE8}"/>
              </a:ext>
            </a:extLst>
          </p:cNvPr>
          <p:cNvGrpSpPr/>
          <p:nvPr/>
        </p:nvGrpSpPr>
        <p:grpSpPr>
          <a:xfrm>
            <a:off x="2490482" y="3118205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0AA5066-56B2-0A9B-75C1-6FB0FB0007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24B404-5E15-418D-CBF0-3BB2A3C5645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04BB03-4F44-3BDB-121B-6890AD394305}"/>
              </a:ext>
            </a:extLst>
          </p:cNvPr>
          <p:cNvGrpSpPr/>
          <p:nvPr/>
        </p:nvGrpSpPr>
        <p:grpSpPr>
          <a:xfrm>
            <a:off x="3177036" y="3806769"/>
            <a:ext cx="1068643" cy="369332"/>
            <a:chOff x="3647644" y="4910075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D9564F-9C8B-4239-0677-D5274C4C43F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26E458-F1BC-2172-7C61-477BE1D6B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C324D-05A6-661B-15A8-E9BD598471C5}"/>
              </a:ext>
            </a:extLst>
          </p:cNvPr>
          <p:cNvGrpSpPr/>
          <p:nvPr/>
        </p:nvGrpSpPr>
        <p:grpSpPr>
          <a:xfrm>
            <a:off x="3296085" y="4051829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53D4E7-BAFD-1D06-D89F-F8D04A7504F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5926D90-3BFB-F11B-B359-B57F0AC670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CE8E62-4D80-D4B6-7AA1-EB87874447D3}"/>
              </a:ext>
            </a:extLst>
          </p:cNvPr>
          <p:cNvGrpSpPr/>
          <p:nvPr/>
        </p:nvGrpSpPr>
        <p:grpSpPr>
          <a:xfrm>
            <a:off x="3321414" y="4266265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2250F1-397B-416C-C7AA-81698A2AF06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8A7E029-AC2D-2C3C-3B32-BE66B8254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FC4B37-6B82-7E0C-A941-F72865FFCC03}"/>
              </a:ext>
            </a:extLst>
          </p:cNvPr>
          <p:cNvGrpSpPr/>
          <p:nvPr/>
        </p:nvGrpSpPr>
        <p:grpSpPr>
          <a:xfrm>
            <a:off x="4936776" y="4487296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D4270-4D74-AC94-5FF4-5E9E54C2B1D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AFD7A1-2CD9-D971-0611-547FFE6EF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0195DE-4D23-1549-A4F8-E248DAE4EE7A}"/>
              </a:ext>
            </a:extLst>
          </p:cNvPr>
          <p:cNvGrpSpPr/>
          <p:nvPr/>
        </p:nvGrpSpPr>
        <p:grpSpPr>
          <a:xfrm>
            <a:off x="2747929" y="4955159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75DEF-ED57-17CE-4EC4-85B6D988298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5EEAC8C-0BC3-7FAA-3322-3EE431917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233A1E3-DB14-4709-E78D-1117B10D8B7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108583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2E053-3E3B-367A-7FF0-47D5478D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A22A-FBAC-470D-25D7-1B818890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two_adjacent_bits.py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1EAED-7E44-2036-47C8-F34822CB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09E6B-7072-8EB3-3A2E-A86F6DB3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14" y="2000428"/>
            <a:ext cx="6428571" cy="285714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2CE00A1-D9E7-11F8-E826-198A1765E467}"/>
              </a:ext>
            </a:extLst>
          </p:cNvPr>
          <p:cNvGrpSpPr/>
          <p:nvPr/>
        </p:nvGrpSpPr>
        <p:grpSpPr>
          <a:xfrm>
            <a:off x="4009620" y="4286428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D5AE81D-3038-BFF8-7593-ADB98A22E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003BD7-851D-54B5-4682-9AFB92E8FAC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D7658F-10D7-1614-C953-FCF7A4C1F177}"/>
              </a:ext>
            </a:extLst>
          </p:cNvPr>
          <p:cNvGrpSpPr/>
          <p:nvPr/>
        </p:nvGrpSpPr>
        <p:grpSpPr>
          <a:xfrm>
            <a:off x="3332694" y="1984386"/>
            <a:ext cx="1076632" cy="369332"/>
            <a:chOff x="4704120" y="2356972"/>
            <a:chExt cx="1076632" cy="369332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AE145E8-64A3-72EF-A9DD-21B335246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50B43B-4C88-8EA1-EA5B-942326F40F3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89EB9D-A12C-CE6C-5987-565A199489E7}"/>
              </a:ext>
            </a:extLst>
          </p:cNvPr>
          <p:cNvGrpSpPr/>
          <p:nvPr/>
        </p:nvGrpSpPr>
        <p:grpSpPr>
          <a:xfrm>
            <a:off x="5971622" y="2448217"/>
            <a:ext cx="1068643" cy="369332"/>
            <a:chOff x="3647644" y="4910075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4E482B1-699A-E533-D1E1-61A58295E39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FBBD03E-52B6-947A-DFBB-5193403A55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9D75BE-B9D1-0878-C036-A0287E1A9E60}"/>
              </a:ext>
            </a:extLst>
          </p:cNvPr>
          <p:cNvGrpSpPr/>
          <p:nvPr/>
        </p:nvGrpSpPr>
        <p:grpSpPr>
          <a:xfrm>
            <a:off x="7672085" y="2691935"/>
            <a:ext cx="1064340" cy="369332"/>
            <a:chOff x="3647644" y="5421073"/>
            <a:chExt cx="1064340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19BB08-51AD-040E-8C90-2BBDF627662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197B115-8FC2-1E65-24B7-32D4D2CB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5E0833-C1CB-5284-BEBB-095588E2CDEE}"/>
              </a:ext>
            </a:extLst>
          </p:cNvPr>
          <p:cNvGrpSpPr/>
          <p:nvPr/>
        </p:nvGrpSpPr>
        <p:grpSpPr>
          <a:xfrm>
            <a:off x="5153472" y="3343746"/>
            <a:ext cx="1068643" cy="369332"/>
            <a:chOff x="3647644" y="5359159"/>
            <a:chExt cx="1068643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FC0516D-8AE7-A2D0-8CD0-54011DFB7BC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5C2C206-7B4C-5D26-D825-D41A08FEA6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75CC40D-986D-FD25-79C0-37C6D2DB988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6942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3C318-1BD7-1AD4-909E-D9730D4F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F36C-65D2-9245-37CB-AD40E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two_adjacent_bits.py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FEA11-FC33-D8E4-CBB5-60CC84D0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EEB1C-1D3C-3F2D-43EC-F458674CF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0" y="1919781"/>
            <a:ext cx="8919280" cy="81886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3FA4C4E-52CA-0779-0D39-180A5CC750B1}"/>
              </a:ext>
            </a:extLst>
          </p:cNvPr>
          <p:cNvGrpSpPr/>
          <p:nvPr/>
        </p:nvGrpSpPr>
        <p:grpSpPr>
          <a:xfrm>
            <a:off x="973181" y="3297186"/>
            <a:ext cx="7197637" cy="1644346"/>
            <a:chOff x="1201781" y="4077771"/>
            <a:chExt cx="7197637" cy="164434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B4C1B6-125F-8439-FD35-BD34A7AEA97D}"/>
                    </a:ext>
                  </a:extLst>
                </p:cNvPr>
                <p:cNvSpPr txBox="1"/>
                <p:nvPr/>
              </p:nvSpPr>
              <p:spPr>
                <a:xfrm>
                  <a:off x="2254319" y="4077771"/>
                  <a:ext cx="5092560" cy="439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ℕ</m:t>
                                </m:r>
                                <m:r>
                                  <a:rPr lang="en-US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0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US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45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=66</m:t>
                        </m:r>
                      </m:oMath>
                    </m:oMathPara>
                  </a14:m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B4C1B6-125F-8439-FD35-BD34A7AEA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4319" y="4077771"/>
                  <a:ext cx="5092560" cy="4397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2CE6C7-B21D-CF19-F9A1-66C6830EFC4C}"/>
                    </a:ext>
                  </a:extLst>
                </p:cNvPr>
                <p:cNvSpPr txBox="1"/>
                <p:nvPr/>
              </p:nvSpPr>
              <p:spPr>
                <a:xfrm>
                  <a:off x="1201781" y="4750480"/>
                  <a:ext cx="719763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/>
                        <m:t>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𝑛𝑜𝑟𝑚</m:t>
                      </m:r>
                    </m:oMath>
                  </a14:m>
                  <a:r>
                    <a:rPr lang="en-US" dirty="0"/>
                    <a:t> of a binary vector, which equals the number of 1s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2CE6C7-B21D-CF19-F9A1-66C6830E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1781" y="4750480"/>
                  <a:ext cx="719763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DD493C-4435-82AF-EB44-F6A0234AF90D}"/>
                    </a:ext>
                  </a:extLst>
                </p:cNvPr>
                <p:cNvSpPr txBox="1"/>
                <p:nvPr/>
              </p:nvSpPr>
              <p:spPr>
                <a:xfrm>
                  <a:off x="2654603" y="5352785"/>
                  <a:ext cx="429199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The number of elements in the set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DD493C-4435-82AF-EB44-F6A0234AF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603" y="5352785"/>
                  <a:ext cx="4291993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5F64B0-5193-CD30-FBFB-4891EF3C0547}"/>
              </a:ext>
            </a:extLst>
          </p:cNvPr>
          <p:cNvGrpSpPr/>
          <p:nvPr/>
        </p:nvGrpSpPr>
        <p:grpSpPr>
          <a:xfrm>
            <a:off x="7535725" y="1883543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E57F147-D22E-1698-3637-4A1519EA5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40527D-D504-7E85-99A2-3CEB828B8F2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D97AB4-B220-30A5-A767-7DC7BDC06CBE}"/>
              </a:ext>
            </a:extLst>
          </p:cNvPr>
          <p:cNvGrpSpPr/>
          <p:nvPr/>
        </p:nvGrpSpPr>
        <p:grpSpPr>
          <a:xfrm>
            <a:off x="6652011" y="2431795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217780E-0AFC-5A65-084B-2F1D1B1CE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7D4EEA-8D01-13C2-A661-C950D0C4B356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816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2538-50A1-28CD-6782-34603195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24914D-3824-1EA2-608E-8FDD1A85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7" y="1821251"/>
            <a:ext cx="6875666" cy="4026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D8E16E-10E5-11D1-743A-E2465D83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Always Seek </a:t>
            </a:r>
            <a:r>
              <a:rPr lang="en-US" sz="3200" b="1" dirty="0">
                <a:solidFill>
                  <a:srgbClr val="7030A0"/>
                </a:solidFill>
                <a:latin typeface="+mn-lt"/>
              </a:rPr>
              <a:t>Independent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Confirmation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1066-19C8-3E9C-FF42-29169E8D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190F03-D5C2-87E7-89D9-CDBAE32D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6EFE1-00BE-4F07-B5CB-28D9D34225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9356" y="614596"/>
            <a:ext cx="6025287" cy="5628807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AFCF4B-1B12-F13E-84F6-20C51D2524FB}"/>
              </a:ext>
            </a:extLst>
          </p:cNvPr>
          <p:cNvSpPr/>
          <p:nvPr/>
        </p:nvSpPr>
        <p:spPr>
          <a:xfrm>
            <a:off x="4444584" y="1783830"/>
            <a:ext cx="1304144" cy="3972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7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400" dirty="0"/>
                  <a:t>Write a Python console application to display the integer factorizations of a given quadratic polynomial</a:t>
                </a:r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dirty="0"/>
                  <a:t>You may assume in all cases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 ∈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400" dirty="0"/>
                  <a:t>Your scientist needs you to factor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this quadratic</a:t>
                </a:r>
                <a:r>
                  <a:rPr lang="en-US" sz="2400" dirty="0"/>
                  <a:t>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marL="0" indent="0" algn="ctr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𝟏𝟏𝟓𝟒𝟐𝟓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𝟑𝟐𝟓𝟒𝟏𝟐𝟏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𝟑𝟕𝟗𝟎𝟐𝟎</m:t>
                    </m:r>
                  </m:oMath>
                </a14:m>
                <a:endParaRPr lang="en-US" sz="2400" b="1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Can we use the quadratic formula to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factor</a:t>
                </a:r>
                <a:r>
                  <a:rPr lang="en-US" sz="2400" dirty="0"/>
                  <a:t> this quadratic?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/>
                  <a:t>In general, what is the difference between factoring a quadratic versus using the quadratic formula?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CA5508-F2DA-454F-98A5-714990F8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Factoring a Quadratic Polynomial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372E4-0594-0C7E-5C02-83560C0CD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85" y="5938160"/>
            <a:ext cx="4371429" cy="590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306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Representing a Quadratic Polynomial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Fundamental Theorem of Algebra shows a polynomial of degree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2</a:t>
                </a:r>
                <a:r>
                  <a:rPr lang="en-US" sz="2400" dirty="0"/>
                  <a:t> will have exactly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2</a:t>
                </a:r>
                <a:r>
                  <a:rPr lang="en-US" sz="2400" dirty="0"/>
                  <a:t> roots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𝑲𝒙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, the roots can be unique or repeated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Either the roots can be a real or a complex conjugate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Work </a:t>
                </a:r>
                <a:r>
                  <a:rPr lang="en-US" sz="2400" i="1" dirty="0"/>
                  <a:t>backwards</a:t>
                </a:r>
                <a:r>
                  <a:rPr lang="en-US" sz="2400" dirty="0"/>
                  <a:t> by starting as a factored a quadratic: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e>
                      </m:d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),  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  <a:blipFill>
                <a:blip r:embed="rId2"/>
                <a:stretch>
                  <a:fillRect l="-108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45455F-2CE5-4BF6-A4E4-25EBF72D4229}"/>
              </a:ext>
            </a:extLst>
          </p:cNvPr>
          <p:cNvGrpSpPr/>
          <p:nvPr/>
        </p:nvGrpSpPr>
        <p:grpSpPr>
          <a:xfrm>
            <a:off x="2792819" y="4784650"/>
            <a:ext cx="3005470" cy="361508"/>
            <a:chOff x="2792819" y="4784650"/>
            <a:chExt cx="3005470" cy="36150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DD6A0E-85BF-4777-AA48-3E01A3E8D70F}"/>
                </a:ext>
              </a:extLst>
            </p:cNvPr>
            <p:cNvCxnSpPr/>
            <p:nvPr/>
          </p:nvCxnSpPr>
          <p:spPr>
            <a:xfrm>
              <a:off x="2792819" y="4827181"/>
              <a:ext cx="602511" cy="3189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B2DE8E4-9B96-4728-9800-1F7A8BF642E8}"/>
                </a:ext>
              </a:extLst>
            </p:cNvPr>
            <p:cNvCxnSpPr>
              <a:cxnSpLocks/>
            </p:cNvCxnSpPr>
            <p:nvPr/>
          </p:nvCxnSpPr>
          <p:spPr>
            <a:xfrm>
              <a:off x="4348717" y="4784650"/>
              <a:ext cx="0" cy="21619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930D5A3-3A83-4AEF-BE87-AA78E1C9E1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9070" y="4784650"/>
              <a:ext cx="659219" cy="3615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797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Factoring a Quadratic Polynomial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20" y="1825625"/>
                <a:ext cx="7886700" cy="4371975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𝑏𝑑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To factor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400" dirty="0"/>
                  <a:t> we need to try every integer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dirty="0"/>
                  <a:t> where 1 ≤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dirty="0"/>
                  <a:t> ≤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sz="24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/>
                  <a:t> %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000" dirty="0"/>
                  <a:t> == 0 (no remainder) then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/>
                  <a:t> /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To factor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we need to try every integer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b</a:t>
                </a:r>
                <a:r>
                  <a:rPr lang="en-US" sz="2400" dirty="0"/>
                  <a:t> where 1 ≤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b</a:t>
                </a:r>
                <a:r>
                  <a:rPr lang="en-US" sz="2400" dirty="0"/>
                  <a:t> ≤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If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%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000" dirty="0"/>
                  <a:t> == 0 (no remainder) then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sz="2000" dirty="0"/>
                  <a:t> =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/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then we have found a factorization!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If the sum does not equal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, then we have to keep trying more factors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20" y="1825625"/>
                <a:ext cx="7886700" cy="4371975"/>
              </a:xfrm>
              <a:blipFill>
                <a:blip r:embed="rId2"/>
                <a:stretch>
                  <a:fillRect l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8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if</a:t>
            </a:r>
            <a:r>
              <a:rPr lang="en-US" sz="32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0070C0"/>
                </a:solidFill>
              </a:rPr>
              <a:t>if</a:t>
            </a:r>
            <a:r>
              <a:rPr lang="en-US" sz="2400" dirty="0"/>
              <a:t> statement identifies which code block (scope) to run based upon the value of a </a:t>
            </a:r>
            <a:r>
              <a:rPr lang="en-US" sz="2400" b="1" dirty="0">
                <a:solidFill>
                  <a:srgbClr val="7030A0"/>
                </a:solidFill>
              </a:rPr>
              <a:t>Boolean expression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expression (the </a:t>
            </a:r>
            <a:r>
              <a:rPr lang="en-US" sz="2000" i="1" dirty="0"/>
              <a:t>condition</a:t>
            </a:r>
            <a:r>
              <a:rPr lang="en-US" sz="2000" dirty="0"/>
              <a:t>) </a:t>
            </a:r>
            <a:r>
              <a:rPr lang="en-US" sz="2000" b="1" dirty="0">
                <a:solidFill>
                  <a:srgbClr val="FF0000"/>
                </a:solidFill>
              </a:rPr>
              <a:t>must evaluate </a:t>
            </a:r>
            <a:r>
              <a:rPr lang="en-US" sz="2000" dirty="0"/>
              <a:t>to </a:t>
            </a:r>
            <a:r>
              <a:rPr lang="en-US" sz="2000" i="1" dirty="0"/>
              <a:t>either</a:t>
            </a:r>
            <a:r>
              <a:rPr lang="en-US" sz="2000" dirty="0"/>
              <a:t> a </a:t>
            </a:r>
            <a:r>
              <a:rPr lang="en-US" sz="2000" b="1" dirty="0">
                <a:solidFill>
                  <a:srgbClr val="00B050"/>
                </a:solidFill>
              </a:rPr>
              <a:t>True</a:t>
            </a:r>
            <a:r>
              <a:rPr lang="en-US" sz="2000" dirty="0"/>
              <a:t> or a </a:t>
            </a:r>
            <a:r>
              <a:rPr lang="en-US" sz="2000" b="1" dirty="0">
                <a:solidFill>
                  <a:srgbClr val="00B050"/>
                </a:solidFill>
              </a:rPr>
              <a:t>False</a:t>
            </a:r>
            <a:r>
              <a:rPr lang="en-US" sz="2000" dirty="0"/>
              <a:t> value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If the condition is </a:t>
            </a:r>
            <a:r>
              <a:rPr lang="en-US" sz="2000" b="1" dirty="0">
                <a:solidFill>
                  <a:srgbClr val="00B050"/>
                </a:solidFill>
              </a:rPr>
              <a:t>True</a:t>
            </a:r>
            <a:r>
              <a:rPr lang="en-US" sz="2000" dirty="0"/>
              <a:t>, then the </a:t>
            </a:r>
            <a:r>
              <a:rPr lang="en-US" sz="2000" u="sng" dirty="0"/>
              <a:t>scope</a:t>
            </a:r>
            <a:r>
              <a:rPr lang="en-US" sz="2000" dirty="0"/>
              <a:t> immediately following the </a:t>
            </a:r>
            <a:r>
              <a:rPr lang="en-US" sz="2000" b="1" dirty="0">
                <a:solidFill>
                  <a:srgbClr val="0070C0"/>
                </a:solidFill>
              </a:rPr>
              <a:t>if </a:t>
            </a:r>
            <a:r>
              <a:rPr lang="en-US" sz="2000" dirty="0"/>
              <a:t>statement is executed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If the condition is </a:t>
            </a:r>
            <a:r>
              <a:rPr lang="en-US" sz="2000" b="1" dirty="0">
                <a:solidFill>
                  <a:srgbClr val="00B050"/>
                </a:solidFill>
              </a:rPr>
              <a:t>False</a:t>
            </a:r>
            <a:r>
              <a:rPr lang="en-US" sz="2000" dirty="0"/>
              <a:t>, and there is an </a:t>
            </a:r>
            <a:r>
              <a:rPr lang="en-US" sz="2000" b="1" dirty="0">
                <a:solidFill>
                  <a:srgbClr val="0070C0"/>
                </a:solidFill>
              </a:rPr>
              <a:t>else</a:t>
            </a:r>
            <a:r>
              <a:rPr lang="en-US" sz="2000" dirty="0"/>
              <a:t> clause, then the </a:t>
            </a:r>
            <a:r>
              <a:rPr lang="en-US" sz="2000" u="sng" dirty="0"/>
              <a:t>scope</a:t>
            </a:r>
            <a:r>
              <a:rPr lang="en-US" sz="2000" dirty="0"/>
              <a:t> immediately following the </a:t>
            </a:r>
            <a:r>
              <a:rPr lang="en-US" sz="2000" b="1" dirty="0">
                <a:solidFill>
                  <a:srgbClr val="0070C0"/>
                </a:solidFill>
              </a:rPr>
              <a:t>else</a:t>
            </a:r>
            <a:r>
              <a:rPr lang="en-US" sz="2000" dirty="0"/>
              <a:t> statement is executed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Every </a:t>
            </a:r>
            <a:r>
              <a:rPr lang="en-US" sz="2000" b="1" dirty="0">
                <a:solidFill>
                  <a:srgbClr val="0070C0"/>
                </a:solidFill>
              </a:rPr>
              <a:t>if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statement does not need to have an </a:t>
            </a:r>
            <a:r>
              <a:rPr lang="en-US" sz="2000" b="1" dirty="0">
                <a:solidFill>
                  <a:srgbClr val="0070C0"/>
                </a:solidFill>
              </a:rPr>
              <a:t>else</a:t>
            </a:r>
            <a:r>
              <a:rPr lang="en-US" sz="2000" dirty="0"/>
              <a:t> clause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You can also use </a:t>
            </a:r>
            <a:r>
              <a:rPr lang="en-US" sz="2000" b="1" dirty="0" err="1">
                <a:solidFill>
                  <a:srgbClr val="0070C0"/>
                </a:solidFill>
              </a:rPr>
              <a:t>elif</a:t>
            </a:r>
            <a:r>
              <a:rPr lang="en-US" sz="2000" dirty="0"/>
              <a:t> to continue to test for other conditions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if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rgbClr val="0070C0"/>
                </a:solidFill>
              </a:rPr>
              <a:t>elif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70C0"/>
                </a:solidFill>
              </a:rPr>
              <a:t>else</a:t>
            </a:r>
            <a:r>
              <a:rPr lang="en-US" sz="2400" dirty="0"/>
              <a:t> statements </a:t>
            </a:r>
            <a:r>
              <a:rPr lang="en-US" sz="2400" i="1" dirty="0"/>
              <a:t>all</a:t>
            </a:r>
            <a:r>
              <a:rPr lang="en-US" sz="2400" dirty="0"/>
              <a:t> introduce scopes (meaning they require a </a:t>
            </a:r>
            <a:r>
              <a:rPr lang="en-US" sz="2400" b="1" dirty="0"/>
              <a:t>colon</a:t>
            </a:r>
            <a:r>
              <a:rPr lang="en-US" sz="2400" dirty="0"/>
              <a:t> at the end of their line)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68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if</a:t>
            </a:r>
            <a:r>
              <a:rPr lang="en-US" sz="32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Statement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393B3B-B662-46F2-AB48-CD383794D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3" t="798" b="1"/>
          <a:stretch/>
        </p:blipFill>
        <p:spPr>
          <a:xfrm>
            <a:off x="4227154" y="1909951"/>
            <a:ext cx="4261977" cy="2834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D917BA-48E6-4517-A3F9-1360056D6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69" y="1808246"/>
            <a:ext cx="3295238" cy="303809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DF5B6AC-929B-44F0-84EE-79DC2FED04D2}"/>
              </a:ext>
            </a:extLst>
          </p:cNvPr>
          <p:cNvSpPr/>
          <p:nvPr/>
        </p:nvSpPr>
        <p:spPr>
          <a:xfrm>
            <a:off x="3252019" y="1909952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FFD77-D6F5-4819-8171-DBAD8CCE0C45}"/>
              </a:ext>
            </a:extLst>
          </p:cNvPr>
          <p:cNvSpPr/>
          <p:nvPr/>
        </p:nvSpPr>
        <p:spPr>
          <a:xfrm>
            <a:off x="3522406" y="2711281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42965D-9311-4758-AB2F-5B70AF4D693B}"/>
              </a:ext>
            </a:extLst>
          </p:cNvPr>
          <p:cNvSpPr/>
          <p:nvPr/>
        </p:nvSpPr>
        <p:spPr>
          <a:xfrm>
            <a:off x="3522406" y="3513375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E12F9E-5DF5-44DA-9665-BEDC41DAF1A9}"/>
              </a:ext>
            </a:extLst>
          </p:cNvPr>
          <p:cNvSpPr/>
          <p:nvPr/>
        </p:nvSpPr>
        <p:spPr>
          <a:xfrm>
            <a:off x="1270819" y="4322078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F56938-8097-41C9-9EAA-5A439619146D}"/>
              </a:ext>
            </a:extLst>
          </p:cNvPr>
          <p:cNvSpPr/>
          <p:nvPr/>
        </p:nvSpPr>
        <p:spPr>
          <a:xfrm>
            <a:off x="7558548" y="2217095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A6EE7D-F070-4095-90B8-4BB9D210C241}"/>
              </a:ext>
            </a:extLst>
          </p:cNvPr>
          <p:cNvSpPr/>
          <p:nvPr/>
        </p:nvSpPr>
        <p:spPr>
          <a:xfrm>
            <a:off x="7954297" y="2814859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BF165-4A52-4097-949F-09F04E43AB60}"/>
              </a:ext>
            </a:extLst>
          </p:cNvPr>
          <p:cNvSpPr/>
          <p:nvPr/>
        </p:nvSpPr>
        <p:spPr>
          <a:xfrm>
            <a:off x="7416594" y="3373283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232178-C26F-41D4-BAD2-6465371E30AB}"/>
              </a:ext>
            </a:extLst>
          </p:cNvPr>
          <p:cNvSpPr/>
          <p:nvPr/>
        </p:nvSpPr>
        <p:spPr>
          <a:xfrm>
            <a:off x="5275620" y="3953386"/>
            <a:ext cx="184355" cy="265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DB6A5554-9E4E-49BD-94F9-738741CAA681}"/>
              </a:ext>
            </a:extLst>
          </p:cNvPr>
          <p:cNvSpPr/>
          <p:nvPr/>
        </p:nvSpPr>
        <p:spPr>
          <a:xfrm>
            <a:off x="3766975" y="5083207"/>
            <a:ext cx="1852160" cy="934574"/>
          </a:xfrm>
          <a:prstGeom prst="wedgeRectCallout">
            <a:avLst>
              <a:gd name="adj1" fmla="val -51159"/>
              <a:gd name="adj2" fmla="val -13864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Be mindful of the </a:t>
            </a:r>
            <a:r>
              <a:rPr lang="en-US" b="1" dirty="0">
                <a:solidFill>
                  <a:srgbClr val="FF0000"/>
                </a:solidFill>
              </a:rPr>
              <a:t>colons : </a:t>
            </a:r>
            <a:r>
              <a:rPr lang="en-US" dirty="0">
                <a:solidFill>
                  <a:srgbClr val="FF0000"/>
                </a:solidFill>
              </a:rPr>
              <a:t>that start the scopes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C88E3891-9795-4B2E-B8E8-64E045ACE8F4}"/>
              </a:ext>
            </a:extLst>
          </p:cNvPr>
          <p:cNvSpPr/>
          <p:nvPr/>
        </p:nvSpPr>
        <p:spPr>
          <a:xfrm>
            <a:off x="6286492" y="754692"/>
            <a:ext cx="1852160" cy="934574"/>
          </a:xfrm>
          <a:prstGeom prst="wedgeRectCallout">
            <a:avLst>
              <a:gd name="adj1" fmla="val -131981"/>
              <a:gd name="adj2" fmla="val 64924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def</a:t>
            </a:r>
            <a:r>
              <a:rPr lang="en-US" dirty="0">
                <a:solidFill>
                  <a:srgbClr val="FF0000"/>
                </a:solidFill>
              </a:rPr>
              <a:t> is how we define a function</a:t>
            </a: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55EF1644-6FC0-4D60-A538-A49CEB5AD039}"/>
              </a:ext>
            </a:extLst>
          </p:cNvPr>
          <p:cNvSpPr/>
          <p:nvPr/>
        </p:nvSpPr>
        <p:spPr>
          <a:xfrm>
            <a:off x="6816823" y="4634764"/>
            <a:ext cx="1852160" cy="934574"/>
          </a:xfrm>
          <a:prstGeom prst="wedgeRectCallout">
            <a:avLst>
              <a:gd name="adj1" fmla="val -39613"/>
              <a:gd name="adj2" fmla="val -126024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Functions can return values</a:t>
            </a:r>
          </a:p>
        </p:txBody>
      </p:sp>
    </p:spTree>
    <p:extLst>
      <p:ext uri="{BB962C8B-B14F-4D97-AF65-F5344CB8AC3E}">
        <p14:creationId xmlns:p14="http://schemas.microsoft.com/office/powerpoint/2010/main" val="286852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if</a:t>
            </a:r>
            <a:r>
              <a:rPr lang="en-US" sz="32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Statement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40E88-A1CD-F67D-3289-AA682C4D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95" y="1530871"/>
            <a:ext cx="8519410" cy="4472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758E88-C483-E59B-2C81-AE79677E9297}"/>
              </a:ext>
            </a:extLst>
          </p:cNvPr>
          <p:cNvSpPr/>
          <p:nvPr/>
        </p:nvSpPr>
        <p:spPr>
          <a:xfrm>
            <a:off x="786984" y="3767216"/>
            <a:ext cx="2061147" cy="2428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41370-F9C9-AADB-6CD7-839E230D4E08}"/>
              </a:ext>
            </a:extLst>
          </p:cNvPr>
          <p:cNvSpPr txBox="1"/>
          <p:nvPr/>
        </p:nvSpPr>
        <p:spPr>
          <a:xfrm>
            <a:off x="4362138" y="4473587"/>
            <a:ext cx="348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</a:t>
            </a:r>
            <a:r>
              <a:rPr lang="en-US" sz="2000" b="1" dirty="0"/>
              <a:t>break</a:t>
            </a:r>
            <a:r>
              <a:rPr lang="en-US" sz="2000" dirty="0"/>
              <a:t> statement immediately exits from the closest enclosing loop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E5B31-252C-CAF8-56D8-FEF10E1F4EAF}"/>
              </a:ext>
            </a:extLst>
          </p:cNvPr>
          <p:cNvSpPr txBox="1"/>
          <p:nvPr/>
        </p:nvSpPr>
        <p:spPr>
          <a:xfrm>
            <a:off x="963709" y="4627475"/>
            <a:ext cx="2823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What would be the output?</a:t>
            </a:r>
          </a:p>
        </p:txBody>
      </p:sp>
    </p:spTree>
    <p:extLst>
      <p:ext uri="{BB962C8B-B14F-4D97-AF65-F5344CB8AC3E}">
        <p14:creationId xmlns:p14="http://schemas.microsoft.com/office/powerpoint/2010/main" val="180615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4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6F52-A251-0A99-FBB9-0E572DDC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AC12F5B-A244-E299-F4D0-99E9F204A2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86" y="1475906"/>
            <a:ext cx="7371428" cy="4933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DFC10E-B11E-D53D-4FCB-E917C5E7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factor_quadratic.py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BD064-2D33-C6B1-AE83-93785D7B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750459-E42F-6CC4-DBCF-6D7C45501B95}"/>
              </a:ext>
            </a:extLst>
          </p:cNvPr>
          <p:cNvGrpSpPr/>
          <p:nvPr/>
        </p:nvGrpSpPr>
        <p:grpSpPr>
          <a:xfrm>
            <a:off x="3713828" y="5554634"/>
            <a:ext cx="1076632" cy="369332"/>
            <a:chOff x="4968362" y="2079211"/>
            <a:chExt cx="1076632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99371A8-FAF5-EB5D-6F82-DC3C8E930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8E48299-1556-F7E7-4599-4BEA6E999E2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CFF3C1-8252-FF31-4401-36B08F528823}"/>
              </a:ext>
            </a:extLst>
          </p:cNvPr>
          <p:cNvGrpSpPr/>
          <p:nvPr/>
        </p:nvGrpSpPr>
        <p:grpSpPr>
          <a:xfrm>
            <a:off x="6701409" y="5826416"/>
            <a:ext cx="1076632" cy="369332"/>
            <a:chOff x="4704120" y="2356972"/>
            <a:chExt cx="1076632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3E8FE0A-4C6C-F6B3-4C0B-6E5D882D29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A38D01-E865-B50D-EC39-E4F8602F17B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B4EFF41-B781-62C4-79D6-706D2468E8C1}"/>
              </a:ext>
            </a:extLst>
          </p:cNvPr>
          <p:cNvGrpSpPr/>
          <p:nvPr/>
        </p:nvGrpSpPr>
        <p:grpSpPr>
          <a:xfrm>
            <a:off x="7586312" y="1436712"/>
            <a:ext cx="1068643" cy="369332"/>
            <a:chOff x="3647644" y="4910075"/>
            <a:chExt cx="106864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4E5A93-1641-1886-5EE7-50E62A00C3E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117CB65-884C-4DEB-649F-FE85C9CB0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83DAAB-D34A-D569-0266-F80F21FFEB87}"/>
              </a:ext>
            </a:extLst>
          </p:cNvPr>
          <p:cNvGrpSpPr/>
          <p:nvPr/>
        </p:nvGrpSpPr>
        <p:grpSpPr>
          <a:xfrm>
            <a:off x="4824431" y="2547364"/>
            <a:ext cx="1064340" cy="369332"/>
            <a:chOff x="3647644" y="5421073"/>
            <a:chExt cx="1064340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319684E-0195-60C4-470A-4C3D45292B9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209B606-00AB-BE35-0EB3-A6E659170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F2466C1-397E-EEC0-D84D-8A2753B026F1}"/>
              </a:ext>
            </a:extLst>
          </p:cNvPr>
          <p:cNvGrpSpPr/>
          <p:nvPr/>
        </p:nvGrpSpPr>
        <p:grpSpPr>
          <a:xfrm>
            <a:off x="4089375" y="2805632"/>
            <a:ext cx="1068643" cy="369332"/>
            <a:chOff x="3647644" y="5359159"/>
            <a:chExt cx="1068643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57227B-8FC5-2093-580A-BF1E6F9CD50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5067DA2-7AC7-9B9E-E2A0-2A591C8F1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3AA7762-F8B6-0C0D-38E5-A571E80A60B0}"/>
              </a:ext>
            </a:extLst>
          </p:cNvPr>
          <p:cNvGrpSpPr/>
          <p:nvPr/>
        </p:nvGrpSpPr>
        <p:grpSpPr>
          <a:xfrm>
            <a:off x="4695557" y="3075710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908D9A-5391-3A5F-D2E4-5FD0A0E65A9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68FD74A-251F-636C-0F31-933F9B7BAF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6D17894-53D5-A143-9CE3-B7A85332562F}"/>
              </a:ext>
            </a:extLst>
          </p:cNvPr>
          <p:cNvGrpSpPr/>
          <p:nvPr/>
        </p:nvGrpSpPr>
        <p:grpSpPr>
          <a:xfrm>
            <a:off x="5752207" y="3357090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2516F9-CCD9-634E-6EF1-A47BA9A4A5D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DBCA70F-A6D2-0D68-68AB-419EF8DCBE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EA04284-606E-C006-E07F-25E858C0C215}"/>
              </a:ext>
            </a:extLst>
          </p:cNvPr>
          <p:cNvGrpSpPr/>
          <p:nvPr/>
        </p:nvGrpSpPr>
        <p:grpSpPr>
          <a:xfrm>
            <a:off x="4999827" y="3626927"/>
            <a:ext cx="1076632" cy="369332"/>
            <a:chOff x="2157212" y="5356391"/>
            <a:chExt cx="1076632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44714A-1F65-ADD7-87B5-4259071B2B6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B0DCE4C-BFCD-F528-4AA3-2C1EAA3B48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0F3F4B-371E-1E5C-3A7E-E9BE500B0255}"/>
              </a:ext>
            </a:extLst>
          </p:cNvPr>
          <p:cNvGrpSpPr/>
          <p:nvPr/>
        </p:nvGrpSpPr>
        <p:grpSpPr>
          <a:xfrm>
            <a:off x="5577925" y="3896496"/>
            <a:ext cx="1076632" cy="369332"/>
            <a:chOff x="2157212" y="5356391"/>
            <a:chExt cx="1076632" cy="3693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CC679B1-D1C3-E719-1837-B2448F58802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77A1206-E7B2-FF9B-067B-F787F84FD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25D5ABF-B779-39CB-9B18-A0EAA0573A6B}"/>
              </a:ext>
            </a:extLst>
          </p:cNvPr>
          <p:cNvGrpSpPr/>
          <p:nvPr/>
        </p:nvGrpSpPr>
        <p:grpSpPr>
          <a:xfrm>
            <a:off x="6301224" y="4166064"/>
            <a:ext cx="1076632" cy="369332"/>
            <a:chOff x="2157212" y="5356391"/>
            <a:chExt cx="1076632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DC5B882-F701-0C80-98E1-C7F1BC491AB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FB17C068-50A6-B77D-8CF4-4CDB13F0D6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4A8393A-682A-95A5-6771-FC9A71D1E452}"/>
              </a:ext>
            </a:extLst>
          </p:cNvPr>
          <p:cNvSpPr/>
          <p:nvPr/>
        </p:nvSpPr>
        <p:spPr>
          <a:xfrm>
            <a:off x="946484" y="2547365"/>
            <a:ext cx="7226969" cy="252199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2B7B6-5907-885B-4D34-A8D75FA194CE}"/>
              </a:ext>
            </a:extLst>
          </p:cNvPr>
          <p:cNvSpPr txBox="1"/>
          <p:nvPr/>
        </p:nvSpPr>
        <p:spPr>
          <a:xfrm>
            <a:off x="6412942" y="1881508"/>
            <a:ext cx="1771540" cy="584775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YOU MUST ADD ALL THIS CODE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8F7D4-D86A-A706-A0F1-13AB7372A876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53020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5AB055-24F4-4119-0407-C5EAC6BD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13" y="2293554"/>
            <a:ext cx="3298253" cy="163868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0F8659-2DE1-4FF4-AA6A-5BB4DCC2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factor_quadratic.py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BE446-AA3B-4F43-9B0C-4DD8915E5127}"/>
                  </a:ext>
                </a:extLst>
              </p:cNvPr>
              <p:cNvSpPr/>
              <p:nvPr/>
            </p:nvSpPr>
            <p:spPr>
              <a:xfrm>
                <a:off x="926353" y="5131580"/>
                <a:ext cx="38114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115425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3254121, 379020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BE446-AA3B-4F43-9B0C-4DD8915E5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53" y="5131580"/>
                <a:ext cx="381149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8C0B9897-A74C-4537-9269-06E68D7D2DDC}"/>
              </a:ext>
            </a:extLst>
          </p:cNvPr>
          <p:cNvSpPr/>
          <p:nvPr/>
        </p:nvSpPr>
        <p:spPr>
          <a:xfrm>
            <a:off x="4849136" y="2346221"/>
            <a:ext cx="3091543" cy="1408692"/>
          </a:xfrm>
          <a:prstGeom prst="borderCallout2">
            <a:avLst>
              <a:gd name="adj1" fmla="val 22414"/>
              <a:gd name="adj2" fmla="val -3085"/>
              <a:gd name="adj3" fmla="val 61152"/>
              <a:gd name="adj4" fmla="val -10704"/>
              <a:gd name="adj5" fmla="val 81091"/>
              <a:gd name="adj6" fmla="val -36649"/>
            </a:avLst>
          </a:prstGeom>
          <a:solidFill>
            <a:schemeClr val="bg1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code is not smart enough to recognize the </a:t>
            </a:r>
            <a:r>
              <a:rPr lang="en-US" b="1" dirty="0">
                <a:solidFill>
                  <a:schemeClr val="tx1"/>
                </a:solidFill>
              </a:rPr>
              <a:t>commutative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distributive</a:t>
            </a:r>
            <a:r>
              <a:rPr lang="en-US" dirty="0">
                <a:solidFill>
                  <a:srgbClr val="FF0000"/>
                </a:solidFill>
              </a:rPr>
              <a:t> properties of multiplication, so it lists several legal but </a:t>
            </a:r>
            <a:r>
              <a:rPr lang="en-US" i="1" dirty="0">
                <a:solidFill>
                  <a:srgbClr val="FF0000"/>
                </a:solidFill>
              </a:rPr>
              <a:t>redundant</a:t>
            </a:r>
            <a:r>
              <a:rPr lang="en-US" dirty="0">
                <a:solidFill>
                  <a:srgbClr val="FF0000"/>
                </a:solidFill>
              </a:rPr>
              <a:t> factors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7AD0B0C0-6196-43EA-846C-F6A21F837F70}"/>
              </a:ext>
            </a:extLst>
          </p:cNvPr>
          <p:cNvSpPr/>
          <p:nvPr/>
        </p:nvSpPr>
        <p:spPr>
          <a:xfrm>
            <a:off x="5217664" y="4470006"/>
            <a:ext cx="3091543" cy="1171252"/>
          </a:xfrm>
          <a:prstGeom prst="borderCallout2">
            <a:avLst>
              <a:gd name="adj1" fmla="val 22414"/>
              <a:gd name="adj2" fmla="val -3085"/>
              <a:gd name="adj3" fmla="val 27027"/>
              <a:gd name="adj4" fmla="val -13328"/>
              <a:gd name="adj5" fmla="val 58716"/>
              <a:gd name="adj6" fmla="val -19236"/>
            </a:avLst>
          </a:prstGeom>
          <a:solidFill>
            <a:schemeClr val="bg1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code should also </a:t>
            </a:r>
            <a:r>
              <a:rPr lang="en-US" u="sng" dirty="0">
                <a:solidFill>
                  <a:srgbClr val="FF0000"/>
                </a:solidFill>
              </a:rPr>
              <a:t>first</a:t>
            </a:r>
            <a:r>
              <a:rPr lang="en-US" dirty="0">
                <a:solidFill>
                  <a:srgbClr val="FF0000"/>
                </a:solidFill>
              </a:rPr>
              <a:t> factor out the </a:t>
            </a:r>
            <a:r>
              <a:rPr lang="en-US" b="1" dirty="0">
                <a:solidFill>
                  <a:schemeClr val="tx1"/>
                </a:solidFill>
              </a:rPr>
              <a:t>GCD</a:t>
            </a:r>
            <a:r>
              <a:rPr lang="en-US" dirty="0">
                <a:solidFill>
                  <a:srgbClr val="FF0000"/>
                </a:solidFill>
              </a:rPr>
              <a:t> shared between all the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38F8C9-6954-307F-E55F-A4859E2EC2A8}"/>
                  </a:ext>
                </a:extLst>
              </p:cNvPr>
              <p:cNvSpPr txBox="1"/>
              <p:nvPr/>
            </p:nvSpPr>
            <p:spPr>
              <a:xfrm>
                <a:off x="2286000" y="1416793"/>
                <a:ext cx="4572000" cy="529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115425</m:t>
                      </m:r>
                      <m:sSup>
                        <m:sSupPr>
                          <m:ctrlPr>
                            <a:rPr lang="en-US" sz="18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+3254121</m:t>
                      </m:r>
                      <m:r>
                        <a:rPr lang="en-US" sz="1800" b="0" i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+379020</m:t>
                      </m:r>
                    </m:oMath>
                  </m:oMathPara>
                </a14:m>
                <a:endParaRPr lang="en-US" sz="1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38F8C9-6954-307F-E55F-A4859E2E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16793"/>
                <a:ext cx="4572000" cy="5294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D2F3223-2CDE-7D54-BC87-51F1B4050378}"/>
              </a:ext>
            </a:extLst>
          </p:cNvPr>
          <p:cNvSpPr/>
          <p:nvPr/>
        </p:nvSpPr>
        <p:spPr>
          <a:xfrm>
            <a:off x="1038225" y="3233736"/>
            <a:ext cx="2271713" cy="44379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11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Bubble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F28ED-1701-4A86-AA31-647A7B70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1260476"/>
            <a:ext cx="85820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27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Instrumenting 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8677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Instrumenting code is the process of taking accurate </a:t>
            </a:r>
            <a:r>
              <a:rPr lang="en-US" sz="2400" b="1" dirty="0"/>
              <a:t>timings</a:t>
            </a:r>
            <a:r>
              <a:rPr lang="en-US" sz="2400" dirty="0"/>
              <a:t> of the runtime performance of key algorithms within the program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provides a </a:t>
            </a:r>
            <a:r>
              <a:rPr lang="en-US" sz="2400" b="1" dirty="0">
                <a:solidFill>
                  <a:srgbClr val="00B050"/>
                </a:solidFill>
              </a:rPr>
              <a:t>time.perf_counter() </a:t>
            </a:r>
            <a:r>
              <a:rPr lang="en-US" sz="2400" dirty="0"/>
              <a:t>object that can measure the current CPU time of a running process to the nearest millisecond (1/1000</a:t>
            </a:r>
            <a:r>
              <a:rPr lang="en-US" sz="2400" baseline="30000" dirty="0"/>
              <a:t>th</a:t>
            </a:r>
            <a:r>
              <a:rPr lang="en-US" sz="2400" dirty="0"/>
              <a:t> of a second), which is sufficient in most situations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bracket the code under analysis by measuring the clock immediately </a:t>
            </a:r>
            <a:r>
              <a:rPr lang="en-US" sz="2400" b="1" i="1" dirty="0">
                <a:solidFill>
                  <a:srgbClr val="7030A0"/>
                </a:solidFill>
              </a:rPr>
              <a:t>before</a:t>
            </a:r>
            <a:r>
              <a:rPr lang="en-US" sz="2400" dirty="0"/>
              <a:t> the start and again </a:t>
            </a:r>
            <a:r>
              <a:rPr lang="en-US" sz="2400" b="1" i="1" dirty="0">
                <a:solidFill>
                  <a:srgbClr val="7030A0"/>
                </a:solidFill>
              </a:rPr>
              <a:t>after</a:t>
            </a:r>
            <a:r>
              <a:rPr lang="en-US" sz="2400" dirty="0"/>
              <a:t> the end</a:t>
            </a:r>
            <a:r>
              <a:rPr lang="en-US" sz="2400" i="1" dirty="0"/>
              <a:t> </a:t>
            </a:r>
            <a:r>
              <a:rPr lang="en-US" sz="2400" dirty="0"/>
              <a:t>of the algorithm to calculate the </a:t>
            </a:r>
            <a:r>
              <a:rPr lang="en-US" sz="2400" b="1" dirty="0">
                <a:solidFill>
                  <a:srgbClr val="FF0000"/>
                </a:solidFill>
              </a:rPr>
              <a:t>elapsed</a:t>
            </a:r>
            <a:r>
              <a:rPr lang="en-US" sz="2400" dirty="0"/>
              <a:t> time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Careful tracking of code timings will provide objective empirical evidence if changes to algorithms and/or data structures are indeed making the program more efficient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2A7A5C-3DF7-AEE9-08D2-A0E84728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17" y="518383"/>
            <a:ext cx="1209524" cy="10190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262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32323733-774D-3E99-C271-E49B038D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64" y="1673473"/>
            <a:ext cx="6304073" cy="42838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bubble_sort.py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038B72-4CD4-94A5-A458-154144BB1040}"/>
              </a:ext>
            </a:extLst>
          </p:cNvPr>
          <p:cNvGrpSpPr/>
          <p:nvPr/>
        </p:nvGrpSpPr>
        <p:grpSpPr>
          <a:xfrm>
            <a:off x="3427687" y="1901391"/>
            <a:ext cx="1061518" cy="369332"/>
            <a:chOff x="4983476" y="2079211"/>
            <a:chExt cx="1061518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E24CDBC-6C54-3446-88F9-C3C5AF243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3476" y="2271434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2BE06-634A-62A0-0C76-E8532EF79DB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954B0A-F48A-B645-3914-33EDE6C0F5BE}"/>
              </a:ext>
            </a:extLst>
          </p:cNvPr>
          <p:cNvGrpSpPr/>
          <p:nvPr/>
        </p:nvGrpSpPr>
        <p:grpSpPr>
          <a:xfrm>
            <a:off x="3678832" y="2337777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6779246-4AF2-1B53-FF6F-941352AC16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2FA31B-7811-8273-2D16-AA72D9E2C65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CE3F7D-5E48-1082-C07E-76174FC37150}"/>
              </a:ext>
            </a:extLst>
          </p:cNvPr>
          <p:cNvGrpSpPr/>
          <p:nvPr/>
        </p:nvGrpSpPr>
        <p:grpSpPr>
          <a:xfrm>
            <a:off x="7724036" y="2999036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C132AD-4A81-95C1-4AFE-89AFBE9F9C3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98C61EF-820B-0F77-42E7-569426725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84B26-E786-0BA5-F2ED-44CC10642D91}"/>
              </a:ext>
            </a:extLst>
          </p:cNvPr>
          <p:cNvGrpSpPr/>
          <p:nvPr/>
        </p:nvGrpSpPr>
        <p:grpSpPr>
          <a:xfrm>
            <a:off x="5882978" y="3658409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37F18F-45D5-1C55-0432-2A634D47068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E5BF701-80E7-0341-7005-274FE13AD0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587B47-F3C0-B50A-545B-8E315FDFC9E7}"/>
              </a:ext>
            </a:extLst>
          </p:cNvPr>
          <p:cNvGrpSpPr/>
          <p:nvPr/>
        </p:nvGrpSpPr>
        <p:grpSpPr>
          <a:xfrm>
            <a:off x="4768692" y="4070348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A079D3-2FDB-E30F-EA6C-F8CAF625C26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3059433-55DC-F4D0-10C7-1A321AB5F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F6AE03-44C0-E390-DF28-B240420E66C3}"/>
              </a:ext>
            </a:extLst>
          </p:cNvPr>
          <p:cNvGrpSpPr/>
          <p:nvPr/>
        </p:nvGrpSpPr>
        <p:grpSpPr>
          <a:xfrm>
            <a:off x="6169109" y="4496907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1AE4DE-695C-1815-1A0C-43A4411FCFB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076459D-ABF1-AECD-54B3-BDF83D79F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4B6F2F-E6A8-15BE-8C06-65E40D4632BF}"/>
              </a:ext>
            </a:extLst>
          </p:cNvPr>
          <p:cNvGrpSpPr/>
          <p:nvPr/>
        </p:nvGrpSpPr>
        <p:grpSpPr>
          <a:xfrm>
            <a:off x="5844946" y="5157275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06678F-B004-4DB1-0A9F-3060574F8A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D9B01AE-25E6-631B-C6E6-3A6A9ACD6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A3CC44-001A-A658-5D5E-33887F1EA00C}"/>
              </a:ext>
            </a:extLst>
          </p:cNvPr>
          <p:cNvGrpSpPr/>
          <p:nvPr/>
        </p:nvGrpSpPr>
        <p:grpSpPr>
          <a:xfrm>
            <a:off x="6585532" y="5590017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3D43BC-B421-8BBE-D376-93700553823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1A0DAC9-21F8-33CB-130F-CC131DEDF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12C79D0-716B-AC9F-3FED-970B69AB21E7}"/>
              </a:ext>
            </a:extLst>
          </p:cNvPr>
          <p:cNvGrpSpPr/>
          <p:nvPr/>
        </p:nvGrpSpPr>
        <p:grpSpPr>
          <a:xfrm>
            <a:off x="4603316" y="4285629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80764D-1499-C29A-F33D-043D2E76FC1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903E424-B0C7-2E19-6378-01F06DBFDD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949FB7-C35B-5886-254B-D662960A0D54}"/>
              </a:ext>
            </a:extLst>
          </p:cNvPr>
          <p:cNvSpPr txBox="1"/>
          <p:nvPr/>
        </p:nvSpPr>
        <p:spPr>
          <a:xfrm>
            <a:off x="1682851" y="6148387"/>
            <a:ext cx="5778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Slicing and Indexing in Python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C611D0-D5B5-9E62-3A79-51D90AC77F26}"/>
              </a:ext>
            </a:extLst>
          </p:cNvPr>
          <p:cNvSpPr txBox="1"/>
          <p:nvPr/>
        </p:nvSpPr>
        <p:spPr>
          <a:xfrm>
            <a:off x="7060152" y="3648758"/>
            <a:ext cx="1783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[start:stop:step]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A5FAA-D31B-E1EF-5412-C4A4DD45A87B}"/>
              </a:ext>
            </a:extLst>
          </p:cNvPr>
          <p:cNvSpPr/>
          <p:nvPr/>
        </p:nvSpPr>
        <p:spPr>
          <a:xfrm>
            <a:off x="3372401" y="3746516"/>
            <a:ext cx="94082" cy="16349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FC080-3716-B6A3-B5CF-81EFC450F997}"/>
              </a:ext>
            </a:extLst>
          </p:cNvPr>
          <p:cNvSpPr/>
          <p:nvPr/>
        </p:nvSpPr>
        <p:spPr>
          <a:xfrm>
            <a:off x="5349835" y="3752326"/>
            <a:ext cx="94082" cy="16349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8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 animBg="1"/>
      <p:bldP spid="3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948EE34-43D5-5EDD-37DC-F550F0051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68" y="1908978"/>
            <a:ext cx="6466667" cy="3504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bubble_sort.py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50C3C3-4A16-5881-4D8B-BD07D5CCA124}"/>
              </a:ext>
            </a:extLst>
          </p:cNvPr>
          <p:cNvGrpSpPr/>
          <p:nvPr/>
        </p:nvGrpSpPr>
        <p:grpSpPr>
          <a:xfrm>
            <a:off x="3635172" y="1885820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C3D611C-E0F3-BC44-1493-3A70F12D11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D44626-9A83-9AA6-5C3B-20ED8B706E0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9434E80-A3C6-2387-A2CE-06E91CDA3B55}"/>
              </a:ext>
            </a:extLst>
          </p:cNvPr>
          <p:cNvGrpSpPr/>
          <p:nvPr/>
        </p:nvGrpSpPr>
        <p:grpSpPr>
          <a:xfrm>
            <a:off x="4393652" y="2103312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261FF1-9797-5F98-0310-B43CD0ECEE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551AF9-BF07-E40F-24BC-93A5E63F171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6BDB60-E824-411B-4BC7-F74ED5A913EE}"/>
              </a:ext>
            </a:extLst>
          </p:cNvPr>
          <p:cNvGrpSpPr/>
          <p:nvPr/>
        </p:nvGrpSpPr>
        <p:grpSpPr>
          <a:xfrm>
            <a:off x="3358823" y="2329031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470728-5CD5-BE55-0825-1D8C8B934B3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D4EEA22-7175-3FC8-4BA4-D13D14BD8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7F4E99-75A8-C8BF-B47E-9238CC563B0E}"/>
              </a:ext>
            </a:extLst>
          </p:cNvPr>
          <p:cNvGrpSpPr/>
          <p:nvPr/>
        </p:nvGrpSpPr>
        <p:grpSpPr>
          <a:xfrm>
            <a:off x="3669777" y="2579454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50ACD1-F97C-27E0-97E2-11320A357C5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ADC7F8C-30ED-CD47-83C6-5D5694B3AA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3EDE85-CC3E-D555-A3C0-89C179DFB213}"/>
              </a:ext>
            </a:extLst>
          </p:cNvPr>
          <p:cNvGrpSpPr/>
          <p:nvPr/>
        </p:nvGrpSpPr>
        <p:grpSpPr>
          <a:xfrm>
            <a:off x="3990587" y="2789814"/>
            <a:ext cx="1068643" cy="369332"/>
            <a:chOff x="3647644" y="5359159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BD5F41-9A84-0469-125E-F6B21F2D310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72BBDEE-435D-FB2C-4399-49835D50C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A2C22C-255B-EB0C-3A2A-8B61900AADC1}"/>
              </a:ext>
            </a:extLst>
          </p:cNvPr>
          <p:cNvGrpSpPr/>
          <p:nvPr/>
        </p:nvGrpSpPr>
        <p:grpSpPr>
          <a:xfrm>
            <a:off x="4557144" y="3925656"/>
            <a:ext cx="1076632" cy="369332"/>
            <a:chOff x="2157212" y="5356391"/>
            <a:chExt cx="107663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A28052-665F-C78F-60FE-8BEA0FB939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8D65C95-3F86-53AA-A38E-AAC483FE2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022E5F-CEBE-5070-934A-7C1922BFF3F3}"/>
              </a:ext>
            </a:extLst>
          </p:cNvPr>
          <p:cNvGrpSpPr/>
          <p:nvPr/>
        </p:nvGrpSpPr>
        <p:grpSpPr>
          <a:xfrm>
            <a:off x="3911332" y="4162250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AC433A-AC05-21E4-1B50-BDDE88F3D14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53D025E-F4F4-CF1E-39B4-67FA3FE1E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353130-742F-2B24-AC31-344D18B691CA}"/>
              </a:ext>
            </a:extLst>
          </p:cNvPr>
          <p:cNvGrpSpPr/>
          <p:nvPr/>
        </p:nvGrpSpPr>
        <p:grpSpPr>
          <a:xfrm>
            <a:off x="4008287" y="4385093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8F60BC-7D44-834E-94E8-C75D2CB66A3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D941AF3-FD61-E56E-304E-8FAADA4DE2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5A2074-4EE9-CC5F-EB11-28DBAC0291B6}"/>
              </a:ext>
            </a:extLst>
          </p:cNvPr>
          <p:cNvGrpSpPr/>
          <p:nvPr/>
        </p:nvGrpSpPr>
        <p:grpSpPr>
          <a:xfrm>
            <a:off x="5207090" y="3232087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E10561-41D1-9CFC-BC37-3081E262891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3CE5974-164C-23C7-E779-084A2BBDF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E798533-078F-0727-5ACB-2E19AC2F35C3}"/>
              </a:ext>
            </a:extLst>
          </p:cNvPr>
          <p:cNvGrpSpPr/>
          <p:nvPr/>
        </p:nvGrpSpPr>
        <p:grpSpPr>
          <a:xfrm>
            <a:off x="3917027" y="4842746"/>
            <a:ext cx="1076632" cy="369332"/>
            <a:chOff x="2157212" y="5356391"/>
            <a:chExt cx="1076632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F0B95A-5E43-63F3-0A31-451754DA592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77DE456-C962-FD77-E3FF-DBCAF856DB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B5C57BB-3FA3-CEF1-174E-AEEBBEA611F9}"/>
              </a:ext>
            </a:extLst>
          </p:cNvPr>
          <p:cNvGrpSpPr/>
          <p:nvPr/>
        </p:nvGrpSpPr>
        <p:grpSpPr>
          <a:xfrm>
            <a:off x="5633776" y="4754425"/>
            <a:ext cx="3162756" cy="1432880"/>
            <a:chOff x="4956408" y="4877746"/>
            <a:chExt cx="3162756" cy="143288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4172254-D5AC-1B91-BB6A-F0B043BD1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6408" y="4877746"/>
              <a:ext cx="1428750" cy="142875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608033-2BA6-F0D6-8D05-613F20C61289}"/>
                </a:ext>
              </a:extLst>
            </p:cNvPr>
            <p:cNvSpPr txBox="1"/>
            <p:nvPr/>
          </p:nvSpPr>
          <p:spPr>
            <a:xfrm>
              <a:off x="6385158" y="5695073"/>
              <a:ext cx="173400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Edward Friend</a:t>
              </a:r>
            </a:p>
            <a:p>
              <a:pPr algn="ctr"/>
              <a:r>
                <a:rPr lang="en-US" sz="1600" dirty="0"/>
                <a:t>(1929-2019)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A32B566-9505-DBA2-DDC4-36CE5B90AF52}"/>
              </a:ext>
            </a:extLst>
          </p:cNvPr>
          <p:cNvSpPr txBox="1"/>
          <p:nvPr/>
        </p:nvSpPr>
        <p:spPr>
          <a:xfrm>
            <a:off x="3732919" y="5682637"/>
            <a:ext cx="1618938" cy="369332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Invented 1956</a:t>
            </a:r>
          </a:p>
        </p:txBody>
      </p:sp>
    </p:spTree>
    <p:extLst>
      <p:ext uri="{BB962C8B-B14F-4D97-AF65-F5344CB8AC3E}">
        <p14:creationId xmlns:p14="http://schemas.microsoft.com/office/powerpoint/2010/main" val="115489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6031F4-E97B-D859-76D2-3D45288A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54" y="1690689"/>
            <a:ext cx="8408491" cy="19794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Timsort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2AFF6-8E88-CE7F-BEEF-155E3E7A1391}"/>
              </a:ext>
            </a:extLst>
          </p:cNvPr>
          <p:cNvSpPr/>
          <p:nvPr/>
        </p:nvSpPr>
        <p:spPr>
          <a:xfrm>
            <a:off x="2443397" y="1948721"/>
            <a:ext cx="3432747" cy="202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3A7026-E24B-D2AE-550E-F903B1355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09" y="4273207"/>
            <a:ext cx="8259580" cy="14450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025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B9D5-F3DD-055E-A603-29CC66E5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FE4A7977-75BA-34F5-8397-C13234E01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47" y="1827712"/>
            <a:ext cx="6361905" cy="26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EEC999-791B-0BB5-6C62-FB3B8402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bubble_sort.py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4498C-8847-F16C-DA16-82EB0700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DB816E-6B1B-8B6F-72E1-1A89DE74B48A}"/>
              </a:ext>
            </a:extLst>
          </p:cNvPr>
          <p:cNvGrpSpPr/>
          <p:nvPr/>
        </p:nvGrpSpPr>
        <p:grpSpPr>
          <a:xfrm>
            <a:off x="3174814" y="2052219"/>
            <a:ext cx="1076632" cy="369332"/>
            <a:chOff x="4968362" y="2079211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63560CC-FECF-2845-4181-1D8CD734C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36D6DE-9C2C-3904-A134-BABED42E111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40533FF-C3CE-EA9C-65C2-D53F9181A030}"/>
              </a:ext>
            </a:extLst>
          </p:cNvPr>
          <p:cNvGrpSpPr/>
          <p:nvPr/>
        </p:nvGrpSpPr>
        <p:grpSpPr>
          <a:xfrm>
            <a:off x="7657597" y="2289189"/>
            <a:ext cx="1076632" cy="369332"/>
            <a:chOff x="4704120" y="2356972"/>
            <a:chExt cx="1076632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1311BC4-477C-8FE7-E714-7294E523D6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64AE2D0-7F9A-9912-C3B2-7AF5A03274E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D9B39E-8941-5F15-CE41-010D5FDF69D7}"/>
              </a:ext>
            </a:extLst>
          </p:cNvPr>
          <p:cNvGrpSpPr/>
          <p:nvPr/>
        </p:nvGrpSpPr>
        <p:grpSpPr>
          <a:xfrm>
            <a:off x="5722962" y="2739788"/>
            <a:ext cx="1068643" cy="369332"/>
            <a:chOff x="3647644" y="4910075"/>
            <a:chExt cx="106864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794737-C7D6-A7BF-43B8-EF1A9995E5B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2422AE5-DEBB-1F41-5677-27DE2BE8E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3F4009-C53E-6084-74D8-F5533A5173CD}"/>
              </a:ext>
            </a:extLst>
          </p:cNvPr>
          <p:cNvGrpSpPr/>
          <p:nvPr/>
        </p:nvGrpSpPr>
        <p:grpSpPr>
          <a:xfrm>
            <a:off x="4572937" y="2987659"/>
            <a:ext cx="1064340" cy="369332"/>
            <a:chOff x="3647644" y="5421073"/>
            <a:chExt cx="1064340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AD17650-2E13-386F-1491-9D6069B16ED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7BFAF27-81A6-E037-500B-705AD58664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687B16-2159-4CD2-FB4B-73AE362C1B8E}"/>
              </a:ext>
            </a:extLst>
          </p:cNvPr>
          <p:cNvGrpSpPr/>
          <p:nvPr/>
        </p:nvGrpSpPr>
        <p:grpSpPr>
          <a:xfrm>
            <a:off x="2909955" y="3212250"/>
            <a:ext cx="1068643" cy="369332"/>
            <a:chOff x="3647644" y="5359159"/>
            <a:chExt cx="1068643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8A4671-FA21-705C-22D2-97952BE0243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E4ECBB9-A360-1AC2-194A-8B61E82C32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7857637-5C46-35B9-BDE3-5585246C4FE8}"/>
              </a:ext>
            </a:extLst>
          </p:cNvPr>
          <p:cNvGrpSpPr/>
          <p:nvPr/>
        </p:nvGrpSpPr>
        <p:grpSpPr>
          <a:xfrm>
            <a:off x="6086915" y="3422222"/>
            <a:ext cx="1076632" cy="369332"/>
            <a:chOff x="2157212" y="5356391"/>
            <a:chExt cx="1076632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04DC07D-87FD-F0E0-A515-F99ED769E7D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96E564B-BDB3-AED3-29D7-6A1F4E6E53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9559D57-2DC8-B33C-F930-BF8901080958}"/>
              </a:ext>
            </a:extLst>
          </p:cNvPr>
          <p:cNvGrpSpPr/>
          <p:nvPr/>
        </p:nvGrpSpPr>
        <p:grpSpPr>
          <a:xfrm>
            <a:off x="5692068" y="3896455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B4F4F02-0E43-12EC-F7CD-A5DB317063D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70092CE-1BAB-AC1D-9502-4A83909EB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D479A58-0B9C-D7BB-8825-C9CCB20C253D}"/>
              </a:ext>
            </a:extLst>
          </p:cNvPr>
          <p:cNvGrpSpPr/>
          <p:nvPr/>
        </p:nvGrpSpPr>
        <p:grpSpPr>
          <a:xfrm>
            <a:off x="6447726" y="4112835"/>
            <a:ext cx="1076632" cy="369332"/>
            <a:chOff x="2157212" y="5356391"/>
            <a:chExt cx="1076632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14E2017-1D05-9267-BC53-8D30FA3C67B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C9640A0-2AAB-D30F-FF54-BD4063081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18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2EBC781-9A7A-B9EB-BD03-D16C1F0EA3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0" y="1738524"/>
            <a:ext cx="8047619" cy="3380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bubble_sort.py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2DD4EE-58AB-16A9-4991-F17B76113406}"/>
              </a:ext>
            </a:extLst>
          </p:cNvPr>
          <p:cNvGrpSpPr/>
          <p:nvPr/>
        </p:nvGrpSpPr>
        <p:grpSpPr>
          <a:xfrm>
            <a:off x="1340418" y="1880832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4A2CA5-13BC-182E-3E48-AA518E143F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2455E4-9B35-A3F5-606C-B4E242270ED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20DFED-5080-3F70-8E8A-C0A1F2DE3AB7}"/>
              </a:ext>
            </a:extLst>
          </p:cNvPr>
          <p:cNvGrpSpPr/>
          <p:nvPr/>
        </p:nvGrpSpPr>
        <p:grpSpPr>
          <a:xfrm>
            <a:off x="1594587" y="2499270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8C8E05C-A5DC-EDFA-B890-2E2B4D05E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FCA320-EA35-3504-2E3B-F1EBA041438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6693D-1B3E-DB9E-0D11-F7D207B83BF4}"/>
              </a:ext>
            </a:extLst>
          </p:cNvPr>
          <p:cNvGrpSpPr/>
          <p:nvPr/>
        </p:nvGrpSpPr>
        <p:grpSpPr>
          <a:xfrm>
            <a:off x="3001098" y="3133368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D40CC8-86E3-EFDF-8BDB-6A2173410635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6493B2E-44E7-9136-DD60-F3621AB827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20788C-DA21-F4A3-43D6-1DC71E5F00BB}"/>
              </a:ext>
            </a:extLst>
          </p:cNvPr>
          <p:cNvGrpSpPr/>
          <p:nvPr/>
        </p:nvGrpSpPr>
        <p:grpSpPr>
          <a:xfrm>
            <a:off x="1340418" y="3560705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819DE18-631D-3DCA-5FB0-4D013EF64E9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8AE73E8-59D6-3F80-32B1-97BFA8DFE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EB2CF5-D7C9-0006-74E5-746BA8839297}"/>
              </a:ext>
            </a:extLst>
          </p:cNvPr>
          <p:cNvGrpSpPr/>
          <p:nvPr/>
        </p:nvGrpSpPr>
        <p:grpSpPr>
          <a:xfrm>
            <a:off x="1279308" y="4179142"/>
            <a:ext cx="1068643" cy="369332"/>
            <a:chOff x="3647644" y="5359159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CFA42D-4760-E64B-E818-043123D722C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14E3D5F-0B24-4A10-D4AD-9B33D3D85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550CF1-E795-4EAB-18BC-1126DFF16B1F}"/>
              </a:ext>
            </a:extLst>
          </p:cNvPr>
          <p:cNvGrpSpPr/>
          <p:nvPr/>
        </p:nvGrpSpPr>
        <p:grpSpPr>
          <a:xfrm>
            <a:off x="3001098" y="4797979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1604ED-73D3-F32E-3573-7E33CBF52A1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2504BF3-2DFB-1970-F108-CBF9F29166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815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6048-8AB3-1324-0EED-FAC261B8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A52C-F69B-4EAA-16AE-E4E43185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04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75A5-0152-9837-C3AC-A8E7ED19A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syntax and motivation for the </a:t>
            </a:r>
            <a:r>
              <a:rPr lang="en-US" sz="2400" b="1" dirty="0">
                <a:solidFill>
                  <a:srgbClr val="7030A0"/>
                </a:solidFill>
              </a:rPr>
              <a:t>Unix shebang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docstrings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utilize the </a:t>
            </a:r>
            <a:r>
              <a:rPr lang="en-US" sz="2400" b="1" dirty="0">
                <a:solidFill>
                  <a:srgbClr val="00B050"/>
                </a:solidFill>
              </a:rPr>
              <a:t>main guard </a:t>
            </a:r>
            <a:r>
              <a:rPr lang="en-US" sz="2400" dirty="0"/>
              <a:t>and a </a:t>
            </a:r>
            <a:r>
              <a:rPr lang="en-US" sz="2400" b="1" dirty="0"/>
              <a:t>main()</a:t>
            </a:r>
            <a:r>
              <a:rPr lang="en-US" sz="2400" dirty="0"/>
              <a:t> function to clearly designate the place where your Python script </a:t>
            </a:r>
            <a:r>
              <a:rPr lang="en-US" sz="2400" u="sng" dirty="0"/>
              <a:t>starts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define a custom (user-defined) function using the </a:t>
            </a:r>
            <a:r>
              <a:rPr lang="en-US" sz="2400" b="1" dirty="0">
                <a:solidFill>
                  <a:srgbClr val="0070C0"/>
                </a:solidFill>
              </a:rPr>
              <a:t>def </a:t>
            </a:r>
            <a:r>
              <a:rPr lang="en-US" sz="2400" dirty="0"/>
              <a:t>keyword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convert integers to and from Base 10 (decimal) and Base 2 </a:t>
            </a:r>
            <a:r>
              <a:rPr lang="en-US" sz="2400" b="1" dirty="0">
                <a:solidFill>
                  <a:srgbClr val="FF0000"/>
                </a:solidFill>
              </a:rPr>
              <a:t>(binary)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implement a </a:t>
            </a:r>
            <a:r>
              <a:rPr lang="en-US" sz="2400" b="1" dirty="0"/>
              <a:t>while</a:t>
            </a:r>
            <a:r>
              <a:rPr lang="en-US" sz="2400" dirty="0"/>
              <a:t> loop to repeatedly execute code until a </a:t>
            </a:r>
            <a:r>
              <a:rPr lang="en-US" sz="2400" i="1" dirty="0"/>
              <a:t>test condition </a:t>
            </a:r>
            <a:r>
              <a:rPr lang="en-US" sz="2400" dirty="0"/>
              <a:t>obtains a desired value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5DBE-60FC-00D2-5F24-2139E440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9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C81B-1753-2666-CC73-1A583081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F230-8B32-28BD-E2F9-207944EE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04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8A20D-92E4-FC2E-F8AB-98FBB9B7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What is the </a:t>
            </a:r>
            <a:r>
              <a:rPr lang="en-US" sz="2400" b="1" dirty="0">
                <a:solidFill>
                  <a:srgbClr val="7030A0"/>
                </a:solidFill>
              </a:rPr>
              <a:t>Hamming weight </a:t>
            </a:r>
            <a:r>
              <a:rPr lang="en-US" sz="2400" dirty="0"/>
              <a:t>(popcount) of an integer, and how to efficiently scan for integers with adjacent 1-bits</a:t>
            </a:r>
            <a:endParaRPr lang="en-US" sz="2400" u="sng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write code to </a:t>
            </a:r>
            <a:r>
              <a:rPr lang="en-US" sz="2400" b="1" dirty="0">
                <a:solidFill>
                  <a:srgbClr val="FF0000"/>
                </a:solidFill>
              </a:rPr>
              <a:t>factor a quadratic expression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implement an </a:t>
            </a:r>
            <a:r>
              <a:rPr lang="en-US" sz="2400" b="1" dirty="0">
                <a:solidFill>
                  <a:srgbClr val="0070C0"/>
                </a:solidFill>
              </a:rPr>
              <a:t>if/else clause</a:t>
            </a:r>
            <a:r>
              <a:rPr lang="en-US" sz="2400" dirty="0"/>
              <a:t> to support conditional code execution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</a:t>
            </a:r>
            <a:r>
              <a:rPr lang="en-US" sz="2400" b="1" dirty="0"/>
              <a:t>sort a list of integers </a:t>
            </a:r>
            <a:r>
              <a:rPr lang="en-US" sz="2400" dirty="0"/>
              <a:t>using the </a:t>
            </a:r>
            <a:r>
              <a:rPr lang="en-US" sz="2400" b="1" dirty="0">
                <a:solidFill>
                  <a:srgbClr val="00B050"/>
                </a:solidFill>
              </a:rPr>
              <a:t>Bubble Sort </a:t>
            </a:r>
            <a:r>
              <a:rPr lang="en-US" sz="2400" dirty="0"/>
              <a:t>algorithm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instrument code to </a:t>
            </a:r>
            <a:r>
              <a:rPr lang="en-US" sz="2400" b="1" dirty="0"/>
              <a:t>time its performance </a:t>
            </a:r>
            <a:r>
              <a:rPr lang="en-US" sz="2400" dirty="0"/>
              <a:t>for comparative reference to </a:t>
            </a:r>
            <a:r>
              <a:rPr lang="en-US" sz="2400" i="1" dirty="0"/>
              <a:t>potentially</a:t>
            </a:r>
            <a:r>
              <a:rPr lang="en-US" sz="2400" dirty="0"/>
              <a:t> faster algorithms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53D4C-D400-1F51-334F-0703EE4A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7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 new Python program called </a:t>
            </a:r>
            <a:r>
              <a:rPr lang="en-US" sz="2400" b="1" dirty="0"/>
              <a:t>octal_converter.py</a:t>
            </a:r>
          </a:p>
          <a:p>
            <a:r>
              <a:rPr lang="en-US" sz="2400" dirty="0"/>
              <a:t>Use the existing program base_conversion.py as a model </a:t>
            </a:r>
          </a:p>
          <a:p>
            <a:r>
              <a:rPr lang="en-US" sz="2400" dirty="0"/>
              <a:t>Convert the octal number 2323 to base 10 (decimal) by looping, and display both numbers</a:t>
            </a:r>
          </a:p>
          <a:p>
            <a:r>
              <a:rPr lang="en-US" sz="2400" dirty="0"/>
              <a:t>Then convert the decimal number you calculated above back to octal by looping, and display both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9839</TotalTime>
  <Words>2486</Words>
  <Application>Microsoft Office PowerPoint</Application>
  <PresentationFormat>On-screen Show (4:3)</PresentationFormat>
  <Paragraphs>396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04 – Goals</vt:lpstr>
      <vt:lpstr>Session 04 – Goals (cont.)</vt:lpstr>
      <vt:lpstr>The Unix Shebang</vt:lpstr>
      <vt:lpstr>Docstrings and PEP 257</vt:lpstr>
      <vt:lpstr>Open base_conversion.py</vt:lpstr>
      <vt:lpstr>Running pydoc on base_conversion</vt:lpstr>
      <vt:lpstr>Defining a function</vt:lpstr>
      <vt:lpstr>The most important function: main()</vt:lpstr>
      <vt:lpstr>The Python main() Guard</vt:lpstr>
      <vt:lpstr>Base Conversion – Binary to Decimal</vt:lpstr>
      <vt:lpstr>Base Conversion – Decimal to Binary</vt:lpstr>
      <vt:lpstr>Hexadecimal (Base 16)</vt:lpstr>
      <vt:lpstr>Hexadecimal (Base 16)</vt:lpstr>
      <vt:lpstr>Hexadecimal (Base 16)</vt:lpstr>
      <vt:lpstr>Hexadecimal (Base 16)</vt:lpstr>
      <vt:lpstr>Hexadecimal (Base 16)</vt:lpstr>
      <vt:lpstr>Hexadecimal (Base 16)</vt:lpstr>
      <vt:lpstr>while Loop</vt:lpstr>
      <vt:lpstr>View base_conversion.py</vt:lpstr>
      <vt:lpstr>View base_conversion.py</vt:lpstr>
      <vt:lpstr>View base_conversion.py</vt:lpstr>
      <vt:lpstr>Run base_conversion.py</vt:lpstr>
      <vt:lpstr>Hamming Weight</vt:lpstr>
      <vt:lpstr>Edit hamming_weight.py</vt:lpstr>
      <vt:lpstr>Run hamming_weight.py</vt:lpstr>
      <vt:lpstr>Always Seek Independent Confirmation</vt:lpstr>
      <vt:lpstr>Two Adjacent Bits</vt:lpstr>
      <vt:lpstr>The Scale of Large Numbers</vt:lpstr>
      <vt:lpstr>Two Adjacent Bits</vt:lpstr>
      <vt:lpstr>Open two_adjacent_bits.py</vt:lpstr>
      <vt:lpstr>View two_adjacent_bits.py</vt:lpstr>
      <vt:lpstr>View two_adjacent_bits.py</vt:lpstr>
      <vt:lpstr>View two_adjacent_bits.py</vt:lpstr>
      <vt:lpstr>Run two_adjacent_bits.py</vt:lpstr>
      <vt:lpstr>Always Seek Independent Confirmation</vt:lpstr>
      <vt:lpstr>PowerPoint Presentation</vt:lpstr>
      <vt:lpstr>Factoring a Quadratic Polynomial</vt:lpstr>
      <vt:lpstr>Representing a Quadratic Polynomial</vt:lpstr>
      <vt:lpstr>Factoring a Quadratic Polynomial</vt:lpstr>
      <vt:lpstr>if Statement</vt:lpstr>
      <vt:lpstr>if Statement</vt:lpstr>
      <vt:lpstr>if Statement</vt:lpstr>
      <vt:lpstr>Edit factor_quadratic.py</vt:lpstr>
      <vt:lpstr>Run factor_quadratic.py</vt:lpstr>
      <vt:lpstr>Bubble Sort</vt:lpstr>
      <vt:lpstr>Instrumenting Your Code</vt:lpstr>
      <vt:lpstr>Open bubble_sort.py</vt:lpstr>
      <vt:lpstr>View bubble_sort.py</vt:lpstr>
      <vt:lpstr>Timsort</vt:lpstr>
      <vt:lpstr>View bubble_sort.py</vt:lpstr>
      <vt:lpstr>Run bubble_sort.py</vt:lpstr>
      <vt:lpstr>Session 04 – Now You Know…</vt:lpstr>
      <vt:lpstr>Session 04 – Now You Know…</vt:lpstr>
      <vt:lpstr>Task 04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1046</cp:revision>
  <cp:lastPrinted>2015-06-01T00:45:11Z</cp:lastPrinted>
  <dcterms:created xsi:type="dcterms:W3CDTF">2014-09-21T17:58:26Z</dcterms:created>
  <dcterms:modified xsi:type="dcterms:W3CDTF">2026-01-16T05:05:02Z</dcterms:modified>
</cp:coreProperties>
</file>